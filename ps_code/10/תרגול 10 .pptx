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54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he-IL"/>
  <c:roundedCorners val="1"/>
  <c:style val="2"/>
  <c:chart>
    <c:autoTitleDeleted val="1"/>
    <c:plotArea>
      <c:layout/>
      <c:lineChart>
        <c:grouping val="standard"/>
        <c:varyColors val="0"/>
        <c:ser>
          <c:idx val="0"/>
          <c:order val="0"/>
          <c:tx>
            <c:strRef>
              <c:f>Sheet1!$B$1</c:f>
              <c:strCache>
                <c:ptCount val="1"/>
                <c:pt idx="0">
                  <c:v>T6</c:v>
                </c:pt>
              </c:strCache>
            </c:strRef>
          </c:tx>
          <c:spPr>
            <a:ln w="31750" cap="flat">
              <a:solidFill>
                <a:srgbClr val="7F8A3A"/>
              </a:solidFill>
              <a:prstDash val="solid"/>
              <a:round/>
            </a:ln>
            <a:effectLst/>
          </c:spPr>
          <c:marker>
            <c:symbol val="circle"/>
            <c:size val="6"/>
            <c:spPr>
              <a:solidFill>
                <a:srgbClr val="7F8A3A"/>
              </a:solidFill>
              <a:ln w="9525" cap="flat">
                <a:solidFill>
                  <a:srgbClr val="7F8A3A"/>
                </a:solidFill>
                <a:prstDash val="solid"/>
                <a:round/>
              </a:ln>
              <a:effectLst/>
            </c:spPr>
          </c:marker>
          <c:cat>
            <c:strRef>
              <c:f>Sheet1!$A$2:$A$202</c:f>
              <c:strCache>
                <c:ptCount val="201"/>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strCache>
            </c:strRef>
          </c:cat>
          <c:val>
            <c:numRef>
              <c:f>Sheet1!$B$2:$B$202</c:f>
              <c:numCache>
                <c:formatCode>General</c:formatCode>
                <c:ptCount val="201"/>
                <c:pt idx="0">
                  <c:v>1</c:v>
                </c:pt>
                <c:pt idx="1">
                  <c:v>0.66055630083199945</c:v>
                </c:pt>
                <c:pt idx="2">
                  <c:v>0.36048450764799966</c:v>
                </c:pt>
                <c:pt idx="3">
                  <c:v>9.7249277727999517E-2</c:v>
                </c:pt>
                <c:pt idx="4">
                  <c:v>-0.1315856097280001</c:v>
                </c:pt>
                <c:pt idx="5">
                  <c:v>-0.32835950000000003</c:v>
                </c:pt>
                <c:pt idx="6">
                  <c:v>-0.49531708620800091</c:v>
                </c:pt>
                <c:pt idx="7">
                  <c:v>-0.63461060963199922</c:v>
                </c:pt>
                <c:pt idx="8">
                  <c:v>-0.74830203699200004</c:v>
                </c:pt>
                <c:pt idx="9">
                  <c:v>-0.83836521468799963</c:v>
                </c:pt>
                <c:pt idx="10">
                  <c:v>-0.90668799999999972</c:v>
                </c:pt>
                <c:pt idx="11">
                  <c:v>-0.95507436924800015</c:v>
                </c:pt>
                <c:pt idx="12">
                  <c:v>-0.98524650291200011</c:v>
                </c:pt>
                <c:pt idx="13">
                  <c:v>-0.99884684771200005</c:v>
                </c:pt>
                <c:pt idx="14">
                  <c:v>-0.99744015564800015</c:v>
                </c:pt>
                <c:pt idx="15">
                  <c:v>-0.98251549999999988</c:v>
                </c:pt>
                <c:pt idx="16">
                  <c:v>-0.95548826828799993</c:v>
                </c:pt>
                <c:pt idx="17">
                  <c:v>-0.91770213219199959</c:v>
                </c:pt>
                <c:pt idx="18">
                  <c:v>-0.87043099443199989</c:v>
                </c:pt>
                <c:pt idx="19">
                  <c:v>-0.81488091260800044</c:v>
                </c:pt>
                <c:pt idx="20">
                  <c:v>-0.75219200000000042</c:v>
                </c:pt>
                <c:pt idx="21">
                  <c:v>-0.68344030332800043</c:v>
                </c:pt>
                <c:pt idx="22">
                  <c:v>-0.60963965747200011</c:v>
                </c:pt>
                <c:pt idx="23">
                  <c:v>-0.53174351715200008</c:v>
                </c:pt>
                <c:pt idx="24">
                  <c:v>-0.4506467655680001</c:v>
                </c:pt>
                <c:pt idx="25">
                  <c:v>-0.3671875</c:v>
                </c:pt>
                <c:pt idx="26">
                  <c:v>-0.282148794368</c:v>
                </c:pt>
                <c:pt idx="27">
                  <c:v>-0.19626043875199961</c:v>
                </c:pt>
                <c:pt idx="28">
                  <c:v>-0.11020065587200001</c:v>
                </c:pt>
                <c:pt idx="29">
                  <c:v>-2.4597794528000039E-2</c:v>
                </c:pt>
                <c:pt idx="30">
                  <c:v>5.9968000000000354E-2</c:v>
                </c:pt>
                <c:pt idx="31">
                  <c:v>0.14296313859200038</c:v>
                </c:pt>
                <c:pt idx="32">
                  <c:v>0.22389896396799946</c:v>
                </c:pt>
                <c:pt idx="33">
                  <c:v>0.30233014940799952</c:v>
                </c:pt>
                <c:pt idx="34">
                  <c:v>0.37785312051199971</c:v>
                </c:pt>
                <c:pt idx="35">
                  <c:v>0.4501044999999998</c:v>
                </c:pt>
                <c:pt idx="36">
                  <c:v>0.51875957555200003</c:v>
                </c:pt>
                <c:pt idx="37">
                  <c:v>0.58353079068799996</c:v>
                </c:pt>
                <c:pt idx="38">
                  <c:v>0.64416625868800004</c:v>
                </c:pt>
                <c:pt idx="39">
                  <c:v>0.70044829955200005</c:v>
                </c:pt>
                <c:pt idx="40">
                  <c:v>0.75219200000000008</c:v>
                </c:pt>
                <c:pt idx="41">
                  <c:v>0.79924379651200017</c:v>
                </c:pt>
                <c:pt idx="42">
                  <c:v>0.84148008140800012</c:v>
                </c:pt>
                <c:pt idx="43">
                  <c:v>0.878805831968</c:v>
                </c:pt>
                <c:pt idx="44">
                  <c:v>0.9111532625919998</c:v>
                </c:pt>
                <c:pt idx="45">
                  <c:v>0.93848049999999983</c:v>
                </c:pt>
                <c:pt idx="46">
                  <c:v>0.96077028147200005</c:v>
                </c:pt>
                <c:pt idx="47">
                  <c:v>0.97802867612799993</c:v>
                </c:pt>
                <c:pt idx="48">
                  <c:v>0.99028382924799996</c:v>
                </c:pt>
                <c:pt idx="49">
                  <c:v>0.99758472963199996</c:v>
                </c:pt>
                <c:pt idx="50">
                  <c:v>1</c:v>
                </c:pt>
                <c:pt idx="51">
                  <c:v>0.99761671043200006</c:v>
                </c:pt>
                <c:pt idx="52">
                  <c:v>0.990539214848</c:v>
                </c:pt>
                <c:pt idx="53">
                  <c:v>0.9788880105279999</c:v>
                </c:pt>
                <c:pt idx="54">
                  <c:v>0.96279862067200006</c:v>
                </c:pt>
                <c:pt idx="55">
                  <c:v>0.94242049999999999</c:v>
                </c:pt>
                <c:pt idx="56">
                  <c:v>0.91791596339199988</c:v>
                </c:pt>
                <c:pt idx="57">
                  <c:v>0.8894591375680001</c:v>
                </c:pt>
                <c:pt idx="58">
                  <c:v>0.85723493580800003</c:v>
                </c:pt>
                <c:pt idx="59">
                  <c:v>0.8214380557119999</c:v>
                </c:pt>
                <c:pt idx="60">
                  <c:v>0.78227200000000008</c:v>
                </c:pt>
                <c:pt idx="61">
                  <c:v>0.73994812035200008</c:v>
                </c:pt>
                <c:pt idx="62">
                  <c:v>0.69468468428800001</c:v>
                </c:pt>
                <c:pt idx="63">
                  <c:v>0.64670596508800005</c:v>
                </c:pt>
                <c:pt idx="64">
                  <c:v>0.59624135475199991</c:v>
                </c:pt>
                <c:pt idx="65">
                  <c:v>0.54352449999999985</c:v>
                </c:pt>
                <c:pt idx="66">
                  <c:v>0.48879246131200016</c:v>
                </c:pt>
                <c:pt idx="67">
                  <c:v>0.43228489500800005</c:v>
                </c:pt>
                <c:pt idx="68">
                  <c:v>0.3742432583680001</c:v>
                </c:pt>
                <c:pt idx="69">
                  <c:v>0.31491003779199989</c:v>
                </c:pt>
                <c:pt idx="70">
                  <c:v>0.25452800000000003</c:v>
                </c:pt>
                <c:pt idx="71">
                  <c:v>0.19333946627199988</c:v>
                </c:pt>
                <c:pt idx="72">
                  <c:v>0.1315856097280001</c:v>
                </c:pt>
                <c:pt idx="73">
                  <c:v>6.9505775648000145E-2</c:v>
                </c:pt>
                <c:pt idx="74">
                  <c:v>7.3368248320000995E-3</c:v>
                </c:pt>
                <c:pt idx="75">
                  <c:v>-5.46875E-2</c:v>
                </c:pt>
                <c:pt idx="76">
                  <c:v>-0.11633718476800009</c:v>
                </c:pt>
                <c:pt idx="77">
                  <c:v>-0.17738653155199996</c:v>
                </c:pt>
                <c:pt idx="78">
                  <c:v>-0.23761472307199999</c:v>
                </c:pt>
                <c:pt idx="79">
                  <c:v>-0.29680636412800004</c:v>
                </c:pt>
                <c:pt idx="80">
                  <c:v>-0.35475199999999979</c:v>
                </c:pt>
                <c:pt idx="81">
                  <c:v>-0.41124861180799993</c:v>
                </c:pt>
                <c:pt idx="82">
                  <c:v>-0.46610008883199999</c:v>
                </c:pt>
                <c:pt idx="83">
                  <c:v>-0.51911767779200002</c:v>
                </c:pt>
                <c:pt idx="84">
                  <c:v>-0.57012040908799999</c:v>
                </c:pt>
                <c:pt idx="85">
                  <c:v>-0.61893549999999997</c:v>
                </c:pt>
                <c:pt idx="86">
                  <c:v>-0.66539873484799994</c:v>
                </c:pt>
                <c:pt idx="87">
                  <c:v>-0.70935482211199996</c:v>
                </c:pt>
                <c:pt idx="88">
                  <c:v>-0.75065772851199997</c:v>
                </c:pt>
                <c:pt idx="89">
                  <c:v>-0.78917099004799995</c:v>
                </c:pt>
                <c:pt idx="90">
                  <c:v>-0.82476799999999995</c:v>
                </c:pt>
                <c:pt idx="91">
                  <c:v>-0.85733227388800004</c:v>
                </c:pt>
                <c:pt idx="92">
                  <c:v>-0.88675769139199989</c:v>
                </c:pt>
                <c:pt idx="93">
                  <c:v>-0.91294871523199994</c:v>
                </c:pt>
                <c:pt idx="94">
                  <c:v>-0.93582058700799997</c:v>
                </c:pt>
                <c:pt idx="95">
                  <c:v>-0.95529949999999997</c:v>
                </c:pt>
                <c:pt idx="96">
                  <c:v>-0.97132274892800008</c:v>
                </c:pt>
                <c:pt idx="97">
                  <c:v>-0.98383885667199988</c:v>
                </c:pt>
                <c:pt idx="98">
                  <c:v>-0.99280767795199998</c:v>
                </c:pt>
                <c:pt idx="99">
                  <c:v>-0.9982004799680001</c:v>
                </c:pt>
                <c:pt idx="100">
                  <c:v>-1</c:v>
                </c:pt>
                <c:pt idx="101">
                  <c:v>-0.9982004799680001</c:v>
                </c:pt>
                <c:pt idx="102">
                  <c:v>-0.99280767795199998</c:v>
                </c:pt>
                <c:pt idx="103">
                  <c:v>-0.98383885667199988</c:v>
                </c:pt>
                <c:pt idx="104">
                  <c:v>-0.97132274892800008</c:v>
                </c:pt>
                <c:pt idx="105">
                  <c:v>-0.95529949999999997</c:v>
                </c:pt>
                <c:pt idx="106">
                  <c:v>-0.93582058700799997</c:v>
                </c:pt>
                <c:pt idx="107">
                  <c:v>-0.91294871523199994</c:v>
                </c:pt>
                <c:pt idx="108">
                  <c:v>-0.88675769139199989</c:v>
                </c:pt>
                <c:pt idx="109">
                  <c:v>-0.85733227388800004</c:v>
                </c:pt>
                <c:pt idx="110">
                  <c:v>-0.82476799999999995</c:v>
                </c:pt>
                <c:pt idx="111">
                  <c:v>-0.78917099004799995</c:v>
                </c:pt>
                <c:pt idx="112">
                  <c:v>-0.75065772851199997</c:v>
                </c:pt>
                <c:pt idx="113">
                  <c:v>-0.70935482211199996</c:v>
                </c:pt>
                <c:pt idx="114">
                  <c:v>-0.66539873484799994</c:v>
                </c:pt>
                <c:pt idx="115">
                  <c:v>-0.61893549999999997</c:v>
                </c:pt>
                <c:pt idx="116">
                  <c:v>-0.57012040908799999</c:v>
                </c:pt>
                <c:pt idx="117">
                  <c:v>-0.51911767779200002</c:v>
                </c:pt>
                <c:pt idx="118">
                  <c:v>-0.46610008883199999</c:v>
                </c:pt>
                <c:pt idx="119">
                  <c:v>-0.41124861180799993</c:v>
                </c:pt>
                <c:pt idx="120">
                  <c:v>-0.35475199999999979</c:v>
                </c:pt>
                <c:pt idx="121">
                  <c:v>-0.29680636412800004</c:v>
                </c:pt>
                <c:pt idx="122">
                  <c:v>-0.23761472307199999</c:v>
                </c:pt>
                <c:pt idx="123">
                  <c:v>-0.17738653155199996</c:v>
                </c:pt>
                <c:pt idx="124">
                  <c:v>-0.11633718476800009</c:v>
                </c:pt>
                <c:pt idx="125">
                  <c:v>-5.46875E-2</c:v>
                </c:pt>
                <c:pt idx="126">
                  <c:v>7.3368248320000995E-3</c:v>
                </c:pt>
                <c:pt idx="127">
                  <c:v>6.9505775648000145E-2</c:v>
                </c:pt>
                <c:pt idx="128">
                  <c:v>0.1315856097280001</c:v>
                </c:pt>
                <c:pt idx="129">
                  <c:v>0.19333946627199988</c:v>
                </c:pt>
                <c:pt idx="130">
                  <c:v>0.25452800000000003</c:v>
                </c:pt>
                <c:pt idx="131">
                  <c:v>0.31491003779199989</c:v>
                </c:pt>
                <c:pt idx="132">
                  <c:v>0.3742432583680001</c:v>
                </c:pt>
                <c:pt idx="133">
                  <c:v>0.43228489500800005</c:v>
                </c:pt>
                <c:pt idx="134">
                  <c:v>0.48879246131200016</c:v>
                </c:pt>
                <c:pt idx="135">
                  <c:v>0.54352449999999985</c:v>
                </c:pt>
                <c:pt idx="136">
                  <c:v>0.59624135475199991</c:v>
                </c:pt>
                <c:pt idx="137">
                  <c:v>0.64670596508800005</c:v>
                </c:pt>
                <c:pt idx="138">
                  <c:v>0.69468468428800001</c:v>
                </c:pt>
                <c:pt idx="139">
                  <c:v>0.73994812035200008</c:v>
                </c:pt>
                <c:pt idx="140">
                  <c:v>0.78227200000000008</c:v>
                </c:pt>
                <c:pt idx="141">
                  <c:v>0.8214380557119999</c:v>
                </c:pt>
                <c:pt idx="142">
                  <c:v>0.85723493580800003</c:v>
                </c:pt>
                <c:pt idx="143">
                  <c:v>0.8894591375680001</c:v>
                </c:pt>
                <c:pt idx="144">
                  <c:v>0.91791596339199988</c:v>
                </c:pt>
                <c:pt idx="145">
                  <c:v>0.94242049999999999</c:v>
                </c:pt>
                <c:pt idx="146">
                  <c:v>0.96279862067200006</c:v>
                </c:pt>
                <c:pt idx="147">
                  <c:v>0.9788880105279999</c:v>
                </c:pt>
                <c:pt idx="148">
                  <c:v>0.990539214848</c:v>
                </c:pt>
                <c:pt idx="149">
                  <c:v>0.99761671043200006</c:v>
                </c:pt>
                <c:pt idx="150">
                  <c:v>1</c:v>
                </c:pt>
                <c:pt idx="151">
                  <c:v>0.99758472963199996</c:v>
                </c:pt>
                <c:pt idx="152">
                  <c:v>0.99028382924799996</c:v>
                </c:pt>
                <c:pt idx="153">
                  <c:v>0.97802867612799993</c:v>
                </c:pt>
                <c:pt idx="154">
                  <c:v>0.96077028147200005</c:v>
                </c:pt>
                <c:pt idx="155">
                  <c:v>0.93848049999999983</c:v>
                </c:pt>
                <c:pt idx="156">
                  <c:v>0.9111532625919998</c:v>
                </c:pt>
                <c:pt idx="157">
                  <c:v>0.878805831968</c:v>
                </c:pt>
                <c:pt idx="158">
                  <c:v>0.84148008140800012</c:v>
                </c:pt>
                <c:pt idx="159">
                  <c:v>0.79924379651200017</c:v>
                </c:pt>
                <c:pt idx="160">
                  <c:v>0.75219200000000008</c:v>
                </c:pt>
                <c:pt idx="161">
                  <c:v>0.70044829955200005</c:v>
                </c:pt>
                <c:pt idx="162">
                  <c:v>0.64416625868800004</c:v>
                </c:pt>
                <c:pt idx="163">
                  <c:v>0.58353079068799996</c:v>
                </c:pt>
                <c:pt idx="164">
                  <c:v>0.51875957555200003</c:v>
                </c:pt>
                <c:pt idx="165">
                  <c:v>0.4501044999999998</c:v>
                </c:pt>
                <c:pt idx="166">
                  <c:v>0.37785312051199971</c:v>
                </c:pt>
                <c:pt idx="167">
                  <c:v>0.30233014940799952</c:v>
                </c:pt>
                <c:pt idx="168">
                  <c:v>0.22389896396799946</c:v>
                </c:pt>
                <c:pt idx="169">
                  <c:v>0.14296313859200038</c:v>
                </c:pt>
                <c:pt idx="170">
                  <c:v>5.9968000000000354E-2</c:v>
                </c:pt>
                <c:pt idx="171">
                  <c:v>-2.4597794528000039E-2</c:v>
                </c:pt>
                <c:pt idx="172">
                  <c:v>-0.11020065587200001</c:v>
                </c:pt>
                <c:pt idx="173">
                  <c:v>-0.19626043875199961</c:v>
                </c:pt>
                <c:pt idx="174">
                  <c:v>-0.282148794368</c:v>
                </c:pt>
                <c:pt idx="175">
                  <c:v>-0.3671875</c:v>
                </c:pt>
                <c:pt idx="176">
                  <c:v>-0.4506467655680001</c:v>
                </c:pt>
                <c:pt idx="177">
                  <c:v>-0.53174351715200008</c:v>
                </c:pt>
                <c:pt idx="178">
                  <c:v>-0.60963965747200011</c:v>
                </c:pt>
                <c:pt idx="179">
                  <c:v>-0.68344030332800043</c:v>
                </c:pt>
                <c:pt idx="180">
                  <c:v>-0.75219200000000042</c:v>
                </c:pt>
                <c:pt idx="181">
                  <c:v>-0.81488091260800044</c:v>
                </c:pt>
                <c:pt idx="182">
                  <c:v>-0.87043099443199989</c:v>
                </c:pt>
                <c:pt idx="183">
                  <c:v>-0.91770213219199959</c:v>
                </c:pt>
                <c:pt idx="184">
                  <c:v>-0.95548826828799993</c:v>
                </c:pt>
                <c:pt idx="185">
                  <c:v>-0.98251549999999988</c:v>
                </c:pt>
                <c:pt idx="186">
                  <c:v>-0.99744015564800015</c:v>
                </c:pt>
                <c:pt idx="187">
                  <c:v>-0.99884684771200005</c:v>
                </c:pt>
                <c:pt idx="188">
                  <c:v>-0.98524650291200011</c:v>
                </c:pt>
                <c:pt idx="189">
                  <c:v>-0.95507436924800015</c:v>
                </c:pt>
                <c:pt idx="190">
                  <c:v>-0.90668799999999972</c:v>
                </c:pt>
                <c:pt idx="191">
                  <c:v>-0.83836521468799963</c:v>
                </c:pt>
                <c:pt idx="192">
                  <c:v>-0.74830203699200004</c:v>
                </c:pt>
                <c:pt idx="193">
                  <c:v>-0.63461060963199922</c:v>
                </c:pt>
                <c:pt idx="194">
                  <c:v>-0.49531708620800091</c:v>
                </c:pt>
                <c:pt idx="195">
                  <c:v>-0.32835950000000003</c:v>
                </c:pt>
                <c:pt idx="196">
                  <c:v>-0.1315856097280001</c:v>
                </c:pt>
                <c:pt idx="197">
                  <c:v>9.7249277727999517E-2</c:v>
                </c:pt>
                <c:pt idx="198">
                  <c:v>0.36048450764799966</c:v>
                </c:pt>
                <c:pt idx="199">
                  <c:v>0.66055630083199945</c:v>
                </c:pt>
                <c:pt idx="200">
                  <c:v>1</c:v>
                </c:pt>
              </c:numCache>
            </c:numRef>
          </c:val>
          <c:smooth val="1"/>
        </c:ser>
        <c:dLbls>
          <c:showLegendKey val="0"/>
          <c:showVal val="0"/>
          <c:showCatName val="0"/>
          <c:showSerName val="0"/>
          <c:showPercent val="0"/>
          <c:showBubbleSize val="0"/>
        </c:dLbls>
        <c:marker val="1"/>
        <c:smooth val="0"/>
        <c:axId val="398429224"/>
        <c:axId val="398429616"/>
      </c:lineChart>
      <c:catAx>
        <c:axId val="3984292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E6453"/>
                </a:solidFill>
                <a:latin typeface="Arial"/>
              </a:defRPr>
            </a:pPr>
            <a:endParaRPr lang="he-IL"/>
          </a:p>
        </c:txPr>
        <c:crossAx val="398429616"/>
        <c:crosses val="autoZero"/>
        <c:auto val="1"/>
        <c:lblAlgn val="ctr"/>
        <c:lblOffset val="100"/>
        <c:tickLblSkip val="25"/>
        <c:noMultiLvlLbl val="1"/>
      </c:catAx>
      <c:valAx>
        <c:axId val="398429616"/>
        <c:scaling>
          <c:orientation val="minMax"/>
          <c:max val="1.2"/>
          <c:min val="-1.2"/>
        </c:scaling>
        <c:delete val="0"/>
        <c:axPos val="l"/>
        <c:majorGridlines>
          <c:spPr>
            <a:ln w="6350" cap="flat">
              <a:solidFill>
                <a:srgbClr val="D8C7A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453"/>
                </a:solidFill>
                <a:latin typeface="Arial"/>
              </a:defRPr>
            </a:pPr>
            <a:endParaRPr lang="he-IL"/>
          </a:p>
        </c:txPr>
        <c:crossAx val="39842922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he-IL"/>
  <c:roundedCorners val="1"/>
  <c:style val="2"/>
  <c:chart>
    <c:autoTitleDeleted val="1"/>
    <c:plotArea>
      <c:layout/>
      <c:barChart>
        <c:barDir val="col"/>
        <c:grouping val="clustered"/>
        <c:varyColors val="0"/>
        <c:ser>
          <c:idx val="0"/>
          <c:order val="0"/>
          <c:tx>
            <c:strRef>
              <c:f>Sheet1!$B$1</c:f>
              <c:strCache>
                <c:ptCount val="1"/>
                <c:pt idx="0">
                  <c:v>digits</c:v>
                </c:pt>
              </c:strCache>
            </c:strRef>
          </c:tx>
          <c:spPr>
            <a:solidFill>
              <a:srgbClr val="7F8A3A"/>
            </a:solidFill>
            <a:effectLst/>
          </c:spPr>
          <c:invertIfNegative val="0"/>
          <c:dLbls>
            <c:numFmt formatCode="#,##0" sourceLinked="0"/>
            <c:spPr>
              <a:noFill/>
              <a:ln>
                <a:noFill/>
              </a:ln>
              <a:effectLst/>
            </c:spPr>
            <c:txPr>
              <a:bodyPr/>
              <a:lstStyle/>
              <a:p>
                <a:pPr>
                  <a:defRPr sz="1100" b="0" i="0" u="none" strike="noStrike">
                    <a:solidFill>
                      <a:srgbClr val="2B2722"/>
                    </a:solidFill>
                    <a:latin typeface="Arial"/>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N=2</c:v>
                </c:pt>
                <c:pt idx="1">
                  <c:v>N=4</c:v>
                </c:pt>
                <c:pt idx="2">
                  <c:v>N=8</c:v>
                </c:pt>
                <c:pt idx="3">
                  <c:v>N=12</c:v>
                </c:pt>
              </c:strCache>
            </c:strRef>
          </c:cat>
          <c:val>
            <c:numRef>
              <c:f>Sheet1!$B$2:$B$5</c:f>
              <c:numCache>
                <c:formatCode>General</c:formatCode>
                <c:ptCount val="4"/>
                <c:pt idx="0">
                  <c:v>15.1</c:v>
                </c:pt>
                <c:pt idx="1">
                  <c:v>15.1</c:v>
                </c:pt>
                <c:pt idx="2">
                  <c:v>12.7</c:v>
                </c:pt>
                <c:pt idx="3">
                  <c:v>9.5</c:v>
                </c:pt>
              </c:numCache>
            </c:numRef>
          </c:val>
        </c:ser>
        <c:dLbls>
          <c:showLegendKey val="0"/>
          <c:showVal val="1"/>
          <c:showCatName val="0"/>
          <c:showSerName val="0"/>
          <c:showPercent val="0"/>
          <c:showBubbleSize val="0"/>
        </c:dLbls>
        <c:gapWidth val="150"/>
        <c:axId val="418055080"/>
        <c:axId val="418058216"/>
      </c:barChart>
      <c:catAx>
        <c:axId val="41805508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453"/>
                </a:solidFill>
                <a:latin typeface="Arial"/>
              </a:defRPr>
            </a:pPr>
            <a:endParaRPr lang="he-IL"/>
          </a:p>
        </c:txPr>
        <c:crossAx val="418058216"/>
        <c:crosses val="autoZero"/>
        <c:auto val="1"/>
        <c:lblAlgn val="ctr"/>
        <c:lblOffset val="100"/>
        <c:noMultiLvlLbl val="1"/>
      </c:catAx>
      <c:valAx>
        <c:axId val="418058216"/>
        <c:scaling>
          <c:orientation val="minMax"/>
          <c:max val="17"/>
          <c:min val="0"/>
        </c:scaling>
        <c:delete val="0"/>
        <c:axPos val="l"/>
        <c:majorGridlines>
          <c:spPr>
            <a:ln w="6350" cap="flat">
              <a:solidFill>
                <a:srgbClr val="D8C7A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453"/>
                </a:solidFill>
                <a:latin typeface="Arial"/>
              </a:defRPr>
            </a:pPr>
            <a:endParaRPr lang="he-IL"/>
          </a:p>
        </c:txPr>
        <c:crossAx val="41805508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83322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numerical-methods topics — finding the roots of a Chebyshev polynomial, and the IEEE-754 rounding rules — grounded in concrete x86-64 assembly that does every floating-point step on the x87 FPU. This version shows the actual code behind each idea. Four small programs back the talk, including muller_demo.asm, which traces the iteration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share one piece of hardware. Left: Muller's method finds the real roots of T(2N) from values alone. Right: x87 rounding squeezes exact reals into doubles. The new structure pairs each idea with the real code that implements it — recurrence build, a Muller step, deflation, a live iteration trace, and the rounding helpers.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Chebyshev polynomials satisfy T_n(cos theta)=cos(n theta), so values stay in [-1,1] and roots are cosines of evenly spaced angles. The program FINDS roots from the recurrence-built coefficients, then uses the cosine formula only to CHECK. Even degree 2N gives 2N symmetric simple roots. The chart is T6 with six crossings.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x87 is a register stack — eight 80-bit slots, st0 on top. fld and its relatives PUSH a value (a memory double, an integer via fild, or a constant like fld1, fldz, fldpi). fst copies the top to memory and keeps it; fstp stores and pops. fxch swaps, fchs negates, fabs takes magnitude. Memory operands are 64-bit doubles (qword) widened to 80 bits on the stack.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fadd/fsub/fmul/fdiv with a memory operand update st0 in place. fadd st0,st0 doubles the top — the ×2 in the recurrence. The p-suffixed forms combine st1 and st0 then pop, which is how we collapse a two-element computation to one result. fsqrt, frndint, fcos are single-operand. For comparisons the FPU sets its own condition codes: ftst against zero, or fcomip which sets the CPU's EFLAGS and pops so we can branch with jb/jnc; fnstsw plus sahf bridges the FPU status word to the CPU flags. fstcw/fldcw read and write the control word that holds RC and PC.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literal recurrence in x87. We seed T0 and T1, then each pass computes next[i] = 2*cur[i-1] - prev[i]. Two assembly tricks: multiplying by x is an index shift (cur[i-1] lands in next[i]), and 'fadd st0,st0' doubles the stack top to get the factor 2 in one op. fchs negates for the constant term. The three coefficient buffers rotate by swapping pointers — no copying. After d-1 passes we have T(2N), leading coefficient two to the d-minus-one.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a fair question: there is no memory label named prev or next. Those words are comments for three pointer registers — r12, r13, r14 — pointing at the three real buffers buf0, buf1, buf2 declared in .bss. Each pass computes T(k) into the buffer that next points to, then rotates the pointers: prev takes cur, cur takes next, next reuses the old prev buffer. The table traces it: from T0=1 and T1=x we get T2, then T3, then T4, each as 2x times cur minus prev. No coefficients are ever copied — only three pointers move.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secant fits a line through two points, Newton uses a tangent (needs a derivative); Muller fits a parabola through the three most recent points and takes the root closest to the latest point. The diagram shows x0,x1,x2, the parabola, its two roots, and x3 the chosen one. A parabola can have complex roots, so Muller can leave the real axis. Order about 1.84.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iteration: form step sizes h0,h1 and divided differences d0,d1; A is the parabola's curvature, B its slope at x2, C its value. The update solves the quadratic. The crucial detail is the sign: choose it so the denominator is largest in magnitude — that picks the nearer root and avoids catastrophic cancellation. Then slide the window and repeat.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of muller_demo.asm on T3, which has the root cos(pi/6). Starting from 0.5,0.7,0.9 the residual collapses: 8.5e-3, then 3.2e-5, then 1e-9, then 4e-16 — the number of correct digits multiplies by about 1.8 each step, exactly the 1.84 order. Four iterations hit the double-precision floor. Because the start and root are real, the imaginary part stays zero throughout.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one full Muller step is a sequence of calls to complex helpers — subtract, divide, multiply, square root — each taking destination, a, b as pointers. The update x3 = x2 - 2C/den and the re-evaluation f3 = P(x3) close the loop. Right: the complex multiply itself is pure x87 — load, fmul, fsubp for the real part; load, fmul, faddp for the imaginary part. No SSE; everything lives on the eight-register x87 stack.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for the Muller code. Every cell is a complex number stored as two doubles — real part at offset 0, imaginary at offset 8. mx0,mx1,mx2 are the three current guesses; mx3 the new one; the mf cells are their function values. mh0 and mh1 are the spacings between consecutive points. md0,md1 are slopes; mA,mB,mC the local parabola; mdsc the discriminant; mbp/mbm the two denominator candidates; mden the chosen one; mnum the numerator 2C; and mq the actual step, so x3 = x2 − mq. The card calls out the four you asked about: mx0 oldest point, mx1 middle point, mh0 the spacing x1−x0, and mq the correction.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build T(2N), run Muller in complex arithmetic, deflate, repeat to degree one, then verify against the exact cosine. The symmetry note matters: T(2N) is even, so a purely real start can stall; the starting triple carries a tiny imaginary part to break that symmetry. The next slide shows the deflation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Deflation is synthetic division — Horner's rule backwards: q[i-1] = coef[i] + r times q[i], one fmul and one fadd per coefficient. The leftover carry is the remainder, which is essentially zero because r is a root. Since Chebyshev roots are real we divide by a real linear factor, so the coefficients stay real. Removing the found root keeps Muller from converging to it again.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Horner's scheme evaluates a degree-n polynomial with exactly n multiplies and n adds, by nesting: c0 + x(c1 + x(c2 + ...)). Start the accumulator at the leading coefficient, then repeatedly multiply by x and add the next coefficient. It is fewer operations than forming powers separately, and it is more accurate. The numeric trace rebuilds T3 step by step. In ceval the accumulator is complex, so acc*z is a complex multiply (cmul) while the real coefficient is added to the real part only. Deflation is the same recurrence run backwards — synthetic division, q[i-1] = coef[i] + r*q[i].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T8 written out: 128x^8 - 256x^6 + 160x^4 - 32x^2 + 1, leading coefficient 128 = 2^7, exactly what the recurrence produces. The left code evaluates the polynomial at a complex point by Horner's rule — accumulator times z (complex multiply) plus the next real coefficient. The right code verifies a root with x87 transcendentals: FLDPI, an integer load and multiply for (2k-1), divide to form the angle, and FCOS gives the exact root. Build, evaluate, verify — all on the FPU.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chebyshev 4 — degree eight. Computed versus exact cos((2k-1)pi/16), with the error. Every error is at 1e-16, machine epsilon: at this degree the method is exact to the last bit. Note the plus/minus symmetry. Slide eighteen shows what happens as N grows.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is controlled by one 16-bit register. The RC field, bits 11 and 10, selects the direction — the four modes in the table. The PC field, bits 9 and 8, sets working precision. A small helper masks these bits and reloads the word; that one change drives every later result. The next slide shows that helper.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mechanism. FSTCW reads the control word into memory; we AND with a mask to clear just the field, OR in the new bits, and FLDCW commits it — every other flag preserved. RC lives at bits 11-10, so we shift left by 10. set_prec_double does the same for the precision field. After FLDCW, every subsequent FPU op obeys the mode. Eleven lines control all four rounding directions.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exact result falls between two representable doubles; down/chop take the lower, up the higher, nearest the closer. The tie case uses round-half-to-even to avoid biasing sums. The code is the proof-of-concept: install the mode with set_round, then FRNDINT rounds to integer in that mode — that is exactly the table on the left, where 0.5 and 2.5 both go to even values under 'near'.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demonstration. One-third has no exact binary form, so the division rounds. We fix precision at 53 bits with set_prec_double, set the mode, then one FDIV. The last digit changes: up gives 38 and 75, down and chop give 31 and 62, nearest sits between. Same instruction, same inputs — only two bits of the control word moved. Rounding happens inside arithmetic, not just at printing.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demonstration, tying the halves together. The positive root of T2 is the square root of one half, also cos(pi/4) — irrational, so its double is rounded. A single FSQRT, or alternatively FLDPI/FDIVP/FCOS, rounds per the active mode. Read the bit column: down and chop pick bcc, nearest and up pick bcd. The bonus: nearest and up share bits yet print 757 versus 758, because printf rounds its decimal conversion in the active mode. Even one transcendental instruction rounds.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N grows the correct-digit count falls from about fifteen to about ten by N=12 — not a Muller failure. Two causes: the monomial basis is badly conditioned (leading term two-to-the 2N-minus-one), and deflation accumulates error. Production code avoids both: closed form, or companion-matrix eigenvalues with no deflation.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build and where everything lives. Three-line build with nasm and gcc minus-no-pie; each program takes simple arguments. The table maps files to their key routines and the slide where each appears. The right column lists the five reusable building blocks: the recurrence build, the complex helpers, the Horner evaluator, the Muller step with its sign rule, and deflation — plus the rounding mechanism in set_round.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Muller is a derivative-free, parabola-based finder of order about 1.84 that handles complex roots; the pipeline is recurrence, Muller, deflation, verification; x87 rounding is the control word's RC field with four directions, defaulting to ties-to-even; and the unifying lesson is that the rounding mode decides the last bit — of one third and of a Chebyshev root alike. Thank you — questions welcome.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914400" y="2011680"/>
            <a:ext cx="10360152" cy="822960"/>
          </a:xfrm>
          <a:prstGeom prst="rect">
            <a:avLst/>
          </a:prstGeom>
          <a:noFill/>
          <a:ln/>
        </p:spPr>
        <p:txBody>
          <a:bodyPr wrap="square" lIns="0" tIns="0" rIns="0" bIns="0" rtlCol="0" anchor="ctr"/>
          <a:lstStyle/>
          <a:p>
            <a:pPr marL="0" indent="0" algn="ctr">
              <a:buNone/>
            </a:pPr>
            <a:r>
              <a:rPr lang="en-US" sz="4600" dirty="0">
                <a:solidFill>
                  <a:srgbClr val="2A241D"/>
                </a:solidFill>
                <a:latin typeface="Cambria" pitchFamily="34" charset="0"/>
                <a:ea typeface="Cambria" pitchFamily="34" charset="-122"/>
                <a:cs typeface="Cambria" pitchFamily="34" charset="-120"/>
              </a:rPr>
              <a:t>CHEBYSHEV ROOTS</a:t>
            </a:r>
            <a:endParaRPr lang="en-US" sz="4600" dirty="0"/>
          </a:p>
        </p:txBody>
      </p:sp>
      <p:sp>
        <p:nvSpPr>
          <p:cNvPr id="12" name="Shape 10"/>
          <p:cNvSpPr/>
          <p:nvPr/>
        </p:nvSpPr>
        <p:spPr>
          <a:xfrm>
            <a:off x="2423160" y="2880360"/>
            <a:ext cx="7342632" cy="0"/>
          </a:xfrm>
          <a:prstGeom prst="line">
            <a:avLst/>
          </a:prstGeom>
          <a:noFill/>
          <a:ln w="15875">
            <a:solidFill>
              <a:srgbClr val="7F8A3A"/>
            </a:solidFill>
            <a:prstDash val="solid"/>
          </a:ln>
        </p:spPr>
      </p:sp>
      <p:sp>
        <p:nvSpPr>
          <p:cNvPr id="13" name="Text 11"/>
          <p:cNvSpPr/>
          <p:nvPr/>
        </p:nvSpPr>
        <p:spPr>
          <a:xfrm>
            <a:off x="914400" y="2971800"/>
            <a:ext cx="10360152" cy="640080"/>
          </a:xfrm>
          <a:prstGeom prst="rect">
            <a:avLst/>
          </a:prstGeom>
          <a:noFill/>
          <a:ln/>
        </p:spPr>
        <p:txBody>
          <a:bodyPr wrap="square" lIns="0" tIns="0" rIns="0" bIns="0" rtlCol="0" anchor="ctr"/>
          <a:lstStyle/>
          <a:p>
            <a:pPr marL="0" indent="0" algn="ctr">
              <a:buNone/>
            </a:pPr>
            <a:r>
              <a:rPr lang="en-US" sz="3000" dirty="0">
                <a:solidFill>
                  <a:srgbClr val="6E6453"/>
                </a:solidFill>
                <a:latin typeface="Cambria" pitchFamily="34" charset="0"/>
                <a:ea typeface="Cambria" pitchFamily="34" charset="-122"/>
                <a:cs typeface="Cambria" pitchFamily="34" charset="-120"/>
              </a:rPr>
              <a:t>&amp; the </a:t>
            </a:r>
            <a:r>
              <a:rPr lang="en-US" sz="3000" b="1" dirty="0">
                <a:solidFill>
                  <a:srgbClr val="586127"/>
                </a:solidFill>
                <a:latin typeface="Cambria" pitchFamily="34" charset="0"/>
                <a:ea typeface="Cambria" pitchFamily="34" charset="-122"/>
                <a:cs typeface="Cambria" pitchFamily="34" charset="-120"/>
              </a:rPr>
              <a:t>x87</a:t>
            </a:r>
            <a:r>
              <a:rPr lang="en-US" sz="3000" dirty="0">
                <a:solidFill>
                  <a:srgbClr val="6E6453"/>
                </a:solidFill>
                <a:latin typeface="Cambria" pitchFamily="34" charset="0"/>
                <a:ea typeface="Cambria" pitchFamily="34" charset="-122"/>
                <a:cs typeface="Cambria" pitchFamily="34" charset="-120"/>
              </a:rPr>
              <a:t> rounding modes</a:t>
            </a:r>
            <a:endParaRPr lang="en-US" sz="3000" dirty="0"/>
          </a:p>
        </p:txBody>
      </p:sp>
      <p:sp>
        <p:nvSpPr>
          <p:cNvPr id="14" name="Text 12"/>
          <p:cNvSpPr/>
          <p:nvPr/>
        </p:nvSpPr>
        <p:spPr>
          <a:xfrm>
            <a:off x="1965960" y="3840480"/>
            <a:ext cx="8257032" cy="731520"/>
          </a:xfrm>
          <a:prstGeom prst="rect">
            <a:avLst/>
          </a:prstGeom>
          <a:noFill/>
          <a:ln/>
        </p:spPr>
        <p:txBody>
          <a:bodyPr wrap="square" lIns="0" tIns="0" rIns="0" bIns="0" rtlCol="0" anchor="ctr"/>
          <a:lstStyle/>
          <a:p>
            <a:pPr marL="0" indent="0" algn="ctr">
              <a:buNone/>
            </a:pPr>
            <a:r>
              <a:rPr lang="en-US" sz="1500" i="1" dirty="0">
                <a:solidFill>
                  <a:srgbClr val="2B2722"/>
                </a:solidFill>
                <a:latin typeface="Cambria" pitchFamily="34" charset="0"/>
                <a:ea typeface="Cambria" pitchFamily="34" charset="-122"/>
                <a:cs typeface="Cambria" pitchFamily="34" charset="-120"/>
              </a:rPr>
              <a:t>Muller's method, polynomial deflation, and IEEE-754 rounding — with the actual x86-64 / x87 assembly that implements each idea.</a:t>
            </a:r>
            <a:endParaRPr lang="en-US" sz="1500" dirty="0"/>
          </a:p>
        </p:txBody>
      </p:sp>
      <p:sp>
        <p:nvSpPr>
          <p:cNvPr id="15" name="Shape 13"/>
          <p:cNvSpPr/>
          <p:nvPr/>
        </p:nvSpPr>
        <p:spPr>
          <a:xfrm>
            <a:off x="909828" y="4754880"/>
            <a:ext cx="2468880" cy="457200"/>
          </a:xfrm>
          <a:prstGeom prst="roundRect">
            <a:avLst>
              <a:gd name="adj" fmla="val 16000"/>
            </a:avLst>
          </a:prstGeom>
          <a:solidFill>
            <a:srgbClr val="F6EFDE"/>
          </a:solidFill>
          <a:ln w="12700">
            <a:solidFill>
              <a:srgbClr val="7F8A3A"/>
            </a:solidFill>
            <a:prstDash val="solid"/>
          </a:ln>
        </p:spPr>
      </p:sp>
      <p:sp>
        <p:nvSpPr>
          <p:cNvPr id="16" name="Text 14"/>
          <p:cNvSpPr/>
          <p:nvPr/>
        </p:nvSpPr>
        <p:spPr>
          <a:xfrm>
            <a:off x="909828" y="4754880"/>
            <a:ext cx="2468880" cy="457200"/>
          </a:xfrm>
          <a:prstGeom prst="rect">
            <a:avLst/>
          </a:prstGeom>
          <a:noFill/>
          <a:ln/>
        </p:spPr>
        <p:txBody>
          <a:bodyPr wrap="square" lIns="0" tIns="0" rIns="0" bIns="0" rtlCol="0" anchor="ctr"/>
          <a:lstStyle/>
          <a:p>
            <a:pPr marL="0" indent="0" algn="ctr">
              <a:buNone/>
            </a:pPr>
            <a:r>
              <a:rPr lang="en-US" sz="1200" dirty="0">
                <a:solidFill>
                  <a:srgbClr val="586127"/>
                </a:solidFill>
                <a:latin typeface="Consolas" pitchFamily="34" charset="0"/>
                <a:ea typeface="Consolas" pitchFamily="34" charset="-122"/>
                <a:cs typeface="Consolas" pitchFamily="34" charset="-120"/>
              </a:rPr>
              <a:t>chebyshev.asm</a:t>
            </a:r>
            <a:endParaRPr lang="en-US" sz="1200" dirty="0"/>
          </a:p>
        </p:txBody>
      </p:sp>
      <p:sp>
        <p:nvSpPr>
          <p:cNvPr id="17" name="Shape 15"/>
          <p:cNvSpPr/>
          <p:nvPr/>
        </p:nvSpPr>
        <p:spPr>
          <a:xfrm>
            <a:off x="3543300" y="4754880"/>
            <a:ext cx="2468880" cy="457200"/>
          </a:xfrm>
          <a:prstGeom prst="roundRect">
            <a:avLst>
              <a:gd name="adj" fmla="val 16000"/>
            </a:avLst>
          </a:prstGeom>
          <a:solidFill>
            <a:srgbClr val="F6EFDE"/>
          </a:solidFill>
          <a:ln w="12700">
            <a:solidFill>
              <a:srgbClr val="7F8A3A"/>
            </a:solidFill>
            <a:prstDash val="solid"/>
          </a:ln>
        </p:spPr>
      </p:sp>
      <p:sp>
        <p:nvSpPr>
          <p:cNvPr id="18" name="Text 16"/>
          <p:cNvSpPr/>
          <p:nvPr/>
        </p:nvSpPr>
        <p:spPr>
          <a:xfrm>
            <a:off x="3543300" y="4754880"/>
            <a:ext cx="2468880" cy="457200"/>
          </a:xfrm>
          <a:prstGeom prst="rect">
            <a:avLst/>
          </a:prstGeom>
          <a:noFill/>
          <a:ln/>
        </p:spPr>
        <p:txBody>
          <a:bodyPr wrap="square" lIns="0" tIns="0" rIns="0" bIns="0" rtlCol="0" anchor="ctr"/>
          <a:lstStyle/>
          <a:p>
            <a:pPr marL="0" indent="0" algn="ctr">
              <a:buNone/>
            </a:pPr>
            <a:r>
              <a:rPr lang="en-US" sz="1200" dirty="0">
                <a:solidFill>
                  <a:srgbClr val="586127"/>
                </a:solidFill>
                <a:latin typeface="Consolas" pitchFamily="34" charset="0"/>
                <a:ea typeface="Consolas" pitchFamily="34" charset="-122"/>
                <a:cs typeface="Consolas" pitchFamily="34" charset="-120"/>
              </a:rPr>
              <a:t>rounding.asm</a:t>
            </a:r>
            <a:endParaRPr lang="en-US" sz="1200" dirty="0"/>
          </a:p>
        </p:txBody>
      </p:sp>
      <p:sp>
        <p:nvSpPr>
          <p:cNvPr id="19" name="Shape 17"/>
          <p:cNvSpPr/>
          <p:nvPr/>
        </p:nvSpPr>
        <p:spPr>
          <a:xfrm>
            <a:off x="6176772" y="4754880"/>
            <a:ext cx="2468880" cy="457200"/>
          </a:xfrm>
          <a:prstGeom prst="roundRect">
            <a:avLst>
              <a:gd name="adj" fmla="val 16000"/>
            </a:avLst>
          </a:prstGeom>
          <a:solidFill>
            <a:srgbClr val="F6EFDE"/>
          </a:solidFill>
          <a:ln w="12700">
            <a:solidFill>
              <a:srgbClr val="7F8A3A"/>
            </a:solidFill>
            <a:prstDash val="solid"/>
          </a:ln>
        </p:spPr>
      </p:sp>
      <p:sp>
        <p:nvSpPr>
          <p:cNvPr id="20" name="Text 18"/>
          <p:cNvSpPr/>
          <p:nvPr/>
        </p:nvSpPr>
        <p:spPr>
          <a:xfrm>
            <a:off x="6176772" y="4754880"/>
            <a:ext cx="2468880" cy="457200"/>
          </a:xfrm>
          <a:prstGeom prst="rect">
            <a:avLst/>
          </a:prstGeom>
          <a:noFill/>
          <a:ln/>
        </p:spPr>
        <p:txBody>
          <a:bodyPr wrap="square" lIns="0" tIns="0" rIns="0" bIns="0" rtlCol="0" anchor="ctr"/>
          <a:lstStyle/>
          <a:p>
            <a:pPr marL="0" indent="0" algn="ctr">
              <a:buNone/>
            </a:pPr>
            <a:r>
              <a:rPr lang="en-US" sz="1200" dirty="0">
                <a:solidFill>
                  <a:srgbClr val="586127"/>
                </a:solidFill>
                <a:latin typeface="Consolas" pitchFamily="34" charset="0"/>
                <a:ea typeface="Consolas" pitchFamily="34" charset="-122"/>
                <a:cs typeface="Consolas" pitchFamily="34" charset="-120"/>
              </a:rPr>
              <a:t>cheb_root_round.asm</a:t>
            </a:r>
            <a:endParaRPr lang="en-US" sz="1200" dirty="0"/>
          </a:p>
        </p:txBody>
      </p:sp>
      <p:sp>
        <p:nvSpPr>
          <p:cNvPr id="21" name="Shape 19"/>
          <p:cNvSpPr/>
          <p:nvPr/>
        </p:nvSpPr>
        <p:spPr>
          <a:xfrm>
            <a:off x="8810244" y="4754880"/>
            <a:ext cx="2468880" cy="457200"/>
          </a:xfrm>
          <a:prstGeom prst="roundRect">
            <a:avLst>
              <a:gd name="adj" fmla="val 16000"/>
            </a:avLst>
          </a:prstGeom>
          <a:solidFill>
            <a:srgbClr val="F6EFDE"/>
          </a:solidFill>
          <a:ln w="12700">
            <a:solidFill>
              <a:srgbClr val="7F8A3A"/>
            </a:solidFill>
            <a:prstDash val="solid"/>
          </a:ln>
        </p:spPr>
      </p:sp>
      <p:sp>
        <p:nvSpPr>
          <p:cNvPr id="22" name="Text 20"/>
          <p:cNvSpPr/>
          <p:nvPr/>
        </p:nvSpPr>
        <p:spPr>
          <a:xfrm>
            <a:off x="8810244" y="4754880"/>
            <a:ext cx="2468880" cy="457200"/>
          </a:xfrm>
          <a:prstGeom prst="rect">
            <a:avLst/>
          </a:prstGeom>
          <a:noFill/>
          <a:ln/>
        </p:spPr>
        <p:txBody>
          <a:bodyPr wrap="square" lIns="0" tIns="0" rIns="0" bIns="0" rtlCol="0" anchor="ctr"/>
          <a:lstStyle/>
          <a:p>
            <a:pPr marL="0" indent="0" algn="ctr">
              <a:buNone/>
            </a:pPr>
            <a:r>
              <a:rPr lang="en-US" sz="1200" dirty="0">
                <a:solidFill>
                  <a:srgbClr val="586127"/>
                </a:solidFill>
                <a:latin typeface="Consolas" pitchFamily="34" charset="0"/>
                <a:ea typeface="Consolas" pitchFamily="34" charset="-122"/>
                <a:cs typeface="Consolas" pitchFamily="34" charset="-120"/>
              </a:rPr>
              <a:t>muller_demo.asm</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 calcmode="lin" valueType="num">
                                      <p:cBhvr additive="base">
                                        <p:cTn id="13"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anim calcmode="lin" valueType="num">
                                      <p:cBhvr additive="base">
                                        <p:cTn id="25"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
                                            <p:txEl>
                                              <p:pRg st="0" end="0"/>
                                            </p:txEl>
                                          </p:spTgt>
                                        </p:tgtEl>
                                        <p:attrNameLst>
                                          <p:attrName>style.visibility</p:attrName>
                                        </p:attrNameLst>
                                      </p:cBhvr>
                                      <p:to>
                                        <p:strVal val="visible"/>
                                      </p:to>
                                    </p:set>
                                    <p:anim calcmode="lin" valueType="num">
                                      <p:cBhvr additive="base">
                                        <p:cTn id="31"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Two problems, one FPU</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691640"/>
            <a:ext cx="5303520" cy="352044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691640"/>
            <a:ext cx="5303520" cy="109728"/>
          </a:xfrm>
          <a:prstGeom prst="rect">
            <a:avLst/>
          </a:prstGeom>
          <a:solidFill>
            <a:srgbClr val="7F8A3A"/>
          </a:solidFill>
          <a:ln/>
        </p:spPr>
      </p:sp>
      <p:sp>
        <p:nvSpPr>
          <p:cNvPr id="16" name="Text 14"/>
          <p:cNvSpPr/>
          <p:nvPr/>
        </p:nvSpPr>
        <p:spPr>
          <a:xfrm>
            <a:off x="1280160" y="1938528"/>
            <a:ext cx="4572000" cy="502920"/>
          </a:xfrm>
          <a:prstGeom prst="rect">
            <a:avLst/>
          </a:prstGeom>
          <a:noFill/>
          <a:ln/>
        </p:spPr>
        <p:txBody>
          <a:bodyPr wrap="square" lIns="0" tIns="0" rIns="0" bIns="0" rtlCol="0" anchor="ctr"/>
          <a:lstStyle/>
          <a:p>
            <a:pPr marL="0" indent="0">
              <a:buNone/>
            </a:pPr>
            <a:r>
              <a:rPr lang="en-US" sz="2200" b="1" dirty="0">
                <a:solidFill>
                  <a:srgbClr val="586127"/>
                </a:solidFill>
                <a:latin typeface="Cambria" pitchFamily="34" charset="0"/>
                <a:ea typeface="Cambria" pitchFamily="34" charset="-122"/>
                <a:cs typeface="Cambria" pitchFamily="34" charset="-120"/>
              </a:rPr>
              <a:t>Muller's method</a:t>
            </a:r>
            <a:endParaRPr lang="en-US" sz="2200" dirty="0"/>
          </a:p>
        </p:txBody>
      </p:sp>
      <p:sp>
        <p:nvSpPr>
          <p:cNvPr id="17" name="Text 15"/>
          <p:cNvSpPr/>
          <p:nvPr/>
        </p:nvSpPr>
        <p:spPr>
          <a:xfrm>
            <a:off x="1280160" y="2606040"/>
            <a:ext cx="4617720" cy="2468880"/>
          </a:xfrm>
          <a:prstGeom prst="rect">
            <a:avLst/>
          </a:prstGeom>
          <a:noFill/>
          <a:ln/>
        </p:spPr>
        <p:txBody>
          <a:bodyPr wrap="square" lIns="0" tIns="0" rIns="0" bIns="0" rtlCol="0" anchor="ctr"/>
          <a:lstStyle/>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Find every real root of T(2N) using only polynomial values — no derivative.</a:t>
            </a:r>
            <a:endParaRPr lang="en-US" sz="1450" dirty="0"/>
          </a:p>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Quadratic interpolation + deflation, in complex arithmetic on the x87 stack.</a:t>
            </a:r>
            <a:endParaRPr lang="en-US" sz="1450" dirty="0"/>
          </a:p>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Code shown: recurrence build, one Muller step, deflation, a live trace.</a:t>
            </a:r>
            <a:endParaRPr lang="en-US" sz="1450" dirty="0"/>
          </a:p>
        </p:txBody>
      </p:sp>
      <p:sp>
        <p:nvSpPr>
          <p:cNvPr id="18" name="Shape 16"/>
          <p:cNvSpPr/>
          <p:nvPr/>
        </p:nvSpPr>
        <p:spPr>
          <a:xfrm>
            <a:off x="6355080" y="1691640"/>
            <a:ext cx="5303520" cy="352044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9" name="Shape 17"/>
          <p:cNvSpPr/>
          <p:nvPr/>
        </p:nvSpPr>
        <p:spPr>
          <a:xfrm>
            <a:off x="6355080" y="1691640"/>
            <a:ext cx="5303520" cy="109728"/>
          </a:xfrm>
          <a:prstGeom prst="rect">
            <a:avLst/>
          </a:prstGeom>
          <a:solidFill>
            <a:srgbClr val="3E2B1C"/>
          </a:solidFill>
          <a:ln/>
        </p:spPr>
      </p:sp>
      <p:sp>
        <p:nvSpPr>
          <p:cNvPr id="20" name="Text 18"/>
          <p:cNvSpPr/>
          <p:nvPr/>
        </p:nvSpPr>
        <p:spPr>
          <a:xfrm>
            <a:off x="6720840" y="1938528"/>
            <a:ext cx="4572000" cy="502920"/>
          </a:xfrm>
          <a:prstGeom prst="rect">
            <a:avLst/>
          </a:prstGeom>
          <a:noFill/>
          <a:ln/>
        </p:spPr>
        <p:txBody>
          <a:bodyPr wrap="square" lIns="0" tIns="0" rIns="0" bIns="0" rtlCol="0" anchor="ctr"/>
          <a:lstStyle/>
          <a:p>
            <a:pPr marL="0" indent="0">
              <a:buNone/>
            </a:pPr>
            <a:r>
              <a:rPr lang="en-US" sz="2200" b="1" dirty="0">
                <a:solidFill>
                  <a:srgbClr val="586127"/>
                </a:solidFill>
                <a:latin typeface="Cambria" pitchFamily="34" charset="0"/>
                <a:ea typeface="Cambria" pitchFamily="34" charset="-122"/>
                <a:cs typeface="Cambria" pitchFamily="34" charset="-120"/>
              </a:rPr>
              <a:t>x87 rounding</a:t>
            </a:r>
            <a:endParaRPr lang="en-US" sz="2200" dirty="0"/>
          </a:p>
        </p:txBody>
      </p:sp>
      <p:sp>
        <p:nvSpPr>
          <p:cNvPr id="21" name="Text 19"/>
          <p:cNvSpPr/>
          <p:nvPr/>
        </p:nvSpPr>
        <p:spPr>
          <a:xfrm>
            <a:off x="6720840" y="2606040"/>
            <a:ext cx="4617720" cy="2468880"/>
          </a:xfrm>
          <a:prstGeom prst="rect">
            <a:avLst/>
          </a:prstGeom>
          <a:noFill/>
          <a:ln/>
        </p:spPr>
        <p:txBody>
          <a:bodyPr wrap="square" lIns="0" tIns="0" rIns="0" bIns="0" rtlCol="0" anchor="ctr"/>
          <a:lstStyle/>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The FPU turns an exact real result into a finite double by rounding.</a:t>
            </a:r>
            <a:endParaRPr lang="en-US" sz="1450" dirty="0"/>
          </a:p>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Four IEEE-754 directions, chosen by two bits of the control word.</a:t>
            </a:r>
            <a:endParaRPr lang="en-US" sz="1450" dirty="0"/>
          </a:p>
          <a:p>
            <a:pPr marL="177800" indent="-177800">
              <a:spcAft>
                <a:spcPts val="1100"/>
              </a:spcAft>
              <a:buSzPct val="100000"/>
              <a:buChar char="•"/>
            </a:pPr>
            <a:r>
              <a:rPr lang="en-US" sz="1450" dirty="0">
                <a:solidFill>
                  <a:srgbClr val="2B2722"/>
                </a:solidFill>
                <a:latin typeface="Cambria" pitchFamily="34" charset="0"/>
                <a:ea typeface="Cambria" pitchFamily="34" charset="-122"/>
                <a:cs typeface="Cambria" pitchFamily="34" charset="-120"/>
              </a:rPr>
              <a:t>Code shown: set_round, FRNDINT, FDIV, FSQRT/FCOS under each mode.</a:t>
            </a:r>
            <a:endParaRPr lang="en-US" sz="1450" dirty="0"/>
          </a:p>
        </p:txBody>
      </p:sp>
      <p:sp>
        <p:nvSpPr>
          <p:cNvPr id="22" name="Text 20"/>
          <p:cNvSpPr/>
          <p:nvPr/>
        </p:nvSpPr>
        <p:spPr>
          <a:xfrm>
            <a:off x="914400" y="5440680"/>
            <a:ext cx="10360152" cy="320040"/>
          </a:xfrm>
          <a:prstGeom prst="rect">
            <a:avLst/>
          </a:prstGeom>
          <a:noFill/>
          <a:ln/>
        </p:spPr>
        <p:txBody>
          <a:bodyPr wrap="square" lIns="0" tIns="0" rIns="0" bIns="0" rtlCol="0" anchor="ctr"/>
          <a:lstStyle/>
          <a:p>
            <a:pPr marL="0" indent="0" algn="ctr">
              <a:buNone/>
            </a:pPr>
            <a:r>
              <a:rPr lang="en-US" sz="1300" i="1" dirty="0">
                <a:solidFill>
                  <a:srgbClr val="6E6453"/>
                </a:solidFill>
                <a:latin typeface="Cambria" pitchFamily="34" charset="0"/>
                <a:ea typeface="Cambria" pitchFamily="34" charset="-122"/>
                <a:cs typeface="Cambria" pitchFamily="34" charset="-120"/>
              </a:rPr>
              <a:t>Each concept slide is followed by the exact assembly that implements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additive="base">
                                        <p:cTn id="19"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anim calcmode="lin" valueType="num">
                                      <p:cBhvr additive="base">
                                        <p:cTn id="25"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xEl>
                                              <p:pRg st="1" end="1"/>
                                            </p:txEl>
                                          </p:spTgt>
                                        </p:tgtEl>
                                        <p:attrNameLst>
                                          <p:attrName>style.visibility</p:attrName>
                                        </p:attrNameLst>
                                      </p:cBhvr>
                                      <p:to>
                                        <p:strVal val="visible"/>
                                      </p:to>
                                    </p:set>
                                    <p:anim calcmode="lin" valueType="num">
                                      <p:cBhvr additive="base">
                                        <p:cTn id="31"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xEl>
                                              <p:pRg st="2" end="2"/>
                                            </p:txEl>
                                          </p:spTgt>
                                        </p:tgtEl>
                                        <p:attrNameLst>
                                          <p:attrName>style.visibility</p:attrName>
                                        </p:attrNameLst>
                                      </p:cBhvr>
                                      <p:to>
                                        <p:strVal val="visible"/>
                                      </p:to>
                                    </p:set>
                                    <p:anim calcmode="lin" valueType="num">
                                      <p:cBhvr additive="base">
                                        <p:cTn id="37"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3</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Chebyshev polynomials of the first kind</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54480"/>
            <a:ext cx="5486400" cy="411480"/>
          </a:xfrm>
          <a:prstGeom prst="rect">
            <a:avLst/>
          </a:prstGeom>
          <a:noFill/>
          <a:ln/>
        </p:spPr>
        <p:txBody>
          <a:bodyPr wrap="square" lIns="0" tIns="0" rIns="0" bIns="0" rtlCol="0" anchor="ctr"/>
          <a:lstStyle/>
          <a:p>
            <a:pPr marL="0" indent="0">
              <a:buNone/>
            </a:pPr>
            <a:r>
              <a:rPr lang="en-US" sz="1600" b="1" dirty="0">
                <a:solidFill>
                  <a:srgbClr val="586127"/>
                </a:solidFill>
                <a:latin typeface="Cambria" pitchFamily="34" charset="0"/>
                <a:ea typeface="Cambria" pitchFamily="34" charset="-122"/>
                <a:cs typeface="Cambria" pitchFamily="34" charset="-120"/>
              </a:rPr>
              <a:t>Definition:  </a:t>
            </a:r>
            <a:r>
              <a:rPr lang="en-US" sz="1600" i="1" dirty="0">
                <a:solidFill>
                  <a:srgbClr val="2B2722"/>
                </a:solidFill>
                <a:latin typeface="Cambria" pitchFamily="34" charset="0"/>
                <a:ea typeface="Cambria" pitchFamily="34" charset="-122"/>
                <a:cs typeface="Cambria" pitchFamily="34" charset="-120"/>
              </a:rPr>
              <a:t>T</a:t>
            </a:r>
            <a:r>
              <a:rPr lang="en-US" sz="1600" baseline="-40000" dirty="0">
                <a:solidFill>
                  <a:srgbClr val="2B2722"/>
                </a:solidFill>
                <a:latin typeface="Cambria" pitchFamily="34" charset="0"/>
                <a:ea typeface="Cambria" pitchFamily="34" charset="-122"/>
                <a:cs typeface="Cambria" pitchFamily="34" charset="-120"/>
              </a:rPr>
              <a:t>n</a:t>
            </a:r>
            <a:r>
              <a:rPr lang="en-US" sz="1600" dirty="0">
                <a:solidFill>
                  <a:srgbClr val="2B2722"/>
                </a:solidFill>
                <a:latin typeface="Cambria" pitchFamily="34" charset="0"/>
                <a:ea typeface="Cambria" pitchFamily="34" charset="-122"/>
                <a:cs typeface="Cambria" pitchFamily="34" charset="-120"/>
              </a:rPr>
              <a:t>(cos </a:t>
            </a:r>
            <a:r>
              <a:rPr lang="en-US" sz="1600" i="1" dirty="0">
                <a:solidFill>
                  <a:srgbClr val="2B2722"/>
                </a:solidFill>
                <a:latin typeface="Cambria" pitchFamily="34" charset="0"/>
                <a:ea typeface="Cambria" pitchFamily="34" charset="-122"/>
                <a:cs typeface="Cambria" pitchFamily="34" charset="-120"/>
              </a:rPr>
              <a:t>θ</a:t>
            </a:r>
            <a:r>
              <a:rPr lang="en-US" sz="1600" dirty="0">
                <a:solidFill>
                  <a:srgbClr val="2B2722"/>
                </a:solidFill>
                <a:latin typeface="Cambria" pitchFamily="34" charset="0"/>
                <a:ea typeface="Cambria" pitchFamily="34" charset="-122"/>
                <a:cs typeface="Cambria" pitchFamily="34" charset="-120"/>
              </a:rPr>
              <a:t>) = cos(</a:t>
            </a:r>
            <a:r>
              <a:rPr lang="en-US" sz="1600" i="1" dirty="0">
                <a:solidFill>
                  <a:srgbClr val="2B2722"/>
                </a:solidFill>
                <a:latin typeface="Cambria" pitchFamily="34" charset="0"/>
                <a:ea typeface="Cambria" pitchFamily="34" charset="-122"/>
                <a:cs typeface="Cambria" pitchFamily="34" charset="-120"/>
              </a:rPr>
              <a:t>n θ</a:t>
            </a:r>
            <a:r>
              <a:rPr lang="en-US" sz="1600" dirty="0">
                <a:solidFill>
                  <a:srgbClr val="2B2722"/>
                </a:solidFill>
                <a:latin typeface="Cambria" pitchFamily="34" charset="0"/>
                <a:ea typeface="Cambria" pitchFamily="34" charset="-122"/>
                <a:cs typeface="Cambria" pitchFamily="34" charset="-120"/>
              </a:rPr>
              <a:t>)</a:t>
            </a:r>
            <a:endParaRPr lang="en-US" sz="1600" dirty="0"/>
          </a:p>
        </p:txBody>
      </p:sp>
      <p:sp>
        <p:nvSpPr>
          <p:cNvPr id="15" name="Shape 13"/>
          <p:cNvSpPr/>
          <p:nvPr/>
        </p:nvSpPr>
        <p:spPr>
          <a:xfrm>
            <a:off x="914400" y="2011680"/>
            <a:ext cx="5486400" cy="219456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6" name="Shape 14"/>
          <p:cNvSpPr/>
          <p:nvPr/>
        </p:nvSpPr>
        <p:spPr>
          <a:xfrm>
            <a:off x="914400" y="2011680"/>
            <a:ext cx="82296" cy="2194560"/>
          </a:xfrm>
          <a:prstGeom prst="rect">
            <a:avLst/>
          </a:prstGeom>
          <a:solidFill>
            <a:srgbClr val="7F8A3A"/>
          </a:solidFill>
          <a:ln/>
        </p:spPr>
      </p:sp>
      <p:sp>
        <p:nvSpPr>
          <p:cNvPr id="17" name="Text 15"/>
          <p:cNvSpPr/>
          <p:nvPr/>
        </p:nvSpPr>
        <p:spPr>
          <a:xfrm>
            <a:off x="1115568" y="2103120"/>
            <a:ext cx="5157216" cy="2011680"/>
          </a:xfrm>
          <a:prstGeom prst="rect">
            <a:avLst/>
          </a:prstGeom>
          <a:noFill/>
          <a:ln/>
        </p:spPr>
        <p:txBody>
          <a:bodyPr wrap="square" lIns="0" tIns="0" rIns="0" bIns="0" rtlCol="0" anchor="t"/>
          <a:lstStyle/>
          <a:p>
            <a:pPr marL="0" indent="0">
              <a:lnSpc>
                <a:spcPct val="104000"/>
              </a:lnSpc>
              <a:buNone/>
            </a:pPr>
            <a:r>
              <a:rPr lang="en-US" sz="1300" dirty="0">
                <a:solidFill>
                  <a:srgbClr val="586127"/>
                </a:solidFill>
                <a:latin typeface="Consolas" pitchFamily="34" charset="0"/>
                <a:ea typeface="Consolas" pitchFamily="34" charset="-122"/>
                <a:cs typeface="Consolas" pitchFamily="34" charset="-120"/>
              </a:rPr>
              <a:t>;; three-term recurrence (build the coefficients)</a:t>
            </a:r>
            <a:endParaRPr lang="en-US" sz="1300" dirty="0"/>
          </a:p>
          <a:p>
            <a:pPr marL="0" indent="0">
              <a:lnSpc>
                <a:spcPct val="104000"/>
              </a:lnSpc>
              <a:buNone/>
            </a:pPr>
            <a:r>
              <a:rPr lang="en-US" sz="1300" dirty="0">
                <a:solidFill>
                  <a:srgbClr val="2B2722"/>
                </a:solidFill>
                <a:latin typeface="Consolas" pitchFamily="34" charset="0"/>
                <a:ea typeface="Consolas" pitchFamily="34" charset="-122"/>
                <a:cs typeface="Consolas" pitchFamily="34" charset="-120"/>
              </a:rPr>
              <a:t>T0(x) = 1</a:t>
            </a:r>
            <a:endParaRPr lang="en-US" sz="1300" dirty="0"/>
          </a:p>
          <a:p>
            <a:pPr marL="0" indent="0">
              <a:lnSpc>
                <a:spcPct val="104000"/>
              </a:lnSpc>
              <a:buNone/>
            </a:pPr>
            <a:r>
              <a:rPr lang="en-US" sz="1300" dirty="0">
                <a:solidFill>
                  <a:srgbClr val="2B2722"/>
                </a:solidFill>
                <a:latin typeface="Consolas" pitchFamily="34" charset="0"/>
                <a:ea typeface="Consolas" pitchFamily="34" charset="-122"/>
                <a:cs typeface="Consolas" pitchFamily="34" charset="-120"/>
              </a:rPr>
              <a:t>T1(x) = x</a:t>
            </a:r>
            <a:endParaRPr lang="en-US" sz="1300" dirty="0"/>
          </a:p>
          <a:p>
            <a:pPr marL="0" indent="0">
              <a:lnSpc>
                <a:spcPct val="104000"/>
              </a:lnSpc>
              <a:buNone/>
            </a:pPr>
            <a:r>
              <a:rPr lang="en-US" sz="1300" dirty="0">
                <a:solidFill>
                  <a:srgbClr val="2B2722"/>
                </a:solidFill>
                <a:latin typeface="Consolas" pitchFamily="34" charset="0"/>
                <a:ea typeface="Consolas" pitchFamily="34" charset="-122"/>
                <a:cs typeface="Consolas" pitchFamily="34" charset="-120"/>
              </a:rPr>
              <a:t>T(k+1)(x) = 2*x*Tk(x) - T(k-1)(x)</a:t>
            </a:r>
            <a:endParaRPr lang="en-US" sz="1300" dirty="0"/>
          </a:p>
          <a:p>
            <a:pPr marL="0" indent="0">
              <a:lnSpc>
                <a:spcPct val="104000"/>
              </a:lnSpc>
              <a:buNone/>
            </a:pPr>
            <a:endParaRPr lang="en-US" sz="1300" dirty="0"/>
          </a:p>
          <a:p>
            <a:pPr marL="0" indent="0">
              <a:lnSpc>
                <a:spcPct val="104000"/>
              </a:lnSpc>
              <a:buNone/>
            </a:pPr>
            <a:r>
              <a:rPr lang="en-US" sz="1300" dirty="0">
                <a:solidFill>
                  <a:srgbClr val="586127"/>
                </a:solidFill>
                <a:latin typeface="Consolas" pitchFamily="34" charset="0"/>
                <a:ea typeface="Consolas" pitchFamily="34" charset="-122"/>
                <a:cs typeface="Consolas" pitchFamily="34" charset="-120"/>
              </a:rPr>
              <a:t>;; the m roots are known in closed form:</a:t>
            </a:r>
            <a:endParaRPr lang="en-US" sz="1300" dirty="0"/>
          </a:p>
          <a:p>
            <a:pPr marL="0" indent="0">
              <a:lnSpc>
                <a:spcPct val="104000"/>
              </a:lnSpc>
              <a:buNone/>
            </a:pPr>
            <a:r>
              <a:rPr lang="en-US" sz="1300" dirty="0">
                <a:solidFill>
                  <a:srgbClr val="2B2722"/>
                </a:solidFill>
                <a:latin typeface="Consolas" pitchFamily="34" charset="0"/>
                <a:ea typeface="Consolas" pitchFamily="34" charset="-122"/>
                <a:cs typeface="Consolas" pitchFamily="34" charset="-120"/>
              </a:rPr>
              <a:t>x_k = cos((2k-1) * pi / (2m)),  k = 1..m</a:t>
            </a:r>
            <a:endParaRPr lang="en-US" sz="1300" dirty="0"/>
          </a:p>
        </p:txBody>
      </p:sp>
      <p:sp>
        <p:nvSpPr>
          <p:cNvPr id="18" name="Text 16"/>
          <p:cNvSpPr/>
          <p:nvPr/>
        </p:nvSpPr>
        <p:spPr>
          <a:xfrm>
            <a:off x="914400" y="4434840"/>
            <a:ext cx="5486400" cy="1188720"/>
          </a:xfrm>
          <a:prstGeom prst="rect">
            <a:avLst/>
          </a:prstGeom>
          <a:noFill/>
          <a:ln/>
        </p:spPr>
        <p:txBody>
          <a:bodyPr wrap="square" lIns="0" tIns="0" rIns="0" bIns="0" rtlCol="0" anchor="ctr"/>
          <a:lstStyle/>
          <a:p>
            <a:pPr marL="0" indent="0">
              <a:buNone/>
            </a:pPr>
            <a:r>
              <a:rPr lang="en-US" sz="1400" b="1" dirty="0">
                <a:solidFill>
                  <a:srgbClr val="586127"/>
                </a:solidFill>
                <a:latin typeface="Cambria" pitchFamily="34" charset="0"/>
                <a:ea typeface="Cambria" pitchFamily="34" charset="-122"/>
                <a:cs typeface="Cambria" pitchFamily="34" charset="-120"/>
              </a:rPr>
              <a:t>Why T(2N)?  </a:t>
            </a:r>
            <a:endParaRPr lang="en-US" sz="1400" dirty="0"/>
          </a:p>
          <a:p>
            <a:pPr marL="0" indent="0">
              <a:buNone/>
            </a:pPr>
            <a:r>
              <a:rPr lang="en-US" sz="1400" dirty="0">
                <a:solidFill>
                  <a:srgbClr val="2B2722"/>
                </a:solidFill>
                <a:latin typeface="Cambria" pitchFamily="34" charset="0"/>
                <a:ea typeface="Cambria" pitchFamily="34" charset="-122"/>
                <a:cs typeface="Cambria" pitchFamily="34" charset="-120"/>
              </a:rPr>
              <a:t>Even degree d = 2N gives 2N simple real roots in (-1,1), symmetric about 0 — a clean, fully-known test bed.</a:t>
            </a:r>
            <a:endParaRPr lang="en-US" sz="1400" dirty="0"/>
          </a:p>
        </p:txBody>
      </p:sp>
      <p:sp>
        <p:nvSpPr>
          <p:cNvPr id="19" name="Text 17"/>
          <p:cNvSpPr/>
          <p:nvPr/>
        </p:nvSpPr>
        <p:spPr>
          <a:xfrm>
            <a:off x="6400800" y="1554480"/>
            <a:ext cx="5029200" cy="320040"/>
          </a:xfrm>
          <a:prstGeom prst="rect">
            <a:avLst/>
          </a:prstGeom>
          <a:noFill/>
          <a:ln/>
        </p:spPr>
        <p:txBody>
          <a:bodyPr wrap="square" lIns="0" tIns="0" rIns="0" bIns="0" rtlCol="0" anchor="ctr"/>
          <a:lstStyle/>
          <a:p>
            <a:pPr marL="0" indent="0">
              <a:buNone/>
            </a:pPr>
            <a:r>
              <a:rPr lang="en-US" sz="1500" b="1" dirty="0">
                <a:solidFill>
                  <a:srgbClr val="586127"/>
                </a:solidFill>
                <a:latin typeface="Cambria" pitchFamily="34" charset="0"/>
                <a:ea typeface="Cambria" pitchFamily="34" charset="-122"/>
                <a:cs typeface="Cambria" pitchFamily="34" charset="-120"/>
              </a:rPr>
              <a:t>T6(x) on [-1, 1] — six zero crossings</a:t>
            </a:r>
            <a:endParaRPr lang="en-US" sz="1500" dirty="0"/>
          </a:p>
        </p:txBody>
      </p:sp>
      <p:graphicFrame>
        <p:nvGraphicFramePr>
          <p:cNvPr id="20" name="Chart 0"/>
          <p:cNvGraphicFramePr/>
          <p:nvPr/>
        </p:nvGraphicFramePr>
        <p:xfrm>
          <a:off x="6263640" y="1920240"/>
          <a:ext cx="5120640" cy="3657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animEffect transition="in" filter="wipe(down)">
                                      <p:cBhvr>
                                        <p:cTn id="13" dur="580">
                                          <p:stCondLst>
                                            <p:cond delay="0"/>
                                          </p:stCondLst>
                                        </p:cTn>
                                        <p:tgtEl>
                                          <p:spTgt spid="17">
                                            <p:txEl>
                                              <p:pRg st="0" end="0"/>
                                            </p:txEl>
                                          </p:spTgt>
                                        </p:tgtEl>
                                      </p:cBhvr>
                                    </p:animEffect>
                                    <p:anim calcmode="lin" valueType="num">
                                      <p:cBhvr>
                                        <p:cTn id="14" dur="1822" tmFilter="0,0; 0.14,0.36; 0.43,0.73; 0.71,0.91; 1.0,1.0">
                                          <p:stCondLst>
                                            <p:cond delay="0"/>
                                          </p:stCondLst>
                                        </p:cTn>
                                        <p:tgtEl>
                                          <p:spTgt spid="17">
                                            <p:txEl>
                                              <p:pRg st="0" end="0"/>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7">
                                            <p:txEl>
                                              <p:pRg st="0" end="0"/>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7">
                                            <p:txEl>
                                              <p:pRg st="0" end="0"/>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7">
                                            <p:txEl>
                                              <p:pRg st="0" end="0"/>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7">
                                            <p:txEl>
                                              <p:pRg st="0" end="0"/>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17">
                                            <p:txEl>
                                              <p:pRg st="0" end="0"/>
                                            </p:txEl>
                                          </p:spTgt>
                                        </p:tgtEl>
                                      </p:cBhvr>
                                      <p:to x="100000" y="60000"/>
                                    </p:animScale>
                                    <p:animScale>
                                      <p:cBhvr>
                                        <p:cTn id="20" dur="166" decel="50000">
                                          <p:stCondLst>
                                            <p:cond delay="676"/>
                                          </p:stCondLst>
                                        </p:cTn>
                                        <p:tgtEl>
                                          <p:spTgt spid="17">
                                            <p:txEl>
                                              <p:pRg st="0" end="0"/>
                                            </p:txEl>
                                          </p:spTgt>
                                        </p:tgtEl>
                                      </p:cBhvr>
                                      <p:to x="100000" y="100000"/>
                                    </p:animScale>
                                    <p:animScale>
                                      <p:cBhvr>
                                        <p:cTn id="21" dur="26">
                                          <p:stCondLst>
                                            <p:cond delay="1312"/>
                                          </p:stCondLst>
                                        </p:cTn>
                                        <p:tgtEl>
                                          <p:spTgt spid="17">
                                            <p:txEl>
                                              <p:pRg st="0" end="0"/>
                                            </p:txEl>
                                          </p:spTgt>
                                        </p:tgtEl>
                                      </p:cBhvr>
                                      <p:to x="100000" y="80000"/>
                                    </p:animScale>
                                    <p:animScale>
                                      <p:cBhvr>
                                        <p:cTn id="22" dur="166" decel="50000">
                                          <p:stCondLst>
                                            <p:cond delay="1338"/>
                                          </p:stCondLst>
                                        </p:cTn>
                                        <p:tgtEl>
                                          <p:spTgt spid="17">
                                            <p:txEl>
                                              <p:pRg st="0" end="0"/>
                                            </p:txEl>
                                          </p:spTgt>
                                        </p:tgtEl>
                                      </p:cBhvr>
                                      <p:to x="100000" y="100000"/>
                                    </p:animScale>
                                    <p:animScale>
                                      <p:cBhvr>
                                        <p:cTn id="23" dur="26">
                                          <p:stCondLst>
                                            <p:cond delay="1642"/>
                                          </p:stCondLst>
                                        </p:cTn>
                                        <p:tgtEl>
                                          <p:spTgt spid="17">
                                            <p:txEl>
                                              <p:pRg st="0" end="0"/>
                                            </p:txEl>
                                          </p:spTgt>
                                        </p:tgtEl>
                                      </p:cBhvr>
                                      <p:to x="100000" y="90000"/>
                                    </p:animScale>
                                    <p:animScale>
                                      <p:cBhvr>
                                        <p:cTn id="24" dur="166" decel="50000">
                                          <p:stCondLst>
                                            <p:cond delay="1668"/>
                                          </p:stCondLst>
                                        </p:cTn>
                                        <p:tgtEl>
                                          <p:spTgt spid="17">
                                            <p:txEl>
                                              <p:pRg st="0" end="0"/>
                                            </p:txEl>
                                          </p:spTgt>
                                        </p:tgtEl>
                                      </p:cBhvr>
                                      <p:to x="100000" y="100000"/>
                                    </p:animScale>
                                    <p:animScale>
                                      <p:cBhvr>
                                        <p:cTn id="25" dur="26">
                                          <p:stCondLst>
                                            <p:cond delay="1808"/>
                                          </p:stCondLst>
                                        </p:cTn>
                                        <p:tgtEl>
                                          <p:spTgt spid="17">
                                            <p:txEl>
                                              <p:pRg st="0" end="0"/>
                                            </p:txEl>
                                          </p:spTgt>
                                        </p:tgtEl>
                                      </p:cBhvr>
                                      <p:to x="100000" y="95000"/>
                                    </p:animScale>
                                    <p:animScale>
                                      <p:cBhvr>
                                        <p:cTn id="26" dur="166" decel="50000">
                                          <p:stCondLst>
                                            <p:cond delay="1834"/>
                                          </p:stCondLst>
                                        </p:cTn>
                                        <p:tgtEl>
                                          <p:spTgt spid="17">
                                            <p:txEl>
                                              <p:pRg st="0" end="0"/>
                                            </p:txEl>
                                          </p:spTgt>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17">
                                            <p:txEl>
                                              <p:pRg st="1" end="1"/>
                                            </p:txEl>
                                          </p:spTgt>
                                        </p:tgtEl>
                                        <p:attrNameLst>
                                          <p:attrName>style.visibility</p:attrName>
                                        </p:attrNameLst>
                                      </p:cBhvr>
                                      <p:to>
                                        <p:strVal val="visible"/>
                                      </p:to>
                                    </p:set>
                                    <p:animEffect transition="in" filter="wipe(down)">
                                      <p:cBhvr>
                                        <p:cTn id="29" dur="580">
                                          <p:stCondLst>
                                            <p:cond delay="0"/>
                                          </p:stCondLst>
                                        </p:cTn>
                                        <p:tgtEl>
                                          <p:spTgt spid="17">
                                            <p:txEl>
                                              <p:pRg st="1" end="1"/>
                                            </p:txEl>
                                          </p:spTgt>
                                        </p:tgtEl>
                                      </p:cBhvr>
                                    </p:animEffect>
                                    <p:anim calcmode="lin" valueType="num">
                                      <p:cBhvr>
                                        <p:cTn id="30" dur="1822" tmFilter="0,0; 0.14,0.36; 0.43,0.73; 0.71,0.91; 1.0,1.0">
                                          <p:stCondLst>
                                            <p:cond delay="0"/>
                                          </p:stCondLst>
                                        </p:cTn>
                                        <p:tgtEl>
                                          <p:spTgt spid="17">
                                            <p:txEl>
                                              <p:pRg st="1" end="1"/>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7">
                                            <p:txEl>
                                              <p:pRg st="1" end="1"/>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7">
                                            <p:txEl>
                                              <p:pRg st="1" end="1"/>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7">
                                            <p:txEl>
                                              <p:pRg st="1" end="1"/>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7">
                                            <p:txEl>
                                              <p:pRg st="1" end="1"/>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17">
                                            <p:txEl>
                                              <p:pRg st="1" end="1"/>
                                            </p:txEl>
                                          </p:spTgt>
                                        </p:tgtEl>
                                      </p:cBhvr>
                                      <p:to x="100000" y="60000"/>
                                    </p:animScale>
                                    <p:animScale>
                                      <p:cBhvr>
                                        <p:cTn id="36" dur="166" decel="50000">
                                          <p:stCondLst>
                                            <p:cond delay="676"/>
                                          </p:stCondLst>
                                        </p:cTn>
                                        <p:tgtEl>
                                          <p:spTgt spid="17">
                                            <p:txEl>
                                              <p:pRg st="1" end="1"/>
                                            </p:txEl>
                                          </p:spTgt>
                                        </p:tgtEl>
                                      </p:cBhvr>
                                      <p:to x="100000" y="100000"/>
                                    </p:animScale>
                                    <p:animScale>
                                      <p:cBhvr>
                                        <p:cTn id="37" dur="26">
                                          <p:stCondLst>
                                            <p:cond delay="1312"/>
                                          </p:stCondLst>
                                        </p:cTn>
                                        <p:tgtEl>
                                          <p:spTgt spid="17">
                                            <p:txEl>
                                              <p:pRg st="1" end="1"/>
                                            </p:txEl>
                                          </p:spTgt>
                                        </p:tgtEl>
                                      </p:cBhvr>
                                      <p:to x="100000" y="80000"/>
                                    </p:animScale>
                                    <p:animScale>
                                      <p:cBhvr>
                                        <p:cTn id="38" dur="166" decel="50000">
                                          <p:stCondLst>
                                            <p:cond delay="1338"/>
                                          </p:stCondLst>
                                        </p:cTn>
                                        <p:tgtEl>
                                          <p:spTgt spid="17">
                                            <p:txEl>
                                              <p:pRg st="1" end="1"/>
                                            </p:txEl>
                                          </p:spTgt>
                                        </p:tgtEl>
                                      </p:cBhvr>
                                      <p:to x="100000" y="100000"/>
                                    </p:animScale>
                                    <p:animScale>
                                      <p:cBhvr>
                                        <p:cTn id="39" dur="26">
                                          <p:stCondLst>
                                            <p:cond delay="1642"/>
                                          </p:stCondLst>
                                        </p:cTn>
                                        <p:tgtEl>
                                          <p:spTgt spid="17">
                                            <p:txEl>
                                              <p:pRg st="1" end="1"/>
                                            </p:txEl>
                                          </p:spTgt>
                                        </p:tgtEl>
                                      </p:cBhvr>
                                      <p:to x="100000" y="90000"/>
                                    </p:animScale>
                                    <p:animScale>
                                      <p:cBhvr>
                                        <p:cTn id="40" dur="166" decel="50000">
                                          <p:stCondLst>
                                            <p:cond delay="1668"/>
                                          </p:stCondLst>
                                        </p:cTn>
                                        <p:tgtEl>
                                          <p:spTgt spid="17">
                                            <p:txEl>
                                              <p:pRg st="1" end="1"/>
                                            </p:txEl>
                                          </p:spTgt>
                                        </p:tgtEl>
                                      </p:cBhvr>
                                      <p:to x="100000" y="100000"/>
                                    </p:animScale>
                                    <p:animScale>
                                      <p:cBhvr>
                                        <p:cTn id="41" dur="26">
                                          <p:stCondLst>
                                            <p:cond delay="1808"/>
                                          </p:stCondLst>
                                        </p:cTn>
                                        <p:tgtEl>
                                          <p:spTgt spid="17">
                                            <p:txEl>
                                              <p:pRg st="1" end="1"/>
                                            </p:txEl>
                                          </p:spTgt>
                                        </p:tgtEl>
                                      </p:cBhvr>
                                      <p:to x="100000" y="95000"/>
                                    </p:animScale>
                                    <p:animScale>
                                      <p:cBhvr>
                                        <p:cTn id="42" dur="166" decel="50000">
                                          <p:stCondLst>
                                            <p:cond delay="1834"/>
                                          </p:stCondLst>
                                        </p:cTn>
                                        <p:tgtEl>
                                          <p:spTgt spid="17">
                                            <p:txEl>
                                              <p:pRg st="1" end="1"/>
                                            </p:txEl>
                                          </p:spTgt>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17">
                                            <p:txEl>
                                              <p:pRg st="2" end="2"/>
                                            </p:txEl>
                                          </p:spTgt>
                                        </p:tgtEl>
                                        <p:attrNameLst>
                                          <p:attrName>style.visibility</p:attrName>
                                        </p:attrNameLst>
                                      </p:cBhvr>
                                      <p:to>
                                        <p:strVal val="visible"/>
                                      </p:to>
                                    </p:set>
                                    <p:animEffect transition="in" filter="wipe(down)">
                                      <p:cBhvr>
                                        <p:cTn id="45" dur="580">
                                          <p:stCondLst>
                                            <p:cond delay="0"/>
                                          </p:stCondLst>
                                        </p:cTn>
                                        <p:tgtEl>
                                          <p:spTgt spid="17">
                                            <p:txEl>
                                              <p:pRg st="2" end="2"/>
                                            </p:txEl>
                                          </p:spTgt>
                                        </p:tgtEl>
                                      </p:cBhvr>
                                    </p:animEffect>
                                    <p:anim calcmode="lin" valueType="num">
                                      <p:cBhvr>
                                        <p:cTn id="46" dur="1822" tmFilter="0,0; 0.14,0.36; 0.43,0.73; 0.71,0.91; 1.0,1.0">
                                          <p:stCondLst>
                                            <p:cond delay="0"/>
                                          </p:stCondLst>
                                        </p:cTn>
                                        <p:tgtEl>
                                          <p:spTgt spid="17">
                                            <p:txEl>
                                              <p:pRg st="2" end="2"/>
                                            </p:txEl>
                                          </p:spTgt>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7">
                                            <p:txEl>
                                              <p:pRg st="2" end="2"/>
                                            </p:txEl>
                                          </p:spTgt>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7">
                                            <p:txEl>
                                              <p:pRg st="2" end="2"/>
                                            </p:txEl>
                                          </p:spTgt>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7">
                                            <p:txEl>
                                              <p:pRg st="2" end="2"/>
                                            </p:txEl>
                                          </p:spTgt>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7">
                                            <p:txEl>
                                              <p:pRg st="2" end="2"/>
                                            </p:txEl>
                                          </p:spTgt>
                                        </p:tgtEl>
                                        <p:attrNameLst>
                                          <p:attrName>ppt_y</p:attrName>
                                        </p:attrNameLst>
                                      </p:cBhvr>
                                      <p:tavLst>
                                        <p:tav tm="0" fmla="#ppt_y-sin(pi*$)/81">
                                          <p:val>
                                            <p:fltVal val="0"/>
                                          </p:val>
                                        </p:tav>
                                        <p:tav tm="100000">
                                          <p:val>
                                            <p:fltVal val="1"/>
                                          </p:val>
                                        </p:tav>
                                      </p:tavLst>
                                    </p:anim>
                                    <p:animScale>
                                      <p:cBhvr>
                                        <p:cTn id="51" dur="26">
                                          <p:stCondLst>
                                            <p:cond delay="650"/>
                                          </p:stCondLst>
                                        </p:cTn>
                                        <p:tgtEl>
                                          <p:spTgt spid="17">
                                            <p:txEl>
                                              <p:pRg st="2" end="2"/>
                                            </p:txEl>
                                          </p:spTgt>
                                        </p:tgtEl>
                                      </p:cBhvr>
                                      <p:to x="100000" y="60000"/>
                                    </p:animScale>
                                    <p:animScale>
                                      <p:cBhvr>
                                        <p:cTn id="52" dur="166" decel="50000">
                                          <p:stCondLst>
                                            <p:cond delay="676"/>
                                          </p:stCondLst>
                                        </p:cTn>
                                        <p:tgtEl>
                                          <p:spTgt spid="17">
                                            <p:txEl>
                                              <p:pRg st="2" end="2"/>
                                            </p:txEl>
                                          </p:spTgt>
                                        </p:tgtEl>
                                      </p:cBhvr>
                                      <p:to x="100000" y="100000"/>
                                    </p:animScale>
                                    <p:animScale>
                                      <p:cBhvr>
                                        <p:cTn id="53" dur="26">
                                          <p:stCondLst>
                                            <p:cond delay="1312"/>
                                          </p:stCondLst>
                                        </p:cTn>
                                        <p:tgtEl>
                                          <p:spTgt spid="17">
                                            <p:txEl>
                                              <p:pRg st="2" end="2"/>
                                            </p:txEl>
                                          </p:spTgt>
                                        </p:tgtEl>
                                      </p:cBhvr>
                                      <p:to x="100000" y="80000"/>
                                    </p:animScale>
                                    <p:animScale>
                                      <p:cBhvr>
                                        <p:cTn id="54" dur="166" decel="50000">
                                          <p:stCondLst>
                                            <p:cond delay="1338"/>
                                          </p:stCondLst>
                                        </p:cTn>
                                        <p:tgtEl>
                                          <p:spTgt spid="17">
                                            <p:txEl>
                                              <p:pRg st="2" end="2"/>
                                            </p:txEl>
                                          </p:spTgt>
                                        </p:tgtEl>
                                      </p:cBhvr>
                                      <p:to x="100000" y="100000"/>
                                    </p:animScale>
                                    <p:animScale>
                                      <p:cBhvr>
                                        <p:cTn id="55" dur="26">
                                          <p:stCondLst>
                                            <p:cond delay="1642"/>
                                          </p:stCondLst>
                                        </p:cTn>
                                        <p:tgtEl>
                                          <p:spTgt spid="17">
                                            <p:txEl>
                                              <p:pRg st="2" end="2"/>
                                            </p:txEl>
                                          </p:spTgt>
                                        </p:tgtEl>
                                      </p:cBhvr>
                                      <p:to x="100000" y="90000"/>
                                    </p:animScale>
                                    <p:animScale>
                                      <p:cBhvr>
                                        <p:cTn id="56" dur="166" decel="50000">
                                          <p:stCondLst>
                                            <p:cond delay="1668"/>
                                          </p:stCondLst>
                                        </p:cTn>
                                        <p:tgtEl>
                                          <p:spTgt spid="17">
                                            <p:txEl>
                                              <p:pRg st="2" end="2"/>
                                            </p:txEl>
                                          </p:spTgt>
                                        </p:tgtEl>
                                      </p:cBhvr>
                                      <p:to x="100000" y="100000"/>
                                    </p:animScale>
                                    <p:animScale>
                                      <p:cBhvr>
                                        <p:cTn id="57" dur="26">
                                          <p:stCondLst>
                                            <p:cond delay="1808"/>
                                          </p:stCondLst>
                                        </p:cTn>
                                        <p:tgtEl>
                                          <p:spTgt spid="17">
                                            <p:txEl>
                                              <p:pRg st="2" end="2"/>
                                            </p:txEl>
                                          </p:spTgt>
                                        </p:tgtEl>
                                      </p:cBhvr>
                                      <p:to x="100000" y="95000"/>
                                    </p:animScale>
                                    <p:animScale>
                                      <p:cBhvr>
                                        <p:cTn id="58" dur="166" decel="50000">
                                          <p:stCondLst>
                                            <p:cond delay="1834"/>
                                          </p:stCondLst>
                                        </p:cTn>
                                        <p:tgtEl>
                                          <p:spTgt spid="17">
                                            <p:txEl>
                                              <p:pRg st="2" end="2"/>
                                            </p:txEl>
                                          </p:spTgt>
                                        </p:tgtEl>
                                      </p:cBhvr>
                                      <p:to x="100000" y="100000"/>
                                    </p:animScale>
                                  </p:childTnLst>
                                </p:cTn>
                              </p:par>
                              <p:par>
                                <p:cTn id="59" presetID="26" presetClass="entr" presetSubtype="0" fill="hold" nodeType="withEffect">
                                  <p:stCondLst>
                                    <p:cond delay="0"/>
                                  </p:stCondLst>
                                  <p:childTnLst>
                                    <p:set>
                                      <p:cBhvr>
                                        <p:cTn id="60" dur="1" fill="hold">
                                          <p:stCondLst>
                                            <p:cond delay="0"/>
                                          </p:stCondLst>
                                        </p:cTn>
                                        <p:tgtEl>
                                          <p:spTgt spid="17">
                                            <p:txEl>
                                              <p:pRg st="3" end="3"/>
                                            </p:txEl>
                                          </p:spTgt>
                                        </p:tgtEl>
                                        <p:attrNameLst>
                                          <p:attrName>style.visibility</p:attrName>
                                        </p:attrNameLst>
                                      </p:cBhvr>
                                      <p:to>
                                        <p:strVal val="visible"/>
                                      </p:to>
                                    </p:set>
                                    <p:animEffect transition="in" filter="wipe(down)">
                                      <p:cBhvr>
                                        <p:cTn id="61" dur="580">
                                          <p:stCondLst>
                                            <p:cond delay="0"/>
                                          </p:stCondLst>
                                        </p:cTn>
                                        <p:tgtEl>
                                          <p:spTgt spid="17">
                                            <p:txEl>
                                              <p:pRg st="3" end="3"/>
                                            </p:txEl>
                                          </p:spTgt>
                                        </p:tgtEl>
                                      </p:cBhvr>
                                    </p:animEffect>
                                    <p:anim calcmode="lin" valueType="num">
                                      <p:cBhvr>
                                        <p:cTn id="62" dur="1822" tmFilter="0,0; 0.14,0.36; 0.43,0.73; 0.71,0.91; 1.0,1.0">
                                          <p:stCondLst>
                                            <p:cond delay="0"/>
                                          </p:stCondLst>
                                        </p:cTn>
                                        <p:tgtEl>
                                          <p:spTgt spid="17">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7">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7">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7">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7">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17">
                                            <p:txEl>
                                              <p:pRg st="3" end="3"/>
                                            </p:txEl>
                                          </p:spTgt>
                                        </p:tgtEl>
                                      </p:cBhvr>
                                      <p:to x="100000" y="60000"/>
                                    </p:animScale>
                                    <p:animScale>
                                      <p:cBhvr>
                                        <p:cTn id="68" dur="166" decel="50000">
                                          <p:stCondLst>
                                            <p:cond delay="676"/>
                                          </p:stCondLst>
                                        </p:cTn>
                                        <p:tgtEl>
                                          <p:spTgt spid="17">
                                            <p:txEl>
                                              <p:pRg st="3" end="3"/>
                                            </p:txEl>
                                          </p:spTgt>
                                        </p:tgtEl>
                                      </p:cBhvr>
                                      <p:to x="100000" y="100000"/>
                                    </p:animScale>
                                    <p:animScale>
                                      <p:cBhvr>
                                        <p:cTn id="69" dur="26">
                                          <p:stCondLst>
                                            <p:cond delay="1312"/>
                                          </p:stCondLst>
                                        </p:cTn>
                                        <p:tgtEl>
                                          <p:spTgt spid="17">
                                            <p:txEl>
                                              <p:pRg st="3" end="3"/>
                                            </p:txEl>
                                          </p:spTgt>
                                        </p:tgtEl>
                                      </p:cBhvr>
                                      <p:to x="100000" y="80000"/>
                                    </p:animScale>
                                    <p:animScale>
                                      <p:cBhvr>
                                        <p:cTn id="70" dur="166" decel="50000">
                                          <p:stCondLst>
                                            <p:cond delay="1338"/>
                                          </p:stCondLst>
                                        </p:cTn>
                                        <p:tgtEl>
                                          <p:spTgt spid="17">
                                            <p:txEl>
                                              <p:pRg st="3" end="3"/>
                                            </p:txEl>
                                          </p:spTgt>
                                        </p:tgtEl>
                                      </p:cBhvr>
                                      <p:to x="100000" y="100000"/>
                                    </p:animScale>
                                    <p:animScale>
                                      <p:cBhvr>
                                        <p:cTn id="71" dur="26">
                                          <p:stCondLst>
                                            <p:cond delay="1642"/>
                                          </p:stCondLst>
                                        </p:cTn>
                                        <p:tgtEl>
                                          <p:spTgt spid="17">
                                            <p:txEl>
                                              <p:pRg st="3" end="3"/>
                                            </p:txEl>
                                          </p:spTgt>
                                        </p:tgtEl>
                                      </p:cBhvr>
                                      <p:to x="100000" y="90000"/>
                                    </p:animScale>
                                    <p:animScale>
                                      <p:cBhvr>
                                        <p:cTn id="72" dur="166" decel="50000">
                                          <p:stCondLst>
                                            <p:cond delay="1668"/>
                                          </p:stCondLst>
                                        </p:cTn>
                                        <p:tgtEl>
                                          <p:spTgt spid="17">
                                            <p:txEl>
                                              <p:pRg st="3" end="3"/>
                                            </p:txEl>
                                          </p:spTgt>
                                        </p:tgtEl>
                                      </p:cBhvr>
                                      <p:to x="100000" y="100000"/>
                                    </p:animScale>
                                    <p:animScale>
                                      <p:cBhvr>
                                        <p:cTn id="73" dur="26">
                                          <p:stCondLst>
                                            <p:cond delay="1808"/>
                                          </p:stCondLst>
                                        </p:cTn>
                                        <p:tgtEl>
                                          <p:spTgt spid="17">
                                            <p:txEl>
                                              <p:pRg st="3" end="3"/>
                                            </p:txEl>
                                          </p:spTgt>
                                        </p:tgtEl>
                                      </p:cBhvr>
                                      <p:to x="100000" y="95000"/>
                                    </p:animScale>
                                    <p:animScale>
                                      <p:cBhvr>
                                        <p:cTn id="74" dur="166" decel="50000">
                                          <p:stCondLst>
                                            <p:cond delay="1834"/>
                                          </p:stCondLst>
                                        </p:cTn>
                                        <p:tgtEl>
                                          <p:spTgt spid="17">
                                            <p:txEl>
                                              <p:pRg st="3" end="3"/>
                                            </p:txEl>
                                          </p:spTgt>
                                        </p:tgtEl>
                                      </p:cBhvr>
                                      <p:to x="100000" y="100000"/>
                                    </p:animScale>
                                  </p:childTnLst>
                                </p:cTn>
                              </p:par>
                              <p:par>
                                <p:cTn id="75" presetID="26" presetClass="entr" presetSubtype="0" fill="hold" nodeType="withEffect">
                                  <p:stCondLst>
                                    <p:cond delay="0"/>
                                  </p:stCondLst>
                                  <p:childTnLst>
                                    <p:set>
                                      <p:cBhvr>
                                        <p:cTn id="76" dur="1" fill="hold">
                                          <p:stCondLst>
                                            <p:cond delay="0"/>
                                          </p:stCondLst>
                                        </p:cTn>
                                        <p:tgtEl>
                                          <p:spTgt spid="17">
                                            <p:txEl>
                                              <p:pRg st="5" end="5"/>
                                            </p:txEl>
                                          </p:spTgt>
                                        </p:tgtEl>
                                        <p:attrNameLst>
                                          <p:attrName>style.visibility</p:attrName>
                                        </p:attrNameLst>
                                      </p:cBhvr>
                                      <p:to>
                                        <p:strVal val="visible"/>
                                      </p:to>
                                    </p:set>
                                    <p:animEffect transition="in" filter="wipe(down)">
                                      <p:cBhvr>
                                        <p:cTn id="77" dur="580">
                                          <p:stCondLst>
                                            <p:cond delay="0"/>
                                          </p:stCondLst>
                                        </p:cTn>
                                        <p:tgtEl>
                                          <p:spTgt spid="17">
                                            <p:txEl>
                                              <p:pRg st="5" end="5"/>
                                            </p:txEl>
                                          </p:spTgt>
                                        </p:tgtEl>
                                      </p:cBhvr>
                                    </p:animEffect>
                                    <p:anim calcmode="lin" valueType="num">
                                      <p:cBhvr>
                                        <p:cTn id="78" dur="1822" tmFilter="0,0; 0.14,0.36; 0.43,0.73; 0.71,0.91; 1.0,1.0">
                                          <p:stCondLst>
                                            <p:cond delay="0"/>
                                          </p:stCondLst>
                                        </p:cTn>
                                        <p:tgtEl>
                                          <p:spTgt spid="17">
                                            <p:txEl>
                                              <p:pRg st="5" end="5"/>
                                            </p:txEl>
                                          </p:spTgt>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7">
                                            <p:txEl>
                                              <p:pRg st="5" end="5"/>
                                            </p:txEl>
                                          </p:spTgt>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7">
                                            <p:txEl>
                                              <p:pRg st="5" end="5"/>
                                            </p:txEl>
                                          </p:spTgt>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7">
                                            <p:txEl>
                                              <p:pRg st="5" end="5"/>
                                            </p:txEl>
                                          </p:spTgt>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7">
                                            <p:txEl>
                                              <p:pRg st="5" end="5"/>
                                            </p:txEl>
                                          </p:spTgt>
                                        </p:tgtEl>
                                        <p:attrNameLst>
                                          <p:attrName>ppt_y</p:attrName>
                                        </p:attrNameLst>
                                      </p:cBhvr>
                                      <p:tavLst>
                                        <p:tav tm="0" fmla="#ppt_y-sin(pi*$)/81">
                                          <p:val>
                                            <p:fltVal val="0"/>
                                          </p:val>
                                        </p:tav>
                                        <p:tav tm="100000">
                                          <p:val>
                                            <p:fltVal val="1"/>
                                          </p:val>
                                        </p:tav>
                                      </p:tavLst>
                                    </p:anim>
                                    <p:animScale>
                                      <p:cBhvr>
                                        <p:cTn id="83" dur="26">
                                          <p:stCondLst>
                                            <p:cond delay="650"/>
                                          </p:stCondLst>
                                        </p:cTn>
                                        <p:tgtEl>
                                          <p:spTgt spid="17">
                                            <p:txEl>
                                              <p:pRg st="5" end="5"/>
                                            </p:txEl>
                                          </p:spTgt>
                                        </p:tgtEl>
                                      </p:cBhvr>
                                      <p:to x="100000" y="60000"/>
                                    </p:animScale>
                                    <p:animScale>
                                      <p:cBhvr>
                                        <p:cTn id="84" dur="166" decel="50000">
                                          <p:stCondLst>
                                            <p:cond delay="676"/>
                                          </p:stCondLst>
                                        </p:cTn>
                                        <p:tgtEl>
                                          <p:spTgt spid="17">
                                            <p:txEl>
                                              <p:pRg st="5" end="5"/>
                                            </p:txEl>
                                          </p:spTgt>
                                        </p:tgtEl>
                                      </p:cBhvr>
                                      <p:to x="100000" y="100000"/>
                                    </p:animScale>
                                    <p:animScale>
                                      <p:cBhvr>
                                        <p:cTn id="85" dur="26">
                                          <p:stCondLst>
                                            <p:cond delay="1312"/>
                                          </p:stCondLst>
                                        </p:cTn>
                                        <p:tgtEl>
                                          <p:spTgt spid="17">
                                            <p:txEl>
                                              <p:pRg st="5" end="5"/>
                                            </p:txEl>
                                          </p:spTgt>
                                        </p:tgtEl>
                                      </p:cBhvr>
                                      <p:to x="100000" y="80000"/>
                                    </p:animScale>
                                    <p:animScale>
                                      <p:cBhvr>
                                        <p:cTn id="86" dur="166" decel="50000">
                                          <p:stCondLst>
                                            <p:cond delay="1338"/>
                                          </p:stCondLst>
                                        </p:cTn>
                                        <p:tgtEl>
                                          <p:spTgt spid="17">
                                            <p:txEl>
                                              <p:pRg st="5" end="5"/>
                                            </p:txEl>
                                          </p:spTgt>
                                        </p:tgtEl>
                                      </p:cBhvr>
                                      <p:to x="100000" y="100000"/>
                                    </p:animScale>
                                    <p:animScale>
                                      <p:cBhvr>
                                        <p:cTn id="87" dur="26">
                                          <p:stCondLst>
                                            <p:cond delay="1642"/>
                                          </p:stCondLst>
                                        </p:cTn>
                                        <p:tgtEl>
                                          <p:spTgt spid="17">
                                            <p:txEl>
                                              <p:pRg st="5" end="5"/>
                                            </p:txEl>
                                          </p:spTgt>
                                        </p:tgtEl>
                                      </p:cBhvr>
                                      <p:to x="100000" y="90000"/>
                                    </p:animScale>
                                    <p:animScale>
                                      <p:cBhvr>
                                        <p:cTn id="88" dur="166" decel="50000">
                                          <p:stCondLst>
                                            <p:cond delay="1668"/>
                                          </p:stCondLst>
                                        </p:cTn>
                                        <p:tgtEl>
                                          <p:spTgt spid="17">
                                            <p:txEl>
                                              <p:pRg st="5" end="5"/>
                                            </p:txEl>
                                          </p:spTgt>
                                        </p:tgtEl>
                                      </p:cBhvr>
                                      <p:to x="100000" y="100000"/>
                                    </p:animScale>
                                    <p:animScale>
                                      <p:cBhvr>
                                        <p:cTn id="89" dur="26">
                                          <p:stCondLst>
                                            <p:cond delay="1808"/>
                                          </p:stCondLst>
                                        </p:cTn>
                                        <p:tgtEl>
                                          <p:spTgt spid="17">
                                            <p:txEl>
                                              <p:pRg st="5" end="5"/>
                                            </p:txEl>
                                          </p:spTgt>
                                        </p:tgtEl>
                                      </p:cBhvr>
                                      <p:to x="100000" y="95000"/>
                                    </p:animScale>
                                    <p:animScale>
                                      <p:cBhvr>
                                        <p:cTn id="90" dur="166" decel="50000">
                                          <p:stCondLst>
                                            <p:cond delay="1834"/>
                                          </p:stCondLst>
                                        </p:cTn>
                                        <p:tgtEl>
                                          <p:spTgt spid="17">
                                            <p:txEl>
                                              <p:pRg st="5" end="5"/>
                                            </p:txEl>
                                          </p:spTgt>
                                        </p:tgtEl>
                                      </p:cBhvr>
                                      <p:to x="100000" y="100000"/>
                                    </p:animScale>
                                  </p:childTnLst>
                                </p:cTn>
                              </p:par>
                              <p:par>
                                <p:cTn id="91" presetID="26" presetClass="entr" presetSubtype="0" fill="hold" nodeType="withEffect">
                                  <p:stCondLst>
                                    <p:cond delay="0"/>
                                  </p:stCondLst>
                                  <p:childTnLst>
                                    <p:set>
                                      <p:cBhvr>
                                        <p:cTn id="92" dur="1" fill="hold">
                                          <p:stCondLst>
                                            <p:cond delay="0"/>
                                          </p:stCondLst>
                                        </p:cTn>
                                        <p:tgtEl>
                                          <p:spTgt spid="17">
                                            <p:txEl>
                                              <p:pRg st="6" end="6"/>
                                            </p:txEl>
                                          </p:spTgt>
                                        </p:tgtEl>
                                        <p:attrNameLst>
                                          <p:attrName>style.visibility</p:attrName>
                                        </p:attrNameLst>
                                      </p:cBhvr>
                                      <p:to>
                                        <p:strVal val="visible"/>
                                      </p:to>
                                    </p:set>
                                    <p:animEffect transition="in" filter="wipe(down)">
                                      <p:cBhvr>
                                        <p:cTn id="93" dur="580">
                                          <p:stCondLst>
                                            <p:cond delay="0"/>
                                          </p:stCondLst>
                                        </p:cTn>
                                        <p:tgtEl>
                                          <p:spTgt spid="17">
                                            <p:txEl>
                                              <p:pRg st="6" end="6"/>
                                            </p:txEl>
                                          </p:spTgt>
                                        </p:tgtEl>
                                      </p:cBhvr>
                                    </p:animEffect>
                                    <p:anim calcmode="lin" valueType="num">
                                      <p:cBhvr>
                                        <p:cTn id="94" dur="1822" tmFilter="0,0; 0.14,0.36; 0.43,0.73; 0.71,0.91; 1.0,1.0">
                                          <p:stCondLst>
                                            <p:cond delay="0"/>
                                          </p:stCondLst>
                                        </p:cTn>
                                        <p:tgtEl>
                                          <p:spTgt spid="17">
                                            <p:txEl>
                                              <p:pRg st="6" end="6"/>
                                            </p:txEl>
                                          </p:spTgt>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7">
                                            <p:txEl>
                                              <p:pRg st="6" end="6"/>
                                            </p:txEl>
                                          </p:spTgt>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7">
                                            <p:txEl>
                                              <p:pRg st="6" end="6"/>
                                            </p:txEl>
                                          </p:spTgt>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7">
                                            <p:txEl>
                                              <p:pRg st="6" end="6"/>
                                            </p:txEl>
                                          </p:spTgt>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7">
                                            <p:txEl>
                                              <p:pRg st="6" end="6"/>
                                            </p:txEl>
                                          </p:spTgt>
                                        </p:tgtEl>
                                        <p:attrNameLst>
                                          <p:attrName>ppt_y</p:attrName>
                                        </p:attrNameLst>
                                      </p:cBhvr>
                                      <p:tavLst>
                                        <p:tav tm="0" fmla="#ppt_y-sin(pi*$)/81">
                                          <p:val>
                                            <p:fltVal val="0"/>
                                          </p:val>
                                        </p:tav>
                                        <p:tav tm="100000">
                                          <p:val>
                                            <p:fltVal val="1"/>
                                          </p:val>
                                        </p:tav>
                                      </p:tavLst>
                                    </p:anim>
                                    <p:animScale>
                                      <p:cBhvr>
                                        <p:cTn id="99" dur="26">
                                          <p:stCondLst>
                                            <p:cond delay="650"/>
                                          </p:stCondLst>
                                        </p:cTn>
                                        <p:tgtEl>
                                          <p:spTgt spid="17">
                                            <p:txEl>
                                              <p:pRg st="6" end="6"/>
                                            </p:txEl>
                                          </p:spTgt>
                                        </p:tgtEl>
                                      </p:cBhvr>
                                      <p:to x="100000" y="60000"/>
                                    </p:animScale>
                                    <p:animScale>
                                      <p:cBhvr>
                                        <p:cTn id="100" dur="166" decel="50000">
                                          <p:stCondLst>
                                            <p:cond delay="676"/>
                                          </p:stCondLst>
                                        </p:cTn>
                                        <p:tgtEl>
                                          <p:spTgt spid="17">
                                            <p:txEl>
                                              <p:pRg st="6" end="6"/>
                                            </p:txEl>
                                          </p:spTgt>
                                        </p:tgtEl>
                                      </p:cBhvr>
                                      <p:to x="100000" y="100000"/>
                                    </p:animScale>
                                    <p:animScale>
                                      <p:cBhvr>
                                        <p:cTn id="101" dur="26">
                                          <p:stCondLst>
                                            <p:cond delay="1312"/>
                                          </p:stCondLst>
                                        </p:cTn>
                                        <p:tgtEl>
                                          <p:spTgt spid="17">
                                            <p:txEl>
                                              <p:pRg st="6" end="6"/>
                                            </p:txEl>
                                          </p:spTgt>
                                        </p:tgtEl>
                                      </p:cBhvr>
                                      <p:to x="100000" y="80000"/>
                                    </p:animScale>
                                    <p:animScale>
                                      <p:cBhvr>
                                        <p:cTn id="102" dur="166" decel="50000">
                                          <p:stCondLst>
                                            <p:cond delay="1338"/>
                                          </p:stCondLst>
                                        </p:cTn>
                                        <p:tgtEl>
                                          <p:spTgt spid="17">
                                            <p:txEl>
                                              <p:pRg st="6" end="6"/>
                                            </p:txEl>
                                          </p:spTgt>
                                        </p:tgtEl>
                                      </p:cBhvr>
                                      <p:to x="100000" y="100000"/>
                                    </p:animScale>
                                    <p:animScale>
                                      <p:cBhvr>
                                        <p:cTn id="103" dur="26">
                                          <p:stCondLst>
                                            <p:cond delay="1642"/>
                                          </p:stCondLst>
                                        </p:cTn>
                                        <p:tgtEl>
                                          <p:spTgt spid="17">
                                            <p:txEl>
                                              <p:pRg st="6" end="6"/>
                                            </p:txEl>
                                          </p:spTgt>
                                        </p:tgtEl>
                                      </p:cBhvr>
                                      <p:to x="100000" y="90000"/>
                                    </p:animScale>
                                    <p:animScale>
                                      <p:cBhvr>
                                        <p:cTn id="104" dur="166" decel="50000">
                                          <p:stCondLst>
                                            <p:cond delay="1668"/>
                                          </p:stCondLst>
                                        </p:cTn>
                                        <p:tgtEl>
                                          <p:spTgt spid="17">
                                            <p:txEl>
                                              <p:pRg st="6" end="6"/>
                                            </p:txEl>
                                          </p:spTgt>
                                        </p:tgtEl>
                                      </p:cBhvr>
                                      <p:to x="100000" y="100000"/>
                                    </p:animScale>
                                    <p:animScale>
                                      <p:cBhvr>
                                        <p:cTn id="105" dur="26">
                                          <p:stCondLst>
                                            <p:cond delay="1808"/>
                                          </p:stCondLst>
                                        </p:cTn>
                                        <p:tgtEl>
                                          <p:spTgt spid="17">
                                            <p:txEl>
                                              <p:pRg st="6" end="6"/>
                                            </p:txEl>
                                          </p:spTgt>
                                        </p:tgtEl>
                                      </p:cBhvr>
                                      <p:to x="100000" y="95000"/>
                                    </p:animScale>
                                    <p:animScale>
                                      <p:cBhvr>
                                        <p:cTn id="106" dur="166" decel="50000">
                                          <p:stCondLst>
                                            <p:cond delay="1834"/>
                                          </p:stCondLst>
                                        </p:cTn>
                                        <p:tgtEl>
                                          <p:spTgt spid="17">
                                            <p:txEl>
                                              <p:pRg st="6" end="6"/>
                                            </p:txEl>
                                          </p:spTgt>
                                        </p:tgtEl>
                                      </p:cBhvr>
                                      <p:to x="100000" y="100000"/>
                                    </p:animScale>
                                  </p:childTnLst>
                                </p:cTn>
                              </p:par>
                            </p:childTnLst>
                          </p:cTn>
                        </p:par>
                      </p:childTnLst>
                    </p:cTn>
                  </p:par>
                  <p:par>
                    <p:cTn id="107" fill="hold">
                      <p:stCondLst>
                        <p:cond delay="indefinite"/>
                      </p:stCondLst>
                      <p:childTnLst>
                        <p:par>
                          <p:cTn id="108" fill="hold">
                            <p:stCondLst>
                              <p:cond delay="0"/>
                            </p:stCondLst>
                            <p:childTnLst>
                              <p:par>
                                <p:cTn id="109" presetID="45" presetClass="entr" presetSubtype="0" fill="hold" nodeType="clickEffect">
                                  <p:stCondLst>
                                    <p:cond delay="0"/>
                                  </p:stCondLst>
                                  <p:childTnLst>
                                    <p:set>
                                      <p:cBhvr>
                                        <p:cTn id="110" dur="1" fill="hold">
                                          <p:stCondLst>
                                            <p:cond delay="0"/>
                                          </p:stCondLst>
                                        </p:cTn>
                                        <p:tgtEl>
                                          <p:spTgt spid="18">
                                            <p:txEl>
                                              <p:pRg st="1" end="1"/>
                                            </p:txEl>
                                          </p:spTgt>
                                        </p:tgtEl>
                                        <p:attrNameLst>
                                          <p:attrName>style.visibility</p:attrName>
                                        </p:attrNameLst>
                                      </p:cBhvr>
                                      <p:to>
                                        <p:strVal val="visible"/>
                                      </p:to>
                                    </p:set>
                                    <p:animEffect transition="in" filter="fade">
                                      <p:cBhvr>
                                        <p:cTn id="111" dur="2000"/>
                                        <p:tgtEl>
                                          <p:spTgt spid="18">
                                            <p:txEl>
                                              <p:pRg st="1" end="1"/>
                                            </p:txEl>
                                          </p:spTgt>
                                        </p:tgtEl>
                                      </p:cBhvr>
                                    </p:animEffect>
                                    <p:anim calcmode="lin" valueType="num">
                                      <p:cBhvr>
                                        <p:cTn id="112" dur="2000" fill="hold"/>
                                        <p:tgtEl>
                                          <p:spTgt spid="18">
                                            <p:txEl>
                                              <p:pRg st="1" end="1"/>
                                            </p:txEl>
                                          </p:spTgt>
                                        </p:tgtEl>
                                        <p:attrNameLst>
                                          <p:attrName>ppt_w</p:attrName>
                                        </p:attrNameLst>
                                      </p:cBhvr>
                                      <p:tavLst>
                                        <p:tav tm="0" fmla="#ppt_w*sin(2.5*pi*$)">
                                          <p:val>
                                            <p:fltVal val="0"/>
                                          </p:val>
                                        </p:tav>
                                        <p:tav tm="100000">
                                          <p:val>
                                            <p:fltVal val="1"/>
                                          </p:val>
                                        </p:tav>
                                      </p:tavLst>
                                    </p:anim>
                                    <p:anim calcmode="lin" valueType="num">
                                      <p:cBhvr>
                                        <p:cTn id="113" dur="2000" fill="hold"/>
                                        <p:tgtEl>
                                          <p:spTgt spid="18">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1000"/>
                                        <p:tgtEl>
                                          <p:spTgt spid="20"/>
                                        </p:tgtEl>
                                      </p:cBhvr>
                                    </p:animEffect>
                                    <p:anim calcmode="lin" valueType="num">
                                      <p:cBhvr>
                                        <p:cTn id="119" dur="1000" fill="hold"/>
                                        <p:tgtEl>
                                          <p:spTgt spid="20"/>
                                        </p:tgtEl>
                                        <p:attrNameLst>
                                          <p:attrName>ppt_x</p:attrName>
                                        </p:attrNameLst>
                                      </p:cBhvr>
                                      <p:tavLst>
                                        <p:tav tm="0">
                                          <p:val>
                                            <p:strVal val="#ppt_x"/>
                                          </p:val>
                                        </p:tav>
                                        <p:tav tm="100000">
                                          <p:val>
                                            <p:strVal val="#ppt_x"/>
                                          </p:val>
                                        </p:tav>
                                      </p:tavLst>
                                    </p:anim>
                                    <p:anim calcmode="lin" valueType="num">
                                      <p:cBhvr>
                                        <p:cTn id="12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4</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x87 essentials (1) — stack, load, store, sign</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481328"/>
            <a:ext cx="10360152" cy="502920"/>
          </a:xfrm>
          <a:prstGeom prst="rect">
            <a:avLst/>
          </a:prstGeom>
          <a:noFill/>
          <a:ln/>
        </p:spPr>
        <p:txBody>
          <a:bodyPr wrap="square" lIns="0" tIns="0" rIns="0" bIns="0" rtlCol="0" anchor="ctr"/>
          <a:lstStyle/>
          <a:p>
            <a:pPr marL="0" indent="0">
              <a:buNone/>
            </a:pPr>
            <a:r>
              <a:rPr lang="en-US" sz="1350" dirty="0">
                <a:solidFill>
                  <a:srgbClr val="2B2722"/>
                </a:solidFill>
                <a:latin typeface="Cambria" pitchFamily="34" charset="0"/>
                <a:ea typeface="Cambria" pitchFamily="34" charset="-122"/>
                <a:cs typeface="Cambria" pitchFamily="34" charset="-120"/>
              </a:rPr>
              <a:t>The x87 is a stack of eight 80-bit registers: st0 (top) … st7. Most instructions push onto, pop from, or operate on the top. A qword in memory is a 64-bit double, widened to 80 bits while on the stack.</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2103120"/>
          <a:ext cx="10332720" cy="3749040"/>
        </p:xfrm>
        <a:graphic>
          <a:graphicData uri="http://schemas.openxmlformats.org/drawingml/2006/table">
            <a:tbl>
              <a:tblPr/>
              <a:tblGrid>
                <a:gridCol w="3200400"/>
                <a:gridCol w="5120640"/>
                <a:gridCol w="2011680"/>
              </a:tblGrid>
              <a:tr h="374904">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instruction</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what it does</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stack</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fld m  /  fld st(i)</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 a copy of the operand onto st0</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fld1   /   fldz</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 the constant 1.0  /  0.0</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fldpi</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 π</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fild m</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load an integer, convert to real, push</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push</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fst m</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copy st0 to memory (keep it on the stack)</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fstp m</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store st0 to memory, then pop</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pop</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fxch st(i)</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swap st0 with st(i)</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fchs</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negate st0  (change sign)</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74904">
                <a:tc>
                  <a:txBody>
                    <a:bodyPr/>
                    <a:lstStyle/>
                    <a:p>
                      <a:pPr marL="0" indent="0">
                        <a:buNone/>
                      </a:pPr>
                      <a:r>
                        <a:rPr lang="en-US" sz="1250" dirty="0">
                          <a:solidFill>
                            <a:srgbClr val="2B2722"/>
                          </a:solidFill>
                          <a:latin typeface="Consolas" pitchFamily="34" charset="0"/>
                          <a:ea typeface="Consolas" pitchFamily="34" charset="-122"/>
                          <a:cs typeface="Consolas" pitchFamily="34" charset="-120"/>
                        </a:rPr>
                        <a:t>fabs</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absolute value of st0</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50" dirty="0">
                          <a:solidFill>
                            <a:srgbClr val="2B2722"/>
                          </a:solidFill>
                          <a:latin typeface="Cambria" pitchFamily="34" charset="0"/>
                          <a:ea typeface="Cambria" pitchFamily="34" charset="-122"/>
                          <a:cs typeface="Cambria" pitchFamily="34" charset="-120"/>
                        </a:rPr>
                        <a:t>—</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5</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x87 essentials (2) — arithmetic, compare, control</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1600200"/>
          <a:ext cx="10332720" cy="3895344"/>
        </p:xfrm>
        <a:graphic>
          <a:graphicData uri="http://schemas.openxmlformats.org/drawingml/2006/table">
            <a:tbl>
              <a:tblPr/>
              <a:tblGrid>
                <a:gridCol w="3566160"/>
                <a:gridCol w="4937760"/>
                <a:gridCol w="1828800"/>
              </a:tblGrid>
              <a:tr h="324612">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instruction</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what it does</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stack</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fadd / fsub / fmul / fdiv  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st0 = st0 (op) m</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fadd st0,st0</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st0 = 2·st0   (the “×2” trick)</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faddp/fsubp/fmulp/fdivp st1,st0</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st1 = st1 (op) st0, then pop</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pop</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fsqrt</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st0 = √st0</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frndint</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round st0 to integer using current RC</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fcos / fsin</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cosine / sine of st0</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ftst</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compare st0 with 0.0 → flags C0..C3</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fcomip st0,st(i)</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compare, set CPU EFLAGS, pop</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pop</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fnstsw ax</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copy FPU status word into AX</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sahf</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AH → CPU flags (then use jb / jnc)</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24612">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fstcw / fldcw  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store / load the 16-bit control word</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bl>
          </a:graphicData>
        </a:graphic>
      </p:graphicFrame>
      <p:sp>
        <p:nvSpPr>
          <p:cNvPr id="15" name="Text 12"/>
          <p:cNvSpPr/>
          <p:nvPr/>
        </p:nvSpPr>
        <p:spPr>
          <a:xfrm>
            <a:off x="914400" y="5532120"/>
            <a:ext cx="10360152" cy="365760"/>
          </a:xfrm>
          <a:prstGeom prst="rect">
            <a:avLst/>
          </a:prstGeom>
          <a:noFill/>
          <a:ln/>
        </p:spPr>
        <p:txBody>
          <a:bodyPr wrap="square" lIns="0" tIns="0" rIns="0" bIns="0" rtlCol="0" anchor="ctr"/>
          <a:lstStyle/>
          <a:p>
            <a:pPr marL="0" indent="0">
              <a:buNone/>
            </a:pPr>
            <a:r>
              <a:rPr lang="en-US" sz="1250" b="1" dirty="0">
                <a:solidFill>
                  <a:srgbClr val="586127"/>
                </a:solidFill>
                <a:latin typeface="Cambria" pitchFamily="34" charset="0"/>
                <a:ea typeface="Cambria" pitchFamily="34" charset="-122"/>
                <a:cs typeface="Cambria" pitchFamily="34" charset="-120"/>
              </a:rPr>
              <a:t>Suffix “p” = “and pop” </a:t>
            </a:r>
            <a:r>
              <a:rPr lang="en-US" sz="1250" dirty="0">
                <a:solidFill>
                  <a:srgbClr val="2B2722"/>
                </a:solidFill>
                <a:latin typeface="Cambria" pitchFamily="34" charset="0"/>
                <a:ea typeface="Cambria" pitchFamily="34" charset="-122"/>
                <a:cs typeface="Cambria" pitchFamily="34" charset="-120"/>
              </a:rPr>
              <a:t>(combine two stack entries into one).  The control word loaded by </a:t>
            </a:r>
            <a:r>
              <a:rPr lang="en-US" sz="1250" dirty="0">
                <a:solidFill>
                  <a:srgbClr val="586127"/>
                </a:solidFill>
                <a:latin typeface="Consolas" pitchFamily="34" charset="0"/>
                <a:ea typeface="Consolas" pitchFamily="34" charset="-122"/>
                <a:cs typeface="Consolas" pitchFamily="34" charset="-120"/>
              </a:rPr>
              <a:t>fldcw</a:t>
            </a:r>
            <a:r>
              <a:rPr lang="en-US" sz="1250" dirty="0">
                <a:solidFill>
                  <a:srgbClr val="2B2722"/>
                </a:solidFill>
                <a:latin typeface="Cambria" pitchFamily="34" charset="0"/>
                <a:ea typeface="Cambria" pitchFamily="34" charset="-122"/>
                <a:cs typeface="Cambria" pitchFamily="34" charset="-120"/>
              </a:rPr>
              <a:t> holds the rounding (RC) and precision (PC) fields.</a:t>
            </a:r>
            <a:endParaRPr lang="en-US" sz="12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 calcmode="lin" valueType="num">
                                      <p:cBhvr additive="base">
                                        <p:cTn id="13"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6</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Code — building T(2N) by the recurrence</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600200"/>
            <a:ext cx="6126480" cy="416052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600200"/>
            <a:ext cx="82296" cy="4160520"/>
          </a:xfrm>
          <a:prstGeom prst="rect">
            <a:avLst/>
          </a:prstGeom>
          <a:solidFill>
            <a:srgbClr val="7F8A3A"/>
          </a:solidFill>
          <a:ln/>
        </p:spPr>
      </p:sp>
      <p:sp>
        <p:nvSpPr>
          <p:cNvPr id="16" name="Text 14"/>
          <p:cNvSpPr/>
          <p:nvPr/>
        </p:nvSpPr>
        <p:spPr>
          <a:xfrm>
            <a:off x="1115568" y="1691640"/>
            <a:ext cx="5797296" cy="3977640"/>
          </a:xfrm>
          <a:prstGeom prst="rect">
            <a:avLst/>
          </a:prstGeom>
          <a:noFill/>
          <a:ln/>
        </p:spPr>
        <p:txBody>
          <a:bodyPr wrap="square" lIns="0" tIns="0" rIns="0" bIns="0" rtlCol="0" anchor="t"/>
          <a:lstStyle/>
          <a:p>
            <a:pPr marL="0" indent="0">
              <a:lnSpc>
                <a:spcPct val="104000"/>
              </a:lnSpc>
              <a:buNone/>
            </a:pPr>
            <a:r>
              <a:rPr lang="en-US" sz="1100" dirty="0">
                <a:solidFill>
                  <a:srgbClr val="586127"/>
                </a:solidFill>
                <a:latin typeface="Consolas" pitchFamily="34" charset="0"/>
                <a:ea typeface="Consolas" pitchFamily="34" charset="-122"/>
                <a:cs typeface="Consolas" pitchFamily="34" charset="-120"/>
              </a:rPr>
              <a:t>;; r12=prev(T_{k-2}) r13=cur(T_{k-1}) r14=next</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fld1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fstp qword [buf0]        ; T0 = 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fld1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fstp qword [buf1+8]      ; T1 = x</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ebx, 2              ; k = 2 .. d</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.bk:</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fld  qword [r12]       ; prev[0]</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fchs</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fstp qword [r14]       ; next[0] = -prev[0]</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mov  eax, 1            ; i = 1 .. k</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.ik:</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fld  qword [r13+rax*8-8] ; cur[i-1]   (x * Tk)</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fadd st0, st0            ; 2 * cur[i-1]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fsub qword [r12+rax*8]   ; - prev[i]</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fstp qword [r14+rax*8]   ; -&gt; next[i]</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inc  eax</a:t>
            </a:r>
            <a:endParaRPr lang="en-US" sz="1100" dirty="0"/>
          </a:p>
          <a:p>
            <a:pPr marL="0" indent="0">
              <a:lnSpc>
                <a:spcPct val="104000"/>
              </a:lnSpc>
              <a:buNone/>
            </a:pPr>
            <a:r>
              <a:rPr lang="en-US" sz="1100" dirty="0">
                <a:solidFill>
                  <a:srgbClr val="586127"/>
                </a:solidFill>
                <a:latin typeface="Consolas" pitchFamily="34" charset="0"/>
                <a:ea typeface="Consolas" pitchFamily="34" charset="-122"/>
                <a:cs typeface="Consolas" pitchFamily="34" charset="-120"/>
              </a:rPr>
              <a:t>  ; rotate prev&lt;-cur&lt;-next, then k++</a:t>
            </a:r>
            <a:endParaRPr lang="en-US" sz="1100" dirty="0"/>
          </a:p>
        </p:txBody>
      </p:sp>
      <p:sp>
        <p:nvSpPr>
          <p:cNvPr id="17" name="Shape 15"/>
          <p:cNvSpPr/>
          <p:nvPr/>
        </p:nvSpPr>
        <p:spPr>
          <a:xfrm>
            <a:off x="6858000" y="1600200"/>
            <a:ext cx="4480560" cy="41605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6858000" y="1600200"/>
            <a:ext cx="91440" cy="4160520"/>
          </a:xfrm>
          <a:prstGeom prst="rect">
            <a:avLst/>
          </a:prstGeom>
          <a:solidFill>
            <a:srgbClr val="7F8A3A"/>
          </a:solidFill>
          <a:ln/>
        </p:spPr>
      </p:sp>
      <p:sp>
        <p:nvSpPr>
          <p:cNvPr id="19" name="Text 17"/>
          <p:cNvSpPr/>
          <p:nvPr/>
        </p:nvSpPr>
        <p:spPr>
          <a:xfrm>
            <a:off x="7114032" y="1728216"/>
            <a:ext cx="402336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What the loop does</a:t>
            </a:r>
            <a:endParaRPr lang="en-US" sz="1550" dirty="0"/>
          </a:p>
        </p:txBody>
      </p:sp>
      <p:sp>
        <p:nvSpPr>
          <p:cNvPr id="20" name="Text 18"/>
          <p:cNvSpPr/>
          <p:nvPr/>
        </p:nvSpPr>
        <p:spPr>
          <a:xfrm>
            <a:off x="7132320" y="2167128"/>
            <a:ext cx="3977640" cy="3447288"/>
          </a:xfrm>
          <a:prstGeom prst="rect">
            <a:avLst/>
          </a:prstGeom>
          <a:noFill/>
          <a:ln/>
        </p:spPr>
        <p:txBody>
          <a:bodyPr wrap="square" lIns="0" tIns="0" rIns="0" bIns="0" rtlCol="0" anchor="t"/>
          <a:lstStyle/>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Multiply-by-x is just an index shift: cur[i-1] feeds next[i] (the +x exponent).</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fadd st0,st0 doubles the top of the stack — that is the 2x factor, done with one instruction.</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fsub subtracts the previous polynomial T(k-1); fchs handles the i=0 term -prev[0].</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Three buffers rotate by pointer swap, so no array is ever copied.</a:t>
            </a:r>
            <a:endParaRPr lang="en-US" sz="1300" dirty="0"/>
          </a:p>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After d-1 passes, cur holds T(2N); its leading coefficient is 2^(d-1).</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wipe(down)">
                                      <p:cBhvr>
                                        <p:cTn id="23" dur="580">
                                          <p:stCondLst>
                                            <p:cond delay="0"/>
                                          </p:stCondLst>
                                        </p:cTn>
                                        <p:tgtEl>
                                          <p:spTgt spid="16">
                                            <p:txEl>
                                              <p:pRg st="1" end="1"/>
                                            </p:txEl>
                                          </p:spTgt>
                                        </p:tgtEl>
                                      </p:cBhvr>
                                    </p:animEffect>
                                    <p:anim calcmode="lin" valueType="num">
                                      <p:cBhvr>
                                        <p:cTn id="24" dur="1822" tmFilter="0,0; 0.14,0.36; 0.43,0.73; 0.71,0.91; 1.0,1.0">
                                          <p:stCondLst>
                                            <p:cond delay="0"/>
                                          </p:stCondLst>
                                        </p:cTn>
                                        <p:tgtEl>
                                          <p:spTgt spid="1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xEl>
                                              <p:pRg st="1" end="1"/>
                                            </p:txEl>
                                          </p:spTgt>
                                        </p:tgtEl>
                                      </p:cBhvr>
                                      <p:to x="100000" y="60000"/>
                                    </p:animScale>
                                    <p:animScale>
                                      <p:cBhvr>
                                        <p:cTn id="30" dur="166" decel="50000">
                                          <p:stCondLst>
                                            <p:cond delay="676"/>
                                          </p:stCondLst>
                                        </p:cTn>
                                        <p:tgtEl>
                                          <p:spTgt spid="16">
                                            <p:txEl>
                                              <p:pRg st="1" end="1"/>
                                            </p:txEl>
                                          </p:spTgt>
                                        </p:tgtEl>
                                      </p:cBhvr>
                                      <p:to x="100000" y="100000"/>
                                    </p:animScale>
                                    <p:animScale>
                                      <p:cBhvr>
                                        <p:cTn id="31" dur="26">
                                          <p:stCondLst>
                                            <p:cond delay="1312"/>
                                          </p:stCondLst>
                                        </p:cTn>
                                        <p:tgtEl>
                                          <p:spTgt spid="16">
                                            <p:txEl>
                                              <p:pRg st="1" end="1"/>
                                            </p:txEl>
                                          </p:spTgt>
                                        </p:tgtEl>
                                      </p:cBhvr>
                                      <p:to x="100000" y="80000"/>
                                    </p:animScale>
                                    <p:animScale>
                                      <p:cBhvr>
                                        <p:cTn id="32" dur="166" decel="50000">
                                          <p:stCondLst>
                                            <p:cond delay="1338"/>
                                          </p:stCondLst>
                                        </p:cTn>
                                        <p:tgtEl>
                                          <p:spTgt spid="16">
                                            <p:txEl>
                                              <p:pRg st="1" end="1"/>
                                            </p:txEl>
                                          </p:spTgt>
                                        </p:tgtEl>
                                      </p:cBhvr>
                                      <p:to x="100000" y="100000"/>
                                    </p:animScale>
                                    <p:animScale>
                                      <p:cBhvr>
                                        <p:cTn id="33" dur="26">
                                          <p:stCondLst>
                                            <p:cond delay="1642"/>
                                          </p:stCondLst>
                                        </p:cTn>
                                        <p:tgtEl>
                                          <p:spTgt spid="16">
                                            <p:txEl>
                                              <p:pRg st="1" end="1"/>
                                            </p:txEl>
                                          </p:spTgt>
                                        </p:tgtEl>
                                      </p:cBhvr>
                                      <p:to x="100000" y="90000"/>
                                    </p:animScale>
                                    <p:animScale>
                                      <p:cBhvr>
                                        <p:cTn id="34" dur="166" decel="50000">
                                          <p:stCondLst>
                                            <p:cond delay="1668"/>
                                          </p:stCondLst>
                                        </p:cTn>
                                        <p:tgtEl>
                                          <p:spTgt spid="16">
                                            <p:txEl>
                                              <p:pRg st="1" end="1"/>
                                            </p:txEl>
                                          </p:spTgt>
                                        </p:tgtEl>
                                      </p:cBhvr>
                                      <p:to x="100000" y="100000"/>
                                    </p:animScale>
                                    <p:animScale>
                                      <p:cBhvr>
                                        <p:cTn id="35" dur="26">
                                          <p:stCondLst>
                                            <p:cond delay="1808"/>
                                          </p:stCondLst>
                                        </p:cTn>
                                        <p:tgtEl>
                                          <p:spTgt spid="16">
                                            <p:txEl>
                                              <p:pRg st="1" end="1"/>
                                            </p:txEl>
                                          </p:spTgt>
                                        </p:tgtEl>
                                      </p:cBhvr>
                                      <p:to x="100000" y="95000"/>
                                    </p:animScale>
                                    <p:animScale>
                                      <p:cBhvr>
                                        <p:cTn id="36" dur="166" decel="50000">
                                          <p:stCondLst>
                                            <p:cond delay="1834"/>
                                          </p:stCondLst>
                                        </p:cTn>
                                        <p:tgtEl>
                                          <p:spTgt spid="1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down)">
                                      <p:cBhvr>
                                        <p:cTn id="39" dur="580">
                                          <p:stCondLst>
                                            <p:cond delay="0"/>
                                          </p:stCondLst>
                                        </p:cTn>
                                        <p:tgtEl>
                                          <p:spTgt spid="16">
                                            <p:txEl>
                                              <p:pRg st="2" end="2"/>
                                            </p:txEl>
                                          </p:spTgt>
                                        </p:tgtEl>
                                      </p:cBhvr>
                                    </p:animEffect>
                                    <p:anim calcmode="lin" valueType="num">
                                      <p:cBhvr>
                                        <p:cTn id="40" dur="1822" tmFilter="0,0; 0.14,0.36; 0.43,0.73; 0.71,0.91; 1.0,1.0">
                                          <p:stCondLst>
                                            <p:cond delay="0"/>
                                          </p:stCondLst>
                                        </p:cTn>
                                        <p:tgtEl>
                                          <p:spTgt spid="1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6">
                                            <p:txEl>
                                              <p:pRg st="2" end="2"/>
                                            </p:txEl>
                                          </p:spTgt>
                                        </p:tgtEl>
                                      </p:cBhvr>
                                      <p:to x="100000" y="60000"/>
                                    </p:animScale>
                                    <p:animScale>
                                      <p:cBhvr>
                                        <p:cTn id="46" dur="166" decel="50000">
                                          <p:stCondLst>
                                            <p:cond delay="676"/>
                                          </p:stCondLst>
                                        </p:cTn>
                                        <p:tgtEl>
                                          <p:spTgt spid="16">
                                            <p:txEl>
                                              <p:pRg st="2" end="2"/>
                                            </p:txEl>
                                          </p:spTgt>
                                        </p:tgtEl>
                                      </p:cBhvr>
                                      <p:to x="100000" y="100000"/>
                                    </p:animScale>
                                    <p:animScale>
                                      <p:cBhvr>
                                        <p:cTn id="47" dur="26">
                                          <p:stCondLst>
                                            <p:cond delay="1312"/>
                                          </p:stCondLst>
                                        </p:cTn>
                                        <p:tgtEl>
                                          <p:spTgt spid="16">
                                            <p:txEl>
                                              <p:pRg st="2" end="2"/>
                                            </p:txEl>
                                          </p:spTgt>
                                        </p:tgtEl>
                                      </p:cBhvr>
                                      <p:to x="100000" y="80000"/>
                                    </p:animScale>
                                    <p:animScale>
                                      <p:cBhvr>
                                        <p:cTn id="48" dur="166" decel="50000">
                                          <p:stCondLst>
                                            <p:cond delay="1338"/>
                                          </p:stCondLst>
                                        </p:cTn>
                                        <p:tgtEl>
                                          <p:spTgt spid="16">
                                            <p:txEl>
                                              <p:pRg st="2" end="2"/>
                                            </p:txEl>
                                          </p:spTgt>
                                        </p:tgtEl>
                                      </p:cBhvr>
                                      <p:to x="100000" y="100000"/>
                                    </p:animScale>
                                    <p:animScale>
                                      <p:cBhvr>
                                        <p:cTn id="49" dur="26">
                                          <p:stCondLst>
                                            <p:cond delay="1642"/>
                                          </p:stCondLst>
                                        </p:cTn>
                                        <p:tgtEl>
                                          <p:spTgt spid="16">
                                            <p:txEl>
                                              <p:pRg st="2" end="2"/>
                                            </p:txEl>
                                          </p:spTgt>
                                        </p:tgtEl>
                                      </p:cBhvr>
                                      <p:to x="100000" y="90000"/>
                                    </p:animScale>
                                    <p:animScale>
                                      <p:cBhvr>
                                        <p:cTn id="50" dur="166" decel="50000">
                                          <p:stCondLst>
                                            <p:cond delay="1668"/>
                                          </p:stCondLst>
                                        </p:cTn>
                                        <p:tgtEl>
                                          <p:spTgt spid="16">
                                            <p:txEl>
                                              <p:pRg st="2" end="2"/>
                                            </p:txEl>
                                          </p:spTgt>
                                        </p:tgtEl>
                                      </p:cBhvr>
                                      <p:to x="100000" y="100000"/>
                                    </p:animScale>
                                    <p:animScale>
                                      <p:cBhvr>
                                        <p:cTn id="51" dur="26">
                                          <p:stCondLst>
                                            <p:cond delay="1808"/>
                                          </p:stCondLst>
                                        </p:cTn>
                                        <p:tgtEl>
                                          <p:spTgt spid="16">
                                            <p:txEl>
                                              <p:pRg st="2" end="2"/>
                                            </p:txEl>
                                          </p:spTgt>
                                        </p:tgtEl>
                                      </p:cBhvr>
                                      <p:to x="100000" y="95000"/>
                                    </p:animScale>
                                    <p:animScale>
                                      <p:cBhvr>
                                        <p:cTn id="52" dur="166" decel="50000">
                                          <p:stCondLst>
                                            <p:cond delay="1834"/>
                                          </p:stCondLst>
                                        </p:cTn>
                                        <p:tgtEl>
                                          <p:spTgt spid="16">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6">
                                            <p:txEl>
                                              <p:pRg st="3" end="3"/>
                                            </p:txEl>
                                          </p:spTgt>
                                        </p:tgtEl>
                                        <p:attrNameLst>
                                          <p:attrName>style.visibility</p:attrName>
                                        </p:attrNameLst>
                                      </p:cBhvr>
                                      <p:to>
                                        <p:strVal val="visible"/>
                                      </p:to>
                                    </p:set>
                                    <p:animEffect transition="in" filter="wipe(down)">
                                      <p:cBhvr>
                                        <p:cTn id="55" dur="580">
                                          <p:stCondLst>
                                            <p:cond delay="0"/>
                                          </p:stCondLst>
                                        </p:cTn>
                                        <p:tgtEl>
                                          <p:spTgt spid="16">
                                            <p:txEl>
                                              <p:pRg st="3" end="3"/>
                                            </p:txEl>
                                          </p:spTgt>
                                        </p:tgtEl>
                                      </p:cBhvr>
                                    </p:animEffect>
                                    <p:anim calcmode="lin" valueType="num">
                                      <p:cBhvr>
                                        <p:cTn id="56" dur="1822" tmFilter="0,0; 0.14,0.36; 0.43,0.73; 0.71,0.91; 1.0,1.0">
                                          <p:stCondLst>
                                            <p:cond delay="0"/>
                                          </p:stCondLst>
                                        </p:cTn>
                                        <p:tgtEl>
                                          <p:spTgt spid="16">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xEl>
                                              <p:pRg st="3" end="3"/>
                                            </p:txEl>
                                          </p:spTgt>
                                        </p:tgtEl>
                                      </p:cBhvr>
                                      <p:to x="100000" y="60000"/>
                                    </p:animScale>
                                    <p:animScale>
                                      <p:cBhvr>
                                        <p:cTn id="62" dur="166" decel="50000">
                                          <p:stCondLst>
                                            <p:cond delay="676"/>
                                          </p:stCondLst>
                                        </p:cTn>
                                        <p:tgtEl>
                                          <p:spTgt spid="16">
                                            <p:txEl>
                                              <p:pRg st="3" end="3"/>
                                            </p:txEl>
                                          </p:spTgt>
                                        </p:tgtEl>
                                      </p:cBhvr>
                                      <p:to x="100000" y="100000"/>
                                    </p:animScale>
                                    <p:animScale>
                                      <p:cBhvr>
                                        <p:cTn id="63" dur="26">
                                          <p:stCondLst>
                                            <p:cond delay="1312"/>
                                          </p:stCondLst>
                                        </p:cTn>
                                        <p:tgtEl>
                                          <p:spTgt spid="16">
                                            <p:txEl>
                                              <p:pRg st="3" end="3"/>
                                            </p:txEl>
                                          </p:spTgt>
                                        </p:tgtEl>
                                      </p:cBhvr>
                                      <p:to x="100000" y="80000"/>
                                    </p:animScale>
                                    <p:animScale>
                                      <p:cBhvr>
                                        <p:cTn id="64" dur="166" decel="50000">
                                          <p:stCondLst>
                                            <p:cond delay="1338"/>
                                          </p:stCondLst>
                                        </p:cTn>
                                        <p:tgtEl>
                                          <p:spTgt spid="16">
                                            <p:txEl>
                                              <p:pRg st="3" end="3"/>
                                            </p:txEl>
                                          </p:spTgt>
                                        </p:tgtEl>
                                      </p:cBhvr>
                                      <p:to x="100000" y="100000"/>
                                    </p:animScale>
                                    <p:animScale>
                                      <p:cBhvr>
                                        <p:cTn id="65" dur="26">
                                          <p:stCondLst>
                                            <p:cond delay="1642"/>
                                          </p:stCondLst>
                                        </p:cTn>
                                        <p:tgtEl>
                                          <p:spTgt spid="16">
                                            <p:txEl>
                                              <p:pRg st="3" end="3"/>
                                            </p:txEl>
                                          </p:spTgt>
                                        </p:tgtEl>
                                      </p:cBhvr>
                                      <p:to x="100000" y="90000"/>
                                    </p:animScale>
                                    <p:animScale>
                                      <p:cBhvr>
                                        <p:cTn id="66" dur="166" decel="50000">
                                          <p:stCondLst>
                                            <p:cond delay="1668"/>
                                          </p:stCondLst>
                                        </p:cTn>
                                        <p:tgtEl>
                                          <p:spTgt spid="16">
                                            <p:txEl>
                                              <p:pRg st="3" end="3"/>
                                            </p:txEl>
                                          </p:spTgt>
                                        </p:tgtEl>
                                      </p:cBhvr>
                                      <p:to x="100000" y="100000"/>
                                    </p:animScale>
                                    <p:animScale>
                                      <p:cBhvr>
                                        <p:cTn id="67" dur="26">
                                          <p:stCondLst>
                                            <p:cond delay="1808"/>
                                          </p:stCondLst>
                                        </p:cTn>
                                        <p:tgtEl>
                                          <p:spTgt spid="16">
                                            <p:txEl>
                                              <p:pRg st="3" end="3"/>
                                            </p:txEl>
                                          </p:spTgt>
                                        </p:tgtEl>
                                      </p:cBhvr>
                                      <p:to x="100000" y="95000"/>
                                    </p:animScale>
                                    <p:animScale>
                                      <p:cBhvr>
                                        <p:cTn id="68" dur="166" decel="50000">
                                          <p:stCondLst>
                                            <p:cond delay="1834"/>
                                          </p:stCondLst>
                                        </p:cTn>
                                        <p:tgtEl>
                                          <p:spTgt spid="16">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6">
                                            <p:txEl>
                                              <p:pRg st="4" end="4"/>
                                            </p:txEl>
                                          </p:spTgt>
                                        </p:tgtEl>
                                        <p:attrNameLst>
                                          <p:attrName>style.visibility</p:attrName>
                                        </p:attrNameLst>
                                      </p:cBhvr>
                                      <p:to>
                                        <p:strVal val="visible"/>
                                      </p:to>
                                    </p:set>
                                    <p:animEffect transition="in" filter="wipe(down)">
                                      <p:cBhvr>
                                        <p:cTn id="71" dur="580">
                                          <p:stCondLst>
                                            <p:cond delay="0"/>
                                          </p:stCondLst>
                                        </p:cTn>
                                        <p:tgtEl>
                                          <p:spTgt spid="16">
                                            <p:txEl>
                                              <p:pRg st="4" end="4"/>
                                            </p:txEl>
                                          </p:spTgt>
                                        </p:tgtEl>
                                      </p:cBhvr>
                                    </p:animEffect>
                                    <p:anim calcmode="lin" valueType="num">
                                      <p:cBhvr>
                                        <p:cTn id="72" dur="1822" tmFilter="0,0; 0.14,0.36; 0.43,0.73; 0.71,0.91; 1.0,1.0">
                                          <p:stCondLst>
                                            <p:cond delay="0"/>
                                          </p:stCondLst>
                                        </p:cTn>
                                        <p:tgtEl>
                                          <p:spTgt spid="16">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4" end="4"/>
                                            </p:txEl>
                                          </p:spTgt>
                                        </p:tgtEl>
                                      </p:cBhvr>
                                      <p:to x="100000" y="60000"/>
                                    </p:animScale>
                                    <p:animScale>
                                      <p:cBhvr>
                                        <p:cTn id="78" dur="166" decel="50000">
                                          <p:stCondLst>
                                            <p:cond delay="676"/>
                                          </p:stCondLst>
                                        </p:cTn>
                                        <p:tgtEl>
                                          <p:spTgt spid="16">
                                            <p:txEl>
                                              <p:pRg st="4" end="4"/>
                                            </p:txEl>
                                          </p:spTgt>
                                        </p:tgtEl>
                                      </p:cBhvr>
                                      <p:to x="100000" y="100000"/>
                                    </p:animScale>
                                    <p:animScale>
                                      <p:cBhvr>
                                        <p:cTn id="79" dur="26">
                                          <p:stCondLst>
                                            <p:cond delay="1312"/>
                                          </p:stCondLst>
                                        </p:cTn>
                                        <p:tgtEl>
                                          <p:spTgt spid="16">
                                            <p:txEl>
                                              <p:pRg st="4" end="4"/>
                                            </p:txEl>
                                          </p:spTgt>
                                        </p:tgtEl>
                                      </p:cBhvr>
                                      <p:to x="100000" y="80000"/>
                                    </p:animScale>
                                    <p:animScale>
                                      <p:cBhvr>
                                        <p:cTn id="80" dur="166" decel="50000">
                                          <p:stCondLst>
                                            <p:cond delay="1338"/>
                                          </p:stCondLst>
                                        </p:cTn>
                                        <p:tgtEl>
                                          <p:spTgt spid="16">
                                            <p:txEl>
                                              <p:pRg st="4" end="4"/>
                                            </p:txEl>
                                          </p:spTgt>
                                        </p:tgtEl>
                                      </p:cBhvr>
                                      <p:to x="100000" y="100000"/>
                                    </p:animScale>
                                    <p:animScale>
                                      <p:cBhvr>
                                        <p:cTn id="81" dur="26">
                                          <p:stCondLst>
                                            <p:cond delay="1642"/>
                                          </p:stCondLst>
                                        </p:cTn>
                                        <p:tgtEl>
                                          <p:spTgt spid="16">
                                            <p:txEl>
                                              <p:pRg st="4" end="4"/>
                                            </p:txEl>
                                          </p:spTgt>
                                        </p:tgtEl>
                                      </p:cBhvr>
                                      <p:to x="100000" y="90000"/>
                                    </p:animScale>
                                    <p:animScale>
                                      <p:cBhvr>
                                        <p:cTn id="82" dur="166" decel="50000">
                                          <p:stCondLst>
                                            <p:cond delay="1668"/>
                                          </p:stCondLst>
                                        </p:cTn>
                                        <p:tgtEl>
                                          <p:spTgt spid="16">
                                            <p:txEl>
                                              <p:pRg st="4" end="4"/>
                                            </p:txEl>
                                          </p:spTgt>
                                        </p:tgtEl>
                                      </p:cBhvr>
                                      <p:to x="100000" y="100000"/>
                                    </p:animScale>
                                    <p:animScale>
                                      <p:cBhvr>
                                        <p:cTn id="83" dur="26">
                                          <p:stCondLst>
                                            <p:cond delay="1808"/>
                                          </p:stCondLst>
                                        </p:cTn>
                                        <p:tgtEl>
                                          <p:spTgt spid="16">
                                            <p:txEl>
                                              <p:pRg st="4" end="4"/>
                                            </p:txEl>
                                          </p:spTgt>
                                        </p:tgtEl>
                                      </p:cBhvr>
                                      <p:to x="100000" y="95000"/>
                                    </p:animScale>
                                    <p:animScale>
                                      <p:cBhvr>
                                        <p:cTn id="84" dur="166" decel="50000">
                                          <p:stCondLst>
                                            <p:cond delay="1834"/>
                                          </p:stCondLst>
                                        </p:cTn>
                                        <p:tgtEl>
                                          <p:spTgt spid="16">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6">
                                            <p:txEl>
                                              <p:pRg st="5" end="5"/>
                                            </p:txEl>
                                          </p:spTgt>
                                        </p:tgtEl>
                                        <p:attrNameLst>
                                          <p:attrName>style.visibility</p:attrName>
                                        </p:attrNameLst>
                                      </p:cBhvr>
                                      <p:to>
                                        <p:strVal val="visible"/>
                                      </p:to>
                                    </p:set>
                                    <p:animEffect transition="in" filter="wipe(down)">
                                      <p:cBhvr>
                                        <p:cTn id="87" dur="580">
                                          <p:stCondLst>
                                            <p:cond delay="0"/>
                                          </p:stCondLst>
                                        </p:cTn>
                                        <p:tgtEl>
                                          <p:spTgt spid="16">
                                            <p:txEl>
                                              <p:pRg st="5" end="5"/>
                                            </p:txEl>
                                          </p:spTgt>
                                        </p:tgtEl>
                                      </p:cBhvr>
                                    </p:animEffect>
                                    <p:anim calcmode="lin" valueType="num">
                                      <p:cBhvr>
                                        <p:cTn id="88" dur="1822" tmFilter="0,0; 0.14,0.36; 0.43,0.73; 0.71,0.91; 1.0,1.0">
                                          <p:stCondLst>
                                            <p:cond delay="0"/>
                                          </p:stCondLst>
                                        </p:cTn>
                                        <p:tgtEl>
                                          <p:spTgt spid="16">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6">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6">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6">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6">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6">
                                            <p:txEl>
                                              <p:pRg st="5" end="5"/>
                                            </p:txEl>
                                          </p:spTgt>
                                        </p:tgtEl>
                                      </p:cBhvr>
                                      <p:to x="100000" y="60000"/>
                                    </p:animScale>
                                    <p:animScale>
                                      <p:cBhvr>
                                        <p:cTn id="94" dur="166" decel="50000">
                                          <p:stCondLst>
                                            <p:cond delay="676"/>
                                          </p:stCondLst>
                                        </p:cTn>
                                        <p:tgtEl>
                                          <p:spTgt spid="16">
                                            <p:txEl>
                                              <p:pRg st="5" end="5"/>
                                            </p:txEl>
                                          </p:spTgt>
                                        </p:tgtEl>
                                      </p:cBhvr>
                                      <p:to x="100000" y="100000"/>
                                    </p:animScale>
                                    <p:animScale>
                                      <p:cBhvr>
                                        <p:cTn id="95" dur="26">
                                          <p:stCondLst>
                                            <p:cond delay="1312"/>
                                          </p:stCondLst>
                                        </p:cTn>
                                        <p:tgtEl>
                                          <p:spTgt spid="16">
                                            <p:txEl>
                                              <p:pRg st="5" end="5"/>
                                            </p:txEl>
                                          </p:spTgt>
                                        </p:tgtEl>
                                      </p:cBhvr>
                                      <p:to x="100000" y="80000"/>
                                    </p:animScale>
                                    <p:animScale>
                                      <p:cBhvr>
                                        <p:cTn id="96" dur="166" decel="50000">
                                          <p:stCondLst>
                                            <p:cond delay="1338"/>
                                          </p:stCondLst>
                                        </p:cTn>
                                        <p:tgtEl>
                                          <p:spTgt spid="16">
                                            <p:txEl>
                                              <p:pRg st="5" end="5"/>
                                            </p:txEl>
                                          </p:spTgt>
                                        </p:tgtEl>
                                      </p:cBhvr>
                                      <p:to x="100000" y="100000"/>
                                    </p:animScale>
                                    <p:animScale>
                                      <p:cBhvr>
                                        <p:cTn id="97" dur="26">
                                          <p:stCondLst>
                                            <p:cond delay="1642"/>
                                          </p:stCondLst>
                                        </p:cTn>
                                        <p:tgtEl>
                                          <p:spTgt spid="16">
                                            <p:txEl>
                                              <p:pRg st="5" end="5"/>
                                            </p:txEl>
                                          </p:spTgt>
                                        </p:tgtEl>
                                      </p:cBhvr>
                                      <p:to x="100000" y="90000"/>
                                    </p:animScale>
                                    <p:animScale>
                                      <p:cBhvr>
                                        <p:cTn id="98" dur="166" decel="50000">
                                          <p:stCondLst>
                                            <p:cond delay="1668"/>
                                          </p:stCondLst>
                                        </p:cTn>
                                        <p:tgtEl>
                                          <p:spTgt spid="16">
                                            <p:txEl>
                                              <p:pRg st="5" end="5"/>
                                            </p:txEl>
                                          </p:spTgt>
                                        </p:tgtEl>
                                      </p:cBhvr>
                                      <p:to x="100000" y="100000"/>
                                    </p:animScale>
                                    <p:animScale>
                                      <p:cBhvr>
                                        <p:cTn id="99" dur="26">
                                          <p:stCondLst>
                                            <p:cond delay="1808"/>
                                          </p:stCondLst>
                                        </p:cTn>
                                        <p:tgtEl>
                                          <p:spTgt spid="16">
                                            <p:txEl>
                                              <p:pRg st="5" end="5"/>
                                            </p:txEl>
                                          </p:spTgt>
                                        </p:tgtEl>
                                      </p:cBhvr>
                                      <p:to x="100000" y="95000"/>
                                    </p:animScale>
                                    <p:animScale>
                                      <p:cBhvr>
                                        <p:cTn id="100" dur="166" decel="50000">
                                          <p:stCondLst>
                                            <p:cond delay="1834"/>
                                          </p:stCondLst>
                                        </p:cTn>
                                        <p:tgtEl>
                                          <p:spTgt spid="16">
                                            <p:txEl>
                                              <p:pRg st="5" end="5"/>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6">
                                            <p:txEl>
                                              <p:pRg st="6" end="6"/>
                                            </p:txEl>
                                          </p:spTgt>
                                        </p:tgtEl>
                                        <p:attrNameLst>
                                          <p:attrName>style.visibility</p:attrName>
                                        </p:attrNameLst>
                                      </p:cBhvr>
                                      <p:to>
                                        <p:strVal val="visible"/>
                                      </p:to>
                                    </p:set>
                                    <p:animEffect transition="in" filter="wipe(down)">
                                      <p:cBhvr>
                                        <p:cTn id="103" dur="580">
                                          <p:stCondLst>
                                            <p:cond delay="0"/>
                                          </p:stCondLst>
                                        </p:cTn>
                                        <p:tgtEl>
                                          <p:spTgt spid="16">
                                            <p:txEl>
                                              <p:pRg st="6" end="6"/>
                                            </p:txEl>
                                          </p:spTgt>
                                        </p:tgtEl>
                                      </p:cBhvr>
                                    </p:animEffect>
                                    <p:anim calcmode="lin" valueType="num">
                                      <p:cBhvr>
                                        <p:cTn id="104" dur="1822" tmFilter="0,0; 0.14,0.36; 0.43,0.73; 0.71,0.91; 1.0,1.0">
                                          <p:stCondLst>
                                            <p:cond delay="0"/>
                                          </p:stCondLst>
                                        </p:cTn>
                                        <p:tgtEl>
                                          <p:spTgt spid="16">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6">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6">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6">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6">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16">
                                            <p:txEl>
                                              <p:pRg st="6" end="6"/>
                                            </p:txEl>
                                          </p:spTgt>
                                        </p:tgtEl>
                                      </p:cBhvr>
                                      <p:to x="100000" y="60000"/>
                                    </p:animScale>
                                    <p:animScale>
                                      <p:cBhvr>
                                        <p:cTn id="110" dur="166" decel="50000">
                                          <p:stCondLst>
                                            <p:cond delay="676"/>
                                          </p:stCondLst>
                                        </p:cTn>
                                        <p:tgtEl>
                                          <p:spTgt spid="16">
                                            <p:txEl>
                                              <p:pRg st="6" end="6"/>
                                            </p:txEl>
                                          </p:spTgt>
                                        </p:tgtEl>
                                      </p:cBhvr>
                                      <p:to x="100000" y="100000"/>
                                    </p:animScale>
                                    <p:animScale>
                                      <p:cBhvr>
                                        <p:cTn id="111" dur="26">
                                          <p:stCondLst>
                                            <p:cond delay="1312"/>
                                          </p:stCondLst>
                                        </p:cTn>
                                        <p:tgtEl>
                                          <p:spTgt spid="16">
                                            <p:txEl>
                                              <p:pRg st="6" end="6"/>
                                            </p:txEl>
                                          </p:spTgt>
                                        </p:tgtEl>
                                      </p:cBhvr>
                                      <p:to x="100000" y="80000"/>
                                    </p:animScale>
                                    <p:animScale>
                                      <p:cBhvr>
                                        <p:cTn id="112" dur="166" decel="50000">
                                          <p:stCondLst>
                                            <p:cond delay="1338"/>
                                          </p:stCondLst>
                                        </p:cTn>
                                        <p:tgtEl>
                                          <p:spTgt spid="16">
                                            <p:txEl>
                                              <p:pRg st="6" end="6"/>
                                            </p:txEl>
                                          </p:spTgt>
                                        </p:tgtEl>
                                      </p:cBhvr>
                                      <p:to x="100000" y="100000"/>
                                    </p:animScale>
                                    <p:animScale>
                                      <p:cBhvr>
                                        <p:cTn id="113" dur="26">
                                          <p:stCondLst>
                                            <p:cond delay="1642"/>
                                          </p:stCondLst>
                                        </p:cTn>
                                        <p:tgtEl>
                                          <p:spTgt spid="16">
                                            <p:txEl>
                                              <p:pRg st="6" end="6"/>
                                            </p:txEl>
                                          </p:spTgt>
                                        </p:tgtEl>
                                      </p:cBhvr>
                                      <p:to x="100000" y="90000"/>
                                    </p:animScale>
                                    <p:animScale>
                                      <p:cBhvr>
                                        <p:cTn id="114" dur="166" decel="50000">
                                          <p:stCondLst>
                                            <p:cond delay="1668"/>
                                          </p:stCondLst>
                                        </p:cTn>
                                        <p:tgtEl>
                                          <p:spTgt spid="16">
                                            <p:txEl>
                                              <p:pRg st="6" end="6"/>
                                            </p:txEl>
                                          </p:spTgt>
                                        </p:tgtEl>
                                      </p:cBhvr>
                                      <p:to x="100000" y="100000"/>
                                    </p:animScale>
                                    <p:animScale>
                                      <p:cBhvr>
                                        <p:cTn id="115" dur="26">
                                          <p:stCondLst>
                                            <p:cond delay="1808"/>
                                          </p:stCondLst>
                                        </p:cTn>
                                        <p:tgtEl>
                                          <p:spTgt spid="16">
                                            <p:txEl>
                                              <p:pRg st="6" end="6"/>
                                            </p:txEl>
                                          </p:spTgt>
                                        </p:tgtEl>
                                      </p:cBhvr>
                                      <p:to x="100000" y="95000"/>
                                    </p:animScale>
                                    <p:animScale>
                                      <p:cBhvr>
                                        <p:cTn id="116" dur="166" decel="50000">
                                          <p:stCondLst>
                                            <p:cond delay="1834"/>
                                          </p:stCondLst>
                                        </p:cTn>
                                        <p:tgtEl>
                                          <p:spTgt spid="16">
                                            <p:txEl>
                                              <p:pRg st="6" end="6"/>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6">
                                            <p:txEl>
                                              <p:pRg st="7" end="7"/>
                                            </p:txEl>
                                          </p:spTgt>
                                        </p:tgtEl>
                                        <p:attrNameLst>
                                          <p:attrName>style.visibility</p:attrName>
                                        </p:attrNameLst>
                                      </p:cBhvr>
                                      <p:to>
                                        <p:strVal val="visible"/>
                                      </p:to>
                                    </p:set>
                                    <p:animEffect transition="in" filter="wipe(down)">
                                      <p:cBhvr>
                                        <p:cTn id="119" dur="580">
                                          <p:stCondLst>
                                            <p:cond delay="0"/>
                                          </p:stCondLst>
                                        </p:cTn>
                                        <p:tgtEl>
                                          <p:spTgt spid="16">
                                            <p:txEl>
                                              <p:pRg st="7" end="7"/>
                                            </p:txEl>
                                          </p:spTgt>
                                        </p:tgtEl>
                                      </p:cBhvr>
                                    </p:animEffect>
                                    <p:anim calcmode="lin" valueType="num">
                                      <p:cBhvr>
                                        <p:cTn id="120" dur="1822" tmFilter="0,0; 0.14,0.36; 0.43,0.73; 0.71,0.91; 1.0,1.0">
                                          <p:stCondLst>
                                            <p:cond delay="0"/>
                                          </p:stCondLst>
                                        </p:cTn>
                                        <p:tgtEl>
                                          <p:spTgt spid="16">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xEl>
                                              <p:pRg st="7" end="7"/>
                                            </p:txEl>
                                          </p:spTgt>
                                        </p:tgtEl>
                                      </p:cBhvr>
                                      <p:to x="100000" y="60000"/>
                                    </p:animScale>
                                    <p:animScale>
                                      <p:cBhvr>
                                        <p:cTn id="126" dur="166" decel="50000">
                                          <p:stCondLst>
                                            <p:cond delay="676"/>
                                          </p:stCondLst>
                                        </p:cTn>
                                        <p:tgtEl>
                                          <p:spTgt spid="16">
                                            <p:txEl>
                                              <p:pRg st="7" end="7"/>
                                            </p:txEl>
                                          </p:spTgt>
                                        </p:tgtEl>
                                      </p:cBhvr>
                                      <p:to x="100000" y="100000"/>
                                    </p:animScale>
                                    <p:animScale>
                                      <p:cBhvr>
                                        <p:cTn id="127" dur="26">
                                          <p:stCondLst>
                                            <p:cond delay="1312"/>
                                          </p:stCondLst>
                                        </p:cTn>
                                        <p:tgtEl>
                                          <p:spTgt spid="16">
                                            <p:txEl>
                                              <p:pRg st="7" end="7"/>
                                            </p:txEl>
                                          </p:spTgt>
                                        </p:tgtEl>
                                      </p:cBhvr>
                                      <p:to x="100000" y="80000"/>
                                    </p:animScale>
                                    <p:animScale>
                                      <p:cBhvr>
                                        <p:cTn id="128" dur="166" decel="50000">
                                          <p:stCondLst>
                                            <p:cond delay="1338"/>
                                          </p:stCondLst>
                                        </p:cTn>
                                        <p:tgtEl>
                                          <p:spTgt spid="16">
                                            <p:txEl>
                                              <p:pRg st="7" end="7"/>
                                            </p:txEl>
                                          </p:spTgt>
                                        </p:tgtEl>
                                      </p:cBhvr>
                                      <p:to x="100000" y="100000"/>
                                    </p:animScale>
                                    <p:animScale>
                                      <p:cBhvr>
                                        <p:cTn id="129" dur="26">
                                          <p:stCondLst>
                                            <p:cond delay="1642"/>
                                          </p:stCondLst>
                                        </p:cTn>
                                        <p:tgtEl>
                                          <p:spTgt spid="16">
                                            <p:txEl>
                                              <p:pRg st="7" end="7"/>
                                            </p:txEl>
                                          </p:spTgt>
                                        </p:tgtEl>
                                      </p:cBhvr>
                                      <p:to x="100000" y="90000"/>
                                    </p:animScale>
                                    <p:animScale>
                                      <p:cBhvr>
                                        <p:cTn id="130" dur="166" decel="50000">
                                          <p:stCondLst>
                                            <p:cond delay="1668"/>
                                          </p:stCondLst>
                                        </p:cTn>
                                        <p:tgtEl>
                                          <p:spTgt spid="16">
                                            <p:txEl>
                                              <p:pRg st="7" end="7"/>
                                            </p:txEl>
                                          </p:spTgt>
                                        </p:tgtEl>
                                      </p:cBhvr>
                                      <p:to x="100000" y="100000"/>
                                    </p:animScale>
                                    <p:animScale>
                                      <p:cBhvr>
                                        <p:cTn id="131" dur="26">
                                          <p:stCondLst>
                                            <p:cond delay="1808"/>
                                          </p:stCondLst>
                                        </p:cTn>
                                        <p:tgtEl>
                                          <p:spTgt spid="16">
                                            <p:txEl>
                                              <p:pRg st="7" end="7"/>
                                            </p:txEl>
                                          </p:spTgt>
                                        </p:tgtEl>
                                      </p:cBhvr>
                                      <p:to x="100000" y="95000"/>
                                    </p:animScale>
                                    <p:animScale>
                                      <p:cBhvr>
                                        <p:cTn id="132" dur="166" decel="50000">
                                          <p:stCondLst>
                                            <p:cond delay="1834"/>
                                          </p:stCondLst>
                                        </p:cTn>
                                        <p:tgtEl>
                                          <p:spTgt spid="16">
                                            <p:txEl>
                                              <p:pRg st="7" end="7"/>
                                            </p:txEl>
                                          </p:spTgt>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16">
                                            <p:txEl>
                                              <p:pRg st="8" end="8"/>
                                            </p:txEl>
                                          </p:spTgt>
                                        </p:tgtEl>
                                        <p:attrNameLst>
                                          <p:attrName>style.visibility</p:attrName>
                                        </p:attrNameLst>
                                      </p:cBhvr>
                                      <p:to>
                                        <p:strVal val="visible"/>
                                      </p:to>
                                    </p:set>
                                    <p:animEffect transition="in" filter="wipe(down)">
                                      <p:cBhvr>
                                        <p:cTn id="135" dur="580">
                                          <p:stCondLst>
                                            <p:cond delay="0"/>
                                          </p:stCondLst>
                                        </p:cTn>
                                        <p:tgtEl>
                                          <p:spTgt spid="16">
                                            <p:txEl>
                                              <p:pRg st="8" end="8"/>
                                            </p:txEl>
                                          </p:spTgt>
                                        </p:tgtEl>
                                      </p:cBhvr>
                                    </p:animEffect>
                                    <p:anim calcmode="lin" valueType="num">
                                      <p:cBhvr>
                                        <p:cTn id="136" dur="1822" tmFilter="0,0; 0.14,0.36; 0.43,0.73; 0.71,0.91; 1.0,1.0">
                                          <p:stCondLst>
                                            <p:cond delay="0"/>
                                          </p:stCondLst>
                                        </p:cTn>
                                        <p:tgtEl>
                                          <p:spTgt spid="16">
                                            <p:txEl>
                                              <p:pRg st="8" end="8"/>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6">
                                            <p:txEl>
                                              <p:pRg st="8" end="8"/>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6">
                                            <p:txEl>
                                              <p:pRg st="8" end="8"/>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6">
                                            <p:txEl>
                                              <p:pRg st="8" end="8"/>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6">
                                            <p:txEl>
                                              <p:pRg st="8" end="8"/>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16">
                                            <p:txEl>
                                              <p:pRg st="8" end="8"/>
                                            </p:txEl>
                                          </p:spTgt>
                                        </p:tgtEl>
                                      </p:cBhvr>
                                      <p:to x="100000" y="60000"/>
                                    </p:animScale>
                                    <p:animScale>
                                      <p:cBhvr>
                                        <p:cTn id="142" dur="166" decel="50000">
                                          <p:stCondLst>
                                            <p:cond delay="676"/>
                                          </p:stCondLst>
                                        </p:cTn>
                                        <p:tgtEl>
                                          <p:spTgt spid="16">
                                            <p:txEl>
                                              <p:pRg st="8" end="8"/>
                                            </p:txEl>
                                          </p:spTgt>
                                        </p:tgtEl>
                                      </p:cBhvr>
                                      <p:to x="100000" y="100000"/>
                                    </p:animScale>
                                    <p:animScale>
                                      <p:cBhvr>
                                        <p:cTn id="143" dur="26">
                                          <p:stCondLst>
                                            <p:cond delay="1312"/>
                                          </p:stCondLst>
                                        </p:cTn>
                                        <p:tgtEl>
                                          <p:spTgt spid="16">
                                            <p:txEl>
                                              <p:pRg st="8" end="8"/>
                                            </p:txEl>
                                          </p:spTgt>
                                        </p:tgtEl>
                                      </p:cBhvr>
                                      <p:to x="100000" y="80000"/>
                                    </p:animScale>
                                    <p:animScale>
                                      <p:cBhvr>
                                        <p:cTn id="144" dur="166" decel="50000">
                                          <p:stCondLst>
                                            <p:cond delay="1338"/>
                                          </p:stCondLst>
                                        </p:cTn>
                                        <p:tgtEl>
                                          <p:spTgt spid="16">
                                            <p:txEl>
                                              <p:pRg st="8" end="8"/>
                                            </p:txEl>
                                          </p:spTgt>
                                        </p:tgtEl>
                                      </p:cBhvr>
                                      <p:to x="100000" y="100000"/>
                                    </p:animScale>
                                    <p:animScale>
                                      <p:cBhvr>
                                        <p:cTn id="145" dur="26">
                                          <p:stCondLst>
                                            <p:cond delay="1642"/>
                                          </p:stCondLst>
                                        </p:cTn>
                                        <p:tgtEl>
                                          <p:spTgt spid="16">
                                            <p:txEl>
                                              <p:pRg st="8" end="8"/>
                                            </p:txEl>
                                          </p:spTgt>
                                        </p:tgtEl>
                                      </p:cBhvr>
                                      <p:to x="100000" y="90000"/>
                                    </p:animScale>
                                    <p:animScale>
                                      <p:cBhvr>
                                        <p:cTn id="146" dur="166" decel="50000">
                                          <p:stCondLst>
                                            <p:cond delay="1668"/>
                                          </p:stCondLst>
                                        </p:cTn>
                                        <p:tgtEl>
                                          <p:spTgt spid="16">
                                            <p:txEl>
                                              <p:pRg st="8" end="8"/>
                                            </p:txEl>
                                          </p:spTgt>
                                        </p:tgtEl>
                                      </p:cBhvr>
                                      <p:to x="100000" y="100000"/>
                                    </p:animScale>
                                    <p:animScale>
                                      <p:cBhvr>
                                        <p:cTn id="147" dur="26">
                                          <p:stCondLst>
                                            <p:cond delay="1808"/>
                                          </p:stCondLst>
                                        </p:cTn>
                                        <p:tgtEl>
                                          <p:spTgt spid="16">
                                            <p:txEl>
                                              <p:pRg st="8" end="8"/>
                                            </p:txEl>
                                          </p:spTgt>
                                        </p:tgtEl>
                                      </p:cBhvr>
                                      <p:to x="100000" y="95000"/>
                                    </p:animScale>
                                    <p:animScale>
                                      <p:cBhvr>
                                        <p:cTn id="148" dur="166" decel="50000">
                                          <p:stCondLst>
                                            <p:cond delay="1834"/>
                                          </p:stCondLst>
                                        </p:cTn>
                                        <p:tgtEl>
                                          <p:spTgt spid="16">
                                            <p:txEl>
                                              <p:pRg st="8" end="8"/>
                                            </p:txEl>
                                          </p:spTgt>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6">
                                            <p:txEl>
                                              <p:pRg st="9" end="9"/>
                                            </p:txEl>
                                          </p:spTgt>
                                        </p:tgtEl>
                                        <p:attrNameLst>
                                          <p:attrName>style.visibility</p:attrName>
                                        </p:attrNameLst>
                                      </p:cBhvr>
                                      <p:to>
                                        <p:strVal val="visible"/>
                                      </p:to>
                                    </p:set>
                                    <p:animEffect transition="in" filter="wipe(down)">
                                      <p:cBhvr>
                                        <p:cTn id="151" dur="580">
                                          <p:stCondLst>
                                            <p:cond delay="0"/>
                                          </p:stCondLst>
                                        </p:cTn>
                                        <p:tgtEl>
                                          <p:spTgt spid="16">
                                            <p:txEl>
                                              <p:pRg st="9" end="9"/>
                                            </p:txEl>
                                          </p:spTgt>
                                        </p:tgtEl>
                                      </p:cBhvr>
                                    </p:animEffect>
                                    <p:anim calcmode="lin" valueType="num">
                                      <p:cBhvr>
                                        <p:cTn id="152" dur="1822" tmFilter="0,0; 0.14,0.36; 0.43,0.73; 0.71,0.91; 1.0,1.0">
                                          <p:stCondLst>
                                            <p:cond delay="0"/>
                                          </p:stCondLst>
                                        </p:cTn>
                                        <p:tgtEl>
                                          <p:spTgt spid="16">
                                            <p:txEl>
                                              <p:pRg st="9" end="9"/>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6">
                                            <p:txEl>
                                              <p:pRg st="9" end="9"/>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6">
                                            <p:txEl>
                                              <p:pRg st="9" end="9"/>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6">
                                            <p:txEl>
                                              <p:pRg st="9" end="9"/>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6">
                                            <p:txEl>
                                              <p:pRg st="9" end="9"/>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16">
                                            <p:txEl>
                                              <p:pRg st="9" end="9"/>
                                            </p:txEl>
                                          </p:spTgt>
                                        </p:tgtEl>
                                      </p:cBhvr>
                                      <p:to x="100000" y="60000"/>
                                    </p:animScale>
                                    <p:animScale>
                                      <p:cBhvr>
                                        <p:cTn id="158" dur="166" decel="50000">
                                          <p:stCondLst>
                                            <p:cond delay="676"/>
                                          </p:stCondLst>
                                        </p:cTn>
                                        <p:tgtEl>
                                          <p:spTgt spid="16">
                                            <p:txEl>
                                              <p:pRg st="9" end="9"/>
                                            </p:txEl>
                                          </p:spTgt>
                                        </p:tgtEl>
                                      </p:cBhvr>
                                      <p:to x="100000" y="100000"/>
                                    </p:animScale>
                                    <p:animScale>
                                      <p:cBhvr>
                                        <p:cTn id="159" dur="26">
                                          <p:stCondLst>
                                            <p:cond delay="1312"/>
                                          </p:stCondLst>
                                        </p:cTn>
                                        <p:tgtEl>
                                          <p:spTgt spid="16">
                                            <p:txEl>
                                              <p:pRg st="9" end="9"/>
                                            </p:txEl>
                                          </p:spTgt>
                                        </p:tgtEl>
                                      </p:cBhvr>
                                      <p:to x="100000" y="80000"/>
                                    </p:animScale>
                                    <p:animScale>
                                      <p:cBhvr>
                                        <p:cTn id="160" dur="166" decel="50000">
                                          <p:stCondLst>
                                            <p:cond delay="1338"/>
                                          </p:stCondLst>
                                        </p:cTn>
                                        <p:tgtEl>
                                          <p:spTgt spid="16">
                                            <p:txEl>
                                              <p:pRg st="9" end="9"/>
                                            </p:txEl>
                                          </p:spTgt>
                                        </p:tgtEl>
                                      </p:cBhvr>
                                      <p:to x="100000" y="100000"/>
                                    </p:animScale>
                                    <p:animScale>
                                      <p:cBhvr>
                                        <p:cTn id="161" dur="26">
                                          <p:stCondLst>
                                            <p:cond delay="1642"/>
                                          </p:stCondLst>
                                        </p:cTn>
                                        <p:tgtEl>
                                          <p:spTgt spid="16">
                                            <p:txEl>
                                              <p:pRg st="9" end="9"/>
                                            </p:txEl>
                                          </p:spTgt>
                                        </p:tgtEl>
                                      </p:cBhvr>
                                      <p:to x="100000" y="90000"/>
                                    </p:animScale>
                                    <p:animScale>
                                      <p:cBhvr>
                                        <p:cTn id="162" dur="166" decel="50000">
                                          <p:stCondLst>
                                            <p:cond delay="1668"/>
                                          </p:stCondLst>
                                        </p:cTn>
                                        <p:tgtEl>
                                          <p:spTgt spid="16">
                                            <p:txEl>
                                              <p:pRg st="9" end="9"/>
                                            </p:txEl>
                                          </p:spTgt>
                                        </p:tgtEl>
                                      </p:cBhvr>
                                      <p:to x="100000" y="100000"/>
                                    </p:animScale>
                                    <p:animScale>
                                      <p:cBhvr>
                                        <p:cTn id="163" dur="26">
                                          <p:stCondLst>
                                            <p:cond delay="1808"/>
                                          </p:stCondLst>
                                        </p:cTn>
                                        <p:tgtEl>
                                          <p:spTgt spid="16">
                                            <p:txEl>
                                              <p:pRg st="9" end="9"/>
                                            </p:txEl>
                                          </p:spTgt>
                                        </p:tgtEl>
                                      </p:cBhvr>
                                      <p:to x="100000" y="95000"/>
                                    </p:animScale>
                                    <p:animScale>
                                      <p:cBhvr>
                                        <p:cTn id="164" dur="166" decel="50000">
                                          <p:stCondLst>
                                            <p:cond delay="1834"/>
                                          </p:stCondLst>
                                        </p:cTn>
                                        <p:tgtEl>
                                          <p:spTgt spid="16">
                                            <p:txEl>
                                              <p:pRg st="9" end="9"/>
                                            </p:txEl>
                                          </p:spTgt>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6">
                                            <p:txEl>
                                              <p:pRg st="10" end="10"/>
                                            </p:txEl>
                                          </p:spTgt>
                                        </p:tgtEl>
                                        <p:attrNameLst>
                                          <p:attrName>style.visibility</p:attrName>
                                        </p:attrNameLst>
                                      </p:cBhvr>
                                      <p:to>
                                        <p:strVal val="visible"/>
                                      </p:to>
                                    </p:set>
                                    <p:animEffect transition="in" filter="wipe(down)">
                                      <p:cBhvr>
                                        <p:cTn id="167" dur="580">
                                          <p:stCondLst>
                                            <p:cond delay="0"/>
                                          </p:stCondLst>
                                        </p:cTn>
                                        <p:tgtEl>
                                          <p:spTgt spid="16">
                                            <p:txEl>
                                              <p:pRg st="10" end="10"/>
                                            </p:txEl>
                                          </p:spTgt>
                                        </p:tgtEl>
                                      </p:cBhvr>
                                    </p:animEffect>
                                    <p:anim calcmode="lin" valueType="num">
                                      <p:cBhvr>
                                        <p:cTn id="168" dur="1822" tmFilter="0,0; 0.14,0.36; 0.43,0.73; 0.71,0.91; 1.0,1.0">
                                          <p:stCondLst>
                                            <p:cond delay="0"/>
                                          </p:stCondLst>
                                        </p:cTn>
                                        <p:tgtEl>
                                          <p:spTgt spid="16">
                                            <p:txEl>
                                              <p:pRg st="10" end="10"/>
                                            </p:txEl>
                                          </p:spTgt>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6">
                                            <p:txEl>
                                              <p:pRg st="10" end="10"/>
                                            </p:txEl>
                                          </p:spTgt>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6">
                                            <p:txEl>
                                              <p:pRg st="10" end="10"/>
                                            </p:txEl>
                                          </p:spTgt>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6">
                                            <p:txEl>
                                              <p:pRg st="10" end="10"/>
                                            </p:txEl>
                                          </p:spTgt>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6">
                                            <p:txEl>
                                              <p:pRg st="10" end="10"/>
                                            </p:txEl>
                                          </p:spTgt>
                                        </p:tgtEl>
                                        <p:attrNameLst>
                                          <p:attrName>ppt_y</p:attrName>
                                        </p:attrNameLst>
                                      </p:cBhvr>
                                      <p:tavLst>
                                        <p:tav tm="0" fmla="#ppt_y-sin(pi*$)/81">
                                          <p:val>
                                            <p:fltVal val="0"/>
                                          </p:val>
                                        </p:tav>
                                        <p:tav tm="100000">
                                          <p:val>
                                            <p:fltVal val="1"/>
                                          </p:val>
                                        </p:tav>
                                      </p:tavLst>
                                    </p:anim>
                                    <p:animScale>
                                      <p:cBhvr>
                                        <p:cTn id="173" dur="26">
                                          <p:stCondLst>
                                            <p:cond delay="650"/>
                                          </p:stCondLst>
                                        </p:cTn>
                                        <p:tgtEl>
                                          <p:spTgt spid="16">
                                            <p:txEl>
                                              <p:pRg st="10" end="10"/>
                                            </p:txEl>
                                          </p:spTgt>
                                        </p:tgtEl>
                                      </p:cBhvr>
                                      <p:to x="100000" y="60000"/>
                                    </p:animScale>
                                    <p:animScale>
                                      <p:cBhvr>
                                        <p:cTn id="174" dur="166" decel="50000">
                                          <p:stCondLst>
                                            <p:cond delay="676"/>
                                          </p:stCondLst>
                                        </p:cTn>
                                        <p:tgtEl>
                                          <p:spTgt spid="16">
                                            <p:txEl>
                                              <p:pRg st="10" end="10"/>
                                            </p:txEl>
                                          </p:spTgt>
                                        </p:tgtEl>
                                      </p:cBhvr>
                                      <p:to x="100000" y="100000"/>
                                    </p:animScale>
                                    <p:animScale>
                                      <p:cBhvr>
                                        <p:cTn id="175" dur="26">
                                          <p:stCondLst>
                                            <p:cond delay="1312"/>
                                          </p:stCondLst>
                                        </p:cTn>
                                        <p:tgtEl>
                                          <p:spTgt spid="16">
                                            <p:txEl>
                                              <p:pRg st="10" end="10"/>
                                            </p:txEl>
                                          </p:spTgt>
                                        </p:tgtEl>
                                      </p:cBhvr>
                                      <p:to x="100000" y="80000"/>
                                    </p:animScale>
                                    <p:animScale>
                                      <p:cBhvr>
                                        <p:cTn id="176" dur="166" decel="50000">
                                          <p:stCondLst>
                                            <p:cond delay="1338"/>
                                          </p:stCondLst>
                                        </p:cTn>
                                        <p:tgtEl>
                                          <p:spTgt spid="16">
                                            <p:txEl>
                                              <p:pRg st="10" end="10"/>
                                            </p:txEl>
                                          </p:spTgt>
                                        </p:tgtEl>
                                      </p:cBhvr>
                                      <p:to x="100000" y="100000"/>
                                    </p:animScale>
                                    <p:animScale>
                                      <p:cBhvr>
                                        <p:cTn id="177" dur="26">
                                          <p:stCondLst>
                                            <p:cond delay="1642"/>
                                          </p:stCondLst>
                                        </p:cTn>
                                        <p:tgtEl>
                                          <p:spTgt spid="16">
                                            <p:txEl>
                                              <p:pRg st="10" end="10"/>
                                            </p:txEl>
                                          </p:spTgt>
                                        </p:tgtEl>
                                      </p:cBhvr>
                                      <p:to x="100000" y="90000"/>
                                    </p:animScale>
                                    <p:animScale>
                                      <p:cBhvr>
                                        <p:cTn id="178" dur="166" decel="50000">
                                          <p:stCondLst>
                                            <p:cond delay="1668"/>
                                          </p:stCondLst>
                                        </p:cTn>
                                        <p:tgtEl>
                                          <p:spTgt spid="16">
                                            <p:txEl>
                                              <p:pRg st="10" end="10"/>
                                            </p:txEl>
                                          </p:spTgt>
                                        </p:tgtEl>
                                      </p:cBhvr>
                                      <p:to x="100000" y="100000"/>
                                    </p:animScale>
                                    <p:animScale>
                                      <p:cBhvr>
                                        <p:cTn id="179" dur="26">
                                          <p:stCondLst>
                                            <p:cond delay="1808"/>
                                          </p:stCondLst>
                                        </p:cTn>
                                        <p:tgtEl>
                                          <p:spTgt spid="16">
                                            <p:txEl>
                                              <p:pRg st="10" end="10"/>
                                            </p:txEl>
                                          </p:spTgt>
                                        </p:tgtEl>
                                      </p:cBhvr>
                                      <p:to x="100000" y="95000"/>
                                    </p:animScale>
                                    <p:animScale>
                                      <p:cBhvr>
                                        <p:cTn id="180" dur="166" decel="50000">
                                          <p:stCondLst>
                                            <p:cond delay="1834"/>
                                          </p:stCondLst>
                                        </p:cTn>
                                        <p:tgtEl>
                                          <p:spTgt spid="16">
                                            <p:txEl>
                                              <p:pRg st="10" end="10"/>
                                            </p:txEl>
                                          </p:spTgt>
                                        </p:tgtEl>
                                      </p:cBhvr>
                                      <p:to x="100000" y="100000"/>
                                    </p:animScale>
                                  </p:childTnLst>
                                </p:cTn>
                              </p:par>
                              <p:par>
                                <p:cTn id="181" presetID="26" presetClass="entr" presetSubtype="0" fill="hold" nodeType="withEffect">
                                  <p:stCondLst>
                                    <p:cond delay="0"/>
                                  </p:stCondLst>
                                  <p:childTnLst>
                                    <p:set>
                                      <p:cBhvr>
                                        <p:cTn id="182" dur="1" fill="hold">
                                          <p:stCondLst>
                                            <p:cond delay="0"/>
                                          </p:stCondLst>
                                        </p:cTn>
                                        <p:tgtEl>
                                          <p:spTgt spid="16">
                                            <p:txEl>
                                              <p:pRg st="11" end="11"/>
                                            </p:txEl>
                                          </p:spTgt>
                                        </p:tgtEl>
                                        <p:attrNameLst>
                                          <p:attrName>style.visibility</p:attrName>
                                        </p:attrNameLst>
                                      </p:cBhvr>
                                      <p:to>
                                        <p:strVal val="visible"/>
                                      </p:to>
                                    </p:set>
                                    <p:animEffect transition="in" filter="wipe(down)">
                                      <p:cBhvr>
                                        <p:cTn id="183" dur="580">
                                          <p:stCondLst>
                                            <p:cond delay="0"/>
                                          </p:stCondLst>
                                        </p:cTn>
                                        <p:tgtEl>
                                          <p:spTgt spid="16">
                                            <p:txEl>
                                              <p:pRg st="11" end="11"/>
                                            </p:txEl>
                                          </p:spTgt>
                                        </p:tgtEl>
                                      </p:cBhvr>
                                    </p:animEffect>
                                    <p:anim calcmode="lin" valueType="num">
                                      <p:cBhvr>
                                        <p:cTn id="184" dur="1822" tmFilter="0,0; 0.14,0.36; 0.43,0.73; 0.71,0.91; 1.0,1.0">
                                          <p:stCondLst>
                                            <p:cond delay="0"/>
                                          </p:stCondLst>
                                        </p:cTn>
                                        <p:tgtEl>
                                          <p:spTgt spid="16">
                                            <p:txEl>
                                              <p:pRg st="11" end="11"/>
                                            </p:txEl>
                                          </p:spTgt>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6">
                                            <p:txEl>
                                              <p:pRg st="11" end="11"/>
                                            </p:txEl>
                                          </p:spTgt>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6">
                                            <p:txEl>
                                              <p:pRg st="11" end="11"/>
                                            </p:txEl>
                                          </p:spTgt>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6">
                                            <p:txEl>
                                              <p:pRg st="11" end="11"/>
                                            </p:txEl>
                                          </p:spTgt>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6">
                                            <p:txEl>
                                              <p:pRg st="11" end="11"/>
                                            </p:txEl>
                                          </p:spTgt>
                                        </p:tgtEl>
                                        <p:attrNameLst>
                                          <p:attrName>ppt_y</p:attrName>
                                        </p:attrNameLst>
                                      </p:cBhvr>
                                      <p:tavLst>
                                        <p:tav tm="0" fmla="#ppt_y-sin(pi*$)/81">
                                          <p:val>
                                            <p:fltVal val="0"/>
                                          </p:val>
                                        </p:tav>
                                        <p:tav tm="100000">
                                          <p:val>
                                            <p:fltVal val="1"/>
                                          </p:val>
                                        </p:tav>
                                      </p:tavLst>
                                    </p:anim>
                                    <p:animScale>
                                      <p:cBhvr>
                                        <p:cTn id="189" dur="26">
                                          <p:stCondLst>
                                            <p:cond delay="650"/>
                                          </p:stCondLst>
                                        </p:cTn>
                                        <p:tgtEl>
                                          <p:spTgt spid="16">
                                            <p:txEl>
                                              <p:pRg st="11" end="11"/>
                                            </p:txEl>
                                          </p:spTgt>
                                        </p:tgtEl>
                                      </p:cBhvr>
                                      <p:to x="100000" y="60000"/>
                                    </p:animScale>
                                    <p:animScale>
                                      <p:cBhvr>
                                        <p:cTn id="190" dur="166" decel="50000">
                                          <p:stCondLst>
                                            <p:cond delay="676"/>
                                          </p:stCondLst>
                                        </p:cTn>
                                        <p:tgtEl>
                                          <p:spTgt spid="16">
                                            <p:txEl>
                                              <p:pRg st="11" end="11"/>
                                            </p:txEl>
                                          </p:spTgt>
                                        </p:tgtEl>
                                      </p:cBhvr>
                                      <p:to x="100000" y="100000"/>
                                    </p:animScale>
                                    <p:animScale>
                                      <p:cBhvr>
                                        <p:cTn id="191" dur="26">
                                          <p:stCondLst>
                                            <p:cond delay="1312"/>
                                          </p:stCondLst>
                                        </p:cTn>
                                        <p:tgtEl>
                                          <p:spTgt spid="16">
                                            <p:txEl>
                                              <p:pRg st="11" end="11"/>
                                            </p:txEl>
                                          </p:spTgt>
                                        </p:tgtEl>
                                      </p:cBhvr>
                                      <p:to x="100000" y="80000"/>
                                    </p:animScale>
                                    <p:animScale>
                                      <p:cBhvr>
                                        <p:cTn id="192" dur="166" decel="50000">
                                          <p:stCondLst>
                                            <p:cond delay="1338"/>
                                          </p:stCondLst>
                                        </p:cTn>
                                        <p:tgtEl>
                                          <p:spTgt spid="16">
                                            <p:txEl>
                                              <p:pRg st="11" end="11"/>
                                            </p:txEl>
                                          </p:spTgt>
                                        </p:tgtEl>
                                      </p:cBhvr>
                                      <p:to x="100000" y="100000"/>
                                    </p:animScale>
                                    <p:animScale>
                                      <p:cBhvr>
                                        <p:cTn id="193" dur="26">
                                          <p:stCondLst>
                                            <p:cond delay="1642"/>
                                          </p:stCondLst>
                                        </p:cTn>
                                        <p:tgtEl>
                                          <p:spTgt spid="16">
                                            <p:txEl>
                                              <p:pRg st="11" end="11"/>
                                            </p:txEl>
                                          </p:spTgt>
                                        </p:tgtEl>
                                      </p:cBhvr>
                                      <p:to x="100000" y="90000"/>
                                    </p:animScale>
                                    <p:animScale>
                                      <p:cBhvr>
                                        <p:cTn id="194" dur="166" decel="50000">
                                          <p:stCondLst>
                                            <p:cond delay="1668"/>
                                          </p:stCondLst>
                                        </p:cTn>
                                        <p:tgtEl>
                                          <p:spTgt spid="16">
                                            <p:txEl>
                                              <p:pRg st="11" end="11"/>
                                            </p:txEl>
                                          </p:spTgt>
                                        </p:tgtEl>
                                      </p:cBhvr>
                                      <p:to x="100000" y="100000"/>
                                    </p:animScale>
                                    <p:animScale>
                                      <p:cBhvr>
                                        <p:cTn id="195" dur="26">
                                          <p:stCondLst>
                                            <p:cond delay="1808"/>
                                          </p:stCondLst>
                                        </p:cTn>
                                        <p:tgtEl>
                                          <p:spTgt spid="16">
                                            <p:txEl>
                                              <p:pRg st="11" end="11"/>
                                            </p:txEl>
                                          </p:spTgt>
                                        </p:tgtEl>
                                      </p:cBhvr>
                                      <p:to x="100000" y="95000"/>
                                    </p:animScale>
                                    <p:animScale>
                                      <p:cBhvr>
                                        <p:cTn id="196" dur="166" decel="50000">
                                          <p:stCondLst>
                                            <p:cond delay="1834"/>
                                          </p:stCondLst>
                                        </p:cTn>
                                        <p:tgtEl>
                                          <p:spTgt spid="16">
                                            <p:txEl>
                                              <p:pRg st="11" end="11"/>
                                            </p:txEl>
                                          </p:spTgt>
                                        </p:tgtEl>
                                      </p:cBhvr>
                                      <p:to x="100000" y="100000"/>
                                    </p:animScale>
                                  </p:childTnLst>
                                </p:cTn>
                              </p:par>
                              <p:par>
                                <p:cTn id="197" presetID="26" presetClass="entr" presetSubtype="0" fill="hold" nodeType="withEffect">
                                  <p:stCondLst>
                                    <p:cond delay="0"/>
                                  </p:stCondLst>
                                  <p:childTnLst>
                                    <p:set>
                                      <p:cBhvr>
                                        <p:cTn id="198" dur="1" fill="hold">
                                          <p:stCondLst>
                                            <p:cond delay="0"/>
                                          </p:stCondLst>
                                        </p:cTn>
                                        <p:tgtEl>
                                          <p:spTgt spid="16">
                                            <p:txEl>
                                              <p:pRg st="12" end="12"/>
                                            </p:txEl>
                                          </p:spTgt>
                                        </p:tgtEl>
                                        <p:attrNameLst>
                                          <p:attrName>style.visibility</p:attrName>
                                        </p:attrNameLst>
                                      </p:cBhvr>
                                      <p:to>
                                        <p:strVal val="visible"/>
                                      </p:to>
                                    </p:set>
                                    <p:animEffect transition="in" filter="wipe(down)">
                                      <p:cBhvr>
                                        <p:cTn id="199" dur="580">
                                          <p:stCondLst>
                                            <p:cond delay="0"/>
                                          </p:stCondLst>
                                        </p:cTn>
                                        <p:tgtEl>
                                          <p:spTgt spid="16">
                                            <p:txEl>
                                              <p:pRg st="12" end="12"/>
                                            </p:txEl>
                                          </p:spTgt>
                                        </p:tgtEl>
                                      </p:cBhvr>
                                    </p:animEffect>
                                    <p:anim calcmode="lin" valueType="num">
                                      <p:cBhvr>
                                        <p:cTn id="200" dur="1822" tmFilter="0,0; 0.14,0.36; 0.43,0.73; 0.71,0.91; 1.0,1.0">
                                          <p:stCondLst>
                                            <p:cond delay="0"/>
                                          </p:stCondLst>
                                        </p:cTn>
                                        <p:tgtEl>
                                          <p:spTgt spid="16">
                                            <p:txEl>
                                              <p:pRg st="12" end="12"/>
                                            </p:txEl>
                                          </p:spTgt>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6">
                                            <p:txEl>
                                              <p:pRg st="12" end="12"/>
                                            </p:txEl>
                                          </p:spTgt>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6">
                                            <p:txEl>
                                              <p:pRg st="12" end="12"/>
                                            </p:txEl>
                                          </p:spTgt>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6">
                                            <p:txEl>
                                              <p:pRg st="12" end="12"/>
                                            </p:txEl>
                                          </p:spTgt>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6">
                                            <p:txEl>
                                              <p:pRg st="12" end="12"/>
                                            </p:txEl>
                                          </p:spTgt>
                                        </p:tgtEl>
                                        <p:attrNameLst>
                                          <p:attrName>ppt_y</p:attrName>
                                        </p:attrNameLst>
                                      </p:cBhvr>
                                      <p:tavLst>
                                        <p:tav tm="0" fmla="#ppt_y-sin(pi*$)/81">
                                          <p:val>
                                            <p:fltVal val="0"/>
                                          </p:val>
                                        </p:tav>
                                        <p:tav tm="100000">
                                          <p:val>
                                            <p:fltVal val="1"/>
                                          </p:val>
                                        </p:tav>
                                      </p:tavLst>
                                    </p:anim>
                                    <p:animScale>
                                      <p:cBhvr>
                                        <p:cTn id="205" dur="26">
                                          <p:stCondLst>
                                            <p:cond delay="650"/>
                                          </p:stCondLst>
                                        </p:cTn>
                                        <p:tgtEl>
                                          <p:spTgt spid="16">
                                            <p:txEl>
                                              <p:pRg st="12" end="12"/>
                                            </p:txEl>
                                          </p:spTgt>
                                        </p:tgtEl>
                                      </p:cBhvr>
                                      <p:to x="100000" y="60000"/>
                                    </p:animScale>
                                    <p:animScale>
                                      <p:cBhvr>
                                        <p:cTn id="206" dur="166" decel="50000">
                                          <p:stCondLst>
                                            <p:cond delay="676"/>
                                          </p:stCondLst>
                                        </p:cTn>
                                        <p:tgtEl>
                                          <p:spTgt spid="16">
                                            <p:txEl>
                                              <p:pRg st="12" end="12"/>
                                            </p:txEl>
                                          </p:spTgt>
                                        </p:tgtEl>
                                      </p:cBhvr>
                                      <p:to x="100000" y="100000"/>
                                    </p:animScale>
                                    <p:animScale>
                                      <p:cBhvr>
                                        <p:cTn id="207" dur="26">
                                          <p:stCondLst>
                                            <p:cond delay="1312"/>
                                          </p:stCondLst>
                                        </p:cTn>
                                        <p:tgtEl>
                                          <p:spTgt spid="16">
                                            <p:txEl>
                                              <p:pRg st="12" end="12"/>
                                            </p:txEl>
                                          </p:spTgt>
                                        </p:tgtEl>
                                      </p:cBhvr>
                                      <p:to x="100000" y="80000"/>
                                    </p:animScale>
                                    <p:animScale>
                                      <p:cBhvr>
                                        <p:cTn id="208" dur="166" decel="50000">
                                          <p:stCondLst>
                                            <p:cond delay="1338"/>
                                          </p:stCondLst>
                                        </p:cTn>
                                        <p:tgtEl>
                                          <p:spTgt spid="16">
                                            <p:txEl>
                                              <p:pRg st="12" end="12"/>
                                            </p:txEl>
                                          </p:spTgt>
                                        </p:tgtEl>
                                      </p:cBhvr>
                                      <p:to x="100000" y="100000"/>
                                    </p:animScale>
                                    <p:animScale>
                                      <p:cBhvr>
                                        <p:cTn id="209" dur="26">
                                          <p:stCondLst>
                                            <p:cond delay="1642"/>
                                          </p:stCondLst>
                                        </p:cTn>
                                        <p:tgtEl>
                                          <p:spTgt spid="16">
                                            <p:txEl>
                                              <p:pRg st="12" end="12"/>
                                            </p:txEl>
                                          </p:spTgt>
                                        </p:tgtEl>
                                      </p:cBhvr>
                                      <p:to x="100000" y="90000"/>
                                    </p:animScale>
                                    <p:animScale>
                                      <p:cBhvr>
                                        <p:cTn id="210" dur="166" decel="50000">
                                          <p:stCondLst>
                                            <p:cond delay="1668"/>
                                          </p:stCondLst>
                                        </p:cTn>
                                        <p:tgtEl>
                                          <p:spTgt spid="16">
                                            <p:txEl>
                                              <p:pRg st="12" end="12"/>
                                            </p:txEl>
                                          </p:spTgt>
                                        </p:tgtEl>
                                      </p:cBhvr>
                                      <p:to x="100000" y="100000"/>
                                    </p:animScale>
                                    <p:animScale>
                                      <p:cBhvr>
                                        <p:cTn id="211" dur="26">
                                          <p:stCondLst>
                                            <p:cond delay="1808"/>
                                          </p:stCondLst>
                                        </p:cTn>
                                        <p:tgtEl>
                                          <p:spTgt spid="16">
                                            <p:txEl>
                                              <p:pRg st="12" end="12"/>
                                            </p:txEl>
                                          </p:spTgt>
                                        </p:tgtEl>
                                      </p:cBhvr>
                                      <p:to x="100000" y="95000"/>
                                    </p:animScale>
                                    <p:animScale>
                                      <p:cBhvr>
                                        <p:cTn id="212" dur="166" decel="50000">
                                          <p:stCondLst>
                                            <p:cond delay="1834"/>
                                          </p:stCondLst>
                                        </p:cTn>
                                        <p:tgtEl>
                                          <p:spTgt spid="16">
                                            <p:txEl>
                                              <p:pRg st="12" end="12"/>
                                            </p:txEl>
                                          </p:spTgt>
                                        </p:tgtEl>
                                      </p:cBhvr>
                                      <p:to x="100000" y="100000"/>
                                    </p:animScale>
                                  </p:childTnLst>
                                </p:cTn>
                              </p:par>
                              <p:par>
                                <p:cTn id="213" presetID="26" presetClass="entr" presetSubtype="0" fill="hold" nodeType="withEffect">
                                  <p:stCondLst>
                                    <p:cond delay="0"/>
                                  </p:stCondLst>
                                  <p:childTnLst>
                                    <p:set>
                                      <p:cBhvr>
                                        <p:cTn id="214" dur="1" fill="hold">
                                          <p:stCondLst>
                                            <p:cond delay="0"/>
                                          </p:stCondLst>
                                        </p:cTn>
                                        <p:tgtEl>
                                          <p:spTgt spid="16">
                                            <p:txEl>
                                              <p:pRg st="13" end="13"/>
                                            </p:txEl>
                                          </p:spTgt>
                                        </p:tgtEl>
                                        <p:attrNameLst>
                                          <p:attrName>style.visibility</p:attrName>
                                        </p:attrNameLst>
                                      </p:cBhvr>
                                      <p:to>
                                        <p:strVal val="visible"/>
                                      </p:to>
                                    </p:set>
                                    <p:animEffect transition="in" filter="wipe(down)">
                                      <p:cBhvr>
                                        <p:cTn id="215" dur="580">
                                          <p:stCondLst>
                                            <p:cond delay="0"/>
                                          </p:stCondLst>
                                        </p:cTn>
                                        <p:tgtEl>
                                          <p:spTgt spid="16">
                                            <p:txEl>
                                              <p:pRg st="13" end="13"/>
                                            </p:txEl>
                                          </p:spTgt>
                                        </p:tgtEl>
                                      </p:cBhvr>
                                    </p:animEffect>
                                    <p:anim calcmode="lin" valueType="num">
                                      <p:cBhvr>
                                        <p:cTn id="216" dur="1822" tmFilter="0,0; 0.14,0.36; 0.43,0.73; 0.71,0.91; 1.0,1.0">
                                          <p:stCondLst>
                                            <p:cond delay="0"/>
                                          </p:stCondLst>
                                        </p:cTn>
                                        <p:tgtEl>
                                          <p:spTgt spid="16">
                                            <p:txEl>
                                              <p:pRg st="13" end="13"/>
                                            </p:txEl>
                                          </p:spTgt>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6">
                                            <p:txEl>
                                              <p:pRg st="13" end="13"/>
                                            </p:txEl>
                                          </p:spTgt>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6">
                                            <p:txEl>
                                              <p:pRg st="13" end="13"/>
                                            </p:txEl>
                                          </p:spTgt>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6">
                                            <p:txEl>
                                              <p:pRg st="13" end="13"/>
                                            </p:txEl>
                                          </p:spTgt>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6">
                                            <p:txEl>
                                              <p:pRg st="13" end="13"/>
                                            </p:txEl>
                                          </p:spTgt>
                                        </p:tgtEl>
                                        <p:attrNameLst>
                                          <p:attrName>ppt_y</p:attrName>
                                        </p:attrNameLst>
                                      </p:cBhvr>
                                      <p:tavLst>
                                        <p:tav tm="0" fmla="#ppt_y-sin(pi*$)/81">
                                          <p:val>
                                            <p:fltVal val="0"/>
                                          </p:val>
                                        </p:tav>
                                        <p:tav tm="100000">
                                          <p:val>
                                            <p:fltVal val="1"/>
                                          </p:val>
                                        </p:tav>
                                      </p:tavLst>
                                    </p:anim>
                                    <p:animScale>
                                      <p:cBhvr>
                                        <p:cTn id="221" dur="26">
                                          <p:stCondLst>
                                            <p:cond delay="650"/>
                                          </p:stCondLst>
                                        </p:cTn>
                                        <p:tgtEl>
                                          <p:spTgt spid="16">
                                            <p:txEl>
                                              <p:pRg st="13" end="13"/>
                                            </p:txEl>
                                          </p:spTgt>
                                        </p:tgtEl>
                                      </p:cBhvr>
                                      <p:to x="100000" y="60000"/>
                                    </p:animScale>
                                    <p:animScale>
                                      <p:cBhvr>
                                        <p:cTn id="222" dur="166" decel="50000">
                                          <p:stCondLst>
                                            <p:cond delay="676"/>
                                          </p:stCondLst>
                                        </p:cTn>
                                        <p:tgtEl>
                                          <p:spTgt spid="16">
                                            <p:txEl>
                                              <p:pRg st="13" end="13"/>
                                            </p:txEl>
                                          </p:spTgt>
                                        </p:tgtEl>
                                      </p:cBhvr>
                                      <p:to x="100000" y="100000"/>
                                    </p:animScale>
                                    <p:animScale>
                                      <p:cBhvr>
                                        <p:cTn id="223" dur="26">
                                          <p:stCondLst>
                                            <p:cond delay="1312"/>
                                          </p:stCondLst>
                                        </p:cTn>
                                        <p:tgtEl>
                                          <p:spTgt spid="16">
                                            <p:txEl>
                                              <p:pRg st="13" end="13"/>
                                            </p:txEl>
                                          </p:spTgt>
                                        </p:tgtEl>
                                      </p:cBhvr>
                                      <p:to x="100000" y="80000"/>
                                    </p:animScale>
                                    <p:animScale>
                                      <p:cBhvr>
                                        <p:cTn id="224" dur="166" decel="50000">
                                          <p:stCondLst>
                                            <p:cond delay="1338"/>
                                          </p:stCondLst>
                                        </p:cTn>
                                        <p:tgtEl>
                                          <p:spTgt spid="16">
                                            <p:txEl>
                                              <p:pRg st="13" end="13"/>
                                            </p:txEl>
                                          </p:spTgt>
                                        </p:tgtEl>
                                      </p:cBhvr>
                                      <p:to x="100000" y="100000"/>
                                    </p:animScale>
                                    <p:animScale>
                                      <p:cBhvr>
                                        <p:cTn id="225" dur="26">
                                          <p:stCondLst>
                                            <p:cond delay="1642"/>
                                          </p:stCondLst>
                                        </p:cTn>
                                        <p:tgtEl>
                                          <p:spTgt spid="16">
                                            <p:txEl>
                                              <p:pRg st="13" end="13"/>
                                            </p:txEl>
                                          </p:spTgt>
                                        </p:tgtEl>
                                      </p:cBhvr>
                                      <p:to x="100000" y="90000"/>
                                    </p:animScale>
                                    <p:animScale>
                                      <p:cBhvr>
                                        <p:cTn id="226" dur="166" decel="50000">
                                          <p:stCondLst>
                                            <p:cond delay="1668"/>
                                          </p:stCondLst>
                                        </p:cTn>
                                        <p:tgtEl>
                                          <p:spTgt spid="16">
                                            <p:txEl>
                                              <p:pRg st="13" end="13"/>
                                            </p:txEl>
                                          </p:spTgt>
                                        </p:tgtEl>
                                      </p:cBhvr>
                                      <p:to x="100000" y="100000"/>
                                    </p:animScale>
                                    <p:animScale>
                                      <p:cBhvr>
                                        <p:cTn id="227" dur="26">
                                          <p:stCondLst>
                                            <p:cond delay="1808"/>
                                          </p:stCondLst>
                                        </p:cTn>
                                        <p:tgtEl>
                                          <p:spTgt spid="16">
                                            <p:txEl>
                                              <p:pRg st="13" end="13"/>
                                            </p:txEl>
                                          </p:spTgt>
                                        </p:tgtEl>
                                      </p:cBhvr>
                                      <p:to x="100000" y="95000"/>
                                    </p:animScale>
                                    <p:animScale>
                                      <p:cBhvr>
                                        <p:cTn id="228" dur="166" decel="50000">
                                          <p:stCondLst>
                                            <p:cond delay="1834"/>
                                          </p:stCondLst>
                                        </p:cTn>
                                        <p:tgtEl>
                                          <p:spTgt spid="16">
                                            <p:txEl>
                                              <p:pRg st="13" end="13"/>
                                            </p:txEl>
                                          </p:spTgt>
                                        </p:tgtEl>
                                      </p:cBhvr>
                                      <p:to x="100000" y="100000"/>
                                    </p:animScale>
                                  </p:childTnLst>
                                </p:cTn>
                              </p:par>
                              <p:par>
                                <p:cTn id="229" presetID="26" presetClass="entr" presetSubtype="0" fill="hold" nodeType="withEffect">
                                  <p:stCondLst>
                                    <p:cond delay="0"/>
                                  </p:stCondLst>
                                  <p:childTnLst>
                                    <p:set>
                                      <p:cBhvr>
                                        <p:cTn id="230" dur="1" fill="hold">
                                          <p:stCondLst>
                                            <p:cond delay="0"/>
                                          </p:stCondLst>
                                        </p:cTn>
                                        <p:tgtEl>
                                          <p:spTgt spid="16">
                                            <p:txEl>
                                              <p:pRg st="14" end="14"/>
                                            </p:txEl>
                                          </p:spTgt>
                                        </p:tgtEl>
                                        <p:attrNameLst>
                                          <p:attrName>style.visibility</p:attrName>
                                        </p:attrNameLst>
                                      </p:cBhvr>
                                      <p:to>
                                        <p:strVal val="visible"/>
                                      </p:to>
                                    </p:set>
                                    <p:animEffect transition="in" filter="wipe(down)">
                                      <p:cBhvr>
                                        <p:cTn id="231" dur="580">
                                          <p:stCondLst>
                                            <p:cond delay="0"/>
                                          </p:stCondLst>
                                        </p:cTn>
                                        <p:tgtEl>
                                          <p:spTgt spid="16">
                                            <p:txEl>
                                              <p:pRg st="14" end="14"/>
                                            </p:txEl>
                                          </p:spTgt>
                                        </p:tgtEl>
                                      </p:cBhvr>
                                    </p:animEffect>
                                    <p:anim calcmode="lin" valueType="num">
                                      <p:cBhvr>
                                        <p:cTn id="232" dur="1822" tmFilter="0,0; 0.14,0.36; 0.43,0.73; 0.71,0.91; 1.0,1.0">
                                          <p:stCondLst>
                                            <p:cond delay="0"/>
                                          </p:stCondLst>
                                        </p:cTn>
                                        <p:tgtEl>
                                          <p:spTgt spid="16">
                                            <p:txEl>
                                              <p:pRg st="14" end="14"/>
                                            </p:txEl>
                                          </p:spTgt>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16">
                                            <p:txEl>
                                              <p:pRg st="14" end="14"/>
                                            </p:txEl>
                                          </p:spTgt>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16">
                                            <p:txEl>
                                              <p:pRg st="14" end="14"/>
                                            </p:txEl>
                                          </p:spTgt>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16">
                                            <p:txEl>
                                              <p:pRg st="14" end="14"/>
                                            </p:txEl>
                                          </p:spTgt>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16">
                                            <p:txEl>
                                              <p:pRg st="14" end="14"/>
                                            </p:txEl>
                                          </p:spTgt>
                                        </p:tgtEl>
                                        <p:attrNameLst>
                                          <p:attrName>ppt_y</p:attrName>
                                        </p:attrNameLst>
                                      </p:cBhvr>
                                      <p:tavLst>
                                        <p:tav tm="0" fmla="#ppt_y-sin(pi*$)/81">
                                          <p:val>
                                            <p:fltVal val="0"/>
                                          </p:val>
                                        </p:tav>
                                        <p:tav tm="100000">
                                          <p:val>
                                            <p:fltVal val="1"/>
                                          </p:val>
                                        </p:tav>
                                      </p:tavLst>
                                    </p:anim>
                                    <p:animScale>
                                      <p:cBhvr>
                                        <p:cTn id="237" dur="26">
                                          <p:stCondLst>
                                            <p:cond delay="650"/>
                                          </p:stCondLst>
                                        </p:cTn>
                                        <p:tgtEl>
                                          <p:spTgt spid="16">
                                            <p:txEl>
                                              <p:pRg st="14" end="14"/>
                                            </p:txEl>
                                          </p:spTgt>
                                        </p:tgtEl>
                                      </p:cBhvr>
                                      <p:to x="100000" y="60000"/>
                                    </p:animScale>
                                    <p:animScale>
                                      <p:cBhvr>
                                        <p:cTn id="238" dur="166" decel="50000">
                                          <p:stCondLst>
                                            <p:cond delay="676"/>
                                          </p:stCondLst>
                                        </p:cTn>
                                        <p:tgtEl>
                                          <p:spTgt spid="16">
                                            <p:txEl>
                                              <p:pRg st="14" end="14"/>
                                            </p:txEl>
                                          </p:spTgt>
                                        </p:tgtEl>
                                      </p:cBhvr>
                                      <p:to x="100000" y="100000"/>
                                    </p:animScale>
                                    <p:animScale>
                                      <p:cBhvr>
                                        <p:cTn id="239" dur="26">
                                          <p:stCondLst>
                                            <p:cond delay="1312"/>
                                          </p:stCondLst>
                                        </p:cTn>
                                        <p:tgtEl>
                                          <p:spTgt spid="16">
                                            <p:txEl>
                                              <p:pRg st="14" end="14"/>
                                            </p:txEl>
                                          </p:spTgt>
                                        </p:tgtEl>
                                      </p:cBhvr>
                                      <p:to x="100000" y="80000"/>
                                    </p:animScale>
                                    <p:animScale>
                                      <p:cBhvr>
                                        <p:cTn id="240" dur="166" decel="50000">
                                          <p:stCondLst>
                                            <p:cond delay="1338"/>
                                          </p:stCondLst>
                                        </p:cTn>
                                        <p:tgtEl>
                                          <p:spTgt spid="16">
                                            <p:txEl>
                                              <p:pRg st="14" end="14"/>
                                            </p:txEl>
                                          </p:spTgt>
                                        </p:tgtEl>
                                      </p:cBhvr>
                                      <p:to x="100000" y="100000"/>
                                    </p:animScale>
                                    <p:animScale>
                                      <p:cBhvr>
                                        <p:cTn id="241" dur="26">
                                          <p:stCondLst>
                                            <p:cond delay="1642"/>
                                          </p:stCondLst>
                                        </p:cTn>
                                        <p:tgtEl>
                                          <p:spTgt spid="16">
                                            <p:txEl>
                                              <p:pRg st="14" end="14"/>
                                            </p:txEl>
                                          </p:spTgt>
                                        </p:tgtEl>
                                      </p:cBhvr>
                                      <p:to x="100000" y="90000"/>
                                    </p:animScale>
                                    <p:animScale>
                                      <p:cBhvr>
                                        <p:cTn id="242" dur="166" decel="50000">
                                          <p:stCondLst>
                                            <p:cond delay="1668"/>
                                          </p:stCondLst>
                                        </p:cTn>
                                        <p:tgtEl>
                                          <p:spTgt spid="16">
                                            <p:txEl>
                                              <p:pRg st="14" end="14"/>
                                            </p:txEl>
                                          </p:spTgt>
                                        </p:tgtEl>
                                      </p:cBhvr>
                                      <p:to x="100000" y="100000"/>
                                    </p:animScale>
                                    <p:animScale>
                                      <p:cBhvr>
                                        <p:cTn id="243" dur="26">
                                          <p:stCondLst>
                                            <p:cond delay="1808"/>
                                          </p:stCondLst>
                                        </p:cTn>
                                        <p:tgtEl>
                                          <p:spTgt spid="16">
                                            <p:txEl>
                                              <p:pRg st="14" end="14"/>
                                            </p:txEl>
                                          </p:spTgt>
                                        </p:tgtEl>
                                      </p:cBhvr>
                                      <p:to x="100000" y="95000"/>
                                    </p:animScale>
                                    <p:animScale>
                                      <p:cBhvr>
                                        <p:cTn id="244" dur="166" decel="50000">
                                          <p:stCondLst>
                                            <p:cond delay="1834"/>
                                          </p:stCondLst>
                                        </p:cTn>
                                        <p:tgtEl>
                                          <p:spTgt spid="16">
                                            <p:txEl>
                                              <p:pRg st="14" end="14"/>
                                            </p:txEl>
                                          </p:spTgt>
                                        </p:tgtEl>
                                      </p:cBhvr>
                                      <p:to x="100000" y="100000"/>
                                    </p:animScale>
                                  </p:childTnLst>
                                </p:cTn>
                              </p:par>
                              <p:par>
                                <p:cTn id="245" presetID="26" presetClass="entr" presetSubtype="0" fill="hold" nodeType="withEffect">
                                  <p:stCondLst>
                                    <p:cond delay="0"/>
                                  </p:stCondLst>
                                  <p:childTnLst>
                                    <p:set>
                                      <p:cBhvr>
                                        <p:cTn id="246" dur="1" fill="hold">
                                          <p:stCondLst>
                                            <p:cond delay="0"/>
                                          </p:stCondLst>
                                        </p:cTn>
                                        <p:tgtEl>
                                          <p:spTgt spid="16">
                                            <p:txEl>
                                              <p:pRg st="15" end="15"/>
                                            </p:txEl>
                                          </p:spTgt>
                                        </p:tgtEl>
                                        <p:attrNameLst>
                                          <p:attrName>style.visibility</p:attrName>
                                        </p:attrNameLst>
                                      </p:cBhvr>
                                      <p:to>
                                        <p:strVal val="visible"/>
                                      </p:to>
                                    </p:set>
                                    <p:animEffect transition="in" filter="wipe(down)">
                                      <p:cBhvr>
                                        <p:cTn id="247" dur="580">
                                          <p:stCondLst>
                                            <p:cond delay="0"/>
                                          </p:stCondLst>
                                        </p:cTn>
                                        <p:tgtEl>
                                          <p:spTgt spid="16">
                                            <p:txEl>
                                              <p:pRg st="15" end="15"/>
                                            </p:txEl>
                                          </p:spTgt>
                                        </p:tgtEl>
                                      </p:cBhvr>
                                    </p:animEffect>
                                    <p:anim calcmode="lin" valueType="num">
                                      <p:cBhvr>
                                        <p:cTn id="248" dur="1822" tmFilter="0,0; 0.14,0.36; 0.43,0.73; 0.71,0.91; 1.0,1.0">
                                          <p:stCondLst>
                                            <p:cond delay="0"/>
                                          </p:stCondLst>
                                        </p:cTn>
                                        <p:tgtEl>
                                          <p:spTgt spid="16">
                                            <p:txEl>
                                              <p:pRg st="15" end="15"/>
                                            </p:txEl>
                                          </p:spTgt>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16">
                                            <p:txEl>
                                              <p:pRg st="15" end="15"/>
                                            </p:txEl>
                                          </p:spTgt>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16">
                                            <p:txEl>
                                              <p:pRg st="15" end="15"/>
                                            </p:txEl>
                                          </p:spTgt>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16">
                                            <p:txEl>
                                              <p:pRg st="15" end="15"/>
                                            </p:txEl>
                                          </p:spTgt>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16">
                                            <p:txEl>
                                              <p:pRg st="15" end="15"/>
                                            </p:txEl>
                                          </p:spTgt>
                                        </p:tgtEl>
                                        <p:attrNameLst>
                                          <p:attrName>ppt_y</p:attrName>
                                        </p:attrNameLst>
                                      </p:cBhvr>
                                      <p:tavLst>
                                        <p:tav tm="0" fmla="#ppt_y-sin(pi*$)/81">
                                          <p:val>
                                            <p:fltVal val="0"/>
                                          </p:val>
                                        </p:tav>
                                        <p:tav tm="100000">
                                          <p:val>
                                            <p:fltVal val="1"/>
                                          </p:val>
                                        </p:tav>
                                      </p:tavLst>
                                    </p:anim>
                                    <p:animScale>
                                      <p:cBhvr>
                                        <p:cTn id="253" dur="26">
                                          <p:stCondLst>
                                            <p:cond delay="650"/>
                                          </p:stCondLst>
                                        </p:cTn>
                                        <p:tgtEl>
                                          <p:spTgt spid="16">
                                            <p:txEl>
                                              <p:pRg st="15" end="15"/>
                                            </p:txEl>
                                          </p:spTgt>
                                        </p:tgtEl>
                                      </p:cBhvr>
                                      <p:to x="100000" y="60000"/>
                                    </p:animScale>
                                    <p:animScale>
                                      <p:cBhvr>
                                        <p:cTn id="254" dur="166" decel="50000">
                                          <p:stCondLst>
                                            <p:cond delay="676"/>
                                          </p:stCondLst>
                                        </p:cTn>
                                        <p:tgtEl>
                                          <p:spTgt spid="16">
                                            <p:txEl>
                                              <p:pRg st="15" end="15"/>
                                            </p:txEl>
                                          </p:spTgt>
                                        </p:tgtEl>
                                      </p:cBhvr>
                                      <p:to x="100000" y="100000"/>
                                    </p:animScale>
                                    <p:animScale>
                                      <p:cBhvr>
                                        <p:cTn id="255" dur="26">
                                          <p:stCondLst>
                                            <p:cond delay="1312"/>
                                          </p:stCondLst>
                                        </p:cTn>
                                        <p:tgtEl>
                                          <p:spTgt spid="16">
                                            <p:txEl>
                                              <p:pRg st="15" end="15"/>
                                            </p:txEl>
                                          </p:spTgt>
                                        </p:tgtEl>
                                      </p:cBhvr>
                                      <p:to x="100000" y="80000"/>
                                    </p:animScale>
                                    <p:animScale>
                                      <p:cBhvr>
                                        <p:cTn id="256" dur="166" decel="50000">
                                          <p:stCondLst>
                                            <p:cond delay="1338"/>
                                          </p:stCondLst>
                                        </p:cTn>
                                        <p:tgtEl>
                                          <p:spTgt spid="16">
                                            <p:txEl>
                                              <p:pRg st="15" end="15"/>
                                            </p:txEl>
                                          </p:spTgt>
                                        </p:tgtEl>
                                      </p:cBhvr>
                                      <p:to x="100000" y="100000"/>
                                    </p:animScale>
                                    <p:animScale>
                                      <p:cBhvr>
                                        <p:cTn id="257" dur="26">
                                          <p:stCondLst>
                                            <p:cond delay="1642"/>
                                          </p:stCondLst>
                                        </p:cTn>
                                        <p:tgtEl>
                                          <p:spTgt spid="16">
                                            <p:txEl>
                                              <p:pRg st="15" end="15"/>
                                            </p:txEl>
                                          </p:spTgt>
                                        </p:tgtEl>
                                      </p:cBhvr>
                                      <p:to x="100000" y="90000"/>
                                    </p:animScale>
                                    <p:animScale>
                                      <p:cBhvr>
                                        <p:cTn id="258" dur="166" decel="50000">
                                          <p:stCondLst>
                                            <p:cond delay="1668"/>
                                          </p:stCondLst>
                                        </p:cTn>
                                        <p:tgtEl>
                                          <p:spTgt spid="16">
                                            <p:txEl>
                                              <p:pRg st="15" end="15"/>
                                            </p:txEl>
                                          </p:spTgt>
                                        </p:tgtEl>
                                      </p:cBhvr>
                                      <p:to x="100000" y="100000"/>
                                    </p:animScale>
                                    <p:animScale>
                                      <p:cBhvr>
                                        <p:cTn id="259" dur="26">
                                          <p:stCondLst>
                                            <p:cond delay="1808"/>
                                          </p:stCondLst>
                                        </p:cTn>
                                        <p:tgtEl>
                                          <p:spTgt spid="16">
                                            <p:txEl>
                                              <p:pRg st="15" end="15"/>
                                            </p:txEl>
                                          </p:spTgt>
                                        </p:tgtEl>
                                      </p:cBhvr>
                                      <p:to x="100000" y="95000"/>
                                    </p:animScale>
                                    <p:animScale>
                                      <p:cBhvr>
                                        <p:cTn id="260" dur="166" decel="50000">
                                          <p:stCondLst>
                                            <p:cond delay="1834"/>
                                          </p:stCondLst>
                                        </p:cTn>
                                        <p:tgtEl>
                                          <p:spTgt spid="16">
                                            <p:txEl>
                                              <p:pRg st="15" end="15"/>
                                            </p:txEl>
                                          </p:spTgt>
                                        </p:tgtEl>
                                      </p:cBhvr>
                                      <p:to x="100000" y="100000"/>
                                    </p:animScale>
                                  </p:childTnLst>
                                </p:cTn>
                              </p:par>
                              <p:par>
                                <p:cTn id="261" presetID="26" presetClass="entr" presetSubtype="0" fill="hold" nodeType="withEffect">
                                  <p:stCondLst>
                                    <p:cond delay="0"/>
                                  </p:stCondLst>
                                  <p:childTnLst>
                                    <p:set>
                                      <p:cBhvr>
                                        <p:cTn id="262" dur="1" fill="hold">
                                          <p:stCondLst>
                                            <p:cond delay="0"/>
                                          </p:stCondLst>
                                        </p:cTn>
                                        <p:tgtEl>
                                          <p:spTgt spid="16">
                                            <p:txEl>
                                              <p:pRg st="16" end="16"/>
                                            </p:txEl>
                                          </p:spTgt>
                                        </p:tgtEl>
                                        <p:attrNameLst>
                                          <p:attrName>style.visibility</p:attrName>
                                        </p:attrNameLst>
                                      </p:cBhvr>
                                      <p:to>
                                        <p:strVal val="visible"/>
                                      </p:to>
                                    </p:set>
                                    <p:animEffect transition="in" filter="wipe(down)">
                                      <p:cBhvr>
                                        <p:cTn id="263" dur="580">
                                          <p:stCondLst>
                                            <p:cond delay="0"/>
                                          </p:stCondLst>
                                        </p:cTn>
                                        <p:tgtEl>
                                          <p:spTgt spid="16">
                                            <p:txEl>
                                              <p:pRg st="16" end="16"/>
                                            </p:txEl>
                                          </p:spTgt>
                                        </p:tgtEl>
                                      </p:cBhvr>
                                    </p:animEffect>
                                    <p:anim calcmode="lin" valueType="num">
                                      <p:cBhvr>
                                        <p:cTn id="264" dur="1822" tmFilter="0,0; 0.14,0.36; 0.43,0.73; 0.71,0.91; 1.0,1.0">
                                          <p:stCondLst>
                                            <p:cond delay="0"/>
                                          </p:stCondLst>
                                        </p:cTn>
                                        <p:tgtEl>
                                          <p:spTgt spid="16">
                                            <p:txEl>
                                              <p:pRg st="16" end="16"/>
                                            </p:txEl>
                                          </p:spTgt>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16">
                                            <p:txEl>
                                              <p:pRg st="16" end="16"/>
                                            </p:txEl>
                                          </p:spTgt>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16">
                                            <p:txEl>
                                              <p:pRg st="16" end="16"/>
                                            </p:txEl>
                                          </p:spTgt>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16">
                                            <p:txEl>
                                              <p:pRg st="16" end="16"/>
                                            </p:txEl>
                                          </p:spTgt>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16">
                                            <p:txEl>
                                              <p:pRg st="16" end="16"/>
                                            </p:txEl>
                                          </p:spTgt>
                                        </p:tgtEl>
                                        <p:attrNameLst>
                                          <p:attrName>ppt_y</p:attrName>
                                        </p:attrNameLst>
                                      </p:cBhvr>
                                      <p:tavLst>
                                        <p:tav tm="0" fmla="#ppt_y-sin(pi*$)/81">
                                          <p:val>
                                            <p:fltVal val="0"/>
                                          </p:val>
                                        </p:tav>
                                        <p:tav tm="100000">
                                          <p:val>
                                            <p:fltVal val="1"/>
                                          </p:val>
                                        </p:tav>
                                      </p:tavLst>
                                    </p:anim>
                                    <p:animScale>
                                      <p:cBhvr>
                                        <p:cTn id="269" dur="26">
                                          <p:stCondLst>
                                            <p:cond delay="650"/>
                                          </p:stCondLst>
                                        </p:cTn>
                                        <p:tgtEl>
                                          <p:spTgt spid="16">
                                            <p:txEl>
                                              <p:pRg st="16" end="16"/>
                                            </p:txEl>
                                          </p:spTgt>
                                        </p:tgtEl>
                                      </p:cBhvr>
                                      <p:to x="100000" y="60000"/>
                                    </p:animScale>
                                    <p:animScale>
                                      <p:cBhvr>
                                        <p:cTn id="270" dur="166" decel="50000">
                                          <p:stCondLst>
                                            <p:cond delay="676"/>
                                          </p:stCondLst>
                                        </p:cTn>
                                        <p:tgtEl>
                                          <p:spTgt spid="16">
                                            <p:txEl>
                                              <p:pRg st="16" end="16"/>
                                            </p:txEl>
                                          </p:spTgt>
                                        </p:tgtEl>
                                      </p:cBhvr>
                                      <p:to x="100000" y="100000"/>
                                    </p:animScale>
                                    <p:animScale>
                                      <p:cBhvr>
                                        <p:cTn id="271" dur="26">
                                          <p:stCondLst>
                                            <p:cond delay="1312"/>
                                          </p:stCondLst>
                                        </p:cTn>
                                        <p:tgtEl>
                                          <p:spTgt spid="16">
                                            <p:txEl>
                                              <p:pRg st="16" end="16"/>
                                            </p:txEl>
                                          </p:spTgt>
                                        </p:tgtEl>
                                      </p:cBhvr>
                                      <p:to x="100000" y="80000"/>
                                    </p:animScale>
                                    <p:animScale>
                                      <p:cBhvr>
                                        <p:cTn id="272" dur="166" decel="50000">
                                          <p:stCondLst>
                                            <p:cond delay="1338"/>
                                          </p:stCondLst>
                                        </p:cTn>
                                        <p:tgtEl>
                                          <p:spTgt spid="16">
                                            <p:txEl>
                                              <p:pRg st="16" end="16"/>
                                            </p:txEl>
                                          </p:spTgt>
                                        </p:tgtEl>
                                      </p:cBhvr>
                                      <p:to x="100000" y="100000"/>
                                    </p:animScale>
                                    <p:animScale>
                                      <p:cBhvr>
                                        <p:cTn id="273" dur="26">
                                          <p:stCondLst>
                                            <p:cond delay="1642"/>
                                          </p:stCondLst>
                                        </p:cTn>
                                        <p:tgtEl>
                                          <p:spTgt spid="16">
                                            <p:txEl>
                                              <p:pRg st="16" end="16"/>
                                            </p:txEl>
                                          </p:spTgt>
                                        </p:tgtEl>
                                      </p:cBhvr>
                                      <p:to x="100000" y="90000"/>
                                    </p:animScale>
                                    <p:animScale>
                                      <p:cBhvr>
                                        <p:cTn id="274" dur="166" decel="50000">
                                          <p:stCondLst>
                                            <p:cond delay="1668"/>
                                          </p:stCondLst>
                                        </p:cTn>
                                        <p:tgtEl>
                                          <p:spTgt spid="16">
                                            <p:txEl>
                                              <p:pRg st="16" end="16"/>
                                            </p:txEl>
                                          </p:spTgt>
                                        </p:tgtEl>
                                      </p:cBhvr>
                                      <p:to x="100000" y="100000"/>
                                    </p:animScale>
                                    <p:animScale>
                                      <p:cBhvr>
                                        <p:cTn id="275" dur="26">
                                          <p:stCondLst>
                                            <p:cond delay="1808"/>
                                          </p:stCondLst>
                                        </p:cTn>
                                        <p:tgtEl>
                                          <p:spTgt spid="16">
                                            <p:txEl>
                                              <p:pRg st="16" end="16"/>
                                            </p:txEl>
                                          </p:spTgt>
                                        </p:tgtEl>
                                      </p:cBhvr>
                                      <p:to x="100000" y="95000"/>
                                    </p:animScale>
                                    <p:animScale>
                                      <p:cBhvr>
                                        <p:cTn id="276" dur="166" decel="50000">
                                          <p:stCondLst>
                                            <p:cond delay="1834"/>
                                          </p:stCondLst>
                                        </p:cTn>
                                        <p:tgtEl>
                                          <p:spTgt spid="16">
                                            <p:txEl>
                                              <p:pRg st="16" end="16"/>
                                            </p:txEl>
                                          </p:spTgt>
                                        </p:tgtEl>
                                      </p:cBhvr>
                                      <p:to x="100000" y="100000"/>
                                    </p:animScale>
                                  </p:childTnLst>
                                </p:cTn>
                              </p:par>
                              <p:par>
                                <p:cTn id="277" presetID="26" presetClass="entr" presetSubtype="0" fill="hold" nodeType="withEffect">
                                  <p:stCondLst>
                                    <p:cond delay="0"/>
                                  </p:stCondLst>
                                  <p:childTnLst>
                                    <p:set>
                                      <p:cBhvr>
                                        <p:cTn id="278" dur="1" fill="hold">
                                          <p:stCondLst>
                                            <p:cond delay="0"/>
                                          </p:stCondLst>
                                        </p:cTn>
                                        <p:tgtEl>
                                          <p:spTgt spid="16">
                                            <p:txEl>
                                              <p:pRg st="17" end="17"/>
                                            </p:txEl>
                                          </p:spTgt>
                                        </p:tgtEl>
                                        <p:attrNameLst>
                                          <p:attrName>style.visibility</p:attrName>
                                        </p:attrNameLst>
                                      </p:cBhvr>
                                      <p:to>
                                        <p:strVal val="visible"/>
                                      </p:to>
                                    </p:set>
                                    <p:animEffect transition="in" filter="wipe(down)">
                                      <p:cBhvr>
                                        <p:cTn id="279" dur="580">
                                          <p:stCondLst>
                                            <p:cond delay="0"/>
                                          </p:stCondLst>
                                        </p:cTn>
                                        <p:tgtEl>
                                          <p:spTgt spid="16">
                                            <p:txEl>
                                              <p:pRg st="17" end="17"/>
                                            </p:txEl>
                                          </p:spTgt>
                                        </p:tgtEl>
                                      </p:cBhvr>
                                    </p:animEffect>
                                    <p:anim calcmode="lin" valueType="num">
                                      <p:cBhvr>
                                        <p:cTn id="280" dur="1822" tmFilter="0,0; 0.14,0.36; 0.43,0.73; 0.71,0.91; 1.0,1.0">
                                          <p:stCondLst>
                                            <p:cond delay="0"/>
                                          </p:stCondLst>
                                        </p:cTn>
                                        <p:tgtEl>
                                          <p:spTgt spid="16">
                                            <p:txEl>
                                              <p:pRg st="17" end="17"/>
                                            </p:txEl>
                                          </p:spTgt>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16">
                                            <p:txEl>
                                              <p:pRg st="17" end="17"/>
                                            </p:txEl>
                                          </p:spTgt>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16">
                                            <p:txEl>
                                              <p:pRg st="17" end="17"/>
                                            </p:txEl>
                                          </p:spTgt>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16">
                                            <p:txEl>
                                              <p:pRg st="17" end="17"/>
                                            </p:txEl>
                                          </p:spTgt>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16">
                                            <p:txEl>
                                              <p:pRg st="17" end="17"/>
                                            </p:txEl>
                                          </p:spTgt>
                                        </p:tgtEl>
                                        <p:attrNameLst>
                                          <p:attrName>ppt_y</p:attrName>
                                        </p:attrNameLst>
                                      </p:cBhvr>
                                      <p:tavLst>
                                        <p:tav tm="0" fmla="#ppt_y-sin(pi*$)/81">
                                          <p:val>
                                            <p:fltVal val="0"/>
                                          </p:val>
                                        </p:tav>
                                        <p:tav tm="100000">
                                          <p:val>
                                            <p:fltVal val="1"/>
                                          </p:val>
                                        </p:tav>
                                      </p:tavLst>
                                    </p:anim>
                                    <p:animScale>
                                      <p:cBhvr>
                                        <p:cTn id="285" dur="26">
                                          <p:stCondLst>
                                            <p:cond delay="650"/>
                                          </p:stCondLst>
                                        </p:cTn>
                                        <p:tgtEl>
                                          <p:spTgt spid="16">
                                            <p:txEl>
                                              <p:pRg st="17" end="17"/>
                                            </p:txEl>
                                          </p:spTgt>
                                        </p:tgtEl>
                                      </p:cBhvr>
                                      <p:to x="100000" y="60000"/>
                                    </p:animScale>
                                    <p:animScale>
                                      <p:cBhvr>
                                        <p:cTn id="286" dur="166" decel="50000">
                                          <p:stCondLst>
                                            <p:cond delay="676"/>
                                          </p:stCondLst>
                                        </p:cTn>
                                        <p:tgtEl>
                                          <p:spTgt spid="16">
                                            <p:txEl>
                                              <p:pRg st="17" end="17"/>
                                            </p:txEl>
                                          </p:spTgt>
                                        </p:tgtEl>
                                      </p:cBhvr>
                                      <p:to x="100000" y="100000"/>
                                    </p:animScale>
                                    <p:animScale>
                                      <p:cBhvr>
                                        <p:cTn id="287" dur="26">
                                          <p:stCondLst>
                                            <p:cond delay="1312"/>
                                          </p:stCondLst>
                                        </p:cTn>
                                        <p:tgtEl>
                                          <p:spTgt spid="16">
                                            <p:txEl>
                                              <p:pRg st="17" end="17"/>
                                            </p:txEl>
                                          </p:spTgt>
                                        </p:tgtEl>
                                      </p:cBhvr>
                                      <p:to x="100000" y="80000"/>
                                    </p:animScale>
                                    <p:animScale>
                                      <p:cBhvr>
                                        <p:cTn id="288" dur="166" decel="50000">
                                          <p:stCondLst>
                                            <p:cond delay="1338"/>
                                          </p:stCondLst>
                                        </p:cTn>
                                        <p:tgtEl>
                                          <p:spTgt spid="16">
                                            <p:txEl>
                                              <p:pRg st="17" end="17"/>
                                            </p:txEl>
                                          </p:spTgt>
                                        </p:tgtEl>
                                      </p:cBhvr>
                                      <p:to x="100000" y="100000"/>
                                    </p:animScale>
                                    <p:animScale>
                                      <p:cBhvr>
                                        <p:cTn id="289" dur="26">
                                          <p:stCondLst>
                                            <p:cond delay="1642"/>
                                          </p:stCondLst>
                                        </p:cTn>
                                        <p:tgtEl>
                                          <p:spTgt spid="16">
                                            <p:txEl>
                                              <p:pRg st="17" end="17"/>
                                            </p:txEl>
                                          </p:spTgt>
                                        </p:tgtEl>
                                      </p:cBhvr>
                                      <p:to x="100000" y="90000"/>
                                    </p:animScale>
                                    <p:animScale>
                                      <p:cBhvr>
                                        <p:cTn id="290" dur="166" decel="50000">
                                          <p:stCondLst>
                                            <p:cond delay="1668"/>
                                          </p:stCondLst>
                                        </p:cTn>
                                        <p:tgtEl>
                                          <p:spTgt spid="16">
                                            <p:txEl>
                                              <p:pRg st="17" end="17"/>
                                            </p:txEl>
                                          </p:spTgt>
                                        </p:tgtEl>
                                      </p:cBhvr>
                                      <p:to x="100000" y="100000"/>
                                    </p:animScale>
                                    <p:animScale>
                                      <p:cBhvr>
                                        <p:cTn id="291" dur="26">
                                          <p:stCondLst>
                                            <p:cond delay="1808"/>
                                          </p:stCondLst>
                                        </p:cTn>
                                        <p:tgtEl>
                                          <p:spTgt spid="16">
                                            <p:txEl>
                                              <p:pRg st="17" end="17"/>
                                            </p:txEl>
                                          </p:spTgt>
                                        </p:tgtEl>
                                      </p:cBhvr>
                                      <p:to x="100000" y="95000"/>
                                    </p:animScale>
                                    <p:animScale>
                                      <p:cBhvr>
                                        <p:cTn id="292" dur="166" decel="50000">
                                          <p:stCondLst>
                                            <p:cond delay="1834"/>
                                          </p:stCondLst>
                                        </p:cTn>
                                        <p:tgtEl>
                                          <p:spTgt spid="16">
                                            <p:txEl>
                                              <p:pRg st="17" end="17"/>
                                            </p:txEl>
                                          </p:spTgt>
                                        </p:tgtEl>
                                      </p:cBhvr>
                                      <p:to x="100000" y="100000"/>
                                    </p:animScale>
                                  </p:childTnLst>
                                </p:cTn>
                              </p:par>
                            </p:childTnLst>
                          </p:cTn>
                        </p:par>
                      </p:childTnLst>
                    </p:cTn>
                  </p:par>
                  <p:par>
                    <p:cTn id="293" fill="hold">
                      <p:stCondLst>
                        <p:cond delay="indefinite"/>
                      </p:stCondLst>
                      <p:childTnLst>
                        <p:par>
                          <p:cTn id="294" fill="hold">
                            <p:stCondLst>
                              <p:cond delay="0"/>
                            </p:stCondLst>
                            <p:childTnLst>
                              <p:par>
                                <p:cTn id="295" presetID="2" presetClass="entr" presetSubtype="4" fill="hold" nodeType="clickEffect">
                                  <p:stCondLst>
                                    <p:cond delay="0"/>
                                  </p:stCondLst>
                                  <p:childTnLst>
                                    <p:set>
                                      <p:cBhvr>
                                        <p:cTn id="296" dur="1" fill="hold">
                                          <p:stCondLst>
                                            <p:cond delay="0"/>
                                          </p:stCondLst>
                                        </p:cTn>
                                        <p:tgtEl>
                                          <p:spTgt spid="20">
                                            <p:txEl>
                                              <p:pRg st="0" end="0"/>
                                            </p:txEl>
                                          </p:spTgt>
                                        </p:tgtEl>
                                        <p:attrNameLst>
                                          <p:attrName>style.visibility</p:attrName>
                                        </p:attrNameLst>
                                      </p:cBhvr>
                                      <p:to>
                                        <p:strVal val="visible"/>
                                      </p:to>
                                    </p:set>
                                    <p:anim calcmode="lin" valueType="num">
                                      <p:cBhvr additive="base">
                                        <p:cTn id="297"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98"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9" fill="hold">
                      <p:stCondLst>
                        <p:cond delay="indefinite"/>
                      </p:stCondLst>
                      <p:childTnLst>
                        <p:par>
                          <p:cTn id="300" fill="hold">
                            <p:stCondLst>
                              <p:cond delay="0"/>
                            </p:stCondLst>
                            <p:childTnLst>
                              <p:par>
                                <p:cTn id="301" presetID="2" presetClass="entr" presetSubtype="4" fill="hold" nodeType="clickEffect">
                                  <p:stCondLst>
                                    <p:cond delay="0"/>
                                  </p:stCondLst>
                                  <p:childTnLst>
                                    <p:set>
                                      <p:cBhvr>
                                        <p:cTn id="302" dur="1" fill="hold">
                                          <p:stCondLst>
                                            <p:cond delay="0"/>
                                          </p:stCondLst>
                                        </p:cTn>
                                        <p:tgtEl>
                                          <p:spTgt spid="20">
                                            <p:txEl>
                                              <p:pRg st="1" end="1"/>
                                            </p:txEl>
                                          </p:spTgt>
                                        </p:tgtEl>
                                        <p:attrNameLst>
                                          <p:attrName>style.visibility</p:attrName>
                                        </p:attrNameLst>
                                      </p:cBhvr>
                                      <p:to>
                                        <p:strVal val="visible"/>
                                      </p:to>
                                    </p:set>
                                    <p:anim calcmode="lin" valueType="num">
                                      <p:cBhvr additive="base">
                                        <p:cTn id="303"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304"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5" fill="hold">
                      <p:stCondLst>
                        <p:cond delay="indefinite"/>
                      </p:stCondLst>
                      <p:childTnLst>
                        <p:par>
                          <p:cTn id="306" fill="hold">
                            <p:stCondLst>
                              <p:cond delay="0"/>
                            </p:stCondLst>
                            <p:childTnLst>
                              <p:par>
                                <p:cTn id="307" presetID="2" presetClass="entr" presetSubtype="4" fill="hold" nodeType="clickEffect">
                                  <p:stCondLst>
                                    <p:cond delay="0"/>
                                  </p:stCondLst>
                                  <p:childTnLst>
                                    <p:set>
                                      <p:cBhvr>
                                        <p:cTn id="308" dur="1" fill="hold">
                                          <p:stCondLst>
                                            <p:cond delay="0"/>
                                          </p:stCondLst>
                                        </p:cTn>
                                        <p:tgtEl>
                                          <p:spTgt spid="20">
                                            <p:txEl>
                                              <p:pRg st="2" end="2"/>
                                            </p:txEl>
                                          </p:spTgt>
                                        </p:tgtEl>
                                        <p:attrNameLst>
                                          <p:attrName>style.visibility</p:attrName>
                                        </p:attrNameLst>
                                      </p:cBhvr>
                                      <p:to>
                                        <p:strVal val="visible"/>
                                      </p:to>
                                    </p:set>
                                    <p:anim calcmode="lin" valueType="num">
                                      <p:cBhvr additive="base">
                                        <p:cTn id="309"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310"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1" fill="hold">
                      <p:stCondLst>
                        <p:cond delay="indefinite"/>
                      </p:stCondLst>
                      <p:childTnLst>
                        <p:par>
                          <p:cTn id="312" fill="hold">
                            <p:stCondLst>
                              <p:cond delay="0"/>
                            </p:stCondLst>
                            <p:childTnLst>
                              <p:par>
                                <p:cTn id="313" presetID="2" presetClass="entr" presetSubtype="4" fill="hold" nodeType="clickEffect">
                                  <p:stCondLst>
                                    <p:cond delay="0"/>
                                  </p:stCondLst>
                                  <p:childTnLst>
                                    <p:set>
                                      <p:cBhvr>
                                        <p:cTn id="314" dur="1" fill="hold">
                                          <p:stCondLst>
                                            <p:cond delay="0"/>
                                          </p:stCondLst>
                                        </p:cTn>
                                        <p:tgtEl>
                                          <p:spTgt spid="20">
                                            <p:txEl>
                                              <p:pRg st="3" end="3"/>
                                            </p:txEl>
                                          </p:spTgt>
                                        </p:tgtEl>
                                        <p:attrNameLst>
                                          <p:attrName>style.visibility</p:attrName>
                                        </p:attrNameLst>
                                      </p:cBhvr>
                                      <p:to>
                                        <p:strVal val="visible"/>
                                      </p:to>
                                    </p:set>
                                    <p:anim calcmode="lin" valueType="num">
                                      <p:cBhvr additive="base">
                                        <p:cTn id="315"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316"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2" presetClass="entr" presetSubtype="4" fill="hold" nodeType="clickEffect">
                                  <p:stCondLst>
                                    <p:cond delay="0"/>
                                  </p:stCondLst>
                                  <p:childTnLst>
                                    <p:set>
                                      <p:cBhvr>
                                        <p:cTn id="320" dur="1" fill="hold">
                                          <p:stCondLst>
                                            <p:cond delay="0"/>
                                          </p:stCondLst>
                                        </p:cTn>
                                        <p:tgtEl>
                                          <p:spTgt spid="20">
                                            <p:txEl>
                                              <p:pRg st="4" end="4"/>
                                            </p:txEl>
                                          </p:spTgt>
                                        </p:tgtEl>
                                        <p:attrNameLst>
                                          <p:attrName>style.visibility</p:attrName>
                                        </p:attrNameLst>
                                      </p:cBhvr>
                                      <p:to>
                                        <p:strVal val="visible"/>
                                      </p:to>
                                    </p:set>
                                    <p:anim calcmode="lin" valueType="num">
                                      <p:cBhvr additive="base">
                                        <p:cTn id="321"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322" dur="500" fill="hold"/>
                                        <p:tgtEl>
                                          <p:spTgt spid="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7</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prev, cur, next — three buffers, rotating pointers</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54480"/>
            <a:ext cx="5669280" cy="365760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554480"/>
            <a:ext cx="82296" cy="3657600"/>
          </a:xfrm>
          <a:prstGeom prst="rect">
            <a:avLst/>
          </a:prstGeom>
          <a:solidFill>
            <a:srgbClr val="7F8A3A"/>
          </a:solidFill>
          <a:ln/>
        </p:spPr>
      </p:sp>
      <p:sp>
        <p:nvSpPr>
          <p:cNvPr id="16" name="Text 14"/>
          <p:cNvSpPr/>
          <p:nvPr/>
        </p:nvSpPr>
        <p:spPr>
          <a:xfrm>
            <a:off x="1115568" y="1645920"/>
            <a:ext cx="5340096" cy="347472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section .bss</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buf0 resq MAXD+1     ; three coefficient</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buf1 resq MAXD+1     ; buffers (low -&gt; high)</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buf2 resq MAXD+1</a:t>
            </a:r>
            <a:endParaRPr lang="en-US" sz="1100" dirty="0"/>
          </a:p>
          <a:p>
            <a:pPr marL="0" indent="0">
              <a:lnSpc>
                <a:spcPct val="104000"/>
              </a:lnSpc>
              <a:buNone/>
            </a:pP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lea r12,[buf0]       ; r12 = prev = T(k-2)</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lea r13,[buf1]       ; r13 = cur  = T(k-1)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lea r14,[buf2]       ; r14 = next = T(k)</a:t>
            </a:r>
            <a:endParaRPr lang="en-US" sz="1100" dirty="0"/>
          </a:p>
          <a:p>
            <a:pPr marL="0" indent="0">
              <a:lnSpc>
                <a:spcPct val="104000"/>
              </a:lnSpc>
              <a:buNone/>
            </a:pPr>
            <a:endParaRPr lang="en-US" sz="1100" dirty="0"/>
          </a:p>
          <a:p>
            <a:pPr marL="0" indent="0">
              <a:lnSpc>
                <a:spcPct val="104000"/>
              </a:lnSpc>
              <a:buNone/>
            </a:pPr>
            <a:r>
              <a:rPr lang="en-US" sz="1100" dirty="0">
                <a:solidFill>
                  <a:srgbClr val="586127"/>
                </a:solidFill>
                <a:latin typeface="Consolas" pitchFamily="34" charset="0"/>
                <a:ea typeface="Consolas" pitchFamily="34" charset="-122"/>
                <a:cs typeface="Consolas" pitchFamily="34" charset="-120"/>
              </a:rPr>
              <a:t>; after writing next, rotate the pointers:</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rax,r12          ;   prev &lt;- cur</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r12,r13          ;   cur  &lt;- next</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r13,r14          ;   next &lt;- old prev</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r14,rax</a:t>
            </a:r>
            <a:endParaRPr lang="en-US" sz="1100" dirty="0"/>
          </a:p>
        </p:txBody>
      </p:sp>
      <p:sp>
        <p:nvSpPr>
          <p:cNvPr id="17" name="Text 15"/>
          <p:cNvSpPr/>
          <p:nvPr/>
        </p:nvSpPr>
        <p:spPr>
          <a:xfrm>
            <a:off x="914400" y="5303520"/>
            <a:ext cx="5669280" cy="731520"/>
          </a:xfrm>
          <a:prstGeom prst="rect">
            <a:avLst/>
          </a:prstGeom>
          <a:noFill/>
          <a:ln/>
        </p:spPr>
        <p:txBody>
          <a:bodyPr wrap="square" lIns="0" tIns="0" rIns="0" bIns="0" rtlCol="0" anchor="ctr"/>
          <a:lstStyle/>
          <a:p>
            <a:pPr marL="0" indent="0">
              <a:buNone/>
            </a:pPr>
            <a:r>
              <a:rPr lang="en-US" sz="1250" b="1" dirty="0">
                <a:solidFill>
                  <a:srgbClr val="586127"/>
                </a:solidFill>
                <a:latin typeface="Cambria" pitchFamily="34" charset="0"/>
                <a:ea typeface="Cambria" pitchFamily="34" charset="-122"/>
                <a:cs typeface="Cambria" pitchFamily="34" charset="-120"/>
              </a:rPr>
              <a:t>There is no label called prev or next. </a:t>
            </a:r>
            <a:r>
              <a:rPr lang="en-US" sz="1250" dirty="0">
                <a:solidFill>
                  <a:srgbClr val="2B2722"/>
                </a:solidFill>
                <a:latin typeface="Cambria" pitchFamily="34" charset="0"/>
                <a:ea typeface="Cambria" pitchFamily="34" charset="-122"/>
                <a:cs typeface="Cambria" pitchFamily="34" charset="-120"/>
              </a:rPr>
              <a:t>They are the comment names for pointer registers r12 / r13 / r14 into buf0 / buf1 / buf2. Each pass writes T(k) into “next”, then rotates the three pointers — no array is copied.</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0" y="1783080"/>
          <a:ext cx="4937760" cy="2194560"/>
        </p:xfrm>
        <a:graphic>
          <a:graphicData uri="http://schemas.openxmlformats.org/drawingml/2006/table">
            <a:tbl>
              <a:tblPr/>
              <a:tblGrid>
                <a:gridCol w="457200"/>
                <a:gridCol w="1417320"/>
                <a:gridCol w="1417320"/>
                <a:gridCol w="1645920"/>
              </a:tblGrid>
              <a:tr h="548640">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k</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prev = T(k-2)</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cur = T(k-1)</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next = 2x·cur − prev</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548640">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2</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1</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x</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2x² − 1</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548640">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3</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x</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2x² − 1</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4x³ − 3x</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548640">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4</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2x² − 1</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4x³ − 3x</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150" dirty="0">
                          <a:solidFill>
                            <a:srgbClr val="2B2722"/>
                          </a:solidFill>
                          <a:latin typeface="Consolas" pitchFamily="34" charset="0"/>
                          <a:ea typeface="Consolas" pitchFamily="34" charset="-122"/>
                          <a:cs typeface="Consolas" pitchFamily="34" charset="-120"/>
                        </a:rPr>
                        <a:t>8x⁴ − 8x² + 1</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bl>
          </a:graphicData>
        </a:graphic>
      </p:graphicFrame>
      <p:sp>
        <p:nvSpPr>
          <p:cNvPr id="19" name="Text 16"/>
          <p:cNvSpPr/>
          <p:nvPr/>
        </p:nvSpPr>
        <p:spPr>
          <a:xfrm>
            <a:off x="6400800" y="4206240"/>
            <a:ext cx="4937760" cy="731520"/>
          </a:xfrm>
          <a:prstGeom prst="rect">
            <a:avLst/>
          </a:prstGeom>
          <a:noFill/>
          <a:ln/>
        </p:spPr>
        <p:txBody>
          <a:bodyPr wrap="square" lIns="0" tIns="0" rIns="0" bIns="0" rtlCol="0" anchor="ctr"/>
          <a:lstStyle/>
          <a:p>
            <a:pPr marL="0" indent="0">
              <a:buNone/>
            </a:pPr>
            <a:r>
              <a:rPr lang="en-US" sz="1250" i="1" dirty="0">
                <a:solidFill>
                  <a:srgbClr val="6E6453"/>
                </a:solidFill>
                <a:latin typeface="Cambria" pitchFamily="34" charset="0"/>
                <a:ea typeface="Cambria" pitchFamily="34" charset="-122"/>
                <a:cs typeface="Cambria" pitchFamily="34" charset="-120"/>
              </a:rPr>
              <a:t>Each row is one pass of the loop: next is built from cur and prev, then the three pointers shift left by one.</a:t>
            </a:r>
            <a:endParaRPr lang="en-US" sz="12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wipe(down)">
                                      <p:cBhvr>
                                        <p:cTn id="23" dur="580">
                                          <p:stCondLst>
                                            <p:cond delay="0"/>
                                          </p:stCondLst>
                                        </p:cTn>
                                        <p:tgtEl>
                                          <p:spTgt spid="16">
                                            <p:txEl>
                                              <p:pRg st="1" end="1"/>
                                            </p:txEl>
                                          </p:spTgt>
                                        </p:tgtEl>
                                      </p:cBhvr>
                                    </p:animEffect>
                                    <p:anim calcmode="lin" valueType="num">
                                      <p:cBhvr>
                                        <p:cTn id="24" dur="1822" tmFilter="0,0; 0.14,0.36; 0.43,0.73; 0.71,0.91; 1.0,1.0">
                                          <p:stCondLst>
                                            <p:cond delay="0"/>
                                          </p:stCondLst>
                                        </p:cTn>
                                        <p:tgtEl>
                                          <p:spTgt spid="1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xEl>
                                              <p:pRg st="1" end="1"/>
                                            </p:txEl>
                                          </p:spTgt>
                                        </p:tgtEl>
                                      </p:cBhvr>
                                      <p:to x="100000" y="60000"/>
                                    </p:animScale>
                                    <p:animScale>
                                      <p:cBhvr>
                                        <p:cTn id="30" dur="166" decel="50000">
                                          <p:stCondLst>
                                            <p:cond delay="676"/>
                                          </p:stCondLst>
                                        </p:cTn>
                                        <p:tgtEl>
                                          <p:spTgt spid="16">
                                            <p:txEl>
                                              <p:pRg st="1" end="1"/>
                                            </p:txEl>
                                          </p:spTgt>
                                        </p:tgtEl>
                                      </p:cBhvr>
                                      <p:to x="100000" y="100000"/>
                                    </p:animScale>
                                    <p:animScale>
                                      <p:cBhvr>
                                        <p:cTn id="31" dur="26">
                                          <p:stCondLst>
                                            <p:cond delay="1312"/>
                                          </p:stCondLst>
                                        </p:cTn>
                                        <p:tgtEl>
                                          <p:spTgt spid="16">
                                            <p:txEl>
                                              <p:pRg st="1" end="1"/>
                                            </p:txEl>
                                          </p:spTgt>
                                        </p:tgtEl>
                                      </p:cBhvr>
                                      <p:to x="100000" y="80000"/>
                                    </p:animScale>
                                    <p:animScale>
                                      <p:cBhvr>
                                        <p:cTn id="32" dur="166" decel="50000">
                                          <p:stCondLst>
                                            <p:cond delay="1338"/>
                                          </p:stCondLst>
                                        </p:cTn>
                                        <p:tgtEl>
                                          <p:spTgt spid="16">
                                            <p:txEl>
                                              <p:pRg st="1" end="1"/>
                                            </p:txEl>
                                          </p:spTgt>
                                        </p:tgtEl>
                                      </p:cBhvr>
                                      <p:to x="100000" y="100000"/>
                                    </p:animScale>
                                    <p:animScale>
                                      <p:cBhvr>
                                        <p:cTn id="33" dur="26">
                                          <p:stCondLst>
                                            <p:cond delay="1642"/>
                                          </p:stCondLst>
                                        </p:cTn>
                                        <p:tgtEl>
                                          <p:spTgt spid="16">
                                            <p:txEl>
                                              <p:pRg st="1" end="1"/>
                                            </p:txEl>
                                          </p:spTgt>
                                        </p:tgtEl>
                                      </p:cBhvr>
                                      <p:to x="100000" y="90000"/>
                                    </p:animScale>
                                    <p:animScale>
                                      <p:cBhvr>
                                        <p:cTn id="34" dur="166" decel="50000">
                                          <p:stCondLst>
                                            <p:cond delay="1668"/>
                                          </p:stCondLst>
                                        </p:cTn>
                                        <p:tgtEl>
                                          <p:spTgt spid="16">
                                            <p:txEl>
                                              <p:pRg st="1" end="1"/>
                                            </p:txEl>
                                          </p:spTgt>
                                        </p:tgtEl>
                                      </p:cBhvr>
                                      <p:to x="100000" y="100000"/>
                                    </p:animScale>
                                    <p:animScale>
                                      <p:cBhvr>
                                        <p:cTn id="35" dur="26">
                                          <p:stCondLst>
                                            <p:cond delay="1808"/>
                                          </p:stCondLst>
                                        </p:cTn>
                                        <p:tgtEl>
                                          <p:spTgt spid="16">
                                            <p:txEl>
                                              <p:pRg st="1" end="1"/>
                                            </p:txEl>
                                          </p:spTgt>
                                        </p:tgtEl>
                                      </p:cBhvr>
                                      <p:to x="100000" y="95000"/>
                                    </p:animScale>
                                    <p:animScale>
                                      <p:cBhvr>
                                        <p:cTn id="36" dur="166" decel="50000">
                                          <p:stCondLst>
                                            <p:cond delay="1834"/>
                                          </p:stCondLst>
                                        </p:cTn>
                                        <p:tgtEl>
                                          <p:spTgt spid="1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down)">
                                      <p:cBhvr>
                                        <p:cTn id="39" dur="580">
                                          <p:stCondLst>
                                            <p:cond delay="0"/>
                                          </p:stCondLst>
                                        </p:cTn>
                                        <p:tgtEl>
                                          <p:spTgt spid="16">
                                            <p:txEl>
                                              <p:pRg st="2" end="2"/>
                                            </p:txEl>
                                          </p:spTgt>
                                        </p:tgtEl>
                                      </p:cBhvr>
                                    </p:animEffect>
                                    <p:anim calcmode="lin" valueType="num">
                                      <p:cBhvr>
                                        <p:cTn id="40" dur="1822" tmFilter="0,0; 0.14,0.36; 0.43,0.73; 0.71,0.91; 1.0,1.0">
                                          <p:stCondLst>
                                            <p:cond delay="0"/>
                                          </p:stCondLst>
                                        </p:cTn>
                                        <p:tgtEl>
                                          <p:spTgt spid="1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6">
                                            <p:txEl>
                                              <p:pRg st="2" end="2"/>
                                            </p:txEl>
                                          </p:spTgt>
                                        </p:tgtEl>
                                      </p:cBhvr>
                                      <p:to x="100000" y="60000"/>
                                    </p:animScale>
                                    <p:animScale>
                                      <p:cBhvr>
                                        <p:cTn id="46" dur="166" decel="50000">
                                          <p:stCondLst>
                                            <p:cond delay="676"/>
                                          </p:stCondLst>
                                        </p:cTn>
                                        <p:tgtEl>
                                          <p:spTgt spid="16">
                                            <p:txEl>
                                              <p:pRg st="2" end="2"/>
                                            </p:txEl>
                                          </p:spTgt>
                                        </p:tgtEl>
                                      </p:cBhvr>
                                      <p:to x="100000" y="100000"/>
                                    </p:animScale>
                                    <p:animScale>
                                      <p:cBhvr>
                                        <p:cTn id="47" dur="26">
                                          <p:stCondLst>
                                            <p:cond delay="1312"/>
                                          </p:stCondLst>
                                        </p:cTn>
                                        <p:tgtEl>
                                          <p:spTgt spid="16">
                                            <p:txEl>
                                              <p:pRg st="2" end="2"/>
                                            </p:txEl>
                                          </p:spTgt>
                                        </p:tgtEl>
                                      </p:cBhvr>
                                      <p:to x="100000" y="80000"/>
                                    </p:animScale>
                                    <p:animScale>
                                      <p:cBhvr>
                                        <p:cTn id="48" dur="166" decel="50000">
                                          <p:stCondLst>
                                            <p:cond delay="1338"/>
                                          </p:stCondLst>
                                        </p:cTn>
                                        <p:tgtEl>
                                          <p:spTgt spid="16">
                                            <p:txEl>
                                              <p:pRg st="2" end="2"/>
                                            </p:txEl>
                                          </p:spTgt>
                                        </p:tgtEl>
                                      </p:cBhvr>
                                      <p:to x="100000" y="100000"/>
                                    </p:animScale>
                                    <p:animScale>
                                      <p:cBhvr>
                                        <p:cTn id="49" dur="26">
                                          <p:stCondLst>
                                            <p:cond delay="1642"/>
                                          </p:stCondLst>
                                        </p:cTn>
                                        <p:tgtEl>
                                          <p:spTgt spid="16">
                                            <p:txEl>
                                              <p:pRg st="2" end="2"/>
                                            </p:txEl>
                                          </p:spTgt>
                                        </p:tgtEl>
                                      </p:cBhvr>
                                      <p:to x="100000" y="90000"/>
                                    </p:animScale>
                                    <p:animScale>
                                      <p:cBhvr>
                                        <p:cTn id="50" dur="166" decel="50000">
                                          <p:stCondLst>
                                            <p:cond delay="1668"/>
                                          </p:stCondLst>
                                        </p:cTn>
                                        <p:tgtEl>
                                          <p:spTgt spid="16">
                                            <p:txEl>
                                              <p:pRg st="2" end="2"/>
                                            </p:txEl>
                                          </p:spTgt>
                                        </p:tgtEl>
                                      </p:cBhvr>
                                      <p:to x="100000" y="100000"/>
                                    </p:animScale>
                                    <p:animScale>
                                      <p:cBhvr>
                                        <p:cTn id="51" dur="26">
                                          <p:stCondLst>
                                            <p:cond delay="1808"/>
                                          </p:stCondLst>
                                        </p:cTn>
                                        <p:tgtEl>
                                          <p:spTgt spid="16">
                                            <p:txEl>
                                              <p:pRg st="2" end="2"/>
                                            </p:txEl>
                                          </p:spTgt>
                                        </p:tgtEl>
                                      </p:cBhvr>
                                      <p:to x="100000" y="95000"/>
                                    </p:animScale>
                                    <p:animScale>
                                      <p:cBhvr>
                                        <p:cTn id="52" dur="166" decel="50000">
                                          <p:stCondLst>
                                            <p:cond delay="1834"/>
                                          </p:stCondLst>
                                        </p:cTn>
                                        <p:tgtEl>
                                          <p:spTgt spid="16">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6">
                                            <p:txEl>
                                              <p:pRg st="3" end="3"/>
                                            </p:txEl>
                                          </p:spTgt>
                                        </p:tgtEl>
                                        <p:attrNameLst>
                                          <p:attrName>style.visibility</p:attrName>
                                        </p:attrNameLst>
                                      </p:cBhvr>
                                      <p:to>
                                        <p:strVal val="visible"/>
                                      </p:to>
                                    </p:set>
                                    <p:animEffect transition="in" filter="wipe(down)">
                                      <p:cBhvr>
                                        <p:cTn id="55" dur="580">
                                          <p:stCondLst>
                                            <p:cond delay="0"/>
                                          </p:stCondLst>
                                        </p:cTn>
                                        <p:tgtEl>
                                          <p:spTgt spid="16">
                                            <p:txEl>
                                              <p:pRg st="3" end="3"/>
                                            </p:txEl>
                                          </p:spTgt>
                                        </p:tgtEl>
                                      </p:cBhvr>
                                    </p:animEffect>
                                    <p:anim calcmode="lin" valueType="num">
                                      <p:cBhvr>
                                        <p:cTn id="56" dur="1822" tmFilter="0,0; 0.14,0.36; 0.43,0.73; 0.71,0.91; 1.0,1.0">
                                          <p:stCondLst>
                                            <p:cond delay="0"/>
                                          </p:stCondLst>
                                        </p:cTn>
                                        <p:tgtEl>
                                          <p:spTgt spid="16">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xEl>
                                              <p:pRg st="3" end="3"/>
                                            </p:txEl>
                                          </p:spTgt>
                                        </p:tgtEl>
                                      </p:cBhvr>
                                      <p:to x="100000" y="60000"/>
                                    </p:animScale>
                                    <p:animScale>
                                      <p:cBhvr>
                                        <p:cTn id="62" dur="166" decel="50000">
                                          <p:stCondLst>
                                            <p:cond delay="676"/>
                                          </p:stCondLst>
                                        </p:cTn>
                                        <p:tgtEl>
                                          <p:spTgt spid="16">
                                            <p:txEl>
                                              <p:pRg st="3" end="3"/>
                                            </p:txEl>
                                          </p:spTgt>
                                        </p:tgtEl>
                                      </p:cBhvr>
                                      <p:to x="100000" y="100000"/>
                                    </p:animScale>
                                    <p:animScale>
                                      <p:cBhvr>
                                        <p:cTn id="63" dur="26">
                                          <p:stCondLst>
                                            <p:cond delay="1312"/>
                                          </p:stCondLst>
                                        </p:cTn>
                                        <p:tgtEl>
                                          <p:spTgt spid="16">
                                            <p:txEl>
                                              <p:pRg st="3" end="3"/>
                                            </p:txEl>
                                          </p:spTgt>
                                        </p:tgtEl>
                                      </p:cBhvr>
                                      <p:to x="100000" y="80000"/>
                                    </p:animScale>
                                    <p:animScale>
                                      <p:cBhvr>
                                        <p:cTn id="64" dur="166" decel="50000">
                                          <p:stCondLst>
                                            <p:cond delay="1338"/>
                                          </p:stCondLst>
                                        </p:cTn>
                                        <p:tgtEl>
                                          <p:spTgt spid="16">
                                            <p:txEl>
                                              <p:pRg st="3" end="3"/>
                                            </p:txEl>
                                          </p:spTgt>
                                        </p:tgtEl>
                                      </p:cBhvr>
                                      <p:to x="100000" y="100000"/>
                                    </p:animScale>
                                    <p:animScale>
                                      <p:cBhvr>
                                        <p:cTn id="65" dur="26">
                                          <p:stCondLst>
                                            <p:cond delay="1642"/>
                                          </p:stCondLst>
                                        </p:cTn>
                                        <p:tgtEl>
                                          <p:spTgt spid="16">
                                            <p:txEl>
                                              <p:pRg st="3" end="3"/>
                                            </p:txEl>
                                          </p:spTgt>
                                        </p:tgtEl>
                                      </p:cBhvr>
                                      <p:to x="100000" y="90000"/>
                                    </p:animScale>
                                    <p:animScale>
                                      <p:cBhvr>
                                        <p:cTn id="66" dur="166" decel="50000">
                                          <p:stCondLst>
                                            <p:cond delay="1668"/>
                                          </p:stCondLst>
                                        </p:cTn>
                                        <p:tgtEl>
                                          <p:spTgt spid="16">
                                            <p:txEl>
                                              <p:pRg st="3" end="3"/>
                                            </p:txEl>
                                          </p:spTgt>
                                        </p:tgtEl>
                                      </p:cBhvr>
                                      <p:to x="100000" y="100000"/>
                                    </p:animScale>
                                    <p:animScale>
                                      <p:cBhvr>
                                        <p:cTn id="67" dur="26">
                                          <p:stCondLst>
                                            <p:cond delay="1808"/>
                                          </p:stCondLst>
                                        </p:cTn>
                                        <p:tgtEl>
                                          <p:spTgt spid="16">
                                            <p:txEl>
                                              <p:pRg st="3" end="3"/>
                                            </p:txEl>
                                          </p:spTgt>
                                        </p:tgtEl>
                                      </p:cBhvr>
                                      <p:to x="100000" y="95000"/>
                                    </p:animScale>
                                    <p:animScale>
                                      <p:cBhvr>
                                        <p:cTn id="68" dur="166" decel="50000">
                                          <p:stCondLst>
                                            <p:cond delay="1834"/>
                                          </p:stCondLst>
                                        </p:cTn>
                                        <p:tgtEl>
                                          <p:spTgt spid="16">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6">
                                            <p:txEl>
                                              <p:pRg st="5" end="5"/>
                                            </p:txEl>
                                          </p:spTgt>
                                        </p:tgtEl>
                                        <p:attrNameLst>
                                          <p:attrName>style.visibility</p:attrName>
                                        </p:attrNameLst>
                                      </p:cBhvr>
                                      <p:to>
                                        <p:strVal val="visible"/>
                                      </p:to>
                                    </p:set>
                                    <p:animEffect transition="in" filter="wipe(down)">
                                      <p:cBhvr>
                                        <p:cTn id="71" dur="580">
                                          <p:stCondLst>
                                            <p:cond delay="0"/>
                                          </p:stCondLst>
                                        </p:cTn>
                                        <p:tgtEl>
                                          <p:spTgt spid="16">
                                            <p:txEl>
                                              <p:pRg st="5" end="5"/>
                                            </p:txEl>
                                          </p:spTgt>
                                        </p:tgtEl>
                                      </p:cBhvr>
                                    </p:animEffect>
                                    <p:anim calcmode="lin" valueType="num">
                                      <p:cBhvr>
                                        <p:cTn id="72" dur="1822" tmFilter="0,0; 0.14,0.36; 0.43,0.73; 0.71,0.91; 1.0,1.0">
                                          <p:stCondLst>
                                            <p:cond delay="0"/>
                                          </p:stCondLst>
                                        </p:cTn>
                                        <p:tgtEl>
                                          <p:spTgt spid="16">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5" end="5"/>
                                            </p:txEl>
                                          </p:spTgt>
                                        </p:tgtEl>
                                      </p:cBhvr>
                                      <p:to x="100000" y="60000"/>
                                    </p:animScale>
                                    <p:animScale>
                                      <p:cBhvr>
                                        <p:cTn id="78" dur="166" decel="50000">
                                          <p:stCondLst>
                                            <p:cond delay="676"/>
                                          </p:stCondLst>
                                        </p:cTn>
                                        <p:tgtEl>
                                          <p:spTgt spid="16">
                                            <p:txEl>
                                              <p:pRg st="5" end="5"/>
                                            </p:txEl>
                                          </p:spTgt>
                                        </p:tgtEl>
                                      </p:cBhvr>
                                      <p:to x="100000" y="100000"/>
                                    </p:animScale>
                                    <p:animScale>
                                      <p:cBhvr>
                                        <p:cTn id="79" dur="26">
                                          <p:stCondLst>
                                            <p:cond delay="1312"/>
                                          </p:stCondLst>
                                        </p:cTn>
                                        <p:tgtEl>
                                          <p:spTgt spid="16">
                                            <p:txEl>
                                              <p:pRg st="5" end="5"/>
                                            </p:txEl>
                                          </p:spTgt>
                                        </p:tgtEl>
                                      </p:cBhvr>
                                      <p:to x="100000" y="80000"/>
                                    </p:animScale>
                                    <p:animScale>
                                      <p:cBhvr>
                                        <p:cTn id="80" dur="166" decel="50000">
                                          <p:stCondLst>
                                            <p:cond delay="1338"/>
                                          </p:stCondLst>
                                        </p:cTn>
                                        <p:tgtEl>
                                          <p:spTgt spid="16">
                                            <p:txEl>
                                              <p:pRg st="5" end="5"/>
                                            </p:txEl>
                                          </p:spTgt>
                                        </p:tgtEl>
                                      </p:cBhvr>
                                      <p:to x="100000" y="100000"/>
                                    </p:animScale>
                                    <p:animScale>
                                      <p:cBhvr>
                                        <p:cTn id="81" dur="26">
                                          <p:stCondLst>
                                            <p:cond delay="1642"/>
                                          </p:stCondLst>
                                        </p:cTn>
                                        <p:tgtEl>
                                          <p:spTgt spid="16">
                                            <p:txEl>
                                              <p:pRg st="5" end="5"/>
                                            </p:txEl>
                                          </p:spTgt>
                                        </p:tgtEl>
                                      </p:cBhvr>
                                      <p:to x="100000" y="90000"/>
                                    </p:animScale>
                                    <p:animScale>
                                      <p:cBhvr>
                                        <p:cTn id="82" dur="166" decel="50000">
                                          <p:stCondLst>
                                            <p:cond delay="1668"/>
                                          </p:stCondLst>
                                        </p:cTn>
                                        <p:tgtEl>
                                          <p:spTgt spid="16">
                                            <p:txEl>
                                              <p:pRg st="5" end="5"/>
                                            </p:txEl>
                                          </p:spTgt>
                                        </p:tgtEl>
                                      </p:cBhvr>
                                      <p:to x="100000" y="100000"/>
                                    </p:animScale>
                                    <p:animScale>
                                      <p:cBhvr>
                                        <p:cTn id="83" dur="26">
                                          <p:stCondLst>
                                            <p:cond delay="1808"/>
                                          </p:stCondLst>
                                        </p:cTn>
                                        <p:tgtEl>
                                          <p:spTgt spid="16">
                                            <p:txEl>
                                              <p:pRg st="5" end="5"/>
                                            </p:txEl>
                                          </p:spTgt>
                                        </p:tgtEl>
                                      </p:cBhvr>
                                      <p:to x="100000" y="95000"/>
                                    </p:animScale>
                                    <p:animScale>
                                      <p:cBhvr>
                                        <p:cTn id="84" dur="166" decel="50000">
                                          <p:stCondLst>
                                            <p:cond delay="1834"/>
                                          </p:stCondLst>
                                        </p:cTn>
                                        <p:tgtEl>
                                          <p:spTgt spid="16">
                                            <p:txEl>
                                              <p:pRg st="5" end="5"/>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6">
                                            <p:txEl>
                                              <p:pRg st="6" end="6"/>
                                            </p:txEl>
                                          </p:spTgt>
                                        </p:tgtEl>
                                        <p:attrNameLst>
                                          <p:attrName>style.visibility</p:attrName>
                                        </p:attrNameLst>
                                      </p:cBhvr>
                                      <p:to>
                                        <p:strVal val="visible"/>
                                      </p:to>
                                    </p:set>
                                    <p:animEffect transition="in" filter="wipe(down)">
                                      <p:cBhvr>
                                        <p:cTn id="87" dur="580">
                                          <p:stCondLst>
                                            <p:cond delay="0"/>
                                          </p:stCondLst>
                                        </p:cTn>
                                        <p:tgtEl>
                                          <p:spTgt spid="16">
                                            <p:txEl>
                                              <p:pRg st="6" end="6"/>
                                            </p:txEl>
                                          </p:spTgt>
                                        </p:tgtEl>
                                      </p:cBhvr>
                                    </p:animEffect>
                                    <p:anim calcmode="lin" valueType="num">
                                      <p:cBhvr>
                                        <p:cTn id="88" dur="1822" tmFilter="0,0; 0.14,0.36; 0.43,0.73; 0.71,0.91; 1.0,1.0">
                                          <p:stCondLst>
                                            <p:cond delay="0"/>
                                          </p:stCondLst>
                                        </p:cTn>
                                        <p:tgtEl>
                                          <p:spTgt spid="16">
                                            <p:txEl>
                                              <p:pRg st="6" end="6"/>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6">
                                            <p:txEl>
                                              <p:pRg st="6" end="6"/>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6">
                                            <p:txEl>
                                              <p:pRg st="6" end="6"/>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6">
                                            <p:txEl>
                                              <p:pRg st="6" end="6"/>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6">
                                            <p:txEl>
                                              <p:pRg st="6" end="6"/>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6">
                                            <p:txEl>
                                              <p:pRg st="6" end="6"/>
                                            </p:txEl>
                                          </p:spTgt>
                                        </p:tgtEl>
                                      </p:cBhvr>
                                      <p:to x="100000" y="60000"/>
                                    </p:animScale>
                                    <p:animScale>
                                      <p:cBhvr>
                                        <p:cTn id="94" dur="166" decel="50000">
                                          <p:stCondLst>
                                            <p:cond delay="676"/>
                                          </p:stCondLst>
                                        </p:cTn>
                                        <p:tgtEl>
                                          <p:spTgt spid="16">
                                            <p:txEl>
                                              <p:pRg st="6" end="6"/>
                                            </p:txEl>
                                          </p:spTgt>
                                        </p:tgtEl>
                                      </p:cBhvr>
                                      <p:to x="100000" y="100000"/>
                                    </p:animScale>
                                    <p:animScale>
                                      <p:cBhvr>
                                        <p:cTn id="95" dur="26">
                                          <p:stCondLst>
                                            <p:cond delay="1312"/>
                                          </p:stCondLst>
                                        </p:cTn>
                                        <p:tgtEl>
                                          <p:spTgt spid="16">
                                            <p:txEl>
                                              <p:pRg st="6" end="6"/>
                                            </p:txEl>
                                          </p:spTgt>
                                        </p:tgtEl>
                                      </p:cBhvr>
                                      <p:to x="100000" y="80000"/>
                                    </p:animScale>
                                    <p:animScale>
                                      <p:cBhvr>
                                        <p:cTn id="96" dur="166" decel="50000">
                                          <p:stCondLst>
                                            <p:cond delay="1338"/>
                                          </p:stCondLst>
                                        </p:cTn>
                                        <p:tgtEl>
                                          <p:spTgt spid="16">
                                            <p:txEl>
                                              <p:pRg st="6" end="6"/>
                                            </p:txEl>
                                          </p:spTgt>
                                        </p:tgtEl>
                                      </p:cBhvr>
                                      <p:to x="100000" y="100000"/>
                                    </p:animScale>
                                    <p:animScale>
                                      <p:cBhvr>
                                        <p:cTn id="97" dur="26">
                                          <p:stCondLst>
                                            <p:cond delay="1642"/>
                                          </p:stCondLst>
                                        </p:cTn>
                                        <p:tgtEl>
                                          <p:spTgt spid="16">
                                            <p:txEl>
                                              <p:pRg st="6" end="6"/>
                                            </p:txEl>
                                          </p:spTgt>
                                        </p:tgtEl>
                                      </p:cBhvr>
                                      <p:to x="100000" y="90000"/>
                                    </p:animScale>
                                    <p:animScale>
                                      <p:cBhvr>
                                        <p:cTn id="98" dur="166" decel="50000">
                                          <p:stCondLst>
                                            <p:cond delay="1668"/>
                                          </p:stCondLst>
                                        </p:cTn>
                                        <p:tgtEl>
                                          <p:spTgt spid="16">
                                            <p:txEl>
                                              <p:pRg st="6" end="6"/>
                                            </p:txEl>
                                          </p:spTgt>
                                        </p:tgtEl>
                                      </p:cBhvr>
                                      <p:to x="100000" y="100000"/>
                                    </p:animScale>
                                    <p:animScale>
                                      <p:cBhvr>
                                        <p:cTn id="99" dur="26">
                                          <p:stCondLst>
                                            <p:cond delay="1808"/>
                                          </p:stCondLst>
                                        </p:cTn>
                                        <p:tgtEl>
                                          <p:spTgt spid="16">
                                            <p:txEl>
                                              <p:pRg st="6" end="6"/>
                                            </p:txEl>
                                          </p:spTgt>
                                        </p:tgtEl>
                                      </p:cBhvr>
                                      <p:to x="100000" y="95000"/>
                                    </p:animScale>
                                    <p:animScale>
                                      <p:cBhvr>
                                        <p:cTn id="100" dur="166" decel="50000">
                                          <p:stCondLst>
                                            <p:cond delay="1834"/>
                                          </p:stCondLst>
                                        </p:cTn>
                                        <p:tgtEl>
                                          <p:spTgt spid="16">
                                            <p:txEl>
                                              <p:pRg st="6" end="6"/>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6">
                                            <p:txEl>
                                              <p:pRg st="7" end="7"/>
                                            </p:txEl>
                                          </p:spTgt>
                                        </p:tgtEl>
                                        <p:attrNameLst>
                                          <p:attrName>style.visibility</p:attrName>
                                        </p:attrNameLst>
                                      </p:cBhvr>
                                      <p:to>
                                        <p:strVal val="visible"/>
                                      </p:to>
                                    </p:set>
                                    <p:animEffect transition="in" filter="wipe(down)">
                                      <p:cBhvr>
                                        <p:cTn id="103" dur="580">
                                          <p:stCondLst>
                                            <p:cond delay="0"/>
                                          </p:stCondLst>
                                        </p:cTn>
                                        <p:tgtEl>
                                          <p:spTgt spid="16">
                                            <p:txEl>
                                              <p:pRg st="7" end="7"/>
                                            </p:txEl>
                                          </p:spTgt>
                                        </p:tgtEl>
                                      </p:cBhvr>
                                    </p:animEffect>
                                    <p:anim calcmode="lin" valueType="num">
                                      <p:cBhvr>
                                        <p:cTn id="104" dur="1822" tmFilter="0,0; 0.14,0.36; 0.43,0.73; 0.71,0.91; 1.0,1.0">
                                          <p:stCondLst>
                                            <p:cond delay="0"/>
                                          </p:stCondLst>
                                        </p:cTn>
                                        <p:tgtEl>
                                          <p:spTgt spid="16">
                                            <p:txEl>
                                              <p:pRg st="7" end="7"/>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6">
                                            <p:txEl>
                                              <p:pRg st="7" end="7"/>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6">
                                            <p:txEl>
                                              <p:pRg st="7" end="7"/>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6">
                                            <p:txEl>
                                              <p:pRg st="7" end="7"/>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6">
                                            <p:txEl>
                                              <p:pRg st="7" end="7"/>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16">
                                            <p:txEl>
                                              <p:pRg st="7" end="7"/>
                                            </p:txEl>
                                          </p:spTgt>
                                        </p:tgtEl>
                                      </p:cBhvr>
                                      <p:to x="100000" y="60000"/>
                                    </p:animScale>
                                    <p:animScale>
                                      <p:cBhvr>
                                        <p:cTn id="110" dur="166" decel="50000">
                                          <p:stCondLst>
                                            <p:cond delay="676"/>
                                          </p:stCondLst>
                                        </p:cTn>
                                        <p:tgtEl>
                                          <p:spTgt spid="16">
                                            <p:txEl>
                                              <p:pRg st="7" end="7"/>
                                            </p:txEl>
                                          </p:spTgt>
                                        </p:tgtEl>
                                      </p:cBhvr>
                                      <p:to x="100000" y="100000"/>
                                    </p:animScale>
                                    <p:animScale>
                                      <p:cBhvr>
                                        <p:cTn id="111" dur="26">
                                          <p:stCondLst>
                                            <p:cond delay="1312"/>
                                          </p:stCondLst>
                                        </p:cTn>
                                        <p:tgtEl>
                                          <p:spTgt spid="16">
                                            <p:txEl>
                                              <p:pRg st="7" end="7"/>
                                            </p:txEl>
                                          </p:spTgt>
                                        </p:tgtEl>
                                      </p:cBhvr>
                                      <p:to x="100000" y="80000"/>
                                    </p:animScale>
                                    <p:animScale>
                                      <p:cBhvr>
                                        <p:cTn id="112" dur="166" decel="50000">
                                          <p:stCondLst>
                                            <p:cond delay="1338"/>
                                          </p:stCondLst>
                                        </p:cTn>
                                        <p:tgtEl>
                                          <p:spTgt spid="16">
                                            <p:txEl>
                                              <p:pRg st="7" end="7"/>
                                            </p:txEl>
                                          </p:spTgt>
                                        </p:tgtEl>
                                      </p:cBhvr>
                                      <p:to x="100000" y="100000"/>
                                    </p:animScale>
                                    <p:animScale>
                                      <p:cBhvr>
                                        <p:cTn id="113" dur="26">
                                          <p:stCondLst>
                                            <p:cond delay="1642"/>
                                          </p:stCondLst>
                                        </p:cTn>
                                        <p:tgtEl>
                                          <p:spTgt spid="16">
                                            <p:txEl>
                                              <p:pRg st="7" end="7"/>
                                            </p:txEl>
                                          </p:spTgt>
                                        </p:tgtEl>
                                      </p:cBhvr>
                                      <p:to x="100000" y="90000"/>
                                    </p:animScale>
                                    <p:animScale>
                                      <p:cBhvr>
                                        <p:cTn id="114" dur="166" decel="50000">
                                          <p:stCondLst>
                                            <p:cond delay="1668"/>
                                          </p:stCondLst>
                                        </p:cTn>
                                        <p:tgtEl>
                                          <p:spTgt spid="16">
                                            <p:txEl>
                                              <p:pRg st="7" end="7"/>
                                            </p:txEl>
                                          </p:spTgt>
                                        </p:tgtEl>
                                      </p:cBhvr>
                                      <p:to x="100000" y="100000"/>
                                    </p:animScale>
                                    <p:animScale>
                                      <p:cBhvr>
                                        <p:cTn id="115" dur="26">
                                          <p:stCondLst>
                                            <p:cond delay="1808"/>
                                          </p:stCondLst>
                                        </p:cTn>
                                        <p:tgtEl>
                                          <p:spTgt spid="16">
                                            <p:txEl>
                                              <p:pRg st="7" end="7"/>
                                            </p:txEl>
                                          </p:spTgt>
                                        </p:tgtEl>
                                      </p:cBhvr>
                                      <p:to x="100000" y="95000"/>
                                    </p:animScale>
                                    <p:animScale>
                                      <p:cBhvr>
                                        <p:cTn id="116" dur="166" decel="50000">
                                          <p:stCondLst>
                                            <p:cond delay="1834"/>
                                          </p:stCondLst>
                                        </p:cTn>
                                        <p:tgtEl>
                                          <p:spTgt spid="16">
                                            <p:txEl>
                                              <p:pRg st="7" end="7"/>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6">
                                            <p:txEl>
                                              <p:pRg st="9" end="9"/>
                                            </p:txEl>
                                          </p:spTgt>
                                        </p:tgtEl>
                                        <p:attrNameLst>
                                          <p:attrName>style.visibility</p:attrName>
                                        </p:attrNameLst>
                                      </p:cBhvr>
                                      <p:to>
                                        <p:strVal val="visible"/>
                                      </p:to>
                                    </p:set>
                                    <p:animEffect transition="in" filter="wipe(down)">
                                      <p:cBhvr>
                                        <p:cTn id="119" dur="580">
                                          <p:stCondLst>
                                            <p:cond delay="0"/>
                                          </p:stCondLst>
                                        </p:cTn>
                                        <p:tgtEl>
                                          <p:spTgt spid="16">
                                            <p:txEl>
                                              <p:pRg st="9" end="9"/>
                                            </p:txEl>
                                          </p:spTgt>
                                        </p:tgtEl>
                                      </p:cBhvr>
                                    </p:animEffect>
                                    <p:anim calcmode="lin" valueType="num">
                                      <p:cBhvr>
                                        <p:cTn id="120" dur="1822" tmFilter="0,0; 0.14,0.36; 0.43,0.73; 0.71,0.91; 1.0,1.0">
                                          <p:stCondLst>
                                            <p:cond delay="0"/>
                                          </p:stCondLst>
                                        </p:cTn>
                                        <p:tgtEl>
                                          <p:spTgt spid="16">
                                            <p:txEl>
                                              <p:pRg st="9" end="9"/>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xEl>
                                              <p:pRg st="9" end="9"/>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xEl>
                                              <p:pRg st="9" end="9"/>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xEl>
                                              <p:pRg st="9" end="9"/>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xEl>
                                              <p:pRg st="9" end="9"/>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xEl>
                                              <p:pRg st="9" end="9"/>
                                            </p:txEl>
                                          </p:spTgt>
                                        </p:tgtEl>
                                      </p:cBhvr>
                                      <p:to x="100000" y="60000"/>
                                    </p:animScale>
                                    <p:animScale>
                                      <p:cBhvr>
                                        <p:cTn id="126" dur="166" decel="50000">
                                          <p:stCondLst>
                                            <p:cond delay="676"/>
                                          </p:stCondLst>
                                        </p:cTn>
                                        <p:tgtEl>
                                          <p:spTgt spid="16">
                                            <p:txEl>
                                              <p:pRg st="9" end="9"/>
                                            </p:txEl>
                                          </p:spTgt>
                                        </p:tgtEl>
                                      </p:cBhvr>
                                      <p:to x="100000" y="100000"/>
                                    </p:animScale>
                                    <p:animScale>
                                      <p:cBhvr>
                                        <p:cTn id="127" dur="26">
                                          <p:stCondLst>
                                            <p:cond delay="1312"/>
                                          </p:stCondLst>
                                        </p:cTn>
                                        <p:tgtEl>
                                          <p:spTgt spid="16">
                                            <p:txEl>
                                              <p:pRg st="9" end="9"/>
                                            </p:txEl>
                                          </p:spTgt>
                                        </p:tgtEl>
                                      </p:cBhvr>
                                      <p:to x="100000" y="80000"/>
                                    </p:animScale>
                                    <p:animScale>
                                      <p:cBhvr>
                                        <p:cTn id="128" dur="166" decel="50000">
                                          <p:stCondLst>
                                            <p:cond delay="1338"/>
                                          </p:stCondLst>
                                        </p:cTn>
                                        <p:tgtEl>
                                          <p:spTgt spid="16">
                                            <p:txEl>
                                              <p:pRg st="9" end="9"/>
                                            </p:txEl>
                                          </p:spTgt>
                                        </p:tgtEl>
                                      </p:cBhvr>
                                      <p:to x="100000" y="100000"/>
                                    </p:animScale>
                                    <p:animScale>
                                      <p:cBhvr>
                                        <p:cTn id="129" dur="26">
                                          <p:stCondLst>
                                            <p:cond delay="1642"/>
                                          </p:stCondLst>
                                        </p:cTn>
                                        <p:tgtEl>
                                          <p:spTgt spid="16">
                                            <p:txEl>
                                              <p:pRg st="9" end="9"/>
                                            </p:txEl>
                                          </p:spTgt>
                                        </p:tgtEl>
                                      </p:cBhvr>
                                      <p:to x="100000" y="90000"/>
                                    </p:animScale>
                                    <p:animScale>
                                      <p:cBhvr>
                                        <p:cTn id="130" dur="166" decel="50000">
                                          <p:stCondLst>
                                            <p:cond delay="1668"/>
                                          </p:stCondLst>
                                        </p:cTn>
                                        <p:tgtEl>
                                          <p:spTgt spid="16">
                                            <p:txEl>
                                              <p:pRg st="9" end="9"/>
                                            </p:txEl>
                                          </p:spTgt>
                                        </p:tgtEl>
                                      </p:cBhvr>
                                      <p:to x="100000" y="100000"/>
                                    </p:animScale>
                                    <p:animScale>
                                      <p:cBhvr>
                                        <p:cTn id="131" dur="26">
                                          <p:stCondLst>
                                            <p:cond delay="1808"/>
                                          </p:stCondLst>
                                        </p:cTn>
                                        <p:tgtEl>
                                          <p:spTgt spid="16">
                                            <p:txEl>
                                              <p:pRg st="9" end="9"/>
                                            </p:txEl>
                                          </p:spTgt>
                                        </p:tgtEl>
                                      </p:cBhvr>
                                      <p:to x="100000" y="95000"/>
                                    </p:animScale>
                                    <p:animScale>
                                      <p:cBhvr>
                                        <p:cTn id="132" dur="166" decel="50000">
                                          <p:stCondLst>
                                            <p:cond delay="1834"/>
                                          </p:stCondLst>
                                        </p:cTn>
                                        <p:tgtEl>
                                          <p:spTgt spid="16">
                                            <p:txEl>
                                              <p:pRg st="9" end="9"/>
                                            </p:txEl>
                                          </p:spTgt>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16">
                                            <p:txEl>
                                              <p:pRg st="10" end="10"/>
                                            </p:txEl>
                                          </p:spTgt>
                                        </p:tgtEl>
                                        <p:attrNameLst>
                                          <p:attrName>style.visibility</p:attrName>
                                        </p:attrNameLst>
                                      </p:cBhvr>
                                      <p:to>
                                        <p:strVal val="visible"/>
                                      </p:to>
                                    </p:set>
                                    <p:animEffect transition="in" filter="wipe(down)">
                                      <p:cBhvr>
                                        <p:cTn id="135" dur="580">
                                          <p:stCondLst>
                                            <p:cond delay="0"/>
                                          </p:stCondLst>
                                        </p:cTn>
                                        <p:tgtEl>
                                          <p:spTgt spid="16">
                                            <p:txEl>
                                              <p:pRg st="10" end="10"/>
                                            </p:txEl>
                                          </p:spTgt>
                                        </p:tgtEl>
                                      </p:cBhvr>
                                    </p:animEffect>
                                    <p:anim calcmode="lin" valueType="num">
                                      <p:cBhvr>
                                        <p:cTn id="136" dur="1822" tmFilter="0,0; 0.14,0.36; 0.43,0.73; 0.71,0.91; 1.0,1.0">
                                          <p:stCondLst>
                                            <p:cond delay="0"/>
                                          </p:stCondLst>
                                        </p:cTn>
                                        <p:tgtEl>
                                          <p:spTgt spid="16">
                                            <p:txEl>
                                              <p:pRg st="10" end="10"/>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6">
                                            <p:txEl>
                                              <p:pRg st="10" end="10"/>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6">
                                            <p:txEl>
                                              <p:pRg st="10" end="10"/>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6">
                                            <p:txEl>
                                              <p:pRg st="10" end="10"/>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6">
                                            <p:txEl>
                                              <p:pRg st="10" end="10"/>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16">
                                            <p:txEl>
                                              <p:pRg st="10" end="10"/>
                                            </p:txEl>
                                          </p:spTgt>
                                        </p:tgtEl>
                                      </p:cBhvr>
                                      <p:to x="100000" y="60000"/>
                                    </p:animScale>
                                    <p:animScale>
                                      <p:cBhvr>
                                        <p:cTn id="142" dur="166" decel="50000">
                                          <p:stCondLst>
                                            <p:cond delay="676"/>
                                          </p:stCondLst>
                                        </p:cTn>
                                        <p:tgtEl>
                                          <p:spTgt spid="16">
                                            <p:txEl>
                                              <p:pRg st="10" end="10"/>
                                            </p:txEl>
                                          </p:spTgt>
                                        </p:tgtEl>
                                      </p:cBhvr>
                                      <p:to x="100000" y="100000"/>
                                    </p:animScale>
                                    <p:animScale>
                                      <p:cBhvr>
                                        <p:cTn id="143" dur="26">
                                          <p:stCondLst>
                                            <p:cond delay="1312"/>
                                          </p:stCondLst>
                                        </p:cTn>
                                        <p:tgtEl>
                                          <p:spTgt spid="16">
                                            <p:txEl>
                                              <p:pRg st="10" end="10"/>
                                            </p:txEl>
                                          </p:spTgt>
                                        </p:tgtEl>
                                      </p:cBhvr>
                                      <p:to x="100000" y="80000"/>
                                    </p:animScale>
                                    <p:animScale>
                                      <p:cBhvr>
                                        <p:cTn id="144" dur="166" decel="50000">
                                          <p:stCondLst>
                                            <p:cond delay="1338"/>
                                          </p:stCondLst>
                                        </p:cTn>
                                        <p:tgtEl>
                                          <p:spTgt spid="16">
                                            <p:txEl>
                                              <p:pRg st="10" end="10"/>
                                            </p:txEl>
                                          </p:spTgt>
                                        </p:tgtEl>
                                      </p:cBhvr>
                                      <p:to x="100000" y="100000"/>
                                    </p:animScale>
                                    <p:animScale>
                                      <p:cBhvr>
                                        <p:cTn id="145" dur="26">
                                          <p:stCondLst>
                                            <p:cond delay="1642"/>
                                          </p:stCondLst>
                                        </p:cTn>
                                        <p:tgtEl>
                                          <p:spTgt spid="16">
                                            <p:txEl>
                                              <p:pRg st="10" end="10"/>
                                            </p:txEl>
                                          </p:spTgt>
                                        </p:tgtEl>
                                      </p:cBhvr>
                                      <p:to x="100000" y="90000"/>
                                    </p:animScale>
                                    <p:animScale>
                                      <p:cBhvr>
                                        <p:cTn id="146" dur="166" decel="50000">
                                          <p:stCondLst>
                                            <p:cond delay="1668"/>
                                          </p:stCondLst>
                                        </p:cTn>
                                        <p:tgtEl>
                                          <p:spTgt spid="16">
                                            <p:txEl>
                                              <p:pRg st="10" end="10"/>
                                            </p:txEl>
                                          </p:spTgt>
                                        </p:tgtEl>
                                      </p:cBhvr>
                                      <p:to x="100000" y="100000"/>
                                    </p:animScale>
                                    <p:animScale>
                                      <p:cBhvr>
                                        <p:cTn id="147" dur="26">
                                          <p:stCondLst>
                                            <p:cond delay="1808"/>
                                          </p:stCondLst>
                                        </p:cTn>
                                        <p:tgtEl>
                                          <p:spTgt spid="16">
                                            <p:txEl>
                                              <p:pRg st="10" end="10"/>
                                            </p:txEl>
                                          </p:spTgt>
                                        </p:tgtEl>
                                      </p:cBhvr>
                                      <p:to x="100000" y="95000"/>
                                    </p:animScale>
                                    <p:animScale>
                                      <p:cBhvr>
                                        <p:cTn id="148" dur="166" decel="50000">
                                          <p:stCondLst>
                                            <p:cond delay="1834"/>
                                          </p:stCondLst>
                                        </p:cTn>
                                        <p:tgtEl>
                                          <p:spTgt spid="16">
                                            <p:txEl>
                                              <p:pRg st="10" end="10"/>
                                            </p:txEl>
                                          </p:spTgt>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6">
                                            <p:txEl>
                                              <p:pRg st="11" end="11"/>
                                            </p:txEl>
                                          </p:spTgt>
                                        </p:tgtEl>
                                        <p:attrNameLst>
                                          <p:attrName>style.visibility</p:attrName>
                                        </p:attrNameLst>
                                      </p:cBhvr>
                                      <p:to>
                                        <p:strVal val="visible"/>
                                      </p:to>
                                    </p:set>
                                    <p:animEffect transition="in" filter="wipe(down)">
                                      <p:cBhvr>
                                        <p:cTn id="151" dur="580">
                                          <p:stCondLst>
                                            <p:cond delay="0"/>
                                          </p:stCondLst>
                                        </p:cTn>
                                        <p:tgtEl>
                                          <p:spTgt spid="16">
                                            <p:txEl>
                                              <p:pRg st="11" end="11"/>
                                            </p:txEl>
                                          </p:spTgt>
                                        </p:tgtEl>
                                      </p:cBhvr>
                                    </p:animEffect>
                                    <p:anim calcmode="lin" valueType="num">
                                      <p:cBhvr>
                                        <p:cTn id="152" dur="1822" tmFilter="0,0; 0.14,0.36; 0.43,0.73; 0.71,0.91; 1.0,1.0">
                                          <p:stCondLst>
                                            <p:cond delay="0"/>
                                          </p:stCondLst>
                                        </p:cTn>
                                        <p:tgtEl>
                                          <p:spTgt spid="16">
                                            <p:txEl>
                                              <p:pRg st="11" end="11"/>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6">
                                            <p:txEl>
                                              <p:pRg st="11" end="11"/>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6">
                                            <p:txEl>
                                              <p:pRg st="11" end="11"/>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6">
                                            <p:txEl>
                                              <p:pRg st="11" end="11"/>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6">
                                            <p:txEl>
                                              <p:pRg st="11" end="11"/>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16">
                                            <p:txEl>
                                              <p:pRg st="11" end="11"/>
                                            </p:txEl>
                                          </p:spTgt>
                                        </p:tgtEl>
                                      </p:cBhvr>
                                      <p:to x="100000" y="60000"/>
                                    </p:animScale>
                                    <p:animScale>
                                      <p:cBhvr>
                                        <p:cTn id="158" dur="166" decel="50000">
                                          <p:stCondLst>
                                            <p:cond delay="676"/>
                                          </p:stCondLst>
                                        </p:cTn>
                                        <p:tgtEl>
                                          <p:spTgt spid="16">
                                            <p:txEl>
                                              <p:pRg st="11" end="11"/>
                                            </p:txEl>
                                          </p:spTgt>
                                        </p:tgtEl>
                                      </p:cBhvr>
                                      <p:to x="100000" y="100000"/>
                                    </p:animScale>
                                    <p:animScale>
                                      <p:cBhvr>
                                        <p:cTn id="159" dur="26">
                                          <p:stCondLst>
                                            <p:cond delay="1312"/>
                                          </p:stCondLst>
                                        </p:cTn>
                                        <p:tgtEl>
                                          <p:spTgt spid="16">
                                            <p:txEl>
                                              <p:pRg st="11" end="11"/>
                                            </p:txEl>
                                          </p:spTgt>
                                        </p:tgtEl>
                                      </p:cBhvr>
                                      <p:to x="100000" y="80000"/>
                                    </p:animScale>
                                    <p:animScale>
                                      <p:cBhvr>
                                        <p:cTn id="160" dur="166" decel="50000">
                                          <p:stCondLst>
                                            <p:cond delay="1338"/>
                                          </p:stCondLst>
                                        </p:cTn>
                                        <p:tgtEl>
                                          <p:spTgt spid="16">
                                            <p:txEl>
                                              <p:pRg st="11" end="11"/>
                                            </p:txEl>
                                          </p:spTgt>
                                        </p:tgtEl>
                                      </p:cBhvr>
                                      <p:to x="100000" y="100000"/>
                                    </p:animScale>
                                    <p:animScale>
                                      <p:cBhvr>
                                        <p:cTn id="161" dur="26">
                                          <p:stCondLst>
                                            <p:cond delay="1642"/>
                                          </p:stCondLst>
                                        </p:cTn>
                                        <p:tgtEl>
                                          <p:spTgt spid="16">
                                            <p:txEl>
                                              <p:pRg st="11" end="11"/>
                                            </p:txEl>
                                          </p:spTgt>
                                        </p:tgtEl>
                                      </p:cBhvr>
                                      <p:to x="100000" y="90000"/>
                                    </p:animScale>
                                    <p:animScale>
                                      <p:cBhvr>
                                        <p:cTn id="162" dur="166" decel="50000">
                                          <p:stCondLst>
                                            <p:cond delay="1668"/>
                                          </p:stCondLst>
                                        </p:cTn>
                                        <p:tgtEl>
                                          <p:spTgt spid="16">
                                            <p:txEl>
                                              <p:pRg st="11" end="11"/>
                                            </p:txEl>
                                          </p:spTgt>
                                        </p:tgtEl>
                                      </p:cBhvr>
                                      <p:to x="100000" y="100000"/>
                                    </p:animScale>
                                    <p:animScale>
                                      <p:cBhvr>
                                        <p:cTn id="163" dur="26">
                                          <p:stCondLst>
                                            <p:cond delay="1808"/>
                                          </p:stCondLst>
                                        </p:cTn>
                                        <p:tgtEl>
                                          <p:spTgt spid="16">
                                            <p:txEl>
                                              <p:pRg st="11" end="11"/>
                                            </p:txEl>
                                          </p:spTgt>
                                        </p:tgtEl>
                                      </p:cBhvr>
                                      <p:to x="100000" y="95000"/>
                                    </p:animScale>
                                    <p:animScale>
                                      <p:cBhvr>
                                        <p:cTn id="164" dur="166" decel="50000">
                                          <p:stCondLst>
                                            <p:cond delay="1834"/>
                                          </p:stCondLst>
                                        </p:cTn>
                                        <p:tgtEl>
                                          <p:spTgt spid="16">
                                            <p:txEl>
                                              <p:pRg st="11" end="11"/>
                                            </p:txEl>
                                          </p:spTgt>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6">
                                            <p:txEl>
                                              <p:pRg st="12" end="12"/>
                                            </p:txEl>
                                          </p:spTgt>
                                        </p:tgtEl>
                                        <p:attrNameLst>
                                          <p:attrName>style.visibility</p:attrName>
                                        </p:attrNameLst>
                                      </p:cBhvr>
                                      <p:to>
                                        <p:strVal val="visible"/>
                                      </p:to>
                                    </p:set>
                                    <p:animEffect transition="in" filter="wipe(down)">
                                      <p:cBhvr>
                                        <p:cTn id="167" dur="580">
                                          <p:stCondLst>
                                            <p:cond delay="0"/>
                                          </p:stCondLst>
                                        </p:cTn>
                                        <p:tgtEl>
                                          <p:spTgt spid="16">
                                            <p:txEl>
                                              <p:pRg st="12" end="12"/>
                                            </p:txEl>
                                          </p:spTgt>
                                        </p:tgtEl>
                                      </p:cBhvr>
                                    </p:animEffect>
                                    <p:anim calcmode="lin" valueType="num">
                                      <p:cBhvr>
                                        <p:cTn id="168" dur="1822" tmFilter="0,0; 0.14,0.36; 0.43,0.73; 0.71,0.91; 1.0,1.0">
                                          <p:stCondLst>
                                            <p:cond delay="0"/>
                                          </p:stCondLst>
                                        </p:cTn>
                                        <p:tgtEl>
                                          <p:spTgt spid="16">
                                            <p:txEl>
                                              <p:pRg st="12" end="12"/>
                                            </p:txEl>
                                          </p:spTgt>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6">
                                            <p:txEl>
                                              <p:pRg st="12" end="12"/>
                                            </p:txEl>
                                          </p:spTgt>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6">
                                            <p:txEl>
                                              <p:pRg st="12" end="12"/>
                                            </p:txEl>
                                          </p:spTgt>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6">
                                            <p:txEl>
                                              <p:pRg st="12" end="12"/>
                                            </p:txEl>
                                          </p:spTgt>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6">
                                            <p:txEl>
                                              <p:pRg st="12" end="12"/>
                                            </p:txEl>
                                          </p:spTgt>
                                        </p:tgtEl>
                                        <p:attrNameLst>
                                          <p:attrName>ppt_y</p:attrName>
                                        </p:attrNameLst>
                                      </p:cBhvr>
                                      <p:tavLst>
                                        <p:tav tm="0" fmla="#ppt_y-sin(pi*$)/81">
                                          <p:val>
                                            <p:fltVal val="0"/>
                                          </p:val>
                                        </p:tav>
                                        <p:tav tm="100000">
                                          <p:val>
                                            <p:fltVal val="1"/>
                                          </p:val>
                                        </p:tav>
                                      </p:tavLst>
                                    </p:anim>
                                    <p:animScale>
                                      <p:cBhvr>
                                        <p:cTn id="173" dur="26">
                                          <p:stCondLst>
                                            <p:cond delay="650"/>
                                          </p:stCondLst>
                                        </p:cTn>
                                        <p:tgtEl>
                                          <p:spTgt spid="16">
                                            <p:txEl>
                                              <p:pRg st="12" end="12"/>
                                            </p:txEl>
                                          </p:spTgt>
                                        </p:tgtEl>
                                      </p:cBhvr>
                                      <p:to x="100000" y="60000"/>
                                    </p:animScale>
                                    <p:animScale>
                                      <p:cBhvr>
                                        <p:cTn id="174" dur="166" decel="50000">
                                          <p:stCondLst>
                                            <p:cond delay="676"/>
                                          </p:stCondLst>
                                        </p:cTn>
                                        <p:tgtEl>
                                          <p:spTgt spid="16">
                                            <p:txEl>
                                              <p:pRg st="12" end="12"/>
                                            </p:txEl>
                                          </p:spTgt>
                                        </p:tgtEl>
                                      </p:cBhvr>
                                      <p:to x="100000" y="100000"/>
                                    </p:animScale>
                                    <p:animScale>
                                      <p:cBhvr>
                                        <p:cTn id="175" dur="26">
                                          <p:stCondLst>
                                            <p:cond delay="1312"/>
                                          </p:stCondLst>
                                        </p:cTn>
                                        <p:tgtEl>
                                          <p:spTgt spid="16">
                                            <p:txEl>
                                              <p:pRg st="12" end="12"/>
                                            </p:txEl>
                                          </p:spTgt>
                                        </p:tgtEl>
                                      </p:cBhvr>
                                      <p:to x="100000" y="80000"/>
                                    </p:animScale>
                                    <p:animScale>
                                      <p:cBhvr>
                                        <p:cTn id="176" dur="166" decel="50000">
                                          <p:stCondLst>
                                            <p:cond delay="1338"/>
                                          </p:stCondLst>
                                        </p:cTn>
                                        <p:tgtEl>
                                          <p:spTgt spid="16">
                                            <p:txEl>
                                              <p:pRg st="12" end="12"/>
                                            </p:txEl>
                                          </p:spTgt>
                                        </p:tgtEl>
                                      </p:cBhvr>
                                      <p:to x="100000" y="100000"/>
                                    </p:animScale>
                                    <p:animScale>
                                      <p:cBhvr>
                                        <p:cTn id="177" dur="26">
                                          <p:stCondLst>
                                            <p:cond delay="1642"/>
                                          </p:stCondLst>
                                        </p:cTn>
                                        <p:tgtEl>
                                          <p:spTgt spid="16">
                                            <p:txEl>
                                              <p:pRg st="12" end="12"/>
                                            </p:txEl>
                                          </p:spTgt>
                                        </p:tgtEl>
                                      </p:cBhvr>
                                      <p:to x="100000" y="90000"/>
                                    </p:animScale>
                                    <p:animScale>
                                      <p:cBhvr>
                                        <p:cTn id="178" dur="166" decel="50000">
                                          <p:stCondLst>
                                            <p:cond delay="1668"/>
                                          </p:stCondLst>
                                        </p:cTn>
                                        <p:tgtEl>
                                          <p:spTgt spid="16">
                                            <p:txEl>
                                              <p:pRg st="12" end="12"/>
                                            </p:txEl>
                                          </p:spTgt>
                                        </p:tgtEl>
                                      </p:cBhvr>
                                      <p:to x="100000" y="100000"/>
                                    </p:animScale>
                                    <p:animScale>
                                      <p:cBhvr>
                                        <p:cTn id="179" dur="26">
                                          <p:stCondLst>
                                            <p:cond delay="1808"/>
                                          </p:stCondLst>
                                        </p:cTn>
                                        <p:tgtEl>
                                          <p:spTgt spid="16">
                                            <p:txEl>
                                              <p:pRg st="12" end="12"/>
                                            </p:txEl>
                                          </p:spTgt>
                                        </p:tgtEl>
                                      </p:cBhvr>
                                      <p:to x="100000" y="95000"/>
                                    </p:animScale>
                                    <p:animScale>
                                      <p:cBhvr>
                                        <p:cTn id="180" dur="166" decel="50000">
                                          <p:stCondLst>
                                            <p:cond delay="1834"/>
                                          </p:stCondLst>
                                        </p:cTn>
                                        <p:tgtEl>
                                          <p:spTgt spid="16">
                                            <p:txEl>
                                              <p:pRg st="12" end="12"/>
                                            </p:txEl>
                                          </p:spTgt>
                                        </p:tgtEl>
                                      </p:cBhvr>
                                      <p:to x="100000" y="100000"/>
                                    </p:animScale>
                                  </p:childTnLst>
                                </p:cTn>
                              </p:par>
                              <p:par>
                                <p:cTn id="181" presetID="26" presetClass="entr" presetSubtype="0" fill="hold" nodeType="withEffect">
                                  <p:stCondLst>
                                    <p:cond delay="0"/>
                                  </p:stCondLst>
                                  <p:childTnLst>
                                    <p:set>
                                      <p:cBhvr>
                                        <p:cTn id="182" dur="1" fill="hold">
                                          <p:stCondLst>
                                            <p:cond delay="0"/>
                                          </p:stCondLst>
                                        </p:cTn>
                                        <p:tgtEl>
                                          <p:spTgt spid="16">
                                            <p:txEl>
                                              <p:pRg st="13" end="13"/>
                                            </p:txEl>
                                          </p:spTgt>
                                        </p:tgtEl>
                                        <p:attrNameLst>
                                          <p:attrName>style.visibility</p:attrName>
                                        </p:attrNameLst>
                                      </p:cBhvr>
                                      <p:to>
                                        <p:strVal val="visible"/>
                                      </p:to>
                                    </p:set>
                                    <p:animEffect transition="in" filter="wipe(down)">
                                      <p:cBhvr>
                                        <p:cTn id="183" dur="580">
                                          <p:stCondLst>
                                            <p:cond delay="0"/>
                                          </p:stCondLst>
                                        </p:cTn>
                                        <p:tgtEl>
                                          <p:spTgt spid="16">
                                            <p:txEl>
                                              <p:pRg st="13" end="13"/>
                                            </p:txEl>
                                          </p:spTgt>
                                        </p:tgtEl>
                                      </p:cBhvr>
                                    </p:animEffect>
                                    <p:anim calcmode="lin" valueType="num">
                                      <p:cBhvr>
                                        <p:cTn id="184" dur="1822" tmFilter="0,0; 0.14,0.36; 0.43,0.73; 0.71,0.91; 1.0,1.0">
                                          <p:stCondLst>
                                            <p:cond delay="0"/>
                                          </p:stCondLst>
                                        </p:cTn>
                                        <p:tgtEl>
                                          <p:spTgt spid="16">
                                            <p:txEl>
                                              <p:pRg st="13" end="13"/>
                                            </p:txEl>
                                          </p:spTgt>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6">
                                            <p:txEl>
                                              <p:pRg st="13" end="13"/>
                                            </p:txEl>
                                          </p:spTgt>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6">
                                            <p:txEl>
                                              <p:pRg st="13" end="13"/>
                                            </p:txEl>
                                          </p:spTgt>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6">
                                            <p:txEl>
                                              <p:pRg st="13" end="13"/>
                                            </p:txEl>
                                          </p:spTgt>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6">
                                            <p:txEl>
                                              <p:pRg st="13" end="13"/>
                                            </p:txEl>
                                          </p:spTgt>
                                        </p:tgtEl>
                                        <p:attrNameLst>
                                          <p:attrName>ppt_y</p:attrName>
                                        </p:attrNameLst>
                                      </p:cBhvr>
                                      <p:tavLst>
                                        <p:tav tm="0" fmla="#ppt_y-sin(pi*$)/81">
                                          <p:val>
                                            <p:fltVal val="0"/>
                                          </p:val>
                                        </p:tav>
                                        <p:tav tm="100000">
                                          <p:val>
                                            <p:fltVal val="1"/>
                                          </p:val>
                                        </p:tav>
                                      </p:tavLst>
                                    </p:anim>
                                    <p:animScale>
                                      <p:cBhvr>
                                        <p:cTn id="189" dur="26">
                                          <p:stCondLst>
                                            <p:cond delay="650"/>
                                          </p:stCondLst>
                                        </p:cTn>
                                        <p:tgtEl>
                                          <p:spTgt spid="16">
                                            <p:txEl>
                                              <p:pRg st="13" end="13"/>
                                            </p:txEl>
                                          </p:spTgt>
                                        </p:tgtEl>
                                      </p:cBhvr>
                                      <p:to x="100000" y="60000"/>
                                    </p:animScale>
                                    <p:animScale>
                                      <p:cBhvr>
                                        <p:cTn id="190" dur="166" decel="50000">
                                          <p:stCondLst>
                                            <p:cond delay="676"/>
                                          </p:stCondLst>
                                        </p:cTn>
                                        <p:tgtEl>
                                          <p:spTgt spid="16">
                                            <p:txEl>
                                              <p:pRg st="13" end="13"/>
                                            </p:txEl>
                                          </p:spTgt>
                                        </p:tgtEl>
                                      </p:cBhvr>
                                      <p:to x="100000" y="100000"/>
                                    </p:animScale>
                                    <p:animScale>
                                      <p:cBhvr>
                                        <p:cTn id="191" dur="26">
                                          <p:stCondLst>
                                            <p:cond delay="1312"/>
                                          </p:stCondLst>
                                        </p:cTn>
                                        <p:tgtEl>
                                          <p:spTgt spid="16">
                                            <p:txEl>
                                              <p:pRg st="13" end="13"/>
                                            </p:txEl>
                                          </p:spTgt>
                                        </p:tgtEl>
                                      </p:cBhvr>
                                      <p:to x="100000" y="80000"/>
                                    </p:animScale>
                                    <p:animScale>
                                      <p:cBhvr>
                                        <p:cTn id="192" dur="166" decel="50000">
                                          <p:stCondLst>
                                            <p:cond delay="1338"/>
                                          </p:stCondLst>
                                        </p:cTn>
                                        <p:tgtEl>
                                          <p:spTgt spid="16">
                                            <p:txEl>
                                              <p:pRg st="13" end="13"/>
                                            </p:txEl>
                                          </p:spTgt>
                                        </p:tgtEl>
                                      </p:cBhvr>
                                      <p:to x="100000" y="100000"/>
                                    </p:animScale>
                                    <p:animScale>
                                      <p:cBhvr>
                                        <p:cTn id="193" dur="26">
                                          <p:stCondLst>
                                            <p:cond delay="1642"/>
                                          </p:stCondLst>
                                        </p:cTn>
                                        <p:tgtEl>
                                          <p:spTgt spid="16">
                                            <p:txEl>
                                              <p:pRg st="13" end="13"/>
                                            </p:txEl>
                                          </p:spTgt>
                                        </p:tgtEl>
                                      </p:cBhvr>
                                      <p:to x="100000" y="90000"/>
                                    </p:animScale>
                                    <p:animScale>
                                      <p:cBhvr>
                                        <p:cTn id="194" dur="166" decel="50000">
                                          <p:stCondLst>
                                            <p:cond delay="1668"/>
                                          </p:stCondLst>
                                        </p:cTn>
                                        <p:tgtEl>
                                          <p:spTgt spid="16">
                                            <p:txEl>
                                              <p:pRg st="13" end="13"/>
                                            </p:txEl>
                                          </p:spTgt>
                                        </p:tgtEl>
                                      </p:cBhvr>
                                      <p:to x="100000" y="100000"/>
                                    </p:animScale>
                                    <p:animScale>
                                      <p:cBhvr>
                                        <p:cTn id="195" dur="26">
                                          <p:stCondLst>
                                            <p:cond delay="1808"/>
                                          </p:stCondLst>
                                        </p:cTn>
                                        <p:tgtEl>
                                          <p:spTgt spid="16">
                                            <p:txEl>
                                              <p:pRg st="13" end="13"/>
                                            </p:txEl>
                                          </p:spTgt>
                                        </p:tgtEl>
                                      </p:cBhvr>
                                      <p:to x="100000" y="95000"/>
                                    </p:animScale>
                                    <p:animScale>
                                      <p:cBhvr>
                                        <p:cTn id="196" dur="166" decel="50000">
                                          <p:stCondLst>
                                            <p:cond delay="1834"/>
                                          </p:stCondLst>
                                        </p:cTn>
                                        <p:tgtEl>
                                          <p:spTgt spid="16">
                                            <p:txEl>
                                              <p:pRg st="13" end="13"/>
                                            </p:txEl>
                                          </p:spTgt>
                                        </p:tgtEl>
                                      </p:cBhvr>
                                      <p:to x="100000" y="100000"/>
                                    </p:animScale>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nodeType="clickEffect">
                                  <p:stCondLst>
                                    <p:cond delay="0"/>
                                  </p:stCondLst>
                                  <p:childTnLst>
                                    <p:set>
                                      <p:cBhvr>
                                        <p:cTn id="200" dur="1" fill="hold">
                                          <p:stCondLst>
                                            <p:cond delay="0"/>
                                          </p:stCondLst>
                                        </p:cTn>
                                        <p:tgtEl>
                                          <p:spTgt spid="17">
                                            <p:txEl>
                                              <p:pRg st="0" end="0"/>
                                            </p:txEl>
                                          </p:spTgt>
                                        </p:tgtEl>
                                        <p:attrNameLst>
                                          <p:attrName>style.visibility</p:attrName>
                                        </p:attrNameLst>
                                      </p:cBhvr>
                                      <p:to>
                                        <p:strVal val="visible"/>
                                      </p:to>
                                    </p:set>
                                    <p:anim calcmode="lin" valueType="num">
                                      <p:cBhvr additive="base">
                                        <p:cTn id="201"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202"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4" fill="hold" nodeType="clickEffect">
                                  <p:stCondLst>
                                    <p:cond delay="0"/>
                                  </p:stCondLst>
                                  <p:childTnLst>
                                    <p:set>
                                      <p:cBhvr>
                                        <p:cTn id="206" dur="1" fill="hold">
                                          <p:stCondLst>
                                            <p:cond delay="0"/>
                                          </p:stCondLst>
                                        </p:cTn>
                                        <p:tgtEl>
                                          <p:spTgt spid="18"/>
                                        </p:tgtEl>
                                        <p:attrNameLst>
                                          <p:attrName>style.visibility</p:attrName>
                                        </p:attrNameLst>
                                      </p:cBhvr>
                                      <p:to>
                                        <p:strVal val="visible"/>
                                      </p:to>
                                    </p:set>
                                    <p:anim calcmode="lin" valueType="num">
                                      <p:cBhvr additive="base">
                                        <p:cTn id="207" dur="500" fill="hold"/>
                                        <p:tgtEl>
                                          <p:spTgt spid="18"/>
                                        </p:tgtEl>
                                        <p:attrNameLst>
                                          <p:attrName>ppt_x</p:attrName>
                                        </p:attrNameLst>
                                      </p:cBhvr>
                                      <p:tavLst>
                                        <p:tav tm="0">
                                          <p:val>
                                            <p:strVal val="#ppt_x"/>
                                          </p:val>
                                        </p:tav>
                                        <p:tav tm="100000">
                                          <p:val>
                                            <p:strVal val="#ppt_x"/>
                                          </p:val>
                                        </p:tav>
                                      </p:tavLst>
                                    </p:anim>
                                    <p:anim calcmode="lin" valueType="num">
                                      <p:cBhvr additive="base">
                                        <p:cTn id="20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 presetClass="entr" presetSubtype="4" fill="hold" nodeType="clickEffect">
                                  <p:stCondLst>
                                    <p:cond delay="0"/>
                                  </p:stCondLst>
                                  <p:childTnLst>
                                    <p:set>
                                      <p:cBhvr>
                                        <p:cTn id="212" dur="1" fill="hold">
                                          <p:stCondLst>
                                            <p:cond delay="0"/>
                                          </p:stCondLst>
                                        </p:cTn>
                                        <p:tgtEl>
                                          <p:spTgt spid="19">
                                            <p:txEl>
                                              <p:pRg st="0" end="0"/>
                                            </p:txEl>
                                          </p:spTgt>
                                        </p:tgtEl>
                                        <p:attrNameLst>
                                          <p:attrName>style.visibility</p:attrName>
                                        </p:attrNameLst>
                                      </p:cBhvr>
                                      <p:to>
                                        <p:strVal val="visible"/>
                                      </p:to>
                                    </p:set>
                                    <p:anim calcmode="lin" valueType="num">
                                      <p:cBhvr additive="base">
                                        <p:cTn id="213"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14"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8</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Muller's method — fit a parabola, not a line</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600200"/>
            <a:ext cx="5029200" cy="2103120"/>
          </a:xfrm>
          <a:prstGeom prst="rect">
            <a:avLst/>
          </a:prstGeom>
          <a:noFill/>
          <a:ln/>
        </p:spPr>
        <p:txBody>
          <a:bodyPr wrap="square" lIns="0" tIns="0" rIns="0" bIns="0" rtlCol="0" anchor="ctr"/>
          <a:lstStyle/>
          <a:p>
            <a:pPr marL="0" indent="0">
              <a:buNone/>
            </a:pPr>
            <a:r>
              <a:rPr lang="en-US" sz="1500" b="1" dirty="0">
                <a:solidFill>
                  <a:srgbClr val="2B2722"/>
                </a:solidFill>
                <a:latin typeface="Cambria" pitchFamily="34" charset="0"/>
                <a:ea typeface="Cambria" pitchFamily="34" charset="-122"/>
                <a:cs typeface="Cambria" pitchFamily="34" charset="-120"/>
              </a:rPr>
              <a:t>Newton </a:t>
            </a:r>
            <a:r>
              <a:rPr lang="en-US" sz="1500" dirty="0">
                <a:solidFill>
                  <a:srgbClr val="2B2722"/>
                </a:solidFill>
                <a:latin typeface="Cambria" pitchFamily="34" charset="0"/>
                <a:ea typeface="Cambria" pitchFamily="34" charset="-122"/>
                <a:cs typeface="Cambria" pitchFamily="34" charset="-120"/>
              </a:rPr>
              <a:t>needs f'(x).  </a:t>
            </a:r>
            <a:r>
              <a:rPr lang="en-US" sz="1500" b="1" dirty="0">
                <a:solidFill>
                  <a:srgbClr val="2B2722"/>
                </a:solidFill>
                <a:latin typeface="Cambria" pitchFamily="34" charset="0"/>
                <a:ea typeface="Cambria" pitchFamily="34" charset="-122"/>
                <a:cs typeface="Cambria" pitchFamily="34" charset="-120"/>
              </a:rPr>
              <a:t>Secant </a:t>
            </a:r>
            <a:r>
              <a:rPr lang="en-US" sz="1500" dirty="0">
                <a:solidFill>
                  <a:srgbClr val="2B2722"/>
                </a:solidFill>
                <a:latin typeface="Cambria" pitchFamily="34" charset="0"/>
                <a:ea typeface="Cambria" pitchFamily="34" charset="-122"/>
                <a:cs typeface="Cambria" pitchFamily="34" charset="-120"/>
              </a:rPr>
              <a:t>uses a line through 2 points.  </a:t>
            </a:r>
            <a:endParaRPr lang="en-US" sz="1500" dirty="0"/>
          </a:p>
          <a:p>
            <a:pPr marL="0" indent="0">
              <a:buNone/>
            </a:pPr>
            <a:r>
              <a:rPr lang="en-US" sz="1500" b="1" dirty="0">
                <a:solidFill>
                  <a:srgbClr val="586127"/>
                </a:solidFill>
                <a:latin typeface="Cambria" pitchFamily="34" charset="0"/>
                <a:ea typeface="Cambria" pitchFamily="34" charset="-122"/>
                <a:cs typeface="Cambria" pitchFamily="34" charset="-120"/>
              </a:rPr>
              <a:t>Muller </a:t>
            </a:r>
            <a:r>
              <a:rPr lang="en-US" sz="1500" dirty="0">
                <a:solidFill>
                  <a:srgbClr val="2B2722"/>
                </a:solidFill>
                <a:latin typeface="Cambria" pitchFamily="34" charset="0"/>
                <a:ea typeface="Cambria" pitchFamily="34" charset="-122"/>
                <a:cs typeface="Cambria" pitchFamily="34" charset="-120"/>
              </a:rPr>
              <a:t>fits a quadratic through the 3 most recent points and takes its root nearest the latest point. No derivative; it can step off the real axis to complex roots.</a:t>
            </a:r>
            <a:endParaRPr lang="en-US" sz="1500" dirty="0"/>
          </a:p>
        </p:txBody>
      </p:sp>
      <p:sp>
        <p:nvSpPr>
          <p:cNvPr id="15" name="Text 13"/>
          <p:cNvSpPr/>
          <p:nvPr/>
        </p:nvSpPr>
        <p:spPr>
          <a:xfrm>
            <a:off x="914400" y="3840480"/>
            <a:ext cx="5029200" cy="411480"/>
          </a:xfrm>
          <a:prstGeom prst="rect">
            <a:avLst/>
          </a:prstGeom>
          <a:noFill/>
          <a:ln/>
        </p:spPr>
        <p:txBody>
          <a:bodyPr wrap="square" lIns="0" tIns="0" rIns="0" bIns="0" rtlCol="0" anchor="ctr"/>
          <a:lstStyle/>
          <a:p>
            <a:pPr marL="0" indent="0">
              <a:buNone/>
            </a:pPr>
            <a:r>
              <a:rPr lang="en-US" sz="1450" dirty="0">
                <a:solidFill>
                  <a:srgbClr val="2B2722"/>
                </a:solidFill>
                <a:latin typeface="Cambria" pitchFamily="34" charset="0"/>
                <a:ea typeface="Cambria" pitchFamily="34" charset="-122"/>
                <a:cs typeface="Cambria" pitchFamily="34" charset="-120"/>
              </a:rPr>
              <a:t>Convergence order </a:t>
            </a:r>
            <a:r>
              <a:rPr lang="en-US" sz="1450" b="1" dirty="0">
                <a:solidFill>
                  <a:srgbClr val="B5642A"/>
                </a:solidFill>
                <a:latin typeface="Cambria" pitchFamily="34" charset="0"/>
                <a:ea typeface="Cambria" pitchFamily="34" charset="-122"/>
                <a:cs typeface="Cambria" pitchFamily="34" charset="-120"/>
              </a:rPr>
              <a:t>≈ 1.84</a:t>
            </a:r>
            <a:r>
              <a:rPr lang="en-US" sz="1450" i="1" dirty="0">
                <a:solidFill>
                  <a:srgbClr val="6E6453"/>
                </a:solidFill>
                <a:latin typeface="Cambria" pitchFamily="34" charset="0"/>
                <a:ea typeface="Cambria" pitchFamily="34" charset="-122"/>
                <a:cs typeface="Cambria" pitchFamily="34" charset="-120"/>
              </a:rPr>
              <a:t>  (real root of s³ = s² + s + 1)</a:t>
            </a:r>
            <a:endParaRPr lang="en-US" sz="1450" dirty="0"/>
          </a:p>
        </p:txBody>
      </p:sp>
      <p:sp>
        <p:nvSpPr>
          <p:cNvPr id="16" name="Text 14"/>
          <p:cNvSpPr/>
          <p:nvPr/>
        </p:nvSpPr>
        <p:spPr>
          <a:xfrm>
            <a:off x="914400" y="4297680"/>
            <a:ext cx="5029200" cy="548640"/>
          </a:xfrm>
          <a:prstGeom prst="rect">
            <a:avLst/>
          </a:prstGeom>
          <a:noFill/>
          <a:ln/>
        </p:spPr>
        <p:txBody>
          <a:bodyPr wrap="square" lIns="0" tIns="0" rIns="0" bIns="0" rtlCol="0" anchor="ctr"/>
          <a:lstStyle/>
          <a:p>
            <a:pPr marL="0" indent="0">
              <a:buNone/>
            </a:pPr>
            <a:r>
              <a:rPr lang="en-US" sz="1300" i="1" dirty="0">
                <a:solidFill>
                  <a:srgbClr val="6E6453"/>
                </a:solidFill>
                <a:latin typeface="Cambria" pitchFamily="34" charset="0"/>
                <a:ea typeface="Cambria" pitchFamily="34" charset="-122"/>
                <a:cs typeface="Cambria" pitchFamily="34" charset="-120"/>
              </a:rPr>
              <a:t>— faster than the secant method (1.62), and still derivative-free.</a:t>
            </a:r>
            <a:endParaRPr lang="en-US" sz="1300" dirty="0"/>
          </a:p>
        </p:txBody>
      </p:sp>
      <p:sp>
        <p:nvSpPr>
          <p:cNvPr id="17" name="Shape 15"/>
          <p:cNvSpPr/>
          <p:nvPr/>
        </p:nvSpPr>
        <p:spPr>
          <a:xfrm>
            <a:off x="5943600" y="1554480"/>
            <a:ext cx="5669280" cy="406908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pic>
        <p:nvPicPr>
          <p:cNvPr id="18" name="Image 0" descr="muller_wood.png"/>
          <p:cNvPicPr>
            <a:picLocks noChangeAspect="1"/>
          </p:cNvPicPr>
          <p:nvPr/>
        </p:nvPicPr>
        <p:blipFill>
          <a:blip r:embed="rId4"/>
          <a:stretch>
            <a:fillRect/>
          </a:stretch>
        </p:blipFill>
        <p:spPr>
          <a:xfrm>
            <a:off x="6035040" y="1874520"/>
            <a:ext cx="5486400" cy="28624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 calcmode="lin" valueType="num">
                                      <p:cBhvr additive="base">
                                        <p:cTn id="11"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9</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Muller's method — one iteration</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645920"/>
            <a:ext cx="6492240" cy="301752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645920"/>
            <a:ext cx="82296" cy="3017520"/>
          </a:xfrm>
          <a:prstGeom prst="rect">
            <a:avLst/>
          </a:prstGeom>
          <a:solidFill>
            <a:srgbClr val="7F8A3A"/>
          </a:solidFill>
          <a:ln/>
        </p:spPr>
      </p:sp>
      <p:sp>
        <p:nvSpPr>
          <p:cNvPr id="16" name="Text 14"/>
          <p:cNvSpPr/>
          <p:nvPr/>
        </p:nvSpPr>
        <p:spPr>
          <a:xfrm>
            <a:off x="1115568" y="1737360"/>
            <a:ext cx="6163056" cy="2834640"/>
          </a:xfrm>
          <a:prstGeom prst="rect">
            <a:avLst/>
          </a:prstGeom>
          <a:noFill/>
          <a:ln/>
        </p:spPr>
        <p:txBody>
          <a:bodyPr wrap="square" lIns="0" tIns="0" rIns="0" bIns="0" rtlCol="0" anchor="t"/>
          <a:lstStyle/>
          <a:p>
            <a:pPr marL="0" indent="0">
              <a:lnSpc>
                <a:spcPct val="104000"/>
              </a:lnSpc>
              <a:buNone/>
            </a:pPr>
            <a:r>
              <a:rPr lang="en-US" sz="1350" dirty="0">
                <a:solidFill>
                  <a:srgbClr val="586127"/>
                </a:solidFill>
                <a:latin typeface="Consolas" pitchFamily="34" charset="0"/>
                <a:ea typeface="Consolas" pitchFamily="34" charset="-122"/>
                <a:cs typeface="Consolas" pitchFamily="34" charset="-120"/>
              </a:rPr>
              <a:t>;; given x0,x1,x2 and f0,f1,f2</a:t>
            </a: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h0 = x1 - x0          h1 = x2 - x1</a:t>
            </a: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d0 = (f1-f0)/h0       d1 = (f2-f1)/h1</a:t>
            </a:r>
            <a:endParaRPr lang="en-US" sz="1350" dirty="0"/>
          </a:p>
          <a:p>
            <a:pPr marL="0" indent="0">
              <a:lnSpc>
                <a:spcPct val="104000"/>
              </a:lnSpc>
              <a:buNone/>
            </a:pP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A = (d1 - d0)/(h1 + h0)   ; curvature</a:t>
            </a: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B = A*h1 + d1             ; slope at x2</a:t>
            </a: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C = f2                    ; value at x2</a:t>
            </a:r>
            <a:endParaRPr lang="en-US" sz="1350" dirty="0"/>
          </a:p>
          <a:p>
            <a:pPr marL="0" indent="0">
              <a:lnSpc>
                <a:spcPct val="104000"/>
              </a:lnSpc>
              <a:buNone/>
            </a:pPr>
            <a:endParaRPr lang="en-US" sz="1350" dirty="0"/>
          </a:p>
          <a:p>
            <a:pPr marL="0" indent="0">
              <a:lnSpc>
                <a:spcPct val="104000"/>
              </a:lnSpc>
              <a:buNone/>
            </a:pPr>
            <a:r>
              <a:rPr lang="en-US" sz="1350" dirty="0">
                <a:solidFill>
                  <a:srgbClr val="2B2722"/>
                </a:solidFill>
                <a:latin typeface="Consolas" pitchFamily="34" charset="0"/>
                <a:ea typeface="Consolas" pitchFamily="34" charset="-122"/>
                <a:cs typeface="Consolas" pitchFamily="34" charset="-120"/>
              </a:rPr>
              <a:t>x3 = x2 - 2C / ( B +/- sqrt(B^2 - 4AC) )</a:t>
            </a:r>
            <a:endParaRPr lang="en-US" sz="1350" dirty="0"/>
          </a:p>
        </p:txBody>
      </p:sp>
      <p:sp>
        <p:nvSpPr>
          <p:cNvPr id="17" name="Shape 15"/>
          <p:cNvSpPr/>
          <p:nvPr/>
        </p:nvSpPr>
        <p:spPr>
          <a:xfrm>
            <a:off x="7178040" y="1645920"/>
            <a:ext cx="4160520" cy="30175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7178040" y="1645920"/>
            <a:ext cx="91440" cy="3017520"/>
          </a:xfrm>
          <a:prstGeom prst="rect">
            <a:avLst/>
          </a:prstGeom>
          <a:solidFill>
            <a:srgbClr val="7F8A3A"/>
          </a:solidFill>
          <a:ln/>
        </p:spPr>
      </p:sp>
      <p:sp>
        <p:nvSpPr>
          <p:cNvPr id="19" name="Text 17"/>
          <p:cNvSpPr/>
          <p:nvPr/>
        </p:nvSpPr>
        <p:spPr>
          <a:xfrm>
            <a:off x="7434072" y="1773936"/>
            <a:ext cx="370332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The +/- sign rule</a:t>
            </a:r>
            <a:endParaRPr lang="en-US" sz="1550" dirty="0"/>
          </a:p>
        </p:txBody>
      </p:sp>
      <p:sp>
        <p:nvSpPr>
          <p:cNvPr id="20" name="Text 18"/>
          <p:cNvSpPr/>
          <p:nvPr/>
        </p:nvSpPr>
        <p:spPr>
          <a:xfrm>
            <a:off x="7452360" y="2212848"/>
            <a:ext cx="3657600" cy="2304288"/>
          </a:xfrm>
          <a:prstGeom prst="rect">
            <a:avLst/>
          </a:prstGeom>
          <a:noFill/>
          <a:ln/>
        </p:spPr>
        <p:txBody>
          <a:bodyPr wrap="square" lIns="0" tIns="0" rIns="0" bIns="0" rtlCol="0" anchor="t"/>
          <a:lstStyle/>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Pick the sign that makes the denominator LARGEST in magnitude.</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That selects the root nearer x2 and avoids subtracting nearly-equal numbers (cancellation).</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It is the single trick that makes Muller numerically stable.</a:t>
            </a:r>
            <a:endParaRPr lang="en-US" sz="1300" dirty="0"/>
          </a:p>
        </p:txBody>
      </p:sp>
      <p:sp>
        <p:nvSpPr>
          <p:cNvPr id="21" name="Text 19"/>
          <p:cNvSpPr/>
          <p:nvPr/>
        </p:nvSpPr>
        <p:spPr>
          <a:xfrm>
            <a:off x="914400" y="4892040"/>
            <a:ext cx="10360152" cy="548640"/>
          </a:xfrm>
          <a:prstGeom prst="rect">
            <a:avLst/>
          </a:prstGeom>
          <a:noFill/>
          <a:ln/>
        </p:spPr>
        <p:txBody>
          <a:bodyPr wrap="square" lIns="0" tIns="0" rIns="0" bIns="0" rtlCol="0" anchor="ctr"/>
          <a:lstStyle/>
          <a:p>
            <a:pPr marL="0" indent="0">
              <a:buNone/>
            </a:pPr>
            <a:r>
              <a:rPr lang="en-US" sz="1350" dirty="0">
                <a:solidFill>
                  <a:srgbClr val="6E6453"/>
                </a:solidFill>
                <a:latin typeface="Cambria" pitchFamily="34" charset="0"/>
                <a:ea typeface="Cambria" pitchFamily="34" charset="-122"/>
                <a:cs typeface="Cambria" pitchFamily="34" charset="-120"/>
              </a:rPr>
              <a:t>Then shift:  </a:t>
            </a:r>
            <a:r>
              <a:rPr lang="en-US" sz="1350" dirty="0">
                <a:solidFill>
                  <a:srgbClr val="2B2722"/>
                </a:solidFill>
                <a:latin typeface="Consolas" pitchFamily="34" charset="0"/>
                <a:ea typeface="Consolas" pitchFamily="34" charset="-122"/>
                <a:cs typeface="Consolas" pitchFamily="34" charset="-120"/>
              </a:rPr>
              <a:t>(x0,x1,x2) ← (x1,x2,x3)</a:t>
            </a:r>
            <a:r>
              <a:rPr lang="en-US" sz="1350" dirty="0">
                <a:solidFill>
                  <a:srgbClr val="6E6453"/>
                </a:solidFill>
                <a:latin typeface="Cambria" pitchFamily="34" charset="0"/>
                <a:ea typeface="Cambria" pitchFamily="34" charset="-122"/>
                <a:cs typeface="Cambria" pitchFamily="34" charset="-120"/>
              </a:rPr>
              <a:t>  and repeat until |x3−x2| or |f(x3)| is tiny.</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wipe(down)">
                                      <p:cBhvr>
                                        <p:cTn id="23" dur="580">
                                          <p:stCondLst>
                                            <p:cond delay="0"/>
                                          </p:stCondLst>
                                        </p:cTn>
                                        <p:tgtEl>
                                          <p:spTgt spid="16">
                                            <p:txEl>
                                              <p:pRg st="1" end="1"/>
                                            </p:txEl>
                                          </p:spTgt>
                                        </p:tgtEl>
                                      </p:cBhvr>
                                    </p:animEffect>
                                    <p:anim calcmode="lin" valueType="num">
                                      <p:cBhvr>
                                        <p:cTn id="24" dur="1822" tmFilter="0,0; 0.14,0.36; 0.43,0.73; 0.71,0.91; 1.0,1.0">
                                          <p:stCondLst>
                                            <p:cond delay="0"/>
                                          </p:stCondLst>
                                        </p:cTn>
                                        <p:tgtEl>
                                          <p:spTgt spid="1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xEl>
                                              <p:pRg st="1" end="1"/>
                                            </p:txEl>
                                          </p:spTgt>
                                        </p:tgtEl>
                                      </p:cBhvr>
                                      <p:to x="100000" y="60000"/>
                                    </p:animScale>
                                    <p:animScale>
                                      <p:cBhvr>
                                        <p:cTn id="30" dur="166" decel="50000">
                                          <p:stCondLst>
                                            <p:cond delay="676"/>
                                          </p:stCondLst>
                                        </p:cTn>
                                        <p:tgtEl>
                                          <p:spTgt spid="16">
                                            <p:txEl>
                                              <p:pRg st="1" end="1"/>
                                            </p:txEl>
                                          </p:spTgt>
                                        </p:tgtEl>
                                      </p:cBhvr>
                                      <p:to x="100000" y="100000"/>
                                    </p:animScale>
                                    <p:animScale>
                                      <p:cBhvr>
                                        <p:cTn id="31" dur="26">
                                          <p:stCondLst>
                                            <p:cond delay="1312"/>
                                          </p:stCondLst>
                                        </p:cTn>
                                        <p:tgtEl>
                                          <p:spTgt spid="16">
                                            <p:txEl>
                                              <p:pRg st="1" end="1"/>
                                            </p:txEl>
                                          </p:spTgt>
                                        </p:tgtEl>
                                      </p:cBhvr>
                                      <p:to x="100000" y="80000"/>
                                    </p:animScale>
                                    <p:animScale>
                                      <p:cBhvr>
                                        <p:cTn id="32" dur="166" decel="50000">
                                          <p:stCondLst>
                                            <p:cond delay="1338"/>
                                          </p:stCondLst>
                                        </p:cTn>
                                        <p:tgtEl>
                                          <p:spTgt spid="16">
                                            <p:txEl>
                                              <p:pRg st="1" end="1"/>
                                            </p:txEl>
                                          </p:spTgt>
                                        </p:tgtEl>
                                      </p:cBhvr>
                                      <p:to x="100000" y="100000"/>
                                    </p:animScale>
                                    <p:animScale>
                                      <p:cBhvr>
                                        <p:cTn id="33" dur="26">
                                          <p:stCondLst>
                                            <p:cond delay="1642"/>
                                          </p:stCondLst>
                                        </p:cTn>
                                        <p:tgtEl>
                                          <p:spTgt spid="16">
                                            <p:txEl>
                                              <p:pRg st="1" end="1"/>
                                            </p:txEl>
                                          </p:spTgt>
                                        </p:tgtEl>
                                      </p:cBhvr>
                                      <p:to x="100000" y="90000"/>
                                    </p:animScale>
                                    <p:animScale>
                                      <p:cBhvr>
                                        <p:cTn id="34" dur="166" decel="50000">
                                          <p:stCondLst>
                                            <p:cond delay="1668"/>
                                          </p:stCondLst>
                                        </p:cTn>
                                        <p:tgtEl>
                                          <p:spTgt spid="16">
                                            <p:txEl>
                                              <p:pRg st="1" end="1"/>
                                            </p:txEl>
                                          </p:spTgt>
                                        </p:tgtEl>
                                      </p:cBhvr>
                                      <p:to x="100000" y="100000"/>
                                    </p:animScale>
                                    <p:animScale>
                                      <p:cBhvr>
                                        <p:cTn id="35" dur="26">
                                          <p:stCondLst>
                                            <p:cond delay="1808"/>
                                          </p:stCondLst>
                                        </p:cTn>
                                        <p:tgtEl>
                                          <p:spTgt spid="16">
                                            <p:txEl>
                                              <p:pRg st="1" end="1"/>
                                            </p:txEl>
                                          </p:spTgt>
                                        </p:tgtEl>
                                      </p:cBhvr>
                                      <p:to x="100000" y="95000"/>
                                    </p:animScale>
                                    <p:animScale>
                                      <p:cBhvr>
                                        <p:cTn id="36" dur="166" decel="50000">
                                          <p:stCondLst>
                                            <p:cond delay="1834"/>
                                          </p:stCondLst>
                                        </p:cTn>
                                        <p:tgtEl>
                                          <p:spTgt spid="1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down)">
                                      <p:cBhvr>
                                        <p:cTn id="39" dur="580">
                                          <p:stCondLst>
                                            <p:cond delay="0"/>
                                          </p:stCondLst>
                                        </p:cTn>
                                        <p:tgtEl>
                                          <p:spTgt spid="16">
                                            <p:txEl>
                                              <p:pRg st="2" end="2"/>
                                            </p:txEl>
                                          </p:spTgt>
                                        </p:tgtEl>
                                      </p:cBhvr>
                                    </p:animEffect>
                                    <p:anim calcmode="lin" valueType="num">
                                      <p:cBhvr>
                                        <p:cTn id="40" dur="1822" tmFilter="0,0; 0.14,0.36; 0.43,0.73; 0.71,0.91; 1.0,1.0">
                                          <p:stCondLst>
                                            <p:cond delay="0"/>
                                          </p:stCondLst>
                                        </p:cTn>
                                        <p:tgtEl>
                                          <p:spTgt spid="1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6">
                                            <p:txEl>
                                              <p:pRg st="2" end="2"/>
                                            </p:txEl>
                                          </p:spTgt>
                                        </p:tgtEl>
                                      </p:cBhvr>
                                      <p:to x="100000" y="60000"/>
                                    </p:animScale>
                                    <p:animScale>
                                      <p:cBhvr>
                                        <p:cTn id="46" dur="166" decel="50000">
                                          <p:stCondLst>
                                            <p:cond delay="676"/>
                                          </p:stCondLst>
                                        </p:cTn>
                                        <p:tgtEl>
                                          <p:spTgt spid="16">
                                            <p:txEl>
                                              <p:pRg st="2" end="2"/>
                                            </p:txEl>
                                          </p:spTgt>
                                        </p:tgtEl>
                                      </p:cBhvr>
                                      <p:to x="100000" y="100000"/>
                                    </p:animScale>
                                    <p:animScale>
                                      <p:cBhvr>
                                        <p:cTn id="47" dur="26">
                                          <p:stCondLst>
                                            <p:cond delay="1312"/>
                                          </p:stCondLst>
                                        </p:cTn>
                                        <p:tgtEl>
                                          <p:spTgt spid="16">
                                            <p:txEl>
                                              <p:pRg st="2" end="2"/>
                                            </p:txEl>
                                          </p:spTgt>
                                        </p:tgtEl>
                                      </p:cBhvr>
                                      <p:to x="100000" y="80000"/>
                                    </p:animScale>
                                    <p:animScale>
                                      <p:cBhvr>
                                        <p:cTn id="48" dur="166" decel="50000">
                                          <p:stCondLst>
                                            <p:cond delay="1338"/>
                                          </p:stCondLst>
                                        </p:cTn>
                                        <p:tgtEl>
                                          <p:spTgt spid="16">
                                            <p:txEl>
                                              <p:pRg st="2" end="2"/>
                                            </p:txEl>
                                          </p:spTgt>
                                        </p:tgtEl>
                                      </p:cBhvr>
                                      <p:to x="100000" y="100000"/>
                                    </p:animScale>
                                    <p:animScale>
                                      <p:cBhvr>
                                        <p:cTn id="49" dur="26">
                                          <p:stCondLst>
                                            <p:cond delay="1642"/>
                                          </p:stCondLst>
                                        </p:cTn>
                                        <p:tgtEl>
                                          <p:spTgt spid="16">
                                            <p:txEl>
                                              <p:pRg st="2" end="2"/>
                                            </p:txEl>
                                          </p:spTgt>
                                        </p:tgtEl>
                                      </p:cBhvr>
                                      <p:to x="100000" y="90000"/>
                                    </p:animScale>
                                    <p:animScale>
                                      <p:cBhvr>
                                        <p:cTn id="50" dur="166" decel="50000">
                                          <p:stCondLst>
                                            <p:cond delay="1668"/>
                                          </p:stCondLst>
                                        </p:cTn>
                                        <p:tgtEl>
                                          <p:spTgt spid="16">
                                            <p:txEl>
                                              <p:pRg st="2" end="2"/>
                                            </p:txEl>
                                          </p:spTgt>
                                        </p:tgtEl>
                                      </p:cBhvr>
                                      <p:to x="100000" y="100000"/>
                                    </p:animScale>
                                    <p:animScale>
                                      <p:cBhvr>
                                        <p:cTn id="51" dur="26">
                                          <p:stCondLst>
                                            <p:cond delay="1808"/>
                                          </p:stCondLst>
                                        </p:cTn>
                                        <p:tgtEl>
                                          <p:spTgt spid="16">
                                            <p:txEl>
                                              <p:pRg st="2" end="2"/>
                                            </p:txEl>
                                          </p:spTgt>
                                        </p:tgtEl>
                                      </p:cBhvr>
                                      <p:to x="100000" y="95000"/>
                                    </p:animScale>
                                    <p:animScale>
                                      <p:cBhvr>
                                        <p:cTn id="52" dur="166" decel="50000">
                                          <p:stCondLst>
                                            <p:cond delay="1834"/>
                                          </p:stCondLst>
                                        </p:cTn>
                                        <p:tgtEl>
                                          <p:spTgt spid="16">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6">
                                            <p:txEl>
                                              <p:pRg st="4" end="4"/>
                                            </p:txEl>
                                          </p:spTgt>
                                        </p:tgtEl>
                                        <p:attrNameLst>
                                          <p:attrName>style.visibility</p:attrName>
                                        </p:attrNameLst>
                                      </p:cBhvr>
                                      <p:to>
                                        <p:strVal val="visible"/>
                                      </p:to>
                                    </p:set>
                                    <p:animEffect transition="in" filter="wipe(down)">
                                      <p:cBhvr>
                                        <p:cTn id="55" dur="580">
                                          <p:stCondLst>
                                            <p:cond delay="0"/>
                                          </p:stCondLst>
                                        </p:cTn>
                                        <p:tgtEl>
                                          <p:spTgt spid="16">
                                            <p:txEl>
                                              <p:pRg st="4" end="4"/>
                                            </p:txEl>
                                          </p:spTgt>
                                        </p:tgtEl>
                                      </p:cBhvr>
                                    </p:animEffect>
                                    <p:anim calcmode="lin" valueType="num">
                                      <p:cBhvr>
                                        <p:cTn id="56" dur="1822" tmFilter="0,0; 0.14,0.36; 0.43,0.73; 0.71,0.91; 1.0,1.0">
                                          <p:stCondLst>
                                            <p:cond delay="0"/>
                                          </p:stCondLst>
                                        </p:cTn>
                                        <p:tgtEl>
                                          <p:spTgt spid="16">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xEl>
                                              <p:pRg st="4" end="4"/>
                                            </p:txEl>
                                          </p:spTgt>
                                        </p:tgtEl>
                                      </p:cBhvr>
                                      <p:to x="100000" y="60000"/>
                                    </p:animScale>
                                    <p:animScale>
                                      <p:cBhvr>
                                        <p:cTn id="62" dur="166" decel="50000">
                                          <p:stCondLst>
                                            <p:cond delay="676"/>
                                          </p:stCondLst>
                                        </p:cTn>
                                        <p:tgtEl>
                                          <p:spTgt spid="16">
                                            <p:txEl>
                                              <p:pRg st="4" end="4"/>
                                            </p:txEl>
                                          </p:spTgt>
                                        </p:tgtEl>
                                      </p:cBhvr>
                                      <p:to x="100000" y="100000"/>
                                    </p:animScale>
                                    <p:animScale>
                                      <p:cBhvr>
                                        <p:cTn id="63" dur="26">
                                          <p:stCondLst>
                                            <p:cond delay="1312"/>
                                          </p:stCondLst>
                                        </p:cTn>
                                        <p:tgtEl>
                                          <p:spTgt spid="16">
                                            <p:txEl>
                                              <p:pRg st="4" end="4"/>
                                            </p:txEl>
                                          </p:spTgt>
                                        </p:tgtEl>
                                      </p:cBhvr>
                                      <p:to x="100000" y="80000"/>
                                    </p:animScale>
                                    <p:animScale>
                                      <p:cBhvr>
                                        <p:cTn id="64" dur="166" decel="50000">
                                          <p:stCondLst>
                                            <p:cond delay="1338"/>
                                          </p:stCondLst>
                                        </p:cTn>
                                        <p:tgtEl>
                                          <p:spTgt spid="16">
                                            <p:txEl>
                                              <p:pRg st="4" end="4"/>
                                            </p:txEl>
                                          </p:spTgt>
                                        </p:tgtEl>
                                      </p:cBhvr>
                                      <p:to x="100000" y="100000"/>
                                    </p:animScale>
                                    <p:animScale>
                                      <p:cBhvr>
                                        <p:cTn id="65" dur="26">
                                          <p:stCondLst>
                                            <p:cond delay="1642"/>
                                          </p:stCondLst>
                                        </p:cTn>
                                        <p:tgtEl>
                                          <p:spTgt spid="16">
                                            <p:txEl>
                                              <p:pRg st="4" end="4"/>
                                            </p:txEl>
                                          </p:spTgt>
                                        </p:tgtEl>
                                      </p:cBhvr>
                                      <p:to x="100000" y="90000"/>
                                    </p:animScale>
                                    <p:animScale>
                                      <p:cBhvr>
                                        <p:cTn id="66" dur="166" decel="50000">
                                          <p:stCondLst>
                                            <p:cond delay="1668"/>
                                          </p:stCondLst>
                                        </p:cTn>
                                        <p:tgtEl>
                                          <p:spTgt spid="16">
                                            <p:txEl>
                                              <p:pRg st="4" end="4"/>
                                            </p:txEl>
                                          </p:spTgt>
                                        </p:tgtEl>
                                      </p:cBhvr>
                                      <p:to x="100000" y="100000"/>
                                    </p:animScale>
                                    <p:animScale>
                                      <p:cBhvr>
                                        <p:cTn id="67" dur="26">
                                          <p:stCondLst>
                                            <p:cond delay="1808"/>
                                          </p:stCondLst>
                                        </p:cTn>
                                        <p:tgtEl>
                                          <p:spTgt spid="16">
                                            <p:txEl>
                                              <p:pRg st="4" end="4"/>
                                            </p:txEl>
                                          </p:spTgt>
                                        </p:tgtEl>
                                      </p:cBhvr>
                                      <p:to x="100000" y="95000"/>
                                    </p:animScale>
                                    <p:animScale>
                                      <p:cBhvr>
                                        <p:cTn id="68" dur="166" decel="50000">
                                          <p:stCondLst>
                                            <p:cond delay="1834"/>
                                          </p:stCondLst>
                                        </p:cTn>
                                        <p:tgtEl>
                                          <p:spTgt spid="16">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6">
                                            <p:txEl>
                                              <p:pRg st="5" end="5"/>
                                            </p:txEl>
                                          </p:spTgt>
                                        </p:tgtEl>
                                        <p:attrNameLst>
                                          <p:attrName>style.visibility</p:attrName>
                                        </p:attrNameLst>
                                      </p:cBhvr>
                                      <p:to>
                                        <p:strVal val="visible"/>
                                      </p:to>
                                    </p:set>
                                    <p:animEffect transition="in" filter="wipe(down)">
                                      <p:cBhvr>
                                        <p:cTn id="71" dur="580">
                                          <p:stCondLst>
                                            <p:cond delay="0"/>
                                          </p:stCondLst>
                                        </p:cTn>
                                        <p:tgtEl>
                                          <p:spTgt spid="16">
                                            <p:txEl>
                                              <p:pRg st="5" end="5"/>
                                            </p:txEl>
                                          </p:spTgt>
                                        </p:tgtEl>
                                      </p:cBhvr>
                                    </p:animEffect>
                                    <p:anim calcmode="lin" valueType="num">
                                      <p:cBhvr>
                                        <p:cTn id="72" dur="1822" tmFilter="0,0; 0.14,0.36; 0.43,0.73; 0.71,0.91; 1.0,1.0">
                                          <p:stCondLst>
                                            <p:cond delay="0"/>
                                          </p:stCondLst>
                                        </p:cTn>
                                        <p:tgtEl>
                                          <p:spTgt spid="16">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5" end="5"/>
                                            </p:txEl>
                                          </p:spTgt>
                                        </p:tgtEl>
                                      </p:cBhvr>
                                      <p:to x="100000" y="60000"/>
                                    </p:animScale>
                                    <p:animScale>
                                      <p:cBhvr>
                                        <p:cTn id="78" dur="166" decel="50000">
                                          <p:stCondLst>
                                            <p:cond delay="676"/>
                                          </p:stCondLst>
                                        </p:cTn>
                                        <p:tgtEl>
                                          <p:spTgt spid="16">
                                            <p:txEl>
                                              <p:pRg st="5" end="5"/>
                                            </p:txEl>
                                          </p:spTgt>
                                        </p:tgtEl>
                                      </p:cBhvr>
                                      <p:to x="100000" y="100000"/>
                                    </p:animScale>
                                    <p:animScale>
                                      <p:cBhvr>
                                        <p:cTn id="79" dur="26">
                                          <p:stCondLst>
                                            <p:cond delay="1312"/>
                                          </p:stCondLst>
                                        </p:cTn>
                                        <p:tgtEl>
                                          <p:spTgt spid="16">
                                            <p:txEl>
                                              <p:pRg st="5" end="5"/>
                                            </p:txEl>
                                          </p:spTgt>
                                        </p:tgtEl>
                                      </p:cBhvr>
                                      <p:to x="100000" y="80000"/>
                                    </p:animScale>
                                    <p:animScale>
                                      <p:cBhvr>
                                        <p:cTn id="80" dur="166" decel="50000">
                                          <p:stCondLst>
                                            <p:cond delay="1338"/>
                                          </p:stCondLst>
                                        </p:cTn>
                                        <p:tgtEl>
                                          <p:spTgt spid="16">
                                            <p:txEl>
                                              <p:pRg st="5" end="5"/>
                                            </p:txEl>
                                          </p:spTgt>
                                        </p:tgtEl>
                                      </p:cBhvr>
                                      <p:to x="100000" y="100000"/>
                                    </p:animScale>
                                    <p:animScale>
                                      <p:cBhvr>
                                        <p:cTn id="81" dur="26">
                                          <p:stCondLst>
                                            <p:cond delay="1642"/>
                                          </p:stCondLst>
                                        </p:cTn>
                                        <p:tgtEl>
                                          <p:spTgt spid="16">
                                            <p:txEl>
                                              <p:pRg st="5" end="5"/>
                                            </p:txEl>
                                          </p:spTgt>
                                        </p:tgtEl>
                                      </p:cBhvr>
                                      <p:to x="100000" y="90000"/>
                                    </p:animScale>
                                    <p:animScale>
                                      <p:cBhvr>
                                        <p:cTn id="82" dur="166" decel="50000">
                                          <p:stCondLst>
                                            <p:cond delay="1668"/>
                                          </p:stCondLst>
                                        </p:cTn>
                                        <p:tgtEl>
                                          <p:spTgt spid="16">
                                            <p:txEl>
                                              <p:pRg st="5" end="5"/>
                                            </p:txEl>
                                          </p:spTgt>
                                        </p:tgtEl>
                                      </p:cBhvr>
                                      <p:to x="100000" y="100000"/>
                                    </p:animScale>
                                    <p:animScale>
                                      <p:cBhvr>
                                        <p:cTn id="83" dur="26">
                                          <p:stCondLst>
                                            <p:cond delay="1808"/>
                                          </p:stCondLst>
                                        </p:cTn>
                                        <p:tgtEl>
                                          <p:spTgt spid="16">
                                            <p:txEl>
                                              <p:pRg st="5" end="5"/>
                                            </p:txEl>
                                          </p:spTgt>
                                        </p:tgtEl>
                                      </p:cBhvr>
                                      <p:to x="100000" y="95000"/>
                                    </p:animScale>
                                    <p:animScale>
                                      <p:cBhvr>
                                        <p:cTn id="84" dur="166" decel="50000">
                                          <p:stCondLst>
                                            <p:cond delay="1834"/>
                                          </p:stCondLst>
                                        </p:cTn>
                                        <p:tgtEl>
                                          <p:spTgt spid="16">
                                            <p:txEl>
                                              <p:pRg st="5" end="5"/>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6">
                                            <p:txEl>
                                              <p:pRg st="6" end="6"/>
                                            </p:txEl>
                                          </p:spTgt>
                                        </p:tgtEl>
                                        <p:attrNameLst>
                                          <p:attrName>style.visibility</p:attrName>
                                        </p:attrNameLst>
                                      </p:cBhvr>
                                      <p:to>
                                        <p:strVal val="visible"/>
                                      </p:to>
                                    </p:set>
                                    <p:animEffect transition="in" filter="wipe(down)">
                                      <p:cBhvr>
                                        <p:cTn id="87" dur="580">
                                          <p:stCondLst>
                                            <p:cond delay="0"/>
                                          </p:stCondLst>
                                        </p:cTn>
                                        <p:tgtEl>
                                          <p:spTgt spid="16">
                                            <p:txEl>
                                              <p:pRg st="6" end="6"/>
                                            </p:txEl>
                                          </p:spTgt>
                                        </p:tgtEl>
                                      </p:cBhvr>
                                    </p:animEffect>
                                    <p:anim calcmode="lin" valueType="num">
                                      <p:cBhvr>
                                        <p:cTn id="88" dur="1822" tmFilter="0,0; 0.14,0.36; 0.43,0.73; 0.71,0.91; 1.0,1.0">
                                          <p:stCondLst>
                                            <p:cond delay="0"/>
                                          </p:stCondLst>
                                        </p:cTn>
                                        <p:tgtEl>
                                          <p:spTgt spid="16">
                                            <p:txEl>
                                              <p:pRg st="6" end="6"/>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6">
                                            <p:txEl>
                                              <p:pRg st="6" end="6"/>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6">
                                            <p:txEl>
                                              <p:pRg st="6" end="6"/>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6">
                                            <p:txEl>
                                              <p:pRg st="6" end="6"/>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6">
                                            <p:txEl>
                                              <p:pRg st="6" end="6"/>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6">
                                            <p:txEl>
                                              <p:pRg st="6" end="6"/>
                                            </p:txEl>
                                          </p:spTgt>
                                        </p:tgtEl>
                                      </p:cBhvr>
                                      <p:to x="100000" y="60000"/>
                                    </p:animScale>
                                    <p:animScale>
                                      <p:cBhvr>
                                        <p:cTn id="94" dur="166" decel="50000">
                                          <p:stCondLst>
                                            <p:cond delay="676"/>
                                          </p:stCondLst>
                                        </p:cTn>
                                        <p:tgtEl>
                                          <p:spTgt spid="16">
                                            <p:txEl>
                                              <p:pRg st="6" end="6"/>
                                            </p:txEl>
                                          </p:spTgt>
                                        </p:tgtEl>
                                      </p:cBhvr>
                                      <p:to x="100000" y="100000"/>
                                    </p:animScale>
                                    <p:animScale>
                                      <p:cBhvr>
                                        <p:cTn id="95" dur="26">
                                          <p:stCondLst>
                                            <p:cond delay="1312"/>
                                          </p:stCondLst>
                                        </p:cTn>
                                        <p:tgtEl>
                                          <p:spTgt spid="16">
                                            <p:txEl>
                                              <p:pRg st="6" end="6"/>
                                            </p:txEl>
                                          </p:spTgt>
                                        </p:tgtEl>
                                      </p:cBhvr>
                                      <p:to x="100000" y="80000"/>
                                    </p:animScale>
                                    <p:animScale>
                                      <p:cBhvr>
                                        <p:cTn id="96" dur="166" decel="50000">
                                          <p:stCondLst>
                                            <p:cond delay="1338"/>
                                          </p:stCondLst>
                                        </p:cTn>
                                        <p:tgtEl>
                                          <p:spTgt spid="16">
                                            <p:txEl>
                                              <p:pRg st="6" end="6"/>
                                            </p:txEl>
                                          </p:spTgt>
                                        </p:tgtEl>
                                      </p:cBhvr>
                                      <p:to x="100000" y="100000"/>
                                    </p:animScale>
                                    <p:animScale>
                                      <p:cBhvr>
                                        <p:cTn id="97" dur="26">
                                          <p:stCondLst>
                                            <p:cond delay="1642"/>
                                          </p:stCondLst>
                                        </p:cTn>
                                        <p:tgtEl>
                                          <p:spTgt spid="16">
                                            <p:txEl>
                                              <p:pRg st="6" end="6"/>
                                            </p:txEl>
                                          </p:spTgt>
                                        </p:tgtEl>
                                      </p:cBhvr>
                                      <p:to x="100000" y="90000"/>
                                    </p:animScale>
                                    <p:animScale>
                                      <p:cBhvr>
                                        <p:cTn id="98" dur="166" decel="50000">
                                          <p:stCondLst>
                                            <p:cond delay="1668"/>
                                          </p:stCondLst>
                                        </p:cTn>
                                        <p:tgtEl>
                                          <p:spTgt spid="16">
                                            <p:txEl>
                                              <p:pRg st="6" end="6"/>
                                            </p:txEl>
                                          </p:spTgt>
                                        </p:tgtEl>
                                      </p:cBhvr>
                                      <p:to x="100000" y="100000"/>
                                    </p:animScale>
                                    <p:animScale>
                                      <p:cBhvr>
                                        <p:cTn id="99" dur="26">
                                          <p:stCondLst>
                                            <p:cond delay="1808"/>
                                          </p:stCondLst>
                                        </p:cTn>
                                        <p:tgtEl>
                                          <p:spTgt spid="16">
                                            <p:txEl>
                                              <p:pRg st="6" end="6"/>
                                            </p:txEl>
                                          </p:spTgt>
                                        </p:tgtEl>
                                      </p:cBhvr>
                                      <p:to x="100000" y="95000"/>
                                    </p:animScale>
                                    <p:animScale>
                                      <p:cBhvr>
                                        <p:cTn id="100" dur="166" decel="50000">
                                          <p:stCondLst>
                                            <p:cond delay="1834"/>
                                          </p:stCondLst>
                                        </p:cTn>
                                        <p:tgtEl>
                                          <p:spTgt spid="16">
                                            <p:txEl>
                                              <p:pRg st="6" end="6"/>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6">
                                            <p:txEl>
                                              <p:pRg st="8" end="8"/>
                                            </p:txEl>
                                          </p:spTgt>
                                        </p:tgtEl>
                                        <p:attrNameLst>
                                          <p:attrName>style.visibility</p:attrName>
                                        </p:attrNameLst>
                                      </p:cBhvr>
                                      <p:to>
                                        <p:strVal val="visible"/>
                                      </p:to>
                                    </p:set>
                                    <p:animEffect transition="in" filter="wipe(down)">
                                      <p:cBhvr>
                                        <p:cTn id="103" dur="580">
                                          <p:stCondLst>
                                            <p:cond delay="0"/>
                                          </p:stCondLst>
                                        </p:cTn>
                                        <p:tgtEl>
                                          <p:spTgt spid="16">
                                            <p:txEl>
                                              <p:pRg st="8" end="8"/>
                                            </p:txEl>
                                          </p:spTgt>
                                        </p:tgtEl>
                                      </p:cBhvr>
                                    </p:animEffect>
                                    <p:anim calcmode="lin" valueType="num">
                                      <p:cBhvr>
                                        <p:cTn id="104" dur="1822" tmFilter="0,0; 0.14,0.36; 0.43,0.73; 0.71,0.91; 1.0,1.0">
                                          <p:stCondLst>
                                            <p:cond delay="0"/>
                                          </p:stCondLst>
                                        </p:cTn>
                                        <p:tgtEl>
                                          <p:spTgt spid="16">
                                            <p:txEl>
                                              <p:pRg st="8" end="8"/>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6">
                                            <p:txEl>
                                              <p:pRg st="8" end="8"/>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6">
                                            <p:txEl>
                                              <p:pRg st="8" end="8"/>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6">
                                            <p:txEl>
                                              <p:pRg st="8" end="8"/>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6">
                                            <p:txEl>
                                              <p:pRg st="8" end="8"/>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16">
                                            <p:txEl>
                                              <p:pRg st="8" end="8"/>
                                            </p:txEl>
                                          </p:spTgt>
                                        </p:tgtEl>
                                      </p:cBhvr>
                                      <p:to x="100000" y="60000"/>
                                    </p:animScale>
                                    <p:animScale>
                                      <p:cBhvr>
                                        <p:cTn id="110" dur="166" decel="50000">
                                          <p:stCondLst>
                                            <p:cond delay="676"/>
                                          </p:stCondLst>
                                        </p:cTn>
                                        <p:tgtEl>
                                          <p:spTgt spid="16">
                                            <p:txEl>
                                              <p:pRg st="8" end="8"/>
                                            </p:txEl>
                                          </p:spTgt>
                                        </p:tgtEl>
                                      </p:cBhvr>
                                      <p:to x="100000" y="100000"/>
                                    </p:animScale>
                                    <p:animScale>
                                      <p:cBhvr>
                                        <p:cTn id="111" dur="26">
                                          <p:stCondLst>
                                            <p:cond delay="1312"/>
                                          </p:stCondLst>
                                        </p:cTn>
                                        <p:tgtEl>
                                          <p:spTgt spid="16">
                                            <p:txEl>
                                              <p:pRg st="8" end="8"/>
                                            </p:txEl>
                                          </p:spTgt>
                                        </p:tgtEl>
                                      </p:cBhvr>
                                      <p:to x="100000" y="80000"/>
                                    </p:animScale>
                                    <p:animScale>
                                      <p:cBhvr>
                                        <p:cTn id="112" dur="166" decel="50000">
                                          <p:stCondLst>
                                            <p:cond delay="1338"/>
                                          </p:stCondLst>
                                        </p:cTn>
                                        <p:tgtEl>
                                          <p:spTgt spid="16">
                                            <p:txEl>
                                              <p:pRg st="8" end="8"/>
                                            </p:txEl>
                                          </p:spTgt>
                                        </p:tgtEl>
                                      </p:cBhvr>
                                      <p:to x="100000" y="100000"/>
                                    </p:animScale>
                                    <p:animScale>
                                      <p:cBhvr>
                                        <p:cTn id="113" dur="26">
                                          <p:stCondLst>
                                            <p:cond delay="1642"/>
                                          </p:stCondLst>
                                        </p:cTn>
                                        <p:tgtEl>
                                          <p:spTgt spid="16">
                                            <p:txEl>
                                              <p:pRg st="8" end="8"/>
                                            </p:txEl>
                                          </p:spTgt>
                                        </p:tgtEl>
                                      </p:cBhvr>
                                      <p:to x="100000" y="90000"/>
                                    </p:animScale>
                                    <p:animScale>
                                      <p:cBhvr>
                                        <p:cTn id="114" dur="166" decel="50000">
                                          <p:stCondLst>
                                            <p:cond delay="1668"/>
                                          </p:stCondLst>
                                        </p:cTn>
                                        <p:tgtEl>
                                          <p:spTgt spid="16">
                                            <p:txEl>
                                              <p:pRg st="8" end="8"/>
                                            </p:txEl>
                                          </p:spTgt>
                                        </p:tgtEl>
                                      </p:cBhvr>
                                      <p:to x="100000" y="100000"/>
                                    </p:animScale>
                                    <p:animScale>
                                      <p:cBhvr>
                                        <p:cTn id="115" dur="26">
                                          <p:stCondLst>
                                            <p:cond delay="1808"/>
                                          </p:stCondLst>
                                        </p:cTn>
                                        <p:tgtEl>
                                          <p:spTgt spid="16">
                                            <p:txEl>
                                              <p:pRg st="8" end="8"/>
                                            </p:txEl>
                                          </p:spTgt>
                                        </p:tgtEl>
                                      </p:cBhvr>
                                      <p:to x="100000" y="95000"/>
                                    </p:animScale>
                                    <p:animScale>
                                      <p:cBhvr>
                                        <p:cTn id="116" dur="166" decel="50000">
                                          <p:stCondLst>
                                            <p:cond delay="1834"/>
                                          </p:stCondLst>
                                        </p:cTn>
                                        <p:tgtEl>
                                          <p:spTgt spid="16">
                                            <p:txEl>
                                              <p:pRg st="8" end="8"/>
                                            </p:txEl>
                                          </p:spTgt>
                                        </p:tgtEl>
                                      </p:cBhvr>
                                      <p:to x="100000" y="100000"/>
                                    </p:animScale>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0">
                                            <p:txEl>
                                              <p:pRg st="0" end="0"/>
                                            </p:txEl>
                                          </p:spTgt>
                                        </p:tgtEl>
                                        <p:attrNameLst>
                                          <p:attrName>style.visibility</p:attrName>
                                        </p:attrNameLst>
                                      </p:cBhvr>
                                      <p:to>
                                        <p:strVal val="visible"/>
                                      </p:to>
                                    </p:set>
                                    <p:anim calcmode="lin" valueType="num">
                                      <p:cBhvr additive="base">
                                        <p:cTn id="121"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20">
                                            <p:txEl>
                                              <p:pRg st="1" end="1"/>
                                            </p:txEl>
                                          </p:spTgt>
                                        </p:tgtEl>
                                        <p:attrNameLst>
                                          <p:attrName>style.visibility</p:attrName>
                                        </p:attrNameLst>
                                      </p:cBhvr>
                                      <p:to>
                                        <p:strVal val="visible"/>
                                      </p:to>
                                    </p:set>
                                    <p:anim calcmode="lin" valueType="num">
                                      <p:cBhvr additive="base">
                                        <p:cTn id="127"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20">
                                            <p:txEl>
                                              <p:pRg st="2" end="2"/>
                                            </p:txEl>
                                          </p:spTgt>
                                        </p:tgtEl>
                                        <p:attrNameLst>
                                          <p:attrName>style.visibility</p:attrName>
                                        </p:attrNameLst>
                                      </p:cBhvr>
                                      <p:to>
                                        <p:strVal val="visible"/>
                                      </p:to>
                                    </p:set>
                                    <p:anim calcmode="lin" valueType="num">
                                      <p:cBhvr additive="base">
                                        <p:cTn id="133"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21">
                                            <p:txEl>
                                              <p:pRg st="0" end="0"/>
                                            </p:txEl>
                                          </p:spTgt>
                                        </p:tgtEl>
                                        <p:attrNameLst>
                                          <p:attrName>style.visibility</p:attrName>
                                        </p:attrNameLst>
                                      </p:cBhvr>
                                      <p:to>
                                        <p:strVal val="visible"/>
                                      </p:to>
                                    </p:set>
                                    <p:anim calcmode="lin" valueType="num">
                                      <p:cBhvr additive="base">
                                        <p:cTn id="139"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10</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Muller — a worked example  (muller_demo.asm)</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54480"/>
            <a:ext cx="10360152" cy="365760"/>
          </a:xfrm>
          <a:prstGeom prst="rect">
            <a:avLst/>
          </a:prstGeom>
          <a:noFill/>
          <a:ln/>
        </p:spPr>
        <p:txBody>
          <a:bodyPr wrap="square" lIns="0" tIns="0" rIns="0" bIns="0" rtlCol="0" anchor="ctr"/>
          <a:lstStyle/>
          <a:p>
            <a:pPr marL="0" indent="0">
              <a:buNone/>
            </a:pPr>
            <a:r>
              <a:rPr lang="en-US" sz="1450" dirty="0">
                <a:solidFill>
                  <a:srgbClr val="2B2722"/>
                </a:solidFill>
                <a:latin typeface="Cambria" pitchFamily="34" charset="0"/>
                <a:ea typeface="Cambria" pitchFamily="34" charset="-122"/>
                <a:cs typeface="Cambria" pitchFamily="34" charset="-120"/>
              </a:rPr>
              <a:t>On  </a:t>
            </a:r>
            <a:r>
              <a:rPr lang="en-US" sz="1450" b="1" dirty="0">
                <a:solidFill>
                  <a:srgbClr val="586127"/>
                </a:solidFill>
                <a:latin typeface="Consolas" pitchFamily="34" charset="0"/>
                <a:ea typeface="Consolas" pitchFamily="34" charset="-122"/>
                <a:cs typeface="Consolas" pitchFamily="34" charset="-120"/>
              </a:rPr>
              <a:t>T3(x) = 4x³ − 3x</a:t>
            </a:r>
            <a:r>
              <a:rPr lang="en-US" sz="1450" dirty="0">
                <a:solidFill>
                  <a:srgbClr val="2B2722"/>
                </a:solidFill>
                <a:latin typeface="Cambria" pitchFamily="34" charset="0"/>
                <a:ea typeface="Cambria" pitchFamily="34" charset="-122"/>
                <a:cs typeface="Cambria" pitchFamily="34" charset="-120"/>
              </a:rPr>
              <a:t>  from the real triple  </a:t>
            </a:r>
            <a:r>
              <a:rPr lang="en-US" sz="1450" dirty="0">
                <a:solidFill>
                  <a:srgbClr val="586127"/>
                </a:solidFill>
                <a:latin typeface="Consolas" pitchFamily="34" charset="0"/>
                <a:ea typeface="Consolas" pitchFamily="34" charset="-122"/>
                <a:cs typeface="Consolas" pitchFamily="34" charset="-120"/>
              </a:rPr>
              <a:t>{0.5, 0.7, 0.9}</a:t>
            </a:r>
            <a:r>
              <a:rPr lang="en-US" sz="1450" dirty="0">
                <a:solidFill>
                  <a:srgbClr val="2B2722"/>
                </a:solidFill>
                <a:latin typeface="Cambria" pitchFamily="34" charset="0"/>
                <a:ea typeface="Cambria" pitchFamily="34" charset="-122"/>
                <a:cs typeface="Cambria" pitchFamily="34" charset="-120"/>
              </a:rPr>
              <a:t>  → converges to  cos(π/6):</a:t>
            </a:r>
            <a:endParaRPr lang="en-US" sz="1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2011680"/>
          <a:ext cx="5989320" cy="2103120"/>
        </p:xfrm>
        <a:graphic>
          <a:graphicData uri="http://schemas.openxmlformats.org/drawingml/2006/table">
            <a:tbl>
              <a:tblPr/>
              <a:tblGrid>
                <a:gridCol w="777240"/>
                <a:gridCol w="2697480"/>
                <a:gridCol w="1417320"/>
                <a:gridCol w="1097280"/>
              </a:tblGrid>
              <a:tr h="420624">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iter</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xₖ  (computed)</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 f(xₖ) |</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digits</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420624">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0.864605762981462</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A8451F"/>
                          </a:solidFill>
                          <a:latin typeface="Consolas" pitchFamily="34" charset="0"/>
                          <a:ea typeface="Consolas" pitchFamily="34" charset="-122"/>
                          <a:cs typeface="Consolas" pitchFamily="34" charset="-120"/>
                        </a:rPr>
                        <a:t>8.50e−03</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~2</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20624">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2</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0.866020084614685</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A8451F"/>
                          </a:solidFill>
                          <a:latin typeface="Consolas" pitchFamily="34" charset="0"/>
                          <a:ea typeface="Consolas" pitchFamily="34" charset="-122"/>
                          <a:cs typeface="Consolas" pitchFamily="34" charset="-120"/>
                        </a:rPr>
                        <a:t>3.19e−05</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~4</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420624">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3</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0.866025403613409</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A8451F"/>
                          </a:solidFill>
                          <a:latin typeface="Consolas" pitchFamily="34" charset="0"/>
                          <a:ea typeface="Consolas" pitchFamily="34" charset="-122"/>
                          <a:cs typeface="Consolas" pitchFamily="34" charset="-120"/>
                        </a:rPr>
                        <a:t>1.03e−09</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~9</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20624">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4</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0.866025403784439</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A8451F"/>
                          </a:solidFill>
                          <a:latin typeface="Consolas" pitchFamily="34" charset="0"/>
                          <a:ea typeface="Consolas" pitchFamily="34" charset="-122"/>
                          <a:cs typeface="Consolas" pitchFamily="34" charset="-120"/>
                        </a:rPr>
                        <a:t>3.85e−16</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onsolas" pitchFamily="34" charset="0"/>
                          <a:ea typeface="Consolas" pitchFamily="34" charset="-122"/>
                          <a:cs typeface="Consolas" pitchFamily="34" charset="-120"/>
                        </a:rPr>
                        <a:t>~16</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6" name="Text 13"/>
          <p:cNvSpPr/>
          <p:nvPr/>
        </p:nvSpPr>
        <p:spPr>
          <a:xfrm>
            <a:off x="914400" y="4617720"/>
            <a:ext cx="6400800" cy="320040"/>
          </a:xfrm>
          <a:prstGeom prst="rect">
            <a:avLst/>
          </a:prstGeom>
          <a:noFill/>
          <a:ln/>
        </p:spPr>
        <p:txBody>
          <a:bodyPr wrap="square" lIns="0" tIns="0" rIns="0" bIns="0" rtlCol="0" anchor="ctr"/>
          <a:lstStyle/>
          <a:p>
            <a:pPr marL="0" indent="0">
              <a:buNone/>
            </a:pPr>
            <a:r>
              <a:rPr lang="en-US" sz="1250" dirty="0">
                <a:solidFill>
                  <a:srgbClr val="586127"/>
                </a:solidFill>
                <a:latin typeface="Consolas" pitchFamily="34" charset="0"/>
                <a:ea typeface="Consolas" pitchFamily="34" charset="-122"/>
                <a:cs typeface="Consolas" pitchFamily="34" charset="-120"/>
              </a:rPr>
              <a:t>exact  cos(π/6) = 0.8660254037844386</a:t>
            </a:r>
            <a:endParaRPr lang="en-US" sz="1250" dirty="0"/>
          </a:p>
        </p:txBody>
      </p:sp>
      <p:sp>
        <p:nvSpPr>
          <p:cNvPr id="17" name="Shape 14"/>
          <p:cNvSpPr/>
          <p:nvPr/>
        </p:nvSpPr>
        <p:spPr>
          <a:xfrm>
            <a:off x="7178040" y="2011680"/>
            <a:ext cx="4160520" cy="32461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8" name="Shape 15"/>
          <p:cNvSpPr/>
          <p:nvPr/>
        </p:nvSpPr>
        <p:spPr>
          <a:xfrm>
            <a:off x="7178040" y="2011680"/>
            <a:ext cx="91440" cy="3246120"/>
          </a:xfrm>
          <a:prstGeom prst="rect">
            <a:avLst/>
          </a:prstGeom>
          <a:solidFill>
            <a:srgbClr val="7F8A3A"/>
          </a:solidFill>
          <a:ln/>
        </p:spPr>
      </p:sp>
      <p:sp>
        <p:nvSpPr>
          <p:cNvPr id="19" name="Text 16"/>
          <p:cNvSpPr/>
          <p:nvPr/>
        </p:nvSpPr>
        <p:spPr>
          <a:xfrm>
            <a:off x="7434072" y="2139696"/>
            <a:ext cx="370332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Watch the residual</a:t>
            </a:r>
            <a:endParaRPr lang="en-US" sz="1550" dirty="0"/>
          </a:p>
        </p:txBody>
      </p:sp>
      <p:sp>
        <p:nvSpPr>
          <p:cNvPr id="20" name="Text 17"/>
          <p:cNvSpPr/>
          <p:nvPr/>
        </p:nvSpPr>
        <p:spPr>
          <a:xfrm>
            <a:off x="7452360" y="2578608"/>
            <a:ext cx="3657600" cy="2532888"/>
          </a:xfrm>
          <a:prstGeom prst="rect">
            <a:avLst/>
          </a:prstGeom>
          <a:noFill/>
          <a:ln/>
        </p:spPr>
        <p:txBody>
          <a:bodyPr wrap="square" lIns="0" tIns="0" rIns="0" bIns="0" rtlCol="0" anchor="t"/>
          <a:lstStyle/>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|f| falls 8.5e−3 → 3.2e−5 → 1e−9 → 4e−16.</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Correct digits roughly multiply by ~1.8 each step — the hallmark of order-1.84 convergence.</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Four steps reach the double-precision floor (≈1e−16).</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The imaginary part stays 0 here: real start, real root.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anim calcmode="lin" valueType="num">
                                      <p:cBhvr additive="base">
                                        <p:cTn id="1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
                                            <p:txEl>
                                              <p:pRg st="1" end="1"/>
                                            </p:txEl>
                                          </p:spTgt>
                                        </p:tgtEl>
                                        <p:attrNameLst>
                                          <p:attrName>style.visibility</p:attrName>
                                        </p:attrNameLst>
                                      </p:cBhvr>
                                      <p:to>
                                        <p:strVal val="visible"/>
                                      </p:to>
                                    </p:set>
                                    <p:anim calcmode="lin" valueType="num">
                                      <p:cBhvr additive="base">
                                        <p:cTn id="25"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
                                            <p:txEl>
                                              <p:pRg st="2" end="2"/>
                                            </p:txEl>
                                          </p:spTgt>
                                        </p:tgtEl>
                                        <p:attrNameLst>
                                          <p:attrName>style.visibility</p:attrName>
                                        </p:attrNameLst>
                                      </p:cBhvr>
                                      <p:to>
                                        <p:strVal val="visible"/>
                                      </p:to>
                                    </p:set>
                                    <p:anim calcmode="lin" valueType="num">
                                      <p:cBhvr additive="base">
                                        <p:cTn id="31"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
                                            <p:txEl>
                                              <p:pRg st="3" end="3"/>
                                            </p:txEl>
                                          </p:spTgt>
                                        </p:tgtEl>
                                        <p:attrNameLst>
                                          <p:attrName>style.visibility</p:attrName>
                                        </p:attrNameLst>
                                      </p:cBhvr>
                                      <p:to>
                                        <p:strVal val="visible"/>
                                      </p:to>
                                    </p:set>
                                    <p:anim calcmode="lin" valueType="num">
                                      <p:cBhvr additive="base">
                                        <p:cTn id="37"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11</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Code — one Muller step, on the x87 stack</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54480"/>
            <a:ext cx="5440680" cy="420624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554480"/>
            <a:ext cx="82296" cy="4206240"/>
          </a:xfrm>
          <a:prstGeom prst="rect">
            <a:avLst/>
          </a:prstGeom>
          <a:solidFill>
            <a:srgbClr val="7F8A3A"/>
          </a:solidFill>
          <a:ln/>
        </p:spPr>
      </p:sp>
      <p:sp>
        <p:nvSpPr>
          <p:cNvPr id="16" name="Text 14"/>
          <p:cNvSpPr/>
          <p:nvPr/>
        </p:nvSpPr>
        <p:spPr>
          <a:xfrm>
            <a:off x="1115568" y="1645920"/>
            <a:ext cx="5111496" cy="4023360"/>
          </a:xfrm>
          <a:prstGeom prst="rect">
            <a:avLst/>
          </a:prstGeom>
          <a:noFill/>
          <a:ln/>
        </p:spPr>
        <p:txBody>
          <a:bodyPr wrap="square" lIns="0" tIns="0" rIns="0" bIns="0" rtlCol="0" anchor="t"/>
          <a:lstStyle/>
          <a:p>
            <a:pPr marL="0" indent="0">
              <a:lnSpc>
                <a:spcPct val="104000"/>
              </a:lnSpc>
              <a:buNone/>
            </a:pPr>
            <a:r>
              <a:rPr lang="en-US" sz="1050" dirty="0">
                <a:solidFill>
                  <a:srgbClr val="586127"/>
                </a:solidFill>
                <a:latin typeface="Consolas" pitchFamily="34" charset="0"/>
                <a:ea typeface="Consolas" pitchFamily="34" charset="-122"/>
                <a:cs typeface="Consolas" pitchFamily="34" charset="-120"/>
              </a:rPr>
              <a:t>;; helpers: rdi=dst, rsi=a, rdx=b</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rdi,[mh0]            ; h0 = x1 - x0</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rsi,[mx1]</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rdx,[mx0]</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call csub</a:t>
            </a:r>
            <a:endParaRPr lang="en-US" sz="1050" dirty="0"/>
          </a:p>
          <a:p>
            <a:pPr marL="0" indent="0">
              <a:lnSpc>
                <a:spcPct val="104000"/>
              </a:lnSpc>
              <a:buNone/>
            </a:pPr>
            <a:r>
              <a:rPr lang="en-US" sz="1050" dirty="0">
                <a:solidFill>
                  <a:srgbClr val="586127"/>
                </a:solidFill>
                <a:latin typeface="Consolas" pitchFamily="34" charset="0"/>
                <a:ea typeface="Consolas" pitchFamily="34" charset="-122"/>
                <a:cs typeface="Consolas" pitchFamily="34" charset="-120"/>
              </a:rPr>
              <a:t>; ... h1,d0,d1,A,B,disc,den same way ...</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rdi,[mq]             ; q = 2C / den</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rsi,[mnum]</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rdx,[mden]</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call cdiv</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rdi,[mx3]            ; x3 = x2 - q</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rsi,[mx2]</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rdx,[mq]</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call csub</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rdi,[mf3]            ; f3 = P(x3)</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lea rsi,[mx3]</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call ceval</a:t>
            </a:r>
            <a:endParaRPr lang="en-US" sz="1050" dirty="0"/>
          </a:p>
        </p:txBody>
      </p:sp>
      <p:sp>
        <p:nvSpPr>
          <p:cNvPr id="17" name="Shape 15"/>
          <p:cNvSpPr/>
          <p:nvPr/>
        </p:nvSpPr>
        <p:spPr>
          <a:xfrm>
            <a:off x="6172200" y="1554480"/>
            <a:ext cx="5166360" cy="420624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6172200" y="1554480"/>
            <a:ext cx="82296" cy="4206240"/>
          </a:xfrm>
          <a:prstGeom prst="rect">
            <a:avLst/>
          </a:prstGeom>
          <a:solidFill>
            <a:srgbClr val="7F8A3A"/>
          </a:solidFill>
          <a:ln/>
        </p:spPr>
      </p:sp>
      <p:sp>
        <p:nvSpPr>
          <p:cNvPr id="19" name="Text 17"/>
          <p:cNvSpPr/>
          <p:nvPr/>
        </p:nvSpPr>
        <p:spPr>
          <a:xfrm>
            <a:off x="6373368" y="1645920"/>
            <a:ext cx="4837176" cy="4023360"/>
          </a:xfrm>
          <a:prstGeom prst="rect">
            <a:avLst/>
          </a:prstGeom>
          <a:noFill/>
          <a:ln/>
        </p:spPr>
        <p:txBody>
          <a:bodyPr wrap="square" lIns="0" tIns="0" rIns="0" bIns="0" rtlCol="0" anchor="t"/>
          <a:lstStyle/>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cmul:        ; (ar,ai)*(br,bi)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fld  qword [rsi]    ; ar</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fmul qword [rdx]    ; ar*br</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fld  qword [rsi+8]  ; ai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fmul qword [rdx+8]  ; ai*bi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fsubp st1,st0       ; re</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fld  qword [rsi]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fmul qword [rdx+8]  ; ar*bi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fld  qword [rsi+8]</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fmul qword [rdx]    ; ai*br</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faddp st1,st0       ; im</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fstp qword [rdi+8]</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fstp qword [rdi]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  ret</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 calcmode="lin" valueType="num">
                                      <p:cBhvr additive="base">
                                        <p:cTn id="35"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8" end="8"/>
                                            </p:txEl>
                                          </p:spTgt>
                                        </p:tgtEl>
                                        <p:attrNameLst>
                                          <p:attrName>style.visibility</p:attrName>
                                        </p:attrNameLst>
                                      </p:cBhvr>
                                      <p:to>
                                        <p:strVal val="visible"/>
                                      </p:to>
                                    </p:set>
                                    <p:anim calcmode="lin" valueType="num">
                                      <p:cBhvr additive="base">
                                        <p:cTn id="39"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 calcmode="lin" valueType="num">
                                      <p:cBhvr additive="base">
                                        <p:cTn id="43"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
                                            <p:txEl>
                                              <p:pRg st="10" end="10"/>
                                            </p:txEl>
                                          </p:spTgt>
                                        </p:tgtEl>
                                        <p:attrNameLst>
                                          <p:attrName>style.visibility</p:attrName>
                                        </p:attrNameLst>
                                      </p:cBhvr>
                                      <p:to>
                                        <p:strVal val="visible"/>
                                      </p:to>
                                    </p:set>
                                    <p:anim calcmode="lin" valueType="num">
                                      <p:cBhvr additive="base">
                                        <p:cTn id="47"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6">
                                            <p:txEl>
                                              <p:pRg st="11" end="11"/>
                                            </p:txEl>
                                          </p:spTgt>
                                        </p:tgtEl>
                                        <p:attrNameLst>
                                          <p:attrName>style.visibility</p:attrName>
                                        </p:attrNameLst>
                                      </p:cBhvr>
                                      <p:to>
                                        <p:strVal val="visible"/>
                                      </p:to>
                                    </p:set>
                                    <p:anim calcmode="lin" valueType="num">
                                      <p:cBhvr additive="base">
                                        <p:cTn id="51"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6">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 calcmode="lin" valueType="num">
                                      <p:cBhvr additive="base">
                                        <p:cTn id="55"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6">
                                            <p:txEl>
                                              <p:pRg st="12" end="12"/>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
                                            <p:txEl>
                                              <p:pRg st="13" end="13"/>
                                            </p:txEl>
                                          </p:spTgt>
                                        </p:tgtEl>
                                        <p:attrNameLst>
                                          <p:attrName>style.visibility</p:attrName>
                                        </p:attrNameLst>
                                      </p:cBhvr>
                                      <p:to>
                                        <p:strVal val="visible"/>
                                      </p:to>
                                    </p:set>
                                    <p:anim calcmode="lin" valueType="num">
                                      <p:cBhvr additive="base">
                                        <p:cTn id="59" dur="500" fill="hold"/>
                                        <p:tgtEl>
                                          <p:spTgt spid="16">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
                                            <p:txEl>
                                              <p:pRg st="13" end="13"/>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6">
                                            <p:txEl>
                                              <p:pRg st="14" end="14"/>
                                            </p:txEl>
                                          </p:spTgt>
                                        </p:tgtEl>
                                        <p:attrNameLst>
                                          <p:attrName>style.visibility</p:attrName>
                                        </p:attrNameLst>
                                      </p:cBhvr>
                                      <p:to>
                                        <p:strVal val="visible"/>
                                      </p:to>
                                    </p:set>
                                    <p:anim calcmode="lin" valueType="num">
                                      <p:cBhvr additive="base">
                                        <p:cTn id="63" dur="500" fill="hold"/>
                                        <p:tgtEl>
                                          <p:spTgt spid="16">
                                            <p:txEl>
                                              <p:pRg st="14" end="1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6">
                                            <p:txEl>
                                              <p:pRg st="14" end="14"/>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6">
                                            <p:txEl>
                                              <p:pRg st="15" end="15"/>
                                            </p:txEl>
                                          </p:spTgt>
                                        </p:tgtEl>
                                        <p:attrNameLst>
                                          <p:attrName>style.visibility</p:attrName>
                                        </p:attrNameLst>
                                      </p:cBhvr>
                                      <p:to>
                                        <p:strVal val="visible"/>
                                      </p:to>
                                    </p:set>
                                    <p:anim calcmode="lin" valueType="num">
                                      <p:cBhvr additive="base">
                                        <p:cTn id="67" dur="500" fill="hold"/>
                                        <p:tgtEl>
                                          <p:spTgt spid="16">
                                            <p:txEl>
                                              <p:pRg st="15" end="1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6">
                                            <p:txEl>
                                              <p:pRg st="15" end="15"/>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6">
                                            <p:txEl>
                                              <p:pRg st="16" end="16"/>
                                            </p:txEl>
                                          </p:spTgt>
                                        </p:tgtEl>
                                        <p:attrNameLst>
                                          <p:attrName>style.visibility</p:attrName>
                                        </p:attrNameLst>
                                      </p:cBhvr>
                                      <p:to>
                                        <p:strVal val="visible"/>
                                      </p:to>
                                    </p:set>
                                    <p:anim calcmode="lin" valueType="num">
                                      <p:cBhvr additive="base">
                                        <p:cTn id="71" dur="500" fill="hold"/>
                                        <p:tgtEl>
                                          <p:spTgt spid="16">
                                            <p:txEl>
                                              <p:pRg st="16" end="1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6">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9">
                                            <p:txEl>
                                              <p:pRg st="0" end="0"/>
                                            </p:txEl>
                                          </p:spTgt>
                                        </p:tgtEl>
                                        <p:attrNameLst>
                                          <p:attrName>style.visibility</p:attrName>
                                        </p:attrNameLst>
                                      </p:cBhvr>
                                      <p:to>
                                        <p:strVal val="visible"/>
                                      </p:to>
                                    </p:set>
                                    <p:anim calcmode="lin" valueType="num">
                                      <p:cBhvr additive="base">
                                        <p:cTn id="7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9">
                                            <p:txEl>
                                              <p:pRg st="1" end="1"/>
                                            </p:txEl>
                                          </p:spTgt>
                                        </p:tgtEl>
                                        <p:attrNameLst>
                                          <p:attrName>style.visibility</p:attrName>
                                        </p:attrNameLst>
                                      </p:cBhvr>
                                      <p:to>
                                        <p:strVal val="visible"/>
                                      </p:to>
                                    </p:set>
                                    <p:anim calcmode="lin" valueType="num">
                                      <p:cBhvr additive="base">
                                        <p:cTn id="81"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9">
                                            <p:txEl>
                                              <p:pRg st="1" end="1"/>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9">
                                            <p:txEl>
                                              <p:pRg st="2" end="2"/>
                                            </p:txEl>
                                          </p:spTgt>
                                        </p:tgtEl>
                                        <p:attrNameLst>
                                          <p:attrName>style.visibility</p:attrName>
                                        </p:attrNameLst>
                                      </p:cBhvr>
                                      <p:to>
                                        <p:strVal val="visible"/>
                                      </p:to>
                                    </p:set>
                                    <p:anim calcmode="lin" valueType="num">
                                      <p:cBhvr additive="base">
                                        <p:cTn id="85"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9">
                                            <p:txEl>
                                              <p:pRg st="2" end="2"/>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9">
                                            <p:txEl>
                                              <p:pRg st="3" end="3"/>
                                            </p:txEl>
                                          </p:spTgt>
                                        </p:tgtEl>
                                        <p:attrNameLst>
                                          <p:attrName>style.visibility</p:attrName>
                                        </p:attrNameLst>
                                      </p:cBhvr>
                                      <p:to>
                                        <p:strVal val="visible"/>
                                      </p:to>
                                    </p:set>
                                    <p:anim calcmode="lin" valueType="num">
                                      <p:cBhvr additive="base">
                                        <p:cTn id="89"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9">
                                            <p:txEl>
                                              <p:pRg st="3" end="3"/>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9">
                                            <p:txEl>
                                              <p:pRg st="4" end="4"/>
                                            </p:txEl>
                                          </p:spTgt>
                                        </p:tgtEl>
                                        <p:attrNameLst>
                                          <p:attrName>style.visibility</p:attrName>
                                        </p:attrNameLst>
                                      </p:cBhvr>
                                      <p:to>
                                        <p:strVal val="visible"/>
                                      </p:to>
                                    </p:set>
                                    <p:anim calcmode="lin" valueType="num">
                                      <p:cBhvr additive="base">
                                        <p:cTn id="93"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9">
                                            <p:txEl>
                                              <p:pRg st="4" end="4"/>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9">
                                            <p:txEl>
                                              <p:pRg st="5" end="5"/>
                                            </p:txEl>
                                          </p:spTgt>
                                        </p:tgtEl>
                                        <p:attrNameLst>
                                          <p:attrName>style.visibility</p:attrName>
                                        </p:attrNameLst>
                                      </p:cBhvr>
                                      <p:to>
                                        <p:strVal val="visible"/>
                                      </p:to>
                                    </p:set>
                                    <p:anim calcmode="lin" valueType="num">
                                      <p:cBhvr additive="base">
                                        <p:cTn id="97"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9">
                                            <p:txEl>
                                              <p:pRg st="5" end="5"/>
                                            </p:txEl>
                                          </p:spTgt>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9">
                                            <p:txEl>
                                              <p:pRg st="6" end="6"/>
                                            </p:txEl>
                                          </p:spTgt>
                                        </p:tgtEl>
                                        <p:attrNameLst>
                                          <p:attrName>style.visibility</p:attrName>
                                        </p:attrNameLst>
                                      </p:cBhvr>
                                      <p:to>
                                        <p:strVal val="visible"/>
                                      </p:to>
                                    </p:set>
                                    <p:anim calcmode="lin" valueType="num">
                                      <p:cBhvr additive="base">
                                        <p:cTn id="101"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9">
                                            <p:txEl>
                                              <p:pRg st="6" end="6"/>
                                            </p:txEl>
                                          </p:spTgt>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9">
                                            <p:txEl>
                                              <p:pRg st="7" end="7"/>
                                            </p:txEl>
                                          </p:spTgt>
                                        </p:tgtEl>
                                        <p:attrNameLst>
                                          <p:attrName>style.visibility</p:attrName>
                                        </p:attrNameLst>
                                      </p:cBhvr>
                                      <p:to>
                                        <p:strVal val="visible"/>
                                      </p:to>
                                    </p:set>
                                    <p:anim calcmode="lin" valueType="num">
                                      <p:cBhvr additive="base">
                                        <p:cTn id="105" dur="500" fill="hold"/>
                                        <p:tgtEl>
                                          <p:spTgt spid="19">
                                            <p:txEl>
                                              <p:pRg st="7" end="7"/>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9">
                                            <p:txEl>
                                              <p:pRg st="7" end="7"/>
                                            </p:txEl>
                                          </p:spTgt>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19">
                                            <p:txEl>
                                              <p:pRg st="8" end="8"/>
                                            </p:txEl>
                                          </p:spTgt>
                                        </p:tgtEl>
                                        <p:attrNameLst>
                                          <p:attrName>style.visibility</p:attrName>
                                        </p:attrNameLst>
                                      </p:cBhvr>
                                      <p:to>
                                        <p:strVal val="visible"/>
                                      </p:to>
                                    </p:set>
                                    <p:anim calcmode="lin" valueType="num">
                                      <p:cBhvr additive="base">
                                        <p:cTn id="109" dur="500" fill="hold"/>
                                        <p:tgtEl>
                                          <p:spTgt spid="19">
                                            <p:txEl>
                                              <p:pRg st="8" end="8"/>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9">
                                            <p:txEl>
                                              <p:pRg st="8" end="8"/>
                                            </p:txEl>
                                          </p:spTgt>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19">
                                            <p:txEl>
                                              <p:pRg st="9" end="9"/>
                                            </p:txEl>
                                          </p:spTgt>
                                        </p:tgtEl>
                                        <p:attrNameLst>
                                          <p:attrName>style.visibility</p:attrName>
                                        </p:attrNameLst>
                                      </p:cBhvr>
                                      <p:to>
                                        <p:strVal val="visible"/>
                                      </p:to>
                                    </p:set>
                                    <p:anim calcmode="lin" valueType="num">
                                      <p:cBhvr additive="base">
                                        <p:cTn id="113" dur="500" fill="hold"/>
                                        <p:tgtEl>
                                          <p:spTgt spid="19">
                                            <p:txEl>
                                              <p:pRg st="9" end="9"/>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19">
                                            <p:txEl>
                                              <p:pRg st="9" end="9"/>
                                            </p:txEl>
                                          </p:spTgt>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9">
                                            <p:txEl>
                                              <p:pRg st="10" end="10"/>
                                            </p:txEl>
                                          </p:spTgt>
                                        </p:tgtEl>
                                        <p:attrNameLst>
                                          <p:attrName>style.visibility</p:attrName>
                                        </p:attrNameLst>
                                      </p:cBhvr>
                                      <p:to>
                                        <p:strVal val="visible"/>
                                      </p:to>
                                    </p:set>
                                    <p:anim calcmode="lin" valueType="num">
                                      <p:cBhvr additive="base">
                                        <p:cTn id="117" dur="500" fill="hold"/>
                                        <p:tgtEl>
                                          <p:spTgt spid="19">
                                            <p:txEl>
                                              <p:pRg st="10" end="1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19">
                                            <p:txEl>
                                              <p:pRg st="10" end="10"/>
                                            </p:txEl>
                                          </p:spTgt>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9">
                                            <p:txEl>
                                              <p:pRg st="11" end="11"/>
                                            </p:txEl>
                                          </p:spTgt>
                                        </p:tgtEl>
                                        <p:attrNameLst>
                                          <p:attrName>style.visibility</p:attrName>
                                        </p:attrNameLst>
                                      </p:cBhvr>
                                      <p:to>
                                        <p:strVal val="visible"/>
                                      </p:to>
                                    </p:set>
                                    <p:anim calcmode="lin" valueType="num">
                                      <p:cBhvr additive="base">
                                        <p:cTn id="121" dur="500" fill="hold"/>
                                        <p:tgtEl>
                                          <p:spTgt spid="19">
                                            <p:txEl>
                                              <p:pRg st="11" end="11"/>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9">
                                            <p:txEl>
                                              <p:pRg st="11" end="11"/>
                                            </p:txEl>
                                          </p:spTgt>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9">
                                            <p:txEl>
                                              <p:pRg st="12" end="12"/>
                                            </p:txEl>
                                          </p:spTgt>
                                        </p:tgtEl>
                                        <p:attrNameLst>
                                          <p:attrName>style.visibility</p:attrName>
                                        </p:attrNameLst>
                                      </p:cBhvr>
                                      <p:to>
                                        <p:strVal val="visible"/>
                                      </p:to>
                                    </p:set>
                                    <p:anim calcmode="lin" valueType="num">
                                      <p:cBhvr additive="base">
                                        <p:cTn id="125" dur="500" fill="hold"/>
                                        <p:tgtEl>
                                          <p:spTgt spid="19">
                                            <p:txEl>
                                              <p:pRg st="12" end="12"/>
                                            </p:txEl>
                                          </p:spTgt>
                                        </p:tgtEl>
                                        <p:attrNameLst>
                                          <p:attrName>ppt_x</p:attrName>
                                        </p:attrNameLst>
                                      </p:cBhvr>
                                      <p:tavLst>
                                        <p:tav tm="0">
                                          <p:val>
                                            <p:strVal val="#ppt_x"/>
                                          </p:val>
                                        </p:tav>
                                        <p:tav tm="100000">
                                          <p:val>
                                            <p:strVal val="#ppt_x"/>
                                          </p:val>
                                        </p:tav>
                                      </p:tavLst>
                                    </p:anim>
                                    <p:anim calcmode="lin" valueType="num">
                                      <p:cBhvr additive="base">
                                        <p:cTn id="126" dur="500" fill="hold"/>
                                        <p:tgtEl>
                                          <p:spTgt spid="19">
                                            <p:txEl>
                                              <p:pRg st="12" end="12"/>
                                            </p:txEl>
                                          </p:spTgt>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19">
                                            <p:txEl>
                                              <p:pRg st="13" end="13"/>
                                            </p:txEl>
                                          </p:spTgt>
                                        </p:tgtEl>
                                        <p:attrNameLst>
                                          <p:attrName>style.visibility</p:attrName>
                                        </p:attrNameLst>
                                      </p:cBhvr>
                                      <p:to>
                                        <p:strVal val="visible"/>
                                      </p:to>
                                    </p:set>
                                    <p:anim calcmode="lin" valueType="num">
                                      <p:cBhvr additive="base">
                                        <p:cTn id="129" dur="500" fill="hold"/>
                                        <p:tgtEl>
                                          <p:spTgt spid="19">
                                            <p:txEl>
                                              <p:pRg st="13" end="13"/>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1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12</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The Muller working set — what each cell holds</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463040"/>
            <a:ext cx="10360152" cy="365760"/>
          </a:xfrm>
          <a:prstGeom prst="rect">
            <a:avLst/>
          </a:prstGeom>
          <a:noFill/>
          <a:ln/>
        </p:spPr>
        <p:txBody>
          <a:bodyPr wrap="square" lIns="0" tIns="0" rIns="0" bIns="0" rtlCol="0" anchor="ctr"/>
          <a:lstStyle/>
          <a:p>
            <a:pPr marL="0" indent="0">
              <a:buNone/>
            </a:pPr>
            <a:r>
              <a:rPr lang="en-US" sz="1300" i="1" dirty="0">
                <a:solidFill>
                  <a:srgbClr val="6E6453"/>
                </a:solidFill>
                <a:latin typeface="Cambria" pitchFamily="34" charset="0"/>
                <a:ea typeface="Cambria" pitchFamily="34" charset="-122"/>
                <a:cs typeface="Cambria" pitchFamily="34" charset="-120"/>
              </a:rPr>
              <a:t>Every name below is a complex number: two doubles in .bss (real at +0, imag at +8).</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1965960"/>
          <a:ext cx="6492240" cy="4023360"/>
        </p:xfrm>
        <a:graphic>
          <a:graphicData uri="http://schemas.openxmlformats.org/drawingml/2006/table">
            <a:tbl>
              <a:tblPr/>
              <a:tblGrid>
                <a:gridCol w="1828800"/>
                <a:gridCol w="4663440"/>
              </a:tblGrid>
              <a:tr h="365760">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cell</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holds / duty</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mx0, mx1, mx2</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the 3 current approximations — the sliding window</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mx3</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the new approximation computed this step</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mf0 .. mf3</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the values f(x0) .. f(x3)</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mh0, mh1</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spacings:  mh0 = x1 − x0,  mh1 = x2 − x1</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md0, md1</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divided differences (slopes) (f1−f0)/h0, (f2−f1)/h1</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mA, mB, mC</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local quadratic: curvature, slope @ x2, value @ x2</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mdsc</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the discriminant  √(B² − 4AC)</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mbp, mbm</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candidate denominators  B + dsc ,  B − dsc</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mden / mnum</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chosen denominator (larger |·|)  /  numerator 2C</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buNone/>
                      </a:pPr>
                      <a:r>
                        <a:rPr lang="en-US" sz="1200" dirty="0">
                          <a:solidFill>
                            <a:srgbClr val="2B2722"/>
                          </a:solidFill>
                          <a:latin typeface="Consolas" pitchFamily="34" charset="0"/>
                          <a:ea typeface="Consolas" pitchFamily="34" charset="-122"/>
                          <a:cs typeface="Consolas" pitchFamily="34" charset="-120"/>
                        </a:rPr>
                        <a:t>mq</a:t>
                      </a:r>
                      <a:endParaRPr lang="en-US" sz="12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200" dirty="0">
                          <a:solidFill>
                            <a:srgbClr val="2B2722"/>
                          </a:solidFill>
                          <a:latin typeface="Cambria" pitchFamily="34" charset="0"/>
                          <a:ea typeface="Cambria" pitchFamily="34" charset="-122"/>
                          <a:cs typeface="Cambria" pitchFamily="34" charset="-120"/>
                        </a:rPr>
                        <a:t>the step:  mq = 2C / den   →   x3 = x2 − mq</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6" name="Shape 13"/>
          <p:cNvSpPr/>
          <p:nvPr/>
        </p:nvSpPr>
        <p:spPr>
          <a:xfrm>
            <a:off x="7178040" y="1965960"/>
            <a:ext cx="4160520" cy="365760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7" name="Shape 14"/>
          <p:cNvSpPr/>
          <p:nvPr/>
        </p:nvSpPr>
        <p:spPr>
          <a:xfrm>
            <a:off x="7178040" y="1965960"/>
            <a:ext cx="91440" cy="3657600"/>
          </a:xfrm>
          <a:prstGeom prst="rect">
            <a:avLst/>
          </a:prstGeom>
          <a:solidFill>
            <a:srgbClr val="7F8A3A"/>
          </a:solidFill>
          <a:ln/>
        </p:spPr>
      </p:sp>
      <p:sp>
        <p:nvSpPr>
          <p:cNvPr id="18" name="Text 15"/>
          <p:cNvSpPr/>
          <p:nvPr/>
        </p:nvSpPr>
        <p:spPr>
          <a:xfrm>
            <a:off x="7434072" y="2093976"/>
            <a:ext cx="370332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Your four, exactly</a:t>
            </a:r>
            <a:endParaRPr lang="en-US" sz="1550" dirty="0"/>
          </a:p>
        </p:txBody>
      </p:sp>
      <p:sp>
        <p:nvSpPr>
          <p:cNvPr id="19" name="Text 16"/>
          <p:cNvSpPr/>
          <p:nvPr/>
        </p:nvSpPr>
        <p:spPr>
          <a:xfrm>
            <a:off x="7452360" y="2532888"/>
            <a:ext cx="3657600" cy="2944368"/>
          </a:xfrm>
          <a:prstGeom prst="rect">
            <a:avLst/>
          </a:prstGeom>
          <a:noFill/>
          <a:ln/>
        </p:spPr>
        <p:txBody>
          <a:bodyPr wrap="square" lIns="0" tIns="0" rIns="0" bIns="0" rtlCol="0" anchor="t"/>
          <a:lstStyle/>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mx0 — the oldest of the three points (x0).</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mx1 — the middle point (x1).</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mh0 — their spacing, x1 − x0.</a:t>
            </a:r>
            <a:endParaRPr lang="en-US" sz="1300" dirty="0"/>
          </a:p>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mq  — the Muller correction; the new point is x3 = x2 − mq.</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Each is 16 bytes: [name]=Re, [name+8]=Im.</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anim calcmode="lin" valueType="num">
                                      <p:cBhvr additive="base">
                                        <p:cTn id="19"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
                                            <p:txEl>
                                              <p:pRg st="1" end="1"/>
                                            </p:txEl>
                                          </p:spTgt>
                                        </p:tgtEl>
                                        <p:attrNameLst>
                                          <p:attrName>style.visibility</p:attrName>
                                        </p:attrNameLst>
                                      </p:cBhvr>
                                      <p:to>
                                        <p:strVal val="visible"/>
                                      </p:to>
                                    </p:set>
                                    <p:anim calcmode="lin" valueType="num">
                                      <p:cBhvr additive="base">
                                        <p:cTn id="25"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
                                            <p:txEl>
                                              <p:pRg st="2" end="2"/>
                                            </p:txEl>
                                          </p:spTgt>
                                        </p:tgtEl>
                                        <p:attrNameLst>
                                          <p:attrName>style.visibility</p:attrName>
                                        </p:attrNameLst>
                                      </p:cBhvr>
                                      <p:to>
                                        <p:strVal val="visible"/>
                                      </p:to>
                                    </p:set>
                                    <p:anim calcmode="lin" valueType="num">
                                      <p:cBhvr additive="base">
                                        <p:cTn id="31"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xEl>
                                              <p:pRg st="3" end="3"/>
                                            </p:txEl>
                                          </p:spTgt>
                                        </p:tgtEl>
                                        <p:attrNameLst>
                                          <p:attrName>style.visibility</p:attrName>
                                        </p:attrNameLst>
                                      </p:cBhvr>
                                      <p:to>
                                        <p:strVal val="visible"/>
                                      </p:to>
                                    </p:set>
                                    <p:anim calcmode="lin" valueType="num">
                                      <p:cBhvr additive="base">
                                        <p:cTn id="37"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xEl>
                                              <p:pRg st="4" end="4"/>
                                            </p:txEl>
                                          </p:spTgt>
                                        </p:tgtEl>
                                        <p:attrNameLst>
                                          <p:attrName>style.visibility</p:attrName>
                                        </p:attrNameLst>
                                      </p:cBhvr>
                                      <p:to>
                                        <p:strVal val="visible"/>
                                      </p:to>
                                    </p:set>
                                    <p:anim calcmode="lin" valueType="num">
                                      <p:cBhvr additive="base">
                                        <p:cTn id="43"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13</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How Muller drives the root finder</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691640"/>
            <a:ext cx="530352" cy="530352"/>
          </a:xfrm>
          <a:prstGeom prst="ellipse">
            <a:avLst/>
          </a:prstGeom>
          <a:solidFill>
            <a:srgbClr val="7F8A3A"/>
          </a:solidFill>
          <a:ln/>
          <a:effectLst>
            <a:outerShdw blurRad="76200" dist="25400" dir="8100000" algn="bl" rotWithShape="0">
              <a:srgbClr val="7A6A4A">
                <a:alpha val="18000"/>
              </a:srgbClr>
            </a:outerShdw>
          </a:effectLst>
        </p:spPr>
      </p:sp>
      <p:sp>
        <p:nvSpPr>
          <p:cNvPr id="15" name="Text 13"/>
          <p:cNvSpPr/>
          <p:nvPr/>
        </p:nvSpPr>
        <p:spPr>
          <a:xfrm>
            <a:off x="914400" y="1691640"/>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6" name="Text 14"/>
          <p:cNvSpPr/>
          <p:nvPr/>
        </p:nvSpPr>
        <p:spPr>
          <a:xfrm>
            <a:off x="1618488" y="1673352"/>
            <a:ext cx="2743200" cy="530352"/>
          </a:xfrm>
          <a:prstGeom prst="rect">
            <a:avLst/>
          </a:prstGeom>
          <a:noFill/>
          <a:ln/>
        </p:spPr>
        <p:txBody>
          <a:bodyPr wrap="square" lIns="0" tIns="0" rIns="0" bIns="0" rtlCol="0" anchor="ctr"/>
          <a:lstStyle/>
          <a:p>
            <a:pPr marL="0" indent="0">
              <a:buNone/>
            </a:pPr>
            <a:r>
              <a:rPr lang="en-US" sz="1800" b="1" dirty="0">
                <a:solidFill>
                  <a:srgbClr val="586127"/>
                </a:solidFill>
                <a:latin typeface="Cambria" pitchFamily="34" charset="0"/>
                <a:ea typeface="Cambria" pitchFamily="34" charset="-122"/>
                <a:cs typeface="Cambria" pitchFamily="34" charset="-120"/>
              </a:rPr>
              <a:t>Build T(2N)</a:t>
            </a:r>
            <a:endParaRPr lang="en-US" sz="1800" dirty="0"/>
          </a:p>
        </p:txBody>
      </p:sp>
      <p:sp>
        <p:nvSpPr>
          <p:cNvPr id="17" name="Text 15"/>
          <p:cNvSpPr/>
          <p:nvPr/>
        </p:nvSpPr>
        <p:spPr>
          <a:xfrm>
            <a:off x="4389120" y="1645920"/>
            <a:ext cx="6858000"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Three rotating buffers run 2x·Tk − T(k−1) to get the coefficient vector.</a:t>
            </a:r>
            <a:endParaRPr lang="en-US" sz="1400" dirty="0"/>
          </a:p>
        </p:txBody>
      </p:sp>
      <p:sp>
        <p:nvSpPr>
          <p:cNvPr id="18" name="Shape 16"/>
          <p:cNvSpPr/>
          <p:nvPr/>
        </p:nvSpPr>
        <p:spPr>
          <a:xfrm>
            <a:off x="914400" y="2624328"/>
            <a:ext cx="530352" cy="530352"/>
          </a:xfrm>
          <a:prstGeom prst="ellipse">
            <a:avLst/>
          </a:prstGeom>
          <a:solidFill>
            <a:srgbClr val="3E2B1C"/>
          </a:solidFill>
          <a:ln/>
          <a:effectLst>
            <a:outerShdw blurRad="76200" dist="25400" dir="8100000" algn="bl" rotWithShape="0">
              <a:srgbClr val="7A6A4A">
                <a:alpha val="18000"/>
              </a:srgbClr>
            </a:outerShdw>
          </a:effectLst>
        </p:spPr>
      </p:sp>
      <p:sp>
        <p:nvSpPr>
          <p:cNvPr id="19" name="Text 17"/>
          <p:cNvSpPr/>
          <p:nvPr/>
        </p:nvSpPr>
        <p:spPr>
          <a:xfrm>
            <a:off x="914400" y="2624328"/>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8"/>
          <p:cNvSpPr/>
          <p:nvPr/>
        </p:nvSpPr>
        <p:spPr>
          <a:xfrm>
            <a:off x="1618488" y="2606040"/>
            <a:ext cx="2743200" cy="530352"/>
          </a:xfrm>
          <a:prstGeom prst="rect">
            <a:avLst/>
          </a:prstGeom>
          <a:noFill/>
          <a:ln/>
        </p:spPr>
        <p:txBody>
          <a:bodyPr wrap="square" lIns="0" tIns="0" rIns="0" bIns="0" rtlCol="0" anchor="ctr"/>
          <a:lstStyle/>
          <a:p>
            <a:pPr marL="0" indent="0">
              <a:buNone/>
            </a:pPr>
            <a:r>
              <a:rPr lang="en-US" sz="1800" b="1" dirty="0">
                <a:solidFill>
                  <a:srgbClr val="586127"/>
                </a:solidFill>
                <a:latin typeface="Cambria" pitchFamily="34" charset="0"/>
                <a:ea typeface="Cambria" pitchFamily="34" charset="-122"/>
                <a:cs typeface="Cambria" pitchFamily="34" charset="-120"/>
              </a:rPr>
              <a:t>Run Muller</a:t>
            </a:r>
            <a:endParaRPr lang="en-US" sz="1800" dirty="0"/>
          </a:p>
        </p:txBody>
      </p:sp>
      <p:sp>
        <p:nvSpPr>
          <p:cNvPr id="21" name="Text 19"/>
          <p:cNvSpPr/>
          <p:nvPr/>
        </p:nvSpPr>
        <p:spPr>
          <a:xfrm>
            <a:off x="4389120" y="2578608"/>
            <a:ext cx="6858000"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Complex arithmetic + complex Horner eval (ceval), all on the x87 stack.</a:t>
            </a:r>
            <a:endParaRPr lang="en-US" sz="1400" dirty="0"/>
          </a:p>
        </p:txBody>
      </p:sp>
      <p:sp>
        <p:nvSpPr>
          <p:cNvPr id="22" name="Shape 20"/>
          <p:cNvSpPr/>
          <p:nvPr/>
        </p:nvSpPr>
        <p:spPr>
          <a:xfrm>
            <a:off x="914400" y="3557016"/>
            <a:ext cx="530352" cy="530352"/>
          </a:xfrm>
          <a:prstGeom prst="ellipse">
            <a:avLst/>
          </a:prstGeom>
          <a:solidFill>
            <a:srgbClr val="7F8A3A"/>
          </a:solidFill>
          <a:ln/>
          <a:effectLst>
            <a:outerShdw blurRad="76200" dist="25400" dir="8100000" algn="bl" rotWithShape="0">
              <a:srgbClr val="7A6A4A">
                <a:alpha val="18000"/>
              </a:srgbClr>
            </a:outerShdw>
          </a:effectLst>
        </p:spPr>
      </p:sp>
      <p:sp>
        <p:nvSpPr>
          <p:cNvPr id="23" name="Text 21"/>
          <p:cNvSpPr/>
          <p:nvPr/>
        </p:nvSpPr>
        <p:spPr>
          <a:xfrm>
            <a:off x="914400" y="3557016"/>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4" name="Text 22"/>
          <p:cNvSpPr/>
          <p:nvPr/>
        </p:nvSpPr>
        <p:spPr>
          <a:xfrm>
            <a:off x="1618488" y="3538728"/>
            <a:ext cx="2743200" cy="530352"/>
          </a:xfrm>
          <a:prstGeom prst="rect">
            <a:avLst/>
          </a:prstGeom>
          <a:noFill/>
          <a:ln/>
        </p:spPr>
        <p:txBody>
          <a:bodyPr wrap="square" lIns="0" tIns="0" rIns="0" bIns="0" rtlCol="0" anchor="ctr"/>
          <a:lstStyle/>
          <a:p>
            <a:pPr marL="0" indent="0">
              <a:buNone/>
            </a:pPr>
            <a:r>
              <a:rPr lang="en-US" sz="1800" b="1" dirty="0">
                <a:solidFill>
                  <a:srgbClr val="586127"/>
                </a:solidFill>
                <a:latin typeface="Cambria" pitchFamily="34" charset="0"/>
                <a:ea typeface="Cambria" pitchFamily="34" charset="-122"/>
                <a:cs typeface="Cambria" pitchFamily="34" charset="-120"/>
              </a:rPr>
              <a:t>Deflate</a:t>
            </a:r>
            <a:endParaRPr lang="en-US" sz="1800" dirty="0"/>
          </a:p>
        </p:txBody>
      </p:sp>
      <p:sp>
        <p:nvSpPr>
          <p:cNvPr id="25" name="Text 23"/>
          <p:cNvSpPr/>
          <p:nvPr/>
        </p:nvSpPr>
        <p:spPr>
          <a:xfrm>
            <a:off x="4389120" y="3511296"/>
            <a:ext cx="6858000"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Synthetic-divide by (x − r); the degree drops by one each time.</a:t>
            </a:r>
            <a:endParaRPr lang="en-US" sz="1400" dirty="0"/>
          </a:p>
        </p:txBody>
      </p:sp>
      <p:sp>
        <p:nvSpPr>
          <p:cNvPr id="26" name="Shape 24"/>
          <p:cNvSpPr/>
          <p:nvPr/>
        </p:nvSpPr>
        <p:spPr>
          <a:xfrm>
            <a:off x="914400" y="4489704"/>
            <a:ext cx="530352" cy="530352"/>
          </a:xfrm>
          <a:prstGeom prst="ellipse">
            <a:avLst/>
          </a:prstGeom>
          <a:solidFill>
            <a:srgbClr val="3E2B1C"/>
          </a:solidFill>
          <a:ln/>
          <a:effectLst>
            <a:outerShdw blurRad="76200" dist="25400" dir="8100000" algn="bl" rotWithShape="0">
              <a:srgbClr val="7A6A4A">
                <a:alpha val="18000"/>
              </a:srgbClr>
            </a:outerShdw>
          </a:effectLst>
        </p:spPr>
      </p:sp>
      <p:sp>
        <p:nvSpPr>
          <p:cNvPr id="27" name="Text 25"/>
          <p:cNvSpPr/>
          <p:nvPr/>
        </p:nvSpPr>
        <p:spPr>
          <a:xfrm>
            <a:off x="914400" y="4489704"/>
            <a:ext cx="530352"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p:nvPr/>
        </p:nvSpPr>
        <p:spPr>
          <a:xfrm>
            <a:off x="1618488" y="4471416"/>
            <a:ext cx="2743200" cy="530352"/>
          </a:xfrm>
          <a:prstGeom prst="rect">
            <a:avLst/>
          </a:prstGeom>
          <a:noFill/>
          <a:ln/>
        </p:spPr>
        <p:txBody>
          <a:bodyPr wrap="square" lIns="0" tIns="0" rIns="0" bIns="0" rtlCol="0" anchor="ctr"/>
          <a:lstStyle/>
          <a:p>
            <a:pPr marL="0" indent="0">
              <a:buNone/>
            </a:pPr>
            <a:r>
              <a:rPr lang="en-US" sz="1800" b="1" dirty="0">
                <a:solidFill>
                  <a:srgbClr val="586127"/>
                </a:solidFill>
                <a:latin typeface="Cambria" pitchFamily="34" charset="0"/>
                <a:ea typeface="Cambria" pitchFamily="34" charset="-122"/>
                <a:cs typeface="Cambria" pitchFamily="34" charset="-120"/>
              </a:rPr>
              <a:t>Repeat &amp; verify</a:t>
            </a:r>
            <a:endParaRPr lang="en-US" sz="1800" dirty="0"/>
          </a:p>
        </p:txBody>
      </p:sp>
      <p:sp>
        <p:nvSpPr>
          <p:cNvPr id="29" name="Text 27"/>
          <p:cNvSpPr/>
          <p:nvPr/>
        </p:nvSpPr>
        <p:spPr>
          <a:xfrm>
            <a:off x="4389120" y="4443984"/>
            <a:ext cx="6858000"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Continue to degree 1; print each root beside cos((2k−1)π/2d).</a:t>
            </a:r>
            <a:endParaRPr lang="en-US" sz="1400" dirty="0"/>
          </a:p>
        </p:txBody>
      </p:sp>
      <p:sp>
        <p:nvSpPr>
          <p:cNvPr id="30" name="Shape 28"/>
          <p:cNvSpPr/>
          <p:nvPr/>
        </p:nvSpPr>
        <p:spPr>
          <a:xfrm>
            <a:off x="914400" y="5440680"/>
            <a:ext cx="10360152" cy="548640"/>
          </a:xfrm>
          <a:prstGeom prst="rect">
            <a:avLst/>
          </a:prstGeom>
          <a:solidFill>
            <a:srgbClr val="F6EFDE"/>
          </a:solidFill>
          <a:ln w="12700">
            <a:solidFill>
              <a:srgbClr val="D8C7A1"/>
            </a:solidFill>
            <a:prstDash val="solid"/>
          </a:ln>
        </p:spPr>
      </p:sp>
      <p:sp>
        <p:nvSpPr>
          <p:cNvPr id="31" name="Text 29"/>
          <p:cNvSpPr/>
          <p:nvPr/>
        </p:nvSpPr>
        <p:spPr>
          <a:xfrm>
            <a:off x="1097280" y="5440680"/>
            <a:ext cx="9994392" cy="548640"/>
          </a:xfrm>
          <a:prstGeom prst="rect">
            <a:avLst/>
          </a:prstGeom>
          <a:noFill/>
          <a:ln/>
        </p:spPr>
        <p:txBody>
          <a:bodyPr wrap="square" lIns="0" tIns="0" rIns="0" bIns="0" rtlCol="0" anchor="ctr"/>
          <a:lstStyle/>
          <a:p>
            <a:pPr marL="0" indent="0">
              <a:buNone/>
            </a:pPr>
            <a:r>
              <a:rPr lang="en-US" sz="1300" b="1" dirty="0">
                <a:solidFill>
                  <a:srgbClr val="586127"/>
                </a:solidFill>
                <a:latin typeface="Cambria" pitchFamily="34" charset="0"/>
                <a:ea typeface="Cambria" pitchFamily="34" charset="-122"/>
                <a:cs typeface="Cambria" pitchFamily="34" charset="-120"/>
              </a:rPr>
              <a:t>Symmetry note:  </a:t>
            </a:r>
            <a:r>
              <a:rPr lang="en-US" sz="1300" dirty="0">
                <a:solidFill>
                  <a:srgbClr val="2B2722"/>
                </a:solidFill>
                <a:latin typeface="Cambria" pitchFamily="34" charset="0"/>
                <a:ea typeface="Cambria" pitchFamily="34" charset="-122"/>
                <a:cs typeface="Cambria" pitchFamily="34" charset="-120"/>
              </a:rPr>
              <a:t>the starting triple carries a small imaginary part so the even polynomial's symmetry never stalls the iteration on the real axis.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anim calcmode="lin" valueType="num">
                                      <p:cBhvr additive="base">
                                        <p:cTn id="13"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 calcmode="lin" valueType="num">
                                      <p:cBhvr additive="base">
                                        <p:cTn id="19"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
                                            <p:txEl>
                                              <p:pRg st="0" end="0"/>
                                            </p:txEl>
                                          </p:spTgt>
                                        </p:tgtEl>
                                        <p:attrNameLst>
                                          <p:attrName>style.visibility</p:attrName>
                                        </p:attrNameLst>
                                      </p:cBhvr>
                                      <p:to>
                                        <p:strVal val="visible"/>
                                      </p:to>
                                    </p:set>
                                    <p:anim calcmode="lin" valueType="num">
                                      <p:cBhvr additive="base">
                                        <p:cTn id="25"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xEl>
                                              <p:pRg st="0" end="0"/>
                                            </p:txEl>
                                          </p:spTgt>
                                        </p:tgtEl>
                                        <p:attrNameLst>
                                          <p:attrName>style.visibility</p:attrName>
                                        </p:attrNameLst>
                                      </p:cBhvr>
                                      <p:to>
                                        <p:strVal val="visible"/>
                                      </p:to>
                                    </p:set>
                                    <p:anim calcmode="lin" valueType="num">
                                      <p:cBhvr additive="base">
                                        <p:cTn id="31"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14</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Code — deflation (synthetic division by x − r)</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54480"/>
            <a:ext cx="6126480" cy="420624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554480"/>
            <a:ext cx="82296" cy="4206240"/>
          </a:xfrm>
          <a:prstGeom prst="rect">
            <a:avLst/>
          </a:prstGeom>
          <a:solidFill>
            <a:srgbClr val="7F8A3A"/>
          </a:solidFill>
          <a:ln/>
        </p:spPr>
      </p:sp>
      <p:sp>
        <p:nvSpPr>
          <p:cNvPr id="16" name="Text 14"/>
          <p:cNvSpPr/>
          <p:nvPr/>
        </p:nvSpPr>
        <p:spPr>
          <a:xfrm>
            <a:off x="1115568" y="1645920"/>
            <a:ext cx="5797296" cy="402336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deflate:                 ; divide coef[0..deg] by (x - r)</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mov r8,[deg]</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fld  qword [coef+r8*8]</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fstp qword [carry]     ; carry = coef[deg]</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 store as top quotient term ...</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.dl:                     ; i = deg-1 .. 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fld  qword [carry]</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fmul qword [rootr]     ; r * carry</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fadd qword [coef+rcx*8]; + coef[i]</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fstp qword [carry]     ; carry = coef[i]+r*carry</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 qb[i-1] = carry ...</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.dd:</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dec  qword [deg]       ; degree drops by one</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 copy quotient qb -&gt; coef ...</a:t>
            </a:r>
            <a:endParaRPr lang="en-US" sz="1100" dirty="0"/>
          </a:p>
        </p:txBody>
      </p:sp>
      <p:sp>
        <p:nvSpPr>
          <p:cNvPr id="17" name="Shape 15"/>
          <p:cNvSpPr/>
          <p:nvPr/>
        </p:nvSpPr>
        <p:spPr>
          <a:xfrm>
            <a:off x="6858000" y="1554480"/>
            <a:ext cx="4480560" cy="420624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6858000" y="1554480"/>
            <a:ext cx="91440" cy="4206240"/>
          </a:xfrm>
          <a:prstGeom prst="rect">
            <a:avLst/>
          </a:prstGeom>
          <a:solidFill>
            <a:srgbClr val="7F8A3A"/>
          </a:solidFill>
          <a:ln/>
        </p:spPr>
      </p:sp>
      <p:sp>
        <p:nvSpPr>
          <p:cNvPr id="19" name="Text 17"/>
          <p:cNvSpPr/>
          <p:nvPr/>
        </p:nvSpPr>
        <p:spPr>
          <a:xfrm>
            <a:off x="7114032" y="1682496"/>
            <a:ext cx="402336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Why it works</a:t>
            </a:r>
            <a:endParaRPr lang="en-US" sz="1550" dirty="0"/>
          </a:p>
        </p:txBody>
      </p:sp>
      <p:sp>
        <p:nvSpPr>
          <p:cNvPr id="20" name="Text 18"/>
          <p:cNvSpPr/>
          <p:nvPr/>
        </p:nvSpPr>
        <p:spPr>
          <a:xfrm>
            <a:off x="7132320" y="2121408"/>
            <a:ext cx="3977640" cy="3493008"/>
          </a:xfrm>
          <a:prstGeom prst="rect">
            <a:avLst/>
          </a:prstGeom>
          <a:noFill/>
          <a:ln/>
        </p:spPr>
        <p:txBody>
          <a:bodyPr wrap="square" lIns="0" tIns="0" rIns="0" bIns="0" rtlCol="0" anchor="t"/>
          <a:lstStyle/>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This is Horner's rule run backwards: q[i-1] = coef[i] + r·q[i].</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Each coefficient costs exactly one fmul + one fadd.</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The final carry is the remainder ≈ 0, since r is a root.</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Roots of T(2N) are real, so we divide by a real linear factor and the coefficients stay real.</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Removing r stops Muller from re-finding the same root.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wipe(down)">
                                      <p:cBhvr>
                                        <p:cTn id="23" dur="580">
                                          <p:stCondLst>
                                            <p:cond delay="0"/>
                                          </p:stCondLst>
                                        </p:cTn>
                                        <p:tgtEl>
                                          <p:spTgt spid="16">
                                            <p:txEl>
                                              <p:pRg st="1" end="1"/>
                                            </p:txEl>
                                          </p:spTgt>
                                        </p:tgtEl>
                                      </p:cBhvr>
                                    </p:animEffect>
                                    <p:anim calcmode="lin" valueType="num">
                                      <p:cBhvr>
                                        <p:cTn id="24" dur="1822" tmFilter="0,0; 0.14,0.36; 0.43,0.73; 0.71,0.91; 1.0,1.0">
                                          <p:stCondLst>
                                            <p:cond delay="0"/>
                                          </p:stCondLst>
                                        </p:cTn>
                                        <p:tgtEl>
                                          <p:spTgt spid="1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xEl>
                                              <p:pRg st="1" end="1"/>
                                            </p:txEl>
                                          </p:spTgt>
                                        </p:tgtEl>
                                      </p:cBhvr>
                                      <p:to x="100000" y="60000"/>
                                    </p:animScale>
                                    <p:animScale>
                                      <p:cBhvr>
                                        <p:cTn id="30" dur="166" decel="50000">
                                          <p:stCondLst>
                                            <p:cond delay="676"/>
                                          </p:stCondLst>
                                        </p:cTn>
                                        <p:tgtEl>
                                          <p:spTgt spid="16">
                                            <p:txEl>
                                              <p:pRg st="1" end="1"/>
                                            </p:txEl>
                                          </p:spTgt>
                                        </p:tgtEl>
                                      </p:cBhvr>
                                      <p:to x="100000" y="100000"/>
                                    </p:animScale>
                                    <p:animScale>
                                      <p:cBhvr>
                                        <p:cTn id="31" dur="26">
                                          <p:stCondLst>
                                            <p:cond delay="1312"/>
                                          </p:stCondLst>
                                        </p:cTn>
                                        <p:tgtEl>
                                          <p:spTgt spid="16">
                                            <p:txEl>
                                              <p:pRg st="1" end="1"/>
                                            </p:txEl>
                                          </p:spTgt>
                                        </p:tgtEl>
                                      </p:cBhvr>
                                      <p:to x="100000" y="80000"/>
                                    </p:animScale>
                                    <p:animScale>
                                      <p:cBhvr>
                                        <p:cTn id="32" dur="166" decel="50000">
                                          <p:stCondLst>
                                            <p:cond delay="1338"/>
                                          </p:stCondLst>
                                        </p:cTn>
                                        <p:tgtEl>
                                          <p:spTgt spid="16">
                                            <p:txEl>
                                              <p:pRg st="1" end="1"/>
                                            </p:txEl>
                                          </p:spTgt>
                                        </p:tgtEl>
                                      </p:cBhvr>
                                      <p:to x="100000" y="100000"/>
                                    </p:animScale>
                                    <p:animScale>
                                      <p:cBhvr>
                                        <p:cTn id="33" dur="26">
                                          <p:stCondLst>
                                            <p:cond delay="1642"/>
                                          </p:stCondLst>
                                        </p:cTn>
                                        <p:tgtEl>
                                          <p:spTgt spid="16">
                                            <p:txEl>
                                              <p:pRg st="1" end="1"/>
                                            </p:txEl>
                                          </p:spTgt>
                                        </p:tgtEl>
                                      </p:cBhvr>
                                      <p:to x="100000" y="90000"/>
                                    </p:animScale>
                                    <p:animScale>
                                      <p:cBhvr>
                                        <p:cTn id="34" dur="166" decel="50000">
                                          <p:stCondLst>
                                            <p:cond delay="1668"/>
                                          </p:stCondLst>
                                        </p:cTn>
                                        <p:tgtEl>
                                          <p:spTgt spid="16">
                                            <p:txEl>
                                              <p:pRg st="1" end="1"/>
                                            </p:txEl>
                                          </p:spTgt>
                                        </p:tgtEl>
                                      </p:cBhvr>
                                      <p:to x="100000" y="100000"/>
                                    </p:animScale>
                                    <p:animScale>
                                      <p:cBhvr>
                                        <p:cTn id="35" dur="26">
                                          <p:stCondLst>
                                            <p:cond delay="1808"/>
                                          </p:stCondLst>
                                        </p:cTn>
                                        <p:tgtEl>
                                          <p:spTgt spid="16">
                                            <p:txEl>
                                              <p:pRg st="1" end="1"/>
                                            </p:txEl>
                                          </p:spTgt>
                                        </p:tgtEl>
                                      </p:cBhvr>
                                      <p:to x="100000" y="95000"/>
                                    </p:animScale>
                                    <p:animScale>
                                      <p:cBhvr>
                                        <p:cTn id="36" dur="166" decel="50000">
                                          <p:stCondLst>
                                            <p:cond delay="1834"/>
                                          </p:stCondLst>
                                        </p:cTn>
                                        <p:tgtEl>
                                          <p:spTgt spid="1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down)">
                                      <p:cBhvr>
                                        <p:cTn id="39" dur="580">
                                          <p:stCondLst>
                                            <p:cond delay="0"/>
                                          </p:stCondLst>
                                        </p:cTn>
                                        <p:tgtEl>
                                          <p:spTgt spid="16">
                                            <p:txEl>
                                              <p:pRg st="2" end="2"/>
                                            </p:txEl>
                                          </p:spTgt>
                                        </p:tgtEl>
                                      </p:cBhvr>
                                    </p:animEffect>
                                    <p:anim calcmode="lin" valueType="num">
                                      <p:cBhvr>
                                        <p:cTn id="40" dur="1822" tmFilter="0,0; 0.14,0.36; 0.43,0.73; 0.71,0.91; 1.0,1.0">
                                          <p:stCondLst>
                                            <p:cond delay="0"/>
                                          </p:stCondLst>
                                        </p:cTn>
                                        <p:tgtEl>
                                          <p:spTgt spid="1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6">
                                            <p:txEl>
                                              <p:pRg st="2" end="2"/>
                                            </p:txEl>
                                          </p:spTgt>
                                        </p:tgtEl>
                                      </p:cBhvr>
                                      <p:to x="100000" y="60000"/>
                                    </p:animScale>
                                    <p:animScale>
                                      <p:cBhvr>
                                        <p:cTn id="46" dur="166" decel="50000">
                                          <p:stCondLst>
                                            <p:cond delay="676"/>
                                          </p:stCondLst>
                                        </p:cTn>
                                        <p:tgtEl>
                                          <p:spTgt spid="16">
                                            <p:txEl>
                                              <p:pRg st="2" end="2"/>
                                            </p:txEl>
                                          </p:spTgt>
                                        </p:tgtEl>
                                      </p:cBhvr>
                                      <p:to x="100000" y="100000"/>
                                    </p:animScale>
                                    <p:animScale>
                                      <p:cBhvr>
                                        <p:cTn id="47" dur="26">
                                          <p:stCondLst>
                                            <p:cond delay="1312"/>
                                          </p:stCondLst>
                                        </p:cTn>
                                        <p:tgtEl>
                                          <p:spTgt spid="16">
                                            <p:txEl>
                                              <p:pRg st="2" end="2"/>
                                            </p:txEl>
                                          </p:spTgt>
                                        </p:tgtEl>
                                      </p:cBhvr>
                                      <p:to x="100000" y="80000"/>
                                    </p:animScale>
                                    <p:animScale>
                                      <p:cBhvr>
                                        <p:cTn id="48" dur="166" decel="50000">
                                          <p:stCondLst>
                                            <p:cond delay="1338"/>
                                          </p:stCondLst>
                                        </p:cTn>
                                        <p:tgtEl>
                                          <p:spTgt spid="16">
                                            <p:txEl>
                                              <p:pRg st="2" end="2"/>
                                            </p:txEl>
                                          </p:spTgt>
                                        </p:tgtEl>
                                      </p:cBhvr>
                                      <p:to x="100000" y="100000"/>
                                    </p:animScale>
                                    <p:animScale>
                                      <p:cBhvr>
                                        <p:cTn id="49" dur="26">
                                          <p:stCondLst>
                                            <p:cond delay="1642"/>
                                          </p:stCondLst>
                                        </p:cTn>
                                        <p:tgtEl>
                                          <p:spTgt spid="16">
                                            <p:txEl>
                                              <p:pRg st="2" end="2"/>
                                            </p:txEl>
                                          </p:spTgt>
                                        </p:tgtEl>
                                      </p:cBhvr>
                                      <p:to x="100000" y="90000"/>
                                    </p:animScale>
                                    <p:animScale>
                                      <p:cBhvr>
                                        <p:cTn id="50" dur="166" decel="50000">
                                          <p:stCondLst>
                                            <p:cond delay="1668"/>
                                          </p:stCondLst>
                                        </p:cTn>
                                        <p:tgtEl>
                                          <p:spTgt spid="16">
                                            <p:txEl>
                                              <p:pRg st="2" end="2"/>
                                            </p:txEl>
                                          </p:spTgt>
                                        </p:tgtEl>
                                      </p:cBhvr>
                                      <p:to x="100000" y="100000"/>
                                    </p:animScale>
                                    <p:animScale>
                                      <p:cBhvr>
                                        <p:cTn id="51" dur="26">
                                          <p:stCondLst>
                                            <p:cond delay="1808"/>
                                          </p:stCondLst>
                                        </p:cTn>
                                        <p:tgtEl>
                                          <p:spTgt spid="16">
                                            <p:txEl>
                                              <p:pRg st="2" end="2"/>
                                            </p:txEl>
                                          </p:spTgt>
                                        </p:tgtEl>
                                      </p:cBhvr>
                                      <p:to x="100000" y="95000"/>
                                    </p:animScale>
                                    <p:animScale>
                                      <p:cBhvr>
                                        <p:cTn id="52" dur="166" decel="50000">
                                          <p:stCondLst>
                                            <p:cond delay="1834"/>
                                          </p:stCondLst>
                                        </p:cTn>
                                        <p:tgtEl>
                                          <p:spTgt spid="16">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6">
                                            <p:txEl>
                                              <p:pRg st="3" end="3"/>
                                            </p:txEl>
                                          </p:spTgt>
                                        </p:tgtEl>
                                        <p:attrNameLst>
                                          <p:attrName>style.visibility</p:attrName>
                                        </p:attrNameLst>
                                      </p:cBhvr>
                                      <p:to>
                                        <p:strVal val="visible"/>
                                      </p:to>
                                    </p:set>
                                    <p:animEffect transition="in" filter="wipe(down)">
                                      <p:cBhvr>
                                        <p:cTn id="55" dur="580">
                                          <p:stCondLst>
                                            <p:cond delay="0"/>
                                          </p:stCondLst>
                                        </p:cTn>
                                        <p:tgtEl>
                                          <p:spTgt spid="16">
                                            <p:txEl>
                                              <p:pRg st="3" end="3"/>
                                            </p:txEl>
                                          </p:spTgt>
                                        </p:tgtEl>
                                      </p:cBhvr>
                                    </p:animEffect>
                                    <p:anim calcmode="lin" valueType="num">
                                      <p:cBhvr>
                                        <p:cTn id="56" dur="1822" tmFilter="0,0; 0.14,0.36; 0.43,0.73; 0.71,0.91; 1.0,1.0">
                                          <p:stCondLst>
                                            <p:cond delay="0"/>
                                          </p:stCondLst>
                                        </p:cTn>
                                        <p:tgtEl>
                                          <p:spTgt spid="16">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xEl>
                                              <p:pRg st="3" end="3"/>
                                            </p:txEl>
                                          </p:spTgt>
                                        </p:tgtEl>
                                      </p:cBhvr>
                                      <p:to x="100000" y="60000"/>
                                    </p:animScale>
                                    <p:animScale>
                                      <p:cBhvr>
                                        <p:cTn id="62" dur="166" decel="50000">
                                          <p:stCondLst>
                                            <p:cond delay="676"/>
                                          </p:stCondLst>
                                        </p:cTn>
                                        <p:tgtEl>
                                          <p:spTgt spid="16">
                                            <p:txEl>
                                              <p:pRg st="3" end="3"/>
                                            </p:txEl>
                                          </p:spTgt>
                                        </p:tgtEl>
                                      </p:cBhvr>
                                      <p:to x="100000" y="100000"/>
                                    </p:animScale>
                                    <p:animScale>
                                      <p:cBhvr>
                                        <p:cTn id="63" dur="26">
                                          <p:stCondLst>
                                            <p:cond delay="1312"/>
                                          </p:stCondLst>
                                        </p:cTn>
                                        <p:tgtEl>
                                          <p:spTgt spid="16">
                                            <p:txEl>
                                              <p:pRg st="3" end="3"/>
                                            </p:txEl>
                                          </p:spTgt>
                                        </p:tgtEl>
                                      </p:cBhvr>
                                      <p:to x="100000" y="80000"/>
                                    </p:animScale>
                                    <p:animScale>
                                      <p:cBhvr>
                                        <p:cTn id="64" dur="166" decel="50000">
                                          <p:stCondLst>
                                            <p:cond delay="1338"/>
                                          </p:stCondLst>
                                        </p:cTn>
                                        <p:tgtEl>
                                          <p:spTgt spid="16">
                                            <p:txEl>
                                              <p:pRg st="3" end="3"/>
                                            </p:txEl>
                                          </p:spTgt>
                                        </p:tgtEl>
                                      </p:cBhvr>
                                      <p:to x="100000" y="100000"/>
                                    </p:animScale>
                                    <p:animScale>
                                      <p:cBhvr>
                                        <p:cTn id="65" dur="26">
                                          <p:stCondLst>
                                            <p:cond delay="1642"/>
                                          </p:stCondLst>
                                        </p:cTn>
                                        <p:tgtEl>
                                          <p:spTgt spid="16">
                                            <p:txEl>
                                              <p:pRg st="3" end="3"/>
                                            </p:txEl>
                                          </p:spTgt>
                                        </p:tgtEl>
                                      </p:cBhvr>
                                      <p:to x="100000" y="90000"/>
                                    </p:animScale>
                                    <p:animScale>
                                      <p:cBhvr>
                                        <p:cTn id="66" dur="166" decel="50000">
                                          <p:stCondLst>
                                            <p:cond delay="1668"/>
                                          </p:stCondLst>
                                        </p:cTn>
                                        <p:tgtEl>
                                          <p:spTgt spid="16">
                                            <p:txEl>
                                              <p:pRg st="3" end="3"/>
                                            </p:txEl>
                                          </p:spTgt>
                                        </p:tgtEl>
                                      </p:cBhvr>
                                      <p:to x="100000" y="100000"/>
                                    </p:animScale>
                                    <p:animScale>
                                      <p:cBhvr>
                                        <p:cTn id="67" dur="26">
                                          <p:stCondLst>
                                            <p:cond delay="1808"/>
                                          </p:stCondLst>
                                        </p:cTn>
                                        <p:tgtEl>
                                          <p:spTgt spid="16">
                                            <p:txEl>
                                              <p:pRg st="3" end="3"/>
                                            </p:txEl>
                                          </p:spTgt>
                                        </p:tgtEl>
                                      </p:cBhvr>
                                      <p:to x="100000" y="95000"/>
                                    </p:animScale>
                                    <p:animScale>
                                      <p:cBhvr>
                                        <p:cTn id="68" dur="166" decel="50000">
                                          <p:stCondLst>
                                            <p:cond delay="1834"/>
                                          </p:stCondLst>
                                        </p:cTn>
                                        <p:tgtEl>
                                          <p:spTgt spid="16">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6">
                                            <p:txEl>
                                              <p:pRg st="4" end="4"/>
                                            </p:txEl>
                                          </p:spTgt>
                                        </p:tgtEl>
                                        <p:attrNameLst>
                                          <p:attrName>style.visibility</p:attrName>
                                        </p:attrNameLst>
                                      </p:cBhvr>
                                      <p:to>
                                        <p:strVal val="visible"/>
                                      </p:to>
                                    </p:set>
                                    <p:animEffect transition="in" filter="wipe(down)">
                                      <p:cBhvr>
                                        <p:cTn id="71" dur="580">
                                          <p:stCondLst>
                                            <p:cond delay="0"/>
                                          </p:stCondLst>
                                        </p:cTn>
                                        <p:tgtEl>
                                          <p:spTgt spid="16">
                                            <p:txEl>
                                              <p:pRg st="4" end="4"/>
                                            </p:txEl>
                                          </p:spTgt>
                                        </p:tgtEl>
                                      </p:cBhvr>
                                    </p:animEffect>
                                    <p:anim calcmode="lin" valueType="num">
                                      <p:cBhvr>
                                        <p:cTn id="72" dur="1822" tmFilter="0,0; 0.14,0.36; 0.43,0.73; 0.71,0.91; 1.0,1.0">
                                          <p:stCondLst>
                                            <p:cond delay="0"/>
                                          </p:stCondLst>
                                        </p:cTn>
                                        <p:tgtEl>
                                          <p:spTgt spid="16">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4" end="4"/>
                                            </p:txEl>
                                          </p:spTgt>
                                        </p:tgtEl>
                                      </p:cBhvr>
                                      <p:to x="100000" y="60000"/>
                                    </p:animScale>
                                    <p:animScale>
                                      <p:cBhvr>
                                        <p:cTn id="78" dur="166" decel="50000">
                                          <p:stCondLst>
                                            <p:cond delay="676"/>
                                          </p:stCondLst>
                                        </p:cTn>
                                        <p:tgtEl>
                                          <p:spTgt spid="16">
                                            <p:txEl>
                                              <p:pRg st="4" end="4"/>
                                            </p:txEl>
                                          </p:spTgt>
                                        </p:tgtEl>
                                      </p:cBhvr>
                                      <p:to x="100000" y="100000"/>
                                    </p:animScale>
                                    <p:animScale>
                                      <p:cBhvr>
                                        <p:cTn id="79" dur="26">
                                          <p:stCondLst>
                                            <p:cond delay="1312"/>
                                          </p:stCondLst>
                                        </p:cTn>
                                        <p:tgtEl>
                                          <p:spTgt spid="16">
                                            <p:txEl>
                                              <p:pRg st="4" end="4"/>
                                            </p:txEl>
                                          </p:spTgt>
                                        </p:tgtEl>
                                      </p:cBhvr>
                                      <p:to x="100000" y="80000"/>
                                    </p:animScale>
                                    <p:animScale>
                                      <p:cBhvr>
                                        <p:cTn id="80" dur="166" decel="50000">
                                          <p:stCondLst>
                                            <p:cond delay="1338"/>
                                          </p:stCondLst>
                                        </p:cTn>
                                        <p:tgtEl>
                                          <p:spTgt spid="16">
                                            <p:txEl>
                                              <p:pRg st="4" end="4"/>
                                            </p:txEl>
                                          </p:spTgt>
                                        </p:tgtEl>
                                      </p:cBhvr>
                                      <p:to x="100000" y="100000"/>
                                    </p:animScale>
                                    <p:animScale>
                                      <p:cBhvr>
                                        <p:cTn id="81" dur="26">
                                          <p:stCondLst>
                                            <p:cond delay="1642"/>
                                          </p:stCondLst>
                                        </p:cTn>
                                        <p:tgtEl>
                                          <p:spTgt spid="16">
                                            <p:txEl>
                                              <p:pRg st="4" end="4"/>
                                            </p:txEl>
                                          </p:spTgt>
                                        </p:tgtEl>
                                      </p:cBhvr>
                                      <p:to x="100000" y="90000"/>
                                    </p:animScale>
                                    <p:animScale>
                                      <p:cBhvr>
                                        <p:cTn id="82" dur="166" decel="50000">
                                          <p:stCondLst>
                                            <p:cond delay="1668"/>
                                          </p:stCondLst>
                                        </p:cTn>
                                        <p:tgtEl>
                                          <p:spTgt spid="16">
                                            <p:txEl>
                                              <p:pRg st="4" end="4"/>
                                            </p:txEl>
                                          </p:spTgt>
                                        </p:tgtEl>
                                      </p:cBhvr>
                                      <p:to x="100000" y="100000"/>
                                    </p:animScale>
                                    <p:animScale>
                                      <p:cBhvr>
                                        <p:cTn id="83" dur="26">
                                          <p:stCondLst>
                                            <p:cond delay="1808"/>
                                          </p:stCondLst>
                                        </p:cTn>
                                        <p:tgtEl>
                                          <p:spTgt spid="16">
                                            <p:txEl>
                                              <p:pRg st="4" end="4"/>
                                            </p:txEl>
                                          </p:spTgt>
                                        </p:tgtEl>
                                      </p:cBhvr>
                                      <p:to x="100000" y="95000"/>
                                    </p:animScale>
                                    <p:animScale>
                                      <p:cBhvr>
                                        <p:cTn id="84" dur="166" decel="50000">
                                          <p:stCondLst>
                                            <p:cond delay="1834"/>
                                          </p:stCondLst>
                                        </p:cTn>
                                        <p:tgtEl>
                                          <p:spTgt spid="16">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6">
                                            <p:txEl>
                                              <p:pRg st="5" end="5"/>
                                            </p:txEl>
                                          </p:spTgt>
                                        </p:tgtEl>
                                        <p:attrNameLst>
                                          <p:attrName>style.visibility</p:attrName>
                                        </p:attrNameLst>
                                      </p:cBhvr>
                                      <p:to>
                                        <p:strVal val="visible"/>
                                      </p:to>
                                    </p:set>
                                    <p:animEffect transition="in" filter="wipe(down)">
                                      <p:cBhvr>
                                        <p:cTn id="87" dur="580">
                                          <p:stCondLst>
                                            <p:cond delay="0"/>
                                          </p:stCondLst>
                                        </p:cTn>
                                        <p:tgtEl>
                                          <p:spTgt spid="16">
                                            <p:txEl>
                                              <p:pRg st="5" end="5"/>
                                            </p:txEl>
                                          </p:spTgt>
                                        </p:tgtEl>
                                      </p:cBhvr>
                                    </p:animEffect>
                                    <p:anim calcmode="lin" valueType="num">
                                      <p:cBhvr>
                                        <p:cTn id="88" dur="1822" tmFilter="0,0; 0.14,0.36; 0.43,0.73; 0.71,0.91; 1.0,1.0">
                                          <p:stCondLst>
                                            <p:cond delay="0"/>
                                          </p:stCondLst>
                                        </p:cTn>
                                        <p:tgtEl>
                                          <p:spTgt spid="16">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6">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6">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6">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6">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6">
                                            <p:txEl>
                                              <p:pRg st="5" end="5"/>
                                            </p:txEl>
                                          </p:spTgt>
                                        </p:tgtEl>
                                      </p:cBhvr>
                                      <p:to x="100000" y="60000"/>
                                    </p:animScale>
                                    <p:animScale>
                                      <p:cBhvr>
                                        <p:cTn id="94" dur="166" decel="50000">
                                          <p:stCondLst>
                                            <p:cond delay="676"/>
                                          </p:stCondLst>
                                        </p:cTn>
                                        <p:tgtEl>
                                          <p:spTgt spid="16">
                                            <p:txEl>
                                              <p:pRg st="5" end="5"/>
                                            </p:txEl>
                                          </p:spTgt>
                                        </p:tgtEl>
                                      </p:cBhvr>
                                      <p:to x="100000" y="100000"/>
                                    </p:animScale>
                                    <p:animScale>
                                      <p:cBhvr>
                                        <p:cTn id="95" dur="26">
                                          <p:stCondLst>
                                            <p:cond delay="1312"/>
                                          </p:stCondLst>
                                        </p:cTn>
                                        <p:tgtEl>
                                          <p:spTgt spid="16">
                                            <p:txEl>
                                              <p:pRg st="5" end="5"/>
                                            </p:txEl>
                                          </p:spTgt>
                                        </p:tgtEl>
                                      </p:cBhvr>
                                      <p:to x="100000" y="80000"/>
                                    </p:animScale>
                                    <p:animScale>
                                      <p:cBhvr>
                                        <p:cTn id="96" dur="166" decel="50000">
                                          <p:stCondLst>
                                            <p:cond delay="1338"/>
                                          </p:stCondLst>
                                        </p:cTn>
                                        <p:tgtEl>
                                          <p:spTgt spid="16">
                                            <p:txEl>
                                              <p:pRg st="5" end="5"/>
                                            </p:txEl>
                                          </p:spTgt>
                                        </p:tgtEl>
                                      </p:cBhvr>
                                      <p:to x="100000" y="100000"/>
                                    </p:animScale>
                                    <p:animScale>
                                      <p:cBhvr>
                                        <p:cTn id="97" dur="26">
                                          <p:stCondLst>
                                            <p:cond delay="1642"/>
                                          </p:stCondLst>
                                        </p:cTn>
                                        <p:tgtEl>
                                          <p:spTgt spid="16">
                                            <p:txEl>
                                              <p:pRg st="5" end="5"/>
                                            </p:txEl>
                                          </p:spTgt>
                                        </p:tgtEl>
                                      </p:cBhvr>
                                      <p:to x="100000" y="90000"/>
                                    </p:animScale>
                                    <p:animScale>
                                      <p:cBhvr>
                                        <p:cTn id="98" dur="166" decel="50000">
                                          <p:stCondLst>
                                            <p:cond delay="1668"/>
                                          </p:stCondLst>
                                        </p:cTn>
                                        <p:tgtEl>
                                          <p:spTgt spid="16">
                                            <p:txEl>
                                              <p:pRg st="5" end="5"/>
                                            </p:txEl>
                                          </p:spTgt>
                                        </p:tgtEl>
                                      </p:cBhvr>
                                      <p:to x="100000" y="100000"/>
                                    </p:animScale>
                                    <p:animScale>
                                      <p:cBhvr>
                                        <p:cTn id="99" dur="26">
                                          <p:stCondLst>
                                            <p:cond delay="1808"/>
                                          </p:stCondLst>
                                        </p:cTn>
                                        <p:tgtEl>
                                          <p:spTgt spid="16">
                                            <p:txEl>
                                              <p:pRg st="5" end="5"/>
                                            </p:txEl>
                                          </p:spTgt>
                                        </p:tgtEl>
                                      </p:cBhvr>
                                      <p:to x="100000" y="95000"/>
                                    </p:animScale>
                                    <p:animScale>
                                      <p:cBhvr>
                                        <p:cTn id="100" dur="166" decel="50000">
                                          <p:stCondLst>
                                            <p:cond delay="1834"/>
                                          </p:stCondLst>
                                        </p:cTn>
                                        <p:tgtEl>
                                          <p:spTgt spid="16">
                                            <p:txEl>
                                              <p:pRg st="5" end="5"/>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6">
                                            <p:txEl>
                                              <p:pRg st="6" end="6"/>
                                            </p:txEl>
                                          </p:spTgt>
                                        </p:tgtEl>
                                        <p:attrNameLst>
                                          <p:attrName>style.visibility</p:attrName>
                                        </p:attrNameLst>
                                      </p:cBhvr>
                                      <p:to>
                                        <p:strVal val="visible"/>
                                      </p:to>
                                    </p:set>
                                    <p:animEffect transition="in" filter="wipe(down)">
                                      <p:cBhvr>
                                        <p:cTn id="103" dur="580">
                                          <p:stCondLst>
                                            <p:cond delay="0"/>
                                          </p:stCondLst>
                                        </p:cTn>
                                        <p:tgtEl>
                                          <p:spTgt spid="16">
                                            <p:txEl>
                                              <p:pRg st="6" end="6"/>
                                            </p:txEl>
                                          </p:spTgt>
                                        </p:tgtEl>
                                      </p:cBhvr>
                                    </p:animEffect>
                                    <p:anim calcmode="lin" valueType="num">
                                      <p:cBhvr>
                                        <p:cTn id="104" dur="1822" tmFilter="0,0; 0.14,0.36; 0.43,0.73; 0.71,0.91; 1.0,1.0">
                                          <p:stCondLst>
                                            <p:cond delay="0"/>
                                          </p:stCondLst>
                                        </p:cTn>
                                        <p:tgtEl>
                                          <p:spTgt spid="16">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6">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6">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6">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6">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16">
                                            <p:txEl>
                                              <p:pRg st="6" end="6"/>
                                            </p:txEl>
                                          </p:spTgt>
                                        </p:tgtEl>
                                      </p:cBhvr>
                                      <p:to x="100000" y="60000"/>
                                    </p:animScale>
                                    <p:animScale>
                                      <p:cBhvr>
                                        <p:cTn id="110" dur="166" decel="50000">
                                          <p:stCondLst>
                                            <p:cond delay="676"/>
                                          </p:stCondLst>
                                        </p:cTn>
                                        <p:tgtEl>
                                          <p:spTgt spid="16">
                                            <p:txEl>
                                              <p:pRg st="6" end="6"/>
                                            </p:txEl>
                                          </p:spTgt>
                                        </p:tgtEl>
                                      </p:cBhvr>
                                      <p:to x="100000" y="100000"/>
                                    </p:animScale>
                                    <p:animScale>
                                      <p:cBhvr>
                                        <p:cTn id="111" dur="26">
                                          <p:stCondLst>
                                            <p:cond delay="1312"/>
                                          </p:stCondLst>
                                        </p:cTn>
                                        <p:tgtEl>
                                          <p:spTgt spid="16">
                                            <p:txEl>
                                              <p:pRg st="6" end="6"/>
                                            </p:txEl>
                                          </p:spTgt>
                                        </p:tgtEl>
                                      </p:cBhvr>
                                      <p:to x="100000" y="80000"/>
                                    </p:animScale>
                                    <p:animScale>
                                      <p:cBhvr>
                                        <p:cTn id="112" dur="166" decel="50000">
                                          <p:stCondLst>
                                            <p:cond delay="1338"/>
                                          </p:stCondLst>
                                        </p:cTn>
                                        <p:tgtEl>
                                          <p:spTgt spid="16">
                                            <p:txEl>
                                              <p:pRg st="6" end="6"/>
                                            </p:txEl>
                                          </p:spTgt>
                                        </p:tgtEl>
                                      </p:cBhvr>
                                      <p:to x="100000" y="100000"/>
                                    </p:animScale>
                                    <p:animScale>
                                      <p:cBhvr>
                                        <p:cTn id="113" dur="26">
                                          <p:stCondLst>
                                            <p:cond delay="1642"/>
                                          </p:stCondLst>
                                        </p:cTn>
                                        <p:tgtEl>
                                          <p:spTgt spid="16">
                                            <p:txEl>
                                              <p:pRg st="6" end="6"/>
                                            </p:txEl>
                                          </p:spTgt>
                                        </p:tgtEl>
                                      </p:cBhvr>
                                      <p:to x="100000" y="90000"/>
                                    </p:animScale>
                                    <p:animScale>
                                      <p:cBhvr>
                                        <p:cTn id="114" dur="166" decel="50000">
                                          <p:stCondLst>
                                            <p:cond delay="1668"/>
                                          </p:stCondLst>
                                        </p:cTn>
                                        <p:tgtEl>
                                          <p:spTgt spid="16">
                                            <p:txEl>
                                              <p:pRg st="6" end="6"/>
                                            </p:txEl>
                                          </p:spTgt>
                                        </p:tgtEl>
                                      </p:cBhvr>
                                      <p:to x="100000" y="100000"/>
                                    </p:animScale>
                                    <p:animScale>
                                      <p:cBhvr>
                                        <p:cTn id="115" dur="26">
                                          <p:stCondLst>
                                            <p:cond delay="1808"/>
                                          </p:stCondLst>
                                        </p:cTn>
                                        <p:tgtEl>
                                          <p:spTgt spid="16">
                                            <p:txEl>
                                              <p:pRg st="6" end="6"/>
                                            </p:txEl>
                                          </p:spTgt>
                                        </p:tgtEl>
                                      </p:cBhvr>
                                      <p:to x="100000" y="95000"/>
                                    </p:animScale>
                                    <p:animScale>
                                      <p:cBhvr>
                                        <p:cTn id="116" dur="166" decel="50000">
                                          <p:stCondLst>
                                            <p:cond delay="1834"/>
                                          </p:stCondLst>
                                        </p:cTn>
                                        <p:tgtEl>
                                          <p:spTgt spid="16">
                                            <p:txEl>
                                              <p:pRg st="6" end="6"/>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6">
                                            <p:txEl>
                                              <p:pRg st="7" end="7"/>
                                            </p:txEl>
                                          </p:spTgt>
                                        </p:tgtEl>
                                        <p:attrNameLst>
                                          <p:attrName>style.visibility</p:attrName>
                                        </p:attrNameLst>
                                      </p:cBhvr>
                                      <p:to>
                                        <p:strVal val="visible"/>
                                      </p:to>
                                    </p:set>
                                    <p:animEffect transition="in" filter="wipe(down)">
                                      <p:cBhvr>
                                        <p:cTn id="119" dur="580">
                                          <p:stCondLst>
                                            <p:cond delay="0"/>
                                          </p:stCondLst>
                                        </p:cTn>
                                        <p:tgtEl>
                                          <p:spTgt spid="16">
                                            <p:txEl>
                                              <p:pRg st="7" end="7"/>
                                            </p:txEl>
                                          </p:spTgt>
                                        </p:tgtEl>
                                      </p:cBhvr>
                                    </p:animEffect>
                                    <p:anim calcmode="lin" valueType="num">
                                      <p:cBhvr>
                                        <p:cTn id="120" dur="1822" tmFilter="0,0; 0.14,0.36; 0.43,0.73; 0.71,0.91; 1.0,1.0">
                                          <p:stCondLst>
                                            <p:cond delay="0"/>
                                          </p:stCondLst>
                                        </p:cTn>
                                        <p:tgtEl>
                                          <p:spTgt spid="16">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xEl>
                                              <p:pRg st="7" end="7"/>
                                            </p:txEl>
                                          </p:spTgt>
                                        </p:tgtEl>
                                      </p:cBhvr>
                                      <p:to x="100000" y="60000"/>
                                    </p:animScale>
                                    <p:animScale>
                                      <p:cBhvr>
                                        <p:cTn id="126" dur="166" decel="50000">
                                          <p:stCondLst>
                                            <p:cond delay="676"/>
                                          </p:stCondLst>
                                        </p:cTn>
                                        <p:tgtEl>
                                          <p:spTgt spid="16">
                                            <p:txEl>
                                              <p:pRg st="7" end="7"/>
                                            </p:txEl>
                                          </p:spTgt>
                                        </p:tgtEl>
                                      </p:cBhvr>
                                      <p:to x="100000" y="100000"/>
                                    </p:animScale>
                                    <p:animScale>
                                      <p:cBhvr>
                                        <p:cTn id="127" dur="26">
                                          <p:stCondLst>
                                            <p:cond delay="1312"/>
                                          </p:stCondLst>
                                        </p:cTn>
                                        <p:tgtEl>
                                          <p:spTgt spid="16">
                                            <p:txEl>
                                              <p:pRg st="7" end="7"/>
                                            </p:txEl>
                                          </p:spTgt>
                                        </p:tgtEl>
                                      </p:cBhvr>
                                      <p:to x="100000" y="80000"/>
                                    </p:animScale>
                                    <p:animScale>
                                      <p:cBhvr>
                                        <p:cTn id="128" dur="166" decel="50000">
                                          <p:stCondLst>
                                            <p:cond delay="1338"/>
                                          </p:stCondLst>
                                        </p:cTn>
                                        <p:tgtEl>
                                          <p:spTgt spid="16">
                                            <p:txEl>
                                              <p:pRg st="7" end="7"/>
                                            </p:txEl>
                                          </p:spTgt>
                                        </p:tgtEl>
                                      </p:cBhvr>
                                      <p:to x="100000" y="100000"/>
                                    </p:animScale>
                                    <p:animScale>
                                      <p:cBhvr>
                                        <p:cTn id="129" dur="26">
                                          <p:stCondLst>
                                            <p:cond delay="1642"/>
                                          </p:stCondLst>
                                        </p:cTn>
                                        <p:tgtEl>
                                          <p:spTgt spid="16">
                                            <p:txEl>
                                              <p:pRg st="7" end="7"/>
                                            </p:txEl>
                                          </p:spTgt>
                                        </p:tgtEl>
                                      </p:cBhvr>
                                      <p:to x="100000" y="90000"/>
                                    </p:animScale>
                                    <p:animScale>
                                      <p:cBhvr>
                                        <p:cTn id="130" dur="166" decel="50000">
                                          <p:stCondLst>
                                            <p:cond delay="1668"/>
                                          </p:stCondLst>
                                        </p:cTn>
                                        <p:tgtEl>
                                          <p:spTgt spid="16">
                                            <p:txEl>
                                              <p:pRg st="7" end="7"/>
                                            </p:txEl>
                                          </p:spTgt>
                                        </p:tgtEl>
                                      </p:cBhvr>
                                      <p:to x="100000" y="100000"/>
                                    </p:animScale>
                                    <p:animScale>
                                      <p:cBhvr>
                                        <p:cTn id="131" dur="26">
                                          <p:stCondLst>
                                            <p:cond delay="1808"/>
                                          </p:stCondLst>
                                        </p:cTn>
                                        <p:tgtEl>
                                          <p:spTgt spid="16">
                                            <p:txEl>
                                              <p:pRg st="7" end="7"/>
                                            </p:txEl>
                                          </p:spTgt>
                                        </p:tgtEl>
                                      </p:cBhvr>
                                      <p:to x="100000" y="95000"/>
                                    </p:animScale>
                                    <p:animScale>
                                      <p:cBhvr>
                                        <p:cTn id="132" dur="166" decel="50000">
                                          <p:stCondLst>
                                            <p:cond delay="1834"/>
                                          </p:stCondLst>
                                        </p:cTn>
                                        <p:tgtEl>
                                          <p:spTgt spid="16">
                                            <p:txEl>
                                              <p:pRg st="7" end="7"/>
                                            </p:txEl>
                                          </p:spTgt>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16">
                                            <p:txEl>
                                              <p:pRg st="8" end="8"/>
                                            </p:txEl>
                                          </p:spTgt>
                                        </p:tgtEl>
                                        <p:attrNameLst>
                                          <p:attrName>style.visibility</p:attrName>
                                        </p:attrNameLst>
                                      </p:cBhvr>
                                      <p:to>
                                        <p:strVal val="visible"/>
                                      </p:to>
                                    </p:set>
                                    <p:animEffect transition="in" filter="wipe(down)">
                                      <p:cBhvr>
                                        <p:cTn id="135" dur="580">
                                          <p:stCondLst>
                                            <p:cond delay="0"/>
                                          </p:stCondLst>
                                        </p:cTn>
                                        <p:tgtEl>
                                          <p:spTgt spid="16">
                                            <p:txEl>
                                              <p:pRg st="8" end="8"/>
                                            </p:txEl>
                                          </p:spTgt>
                                        </p:tgtEl>
                                      </p:cBhvr>
                                    </p:animEffect>
                                    <p:anim calcmode="lin" valueType="num">
                                      <p:cBhvr>
                                        <p:cTn id="136" dur="1822" tmFilter="0,0; 0.14,0.36; 0.43,0.73; 0.71,0.91; 1.0,1.0">
                                          <p:stCondLst>
                                            <p:cond delay="0"/>
                                          </p:stCondLst>
                                        </p:cTn>
                                        <p:tgtEl>
                                          <p:spTgt spid="16">
                                            <p:txEl>
                                              <p:pRg st="8" end="8"/>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6">
                                            <p:txEl>
                                              <p:pRg st="8" end="8"/>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6">
                                            <p:txEl>
                                              <p:pRg st="8" end="8"/>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6">
                                            <p:txEl>
                                              <p:pRg st="8" end="8"/>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6">
                                            <p:txEl>
                                              <p:pRg st="8" end="8"/>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16">
                                            <p:txEl>
                                              <p:pRg st="8" end="8"/>
                                            </p:txEl>
                                          </p:spTgt>
                                        </p:tgtEl>
                                      </p:cBhvr>
                                      <p:to x="100000" y="60000"/>
                                    </p:animScale>
                                    <p:animScale>
                                      <p:cBhvr>
                                        <p:cTn id="142" dur="166" decel="50000">
                                          <p:stCondLst>
                                            <p:cond delay="676"/>
                                          </p:stCondLst>
                                        </p:cTn>
                                        <p:tgtEl>
                                          <p:spTgt spid="16">
                                            <p:txEl>
                                              <p:pRg st="8" end="8"/>
                                            </p:txEl>
                                          </p:spTgt>
                                        </p:tgtEl>
                                      </p:cBhvr>
                                      <p:to x="100000" y="100000"/>
                                    </p:animScale>
                                    <p:animScale>
                                      <p:cBhvr>
                                        <p:cTn id="143" dur="26">
                                          <p:stCondLst>
                                            <p:cond delay="1312"/>
                                          </p:stCondLst>
                                        </p:cTn>
                                        <p:tgtEl>
                                          <p:spTgt spid="16">
                                            <p:txEl>
                                              <p:pRg st="8" end="8"/>
                                            </p:txEl>
                                          </p:spTgt>
                                        </p:tgtEl>
                                      </p:cBhvr>
                                      <p:to x="100000" y="80000"/>
                                    </p:animScale>
                                    <p:animScale>
                                      <p:cBhvr>
                                        <p:cTn id="144" dur="166" decel="50000">
                                          <p:stCondLst>
                                            <p:cond delay="1338"/>
                                          </p:stCondLst>
                                        </p:cTn>
                                        <p:tgtEl>
                                          <p:spTgt spid="16">
                                            <p:txEl>
                                              <p:pRg st="8" end="8"/>
                                            </p:txEl>
                                          </p:spTgt>
                                        </p:tgtEl>
                                      </p:cBhvr>
                                      <p:to x="100000" y="100000"/>
                                    </p:animScale>
                                    <p:animScale>
                                      <p:cBhvr>
                                        <p:cTn id="145" dur="26">
                                          <p:stCondLst>
                                            <p:cond delay="1642"/>
                                          </p:stCondLst>
                                        </p:cTn>
                                        <p:tgtEl>
                                          <p:spTgt spid="16">
                                            <p:txEl>
                                              <p:pRg st="8" end="8"/>
                                            </p:txEl>
                                          </p:spTgt>
                                        </p:tgtEl>
                                      </p:cBhvr>
                                      <p:to x="100000" y="90000"/>
                                    </p:animScale>
                                    <p:animScale>
                                      <p:cBhvr>
                                        <p:cTn id="146" dur="166" decel="50000">
                                          <p:stCondLst>
                                            <p:cond delay="1668"/>
                                          </p:stCondLst>
                                        </p:cTn>
                                        <p:tgtEl>
                                          <p:spTgt spid="16">
                                            <p:txEl>
                                              <p:pRg st="8" end="8"/>
                                            </p:txEl>
                                          </p:spTgt>
                                        </p:tgtEl>
                                      </p:cBhvr>
                                      <p:to x="100000" y="100000"/>
                                    </p:animScale>
                                    <p:animScale>
                                      <p:cBhvr>
                                        <p:cTn id="147" dur="26">
                                          <p:stCondLst>
                                            <p:cond delay="1808"/>
                                          </p:stCondLst>
                                        </p:cTn>
                                        <p:tgtEl>
                                          <p:spTgt spid="16">
                                            <p:txEl>
                                              <p:pRg st="8" end="8"/>
                                            </p:txEl>
                                          </p:spTgt>
                                        </p:tgtEl>
                                      </p:cBhvr>
                                      <p:to x="100000" y="95000"/>
                                    </p:animScale>
                                    <p:animScale>
                                      <p:cBhvr>
                                        <p:cTn id="148" dur="166" decel="50000">
                                          <p:stCondLst>
                                            <p:cond delay="1834"/>
                                          </p:stCondLst>
                                        </p:cTn>
                                        <p:tgtEl>
                                          <p:spTgt spid="16">
                                            <p:txEl>
                                              <p:pRg st="8" end="8"/>
                                            </p:txEl>
                                          </p:spTgt>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6">
                                            <p:txEl>
                                              <p:pRg st="9" end="9"/>
                                            </p:txEl>
                                          </p:spTgt>
                                        </p:tgtEl>
                                        <p:attrNameLst>
                                          <p:attrName>style.visibility</p:attrName>
                                        </p:attrNameLst>
                                      </p:cBhvr>
                                      <p:to>
                                        <p:strVal val="visible"/>
                                      </p:to>
                                    </p:set>
                                    <p:animEffect transition="in" filter="wipe(down)">
                                      <p:cBhvr>
                                        <p:cTn id="151" dur="580">
                                          <p:stCondLst>
                                            <p:cond delay="0"/>
                                          </p:stCondLst>
                                        </p:cTn>
                                        <p:tgtEl>
                                          <p:spTgt spid="16">
                                            <p:txEl>
                                              <p:pRg st="9" end="9"/>
                                            </p:txEl>
                                          </p:spTgt>
                                        </p:tgtEl>
                                      </p:cBhvr>
                                    </p:animEffect>
                                    <p:anim calcmode="lin" valueType="num">
                                      <p:cBhvr>
                                        <p:cTn id="152" dur="1822" tmFilter="0,0; 0.14,0.36; 0.43,0.73; 0.71,0.91; 1.0,1.0">
                                          <p:stCondLst>
                                            <p:cond delay="0"/>
                                          </p:stCondLst>
                                        </p:cTn>
                                        <p:tgtEl>
                                          <p:spTgt spid="16">
                                            <p:txEl>
                                              <p:pRg st="9" end="9"/>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6">
                                            <p:txEl>
                                              <p:pRg st="9" end="9"/>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6">
                                            <p:txEl>
                                              <p:pRg st="9" end="9"/>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6">
                                            <p:txEl>
                                              <p:pRg st="9" end="9"/>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6">
                                            <p:txEl>
                                              <p:pRg st="9" end="9"/>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16">
                                            <p:txEl>
                                              <p:pRg st="9" end="9"/>
                                            </p:txEl>
                                          </p:spTgt>
                                        </p:tgtEl>
                                      </p:cBhvr>
                                      <p:to x="100000" y="60000"/>
                                    </p:animScale>
                                    <p:animScale>
                                      <p:cBhvr>
                                        <p:cTn id="158" dur="166" decel="50000">
                                          <p:stCondLst>
                                            <p:cond delay="676"/>
                                          </p:stCondLst>
                                        </p:cTn>
                                        <p:tgtEl>
                                          <p:spTgt spid="16">
                                            <p:txEl>
                                              <p:pRg st="9" end="9"/>
                                            </p:txEl>
                                          </p:spTgt>
                                        </p:tgtEl>
                                      </p:cBhvr>
                                      <p:to x="100000" y="100000"/>
                                    </p:animScale>
                                    <p:animScale>
                                      <p:cBhvr>
                                        <p:cTn id="159" dur="26">
                                          <p:stCondLst>
                                            <p:cond delay="1312"/>
                                          </p:stCondLst>
                                        </p:cTn>
                                        <p:tgtEl>
                                          <p:spTgt spid="16">
                                            <p:txEl>
                                              <p:pRg st="9" end="9"/>
                                            </p:txEl>
                                          </p:spTgt>
                                        </p:tgtEl>
                                      </p:cBhvr>
                                      <p:to x="100000" y="80000"/>
                                    </p:animScale>
                                    <p:animScale>
                                      <p:cBhvr>
                                        <p:cTn id="160" dur="166" decel="50000">
                                          <p:stCondLst>
                                            <p:cond delay="1338"/>
                                          </p:stCondLst>
                                        </p:cTn>
                                        <p:tgtEl>
                                          <p:spTgt spid="16">
                                            <p:txEl>
                                              <p:pRg st="9" end="9"/>
                                            </p:txEl>
                                          </p:spTgt>
                                        </p:tgtEl>
                                      </p:cBhvr>
                                      <p:to x="100000" y="100000"/>
                                    </p:animScale>
                                    <p:animScale>
                                      <p:cBhvr>
                                        <p:cTn id="161" dur="26">
                                          <p:stCondLst>
                                            <p:cond delay="1642"/>
                                          </p:stCondLst>
                                        </p:cTn>
                                        <p:tgtEl>
                                          <p:spTgt spid="16">
                                            <p:txEl>
                                              <p:pRg st="9" end="9"/>
                                            </p:txEl>
                                          </p:spTgt>
                                        </p:tgtEl>
                                      </p:cBhvr>
                                      <p:to x="100000" y="90000"/>
                                    </p:animScale>
                                    <p:animScale>
                                      <p:cBhvr>
                                        <p:cTn id="162" dur="166" decel="50000">
                                          <p:stCondLst>
                                            <p:cond delay="1668"/>
                                          </p:stCondLst>
                                        </p:cTn>
                                        <p:tgtEl>
                                          <p:spTgt spid="16">
                                            <p:txEl>
                                              <p:pRg st="9" end="9"/>
                                            </p:txEl>
                                          </p:spTgt>
                                        </p:tgtEl>
                                      </p:cBhvr>
                                      <p:to x="100000" y="100000"/>
                                    </p:animScale>
                                    <p:animScale>
                                      <p:cBhvr>
                                        <p:cTn id="163" dur="26">
                                          <p:stCondLst>
                                            <p:cond delay="1808"/>
                                          </p:stCondLst>
                                        </p:cTn>
                                        <p:tgtEl>
                                          <p:spTgt spid="16">
                                            <p:txEl>
                                              <p:pRg st="9" end="9"/>
                                            </p:txEl>
                                          </p:spTgt>
                                        </p:tgtEl>
                                      </p:cBhvr>
                                      <p:to x="100000" y="95000"/>
                                    </p:animScale>
                                    <p:animScale>
                                      <p:cBhvr>
                                        <p:cTn id="164" dur="166" decel="50000">
                                          <p:stCondLst>
                                            <p:cond delay="1834"/>
                                          </p:stCondLst>
                                        </p:cTn>
                                        <p:tgtEl>
                                          <p:spTgt spid="16">
                                            <p:txEl>
                                              <p:pRg st="9" end="9"/>
                                            </p:txEl>
                                          </p:spTgt>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6">
                                            <p:txEl>
                                              <p:pRg st="10" end="10"/>
                                            </p:txEl>
                                          </p:spTgt>
                                        </p:tgtEl>
                                        <p:attrNameLst>
                                          <p:attrName>style.visibility</p:attrName>
                                        </p:attrNameLst>
                                      </p:cBhvr>
                                      <p:to>
                                        <p:strVal val="visible"/>
                                      </p:to>
                                    </p:set>
                                    <p:animEffect transition="in" filter="wipe(down)">
                                      <p:cBhvr>
                                        <p:cTn id="167" dur="580">
                                          <p:stCondLst>
                                            <p:cond delay="0"/>
                                          </p:stCondLst>
                                        </p:cTn>
                                        <p:tgtEl>
                                          <p:spTgt spid="16">
                                            <p:txEl>
                                              <p:pRg st="10" end="10"/>
                                            </p:txEl>
                                          </p:spTgt>
                                        </p:tgtEl>
                                      </p:cBhvr>
                                    </p:animEffect>
                                    <p:anim calcmode="lin" valueType="num">
                                      <p:cBhvr>
                                        <p:cTn id="168" dur="1822" tmFilter="0,0; 0.14,0.36; 0.43,0.73; 0.71,0.91; 1.0,1.0">
                                          <p:stCondLst>
                                            <p:cond delay="0"/>
                                          </p:stCondLst>
                                        </p:cTn>
                                        <p:tgtEl>
                                          <p:spTgt spid="16">
                                            <p:txEl>
                                              <p:pRg st="10" end="10"/>
                                            </p:txEl>
                                          </p:spTgt>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6">
                                            <p:txEl>
                                              <p:pRg st="10" end="10"/>
                                            </p:txEl>
                                          </p:spTgt>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6">
                                            <p:txEl>
                                              <p:pRg st="10" end="10"/>
                                            </p:txEl>
                                          </p:spTgt>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6">
                                            <p:txEl>
                                              <p:pRg st="10" end="10"/>
                                            </p:txEl>
                                          </p:spTgt>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6">
                                            <p:txEl>
                                              <p:pRg st="10" end="10"/>
                                            </p:txEl>
                                          </p:spTgt>
                                        </p:tgtEl>
                                        <p:attrNameLst>
                                          <p:attrName>ppt_y</p:attrName>
                                        </p:attrNameLst>
                                      </p:cBhvr>
                                      <p:tavLst>
                                        <p:tav tm="0" fmla="#ppt_y-sin(pi*$)/81">
                                          <p:val>
                                            <p:fltVal val="0"/>
                                          </p:val>
                                        </p:tav>
                                        <p:tav tm="100000">
                                          <p:val>
                                            <p:fltVal val="1"/>
                                          </p:val>
                                        </p:tav>
                                      </p:tavLst>
                                    </p:anim>
                                    <p:animScale>
                                      <p:cBhvr>
                                        <p:cTn id="173" dur="26">
                                          <p:stCondLst>
                                            <p:cond delay="650"/>
                                          </p:stCondLst>
                                        </p:cTn>
                                        <p:tgtEl>
                                          <p:spTgt spid="16">
                                            <p:txEl>
                                              <p:pRg st="10" end="10"/>
                                            </p:txEl>
                                          </p:spTgt>
                                        </p:tgtEl>
                                      </p:cBhvr>
                                      <p:to x="100000" y="60000"/>
                                    </p:animScale>
                                    <p:animScale>
                                      <p:cBhvr>
                                        <p:cTn id="174" dur="166" decel="50000">
                                          <p:stCondLst>
                                            <p:cond delay="676"/>
                                          </p:stCondLst>
                                        </p:cTn>
                                        <p:tgtEl>
                                          <p:spTgt spid="16">
                                            <p:txEl>
                                              <p:pRg st="10" end="10"/>
                                            </p:txEl>
                                          </p:spTgt>
                                        </p:tgtEl>
                                      </p:cBhvr>
                                      <p:to x="100000" y="100000"/>
                                    </p:animScale>
                                    <p:animScale>
                                      <p:cBhvr>
                                        <p:cTn id="175" dur="26">
                                          <p:stCondLst>
                                            <p:cond delay="1312"/>
                                          </p:stCondLst>
                                        </p:cTn>
                                        <p:tgtEl>
                                          <p:spTgt spid="16">
                                            <p:txEl>
                                              <p:pRg st="10" end="10"/>
                                            </p:txEl>
                                          </p:spTgt>
                                        </p:tgtEl>
                                      </p:cBhvr>
                                      <p:to x="100000" y="80000"/>
                                    </p:animScale>
                                    <p:animScale>
                                      <p:cBhvr>
                                        <p:cTn id="176" dur="166" decel="50000">
                                          <p:stCondLst>
                                            <p:cond delay="1338"/>
                                          </p:stCondLst>
                                        </p:cTn>
                                        <p:tgtEl>
                                          <p:spTgt spid="16">
                                            <p:txEl>
                                              <p:pRg st="10" end="10"/>
                                            </p:txEl>
                                          </p:spTgt>
                                        </p:tgtEl>
                                      </p:cBhvr>
                                      <p:to x="100000" y="100000"/>
                                    </p:animScale>
                                    <p:animScale>
                                      <p:cBhvr>
                                        <p:cTn id="177" dur="26">
                                          <p:stCondLst>
                                            <p:cond delay="1642"/>
                                          </p:stCondLst>
                                        </p:cTn>
                                        <p:tgtEl>
                                          <p:spTgt spid="16">
                                            <p:txEl>
                                              <p:pRg st="10" end="10"/>
                                            </p:txEl>
                                          </p:spTgt>
                                        </p:tgtEl>
                                      </p:cBhvr>
                                      <p:to x="100000" y="90000"/>
                                    </p:animScale>
                                    <p:animScale>
                                      <p:cBhvr>
                                        <p:cTn id="178" dur="166" decel="50000">
                                          <p:stCondLst>
                                            <p:cond delay="1668"/>
                                          </p:stCondLst>
                                        </p:cTn>
                                        <p:tgtEl>
                                          <p:spTgt spid="16">
                                            <p:txEl>
                                              <p:pRg st="10" end="10"/>
                                            </p:txEl>
                                          </p:spTgt>
                                        </p:tgtEl>
                                      </p:cBhvr>
                                      <p:to x="100000" y="100000"/>
                                    </p:animScale>
                                    <p:animScale>
                                      <p:cBhvr>
                                        <p:cTn id="179" dur="26">
                                          <p:stCondLst>
                                            <p:cond delay="1808"/>
                                          </p:stCondLst>
                                        </p:cTn>
                                        <p:tgtEl>
                                          <p:spTgt spid="16">
                                            <p:txEl>
                                              <p:pRg st="10" end="10"/>
                                            </p:txEl>
                                          </p:spTgt>
                                        </p:tgtEl>
                                      </p:cBhvr>
                                      <p:to x="100000" y="95000"/>
                                    </p:animScale>
                                    <p:animScale>
                                      <p:cBhvr>
                                        <p:cTn id="180" dur="166" decel="50000">
                                          <p:stCondLst>
                                            <p:cond delay="1834"/>
                                          </p:stCondLst>
                                        </p:cTn>
                                        <p:tgtEl>
                                          <p:spTgt spid="16">
                                            <p:txEl>
                                              <p:pRg st="10" end="10"/>
                                            </p:txEl>
                                          </p:spTgt>
                                        </p:tgtEl>
                                      </p:cBhvr>
                                      <p:to x="100000" y="100000"/>
                                    </p:animScale>
                                  </p:childTnLst>
                                </p:cTn>
                              </p:par>
                              <p:par>
                                <p:cTn id="181" presetID="26" presetClass="entr" presetSubtype="0" fill="hold" nodeType="withEffect">
                                  <p:stCondLst>
                                    <p:cond delay="0"/>
                                  </p:stCondLst>
                                  <p:childTnLst>
                                    <p:set>
                                      <p:cBhvr>
                                        <p:cTn id="182" dur="1" fill="hold">
                                          <p:stCondLst>
                                            <p:cond delay="0"/>
                                          </p:stCondLst>
                                        </p:cTn>
                                        <p:tgtEl>
                                          <p:spTgt spid="16">
                                            <p:txEl>
                                              <p:pRg st="11" end="11"/>
                                            </p:txEl>
                                          </p:spTgt>
                                        </p:tgtEl>
                                        <p:attrNameLst>
                                          <p:attrName>style.visibility</p:attrName>
                                        </p:attrNameLst>
                                      </p:cBhvr>
                                      <p:to>
                                        <p:strVal val="visible"/>
                                      </p:to>
                                    </p:set>
                                    <p:animEffect transition="in" filter="wipe(down)">
                                      <p:cBhvr>
                                        <p:cTn id="183" dur="580">
                                          <p:stCondLst>
                                            <p:cond delay="0"/>
                                          </p:stCondLst>
                                        </p:cTn>
                                        <p:tgtEl>
                                          <p:spTgt spid="16">
                                            <p:txEl>
                                              <p:pRg st="11" end="11"/>
                                            </p:txEl>
                                          </p:spTgt>
                                        </p:tgtEl>
                                      </p:cBhvr>
                                    </p:animEffect>
                                    <p:anim calcmode="lin" valueType="num">
                                      <p:cBhvr>
                                        <p:cTn id="184" dur="1822" tmFilter="0,0; 0.14,0.36; 0.43,0.73; 0.71,0.91; 1.0,1.0">
                                          <p:stCondLst>
                                            <p:cond delay="0"/>
                                          </p:stCondLst>
                                        </p:cTn>
                                        <p:tgtEl>
                                          <p:spTgt spid="16">
                                            <p:txEl>
                                              <p:pRg st="11" end="11"/>
                                            </p:txEl>
                                          </p:spTgt>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6">
                                            <p:txEl>
                                              <p:pRg st="11" end="11"/>
                                            </p:txEl>
                                          </p:spTgt>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6">
                                            <p:txEl>
                                              <p:pRg st="11" end="11"/>
                                            </p:txEl>
                                          </p:spTgt>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6">
                                            <p:txEl>
                                              <p:pRg st="11" end="11"/>
                                            </p:txEl>
                                          </p:spTgt>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6">
                                            <p:txEl>
                                              <p:pRg st="11" end="11"/>
                                            </p:txEl>
                                          </p:spTgt>
                                        </p:tgtEl>
                                        <p:attrNameLst>
                                          <p:attrName>ppt_y</p:attrName>
                                        </p:attrNameLst>
                                      </p:cBhvr>
                                      <p:tavLst>
                                        <p:tav tm="0" fmla="#ppt_y-sin(pi*$)/81">
                                          <p:val>
                                            <p:fltVal val="0"/>
                                          </p:val>
                                        </p:tav>
                                        <p:tav tm="100000">
                                          <p:val>
                                            <p:fltVal val="1"/>
                                          </p:val>
                                        </p:tav>
                                      </p:tavLst>
                                    </p:anim>
                                    <p:animScale>
                                      <p:cBhvr>
                                        <p:cTn id="189" dur="26">
                                          <p:stCondLst>
                                            <p:cond delay="650"/>
                                          </p:stCondLst>
                                        </p:cTn>
                                        <p:tgtEl>
                                          <p:spTgt spid="16">
                                            <p:txEl>
                                              <p:pRg st="11" end="11"/>
                                            </p:txEl>
                                          </p:spTgt>
                                        </p:tgtEl>
                                      </p:cBhvr>
                                      <p:to x="100000" y="60000"/>
                                    </p:animScale>
                                    <p:animScale>
                                      <p:cBhvr>
                                        <p:cTn id="190" dur="166" decel="50000">
                                          <p:stCondLst>
                                            <p:cond delay="676"/>
                                          </p:stCondLst>
                                        </p:cTn>
                                        <p:tgtEl>
                                          <p:spTgt spid="16">
                                            <p:txEl>
                                              <p:pRg st="11" end="11"/>
                                            </p:txEl>
                                          </p:spTgt>
                                        </p:tgtEl>
                                      </p:cBhvr>
                                      <p:to x="100000" y="100000"/>
                                    </p:animScale>
                                    <p:animScale>
                                      <p:cBhvr>
                                        <p:cTn id="191" dur="26">
                                          <p:stCondLst>
                                            <p:cond delay="1312"/>
                                          </p:stCondLst>
                                        </p:cTn>
                                        <p:tgtEl>
                                          <p:spTgt spid="16">
                                            <p:txEl>
                                              <p:pRg st="11" end="11"/>
                                            </p:txEl>
                                          </p:spTgt>
                                        </p:tgtEl>
                                      </p:cBhvr>
                                      <p:to x="100000" y="80000"/>
                                    </p:animScale>
                                    <p:animScale>
                                      <p:cBhvr>
                                        <p:cTn id="192" dur="166" decel="50000">
                                          <p:stCondLst>
                                            <p:cond delay="1338"/>
                                          </p:stCondLst>
                                        </p:cTn>
                                        <p:tgtEl>
                                          <p:spTgt spid="16">
                                            <p:txEl>
                                              <p:pRg st="11" end="11"/>
                                            </p:txEl>
                                          </p:spTgt>
                                        </p:tgtEl>
                                      </p:cBhvr>
                                      <p:to x="100000" y="100000"/>
                                    </p:animScale>
                                    <p:animScale>
                                      <p:cBhvr>
                                        <p:cTn id="193" dur="26">
                                          <p:stCondLst>
                                            <p:cond delay="1642"/>
                                          </p:stCondLst>
                                        </p:cTn>
                                        <p:tgtEl>
                                          <p:spTgt spid="16">
                                            <p:txEl>
                                              <p:pRg st="11" end="11"/>
                                            </p:txEl>
                                          </p:spTgt>
                                        </p:tgtEl>
                                      </p:cBhvr>
                                      <p:to x="100000" y="90000"/>
                                    </p:animScale>
                                    <p:animScale>
                                      <p:cBhvr>
                                        <p:cTn id="194" dur="166" decel="50000">
                                          <p:stCondLst>
                                            <p:cond delay="1668"/>
                                          </p:stCondLst>
                                        </p:cTn>
                                        <p:tgtEl>
                                          <p:spTgt spid="16">
                                            <p:txEl>
                                              <p:pRg st="11" end="11"/>
                                            </p:txEl>
                                          </p:spTgt>
                                        </p:tgtEl>
                                      </p:cBhvr>
                                      <p:to x="100000" y="100000"/>
                                    </p:animScale>
                                    <p:animScale>
                                      <p:cBhvr>
                                        <p:cTn id="195" dur="26">
                                          <p:stCondLst>
                                            <p:cond delay="1808"/>
                                          </p:stCondLst>
                                        </p:cTn>
                                        <p:tgtEl>
                                          <p:spTgt spid="16">
                                            <p:txEl>
                                              <p:pRg st="11" end="11"/>
                                            </p:txEl>
                                          </p:spTgt>
                                        </p:tgtEl>
                                      </p:cBhvr>
                                      <p:to x="100000" y="95000"/>
                                    </p:animScale>
                                    <p:animScale>
                                      <p:cBhvr>
                                        <p:cTn id="196" dur="166" decel="50000">
                                          <p:stCondLst>
                                            <p:cond delay="1834"/>
                                          </p:stCondLst>
                                        </p:cTn>
                                        <p:tgtEl>
                                          <p:spTgt spid="16">
                                            <p:txEl>
                                              <p:pRg st="11" end="11"/>
                                            </p:txEl>
                                          </p:spTgt>
                                        </p:tgtEl>
                                      </p:cBhvr>
                                      <p:to x="100000" y="100000"/>
                                    </p:animScale>
                                  </p:childTnLst>
                                </p:cTn>
                              </p:par>
                              <p:par>
                                <p:cTn id="197" presetID="26" presetClass="entr" presetSubtype="0" fill="hold" nodeType="withEffect">
                                  <p:stCondLst>
                                    <p:cond delay="0"/>
                                  </p:stCondLst>
                                  <p:childTnLst>
                                    <p:set>
                                      <p:cBhvr>
                                        <p:cTn id="198" dur="1" fill="hold">
                                          <p:stCondLst>
                                            <p:cond delay="0"/>
                                          </p:stCondLst>
                                        </p:cTn>
                                        <p:tgtEl>
                                          <p:spTgt spid="16">
                                            <p:txEl>
                                              <p:pRg st="12" end="12"/>
                                            </p:txEl>
                                          </p:spTgt>
                                        </p:tgtEl>
                                        <p:attrNameLst>
                                          <p:attrName>style.visibility</p:attrName>
                                        </p:attrNameLst>
                                      </p:cBhvr>
                                      <p:to>
                                        <p:strVal val="visible"/>
                                      </p:to>
                                    </p:set>
                                    <p:animEffect transition="in" filter="wipe(down)">
                                      <p:cBhvr>
                                        <p:cTn id="199" dur="580">
                                          <p:stCondLst>
                                            <p:cond delay="0"/>
                                          </p:stCondLst>
                                        </p:cTn>
                                        <p:tgtEl>
                                          <p:spTgt spid="16">
                                            <p:txEl>
                                              <p:pRg st="12" end="12"/>
                                            </p:txEl>
                                          </p:spTgt>
                                        </p:tgtEl>
                                      </p:cBhvr>
                                    </p:animEffect>
                                    <p:anim calcmode="lin" valueType="num">
                                      <p:cBhvr>
                                        <p:cTn id="200" dur="1822" tmFilter="0,0; 0.14,0.36; 0.43,0.73; 0.71,0.91; 1.0,1.0">
                                          <p:stCondLst>
                                            <p:cond delay="0"/>
                                          </p:stCondLst>
                                        </p:cTn>
                                        <p:tgtEl>
                                          <p:spTgt spid="16">
                                            <p:txEl>
                                              <p:pRg st="12" end="12"/>
                                            </p:txEl>
                                          </p:spTgt>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6">
                                            <p:txEl>
                                              <p:pRg st="12" end="12"/>
                                            </p:txEl>
                                          </p:spTgt>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6">
                                            <p:txEl>
                                              <p:pRg st="12" end="12"/>
                                            </p:txEl>
                                          </p:spTgt>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6">
                                            <p:txEl>
                                              <p:pRg st="12" end="12"/>
                                            </p:txEl>
                                          </p:spTgt>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6">
                                            <p:txEl>
                                              <p:pRg st="12" end="12"/>
                                            </p:txEl>
                                          </p:spTgt>
                                        </p:tgtEl>
                                        <p:attrNameLst>
                                          <p:attrName>ppt_y</p:attrName>
                                        </p:attrNameLst>
                                      </p:cBhvr>
                                      <p:tavLst>
                                        <p:tav tm="0" fmla="#ppt_y-sin(pi*$)/81">
                                          <p:val>
                                            <p:fltVal val="0"/>
                                          </p:val>
                                        </p:tav>
                                        <p:tav tm="100000">
                                          <p:val>
                                            <p:fltVal val="1"/>
                                          </p:val>
                                        </p:tav>
                                      </p:tavLst>
                                    </p:anim>
                                    <p:animScale>
                                      <p:cBhvr>
                                        <p:cTn id="205" dur="26">
                                          <p:stCondLst>
                                            <p:cond delay="650"/>
                                          </p:stCondLst>
                                        </p:cTn>
                                        <p:tgtEl>
                                          <p:spTgt spid="16">
                                            <p:txEl>
                                              <p:pRg st="12" end="12"/>
                                            </p:txEl>
                                          </p:spTgt>
                                        </p:tgtEl>
                                      </p:cBhvr>
                                      <p:to x="100000" y="60000"/>
                                    </p:animScale>
                                    <p:animScale>
                                      <p:cBhvr>
                                        <p:cTn id="206" dur="166" decel="50000">
                                          <p:stCondLst>
                                            <p:cond delay="676"/>
                                          </p:stCondLst>
                                        </p:cTn>
                                        <p:tgtEl>
                                          <p:spTgt spid="16">
                                            <p:txEl>
                                              <p:pRg st="12" end="12"/>
                                            </p:txEl>
                                          </p:spTgt>
                                        </p:tgtEl>
                                      </p:cBhvr>
                                      <p:to x="100000" y="100000"/>
                                    </p:animScale>
                                    <p:animScale>
                                      <p:cBhvr>
                                        <p:cTn id="207" dur="26">
                                          <p:stCondLst>
                                            <p:cond delay="1312"/>
                                          </p:stCondLst>
                                        </p:cTn>
                                        <p:tgtEl>
                                          <p:spTgt spid="16">
                                            <p:txEl>
                                              <p:pRg st="12" end="12"/>
                                            </p:txEl>
                                          </p:spTgt>
                                        </p:tgtEl>
                                      </p:cBhvr>
                                      <p:to x="100000" y="80000"/>
                                    </p:animScale>
                                    <p:animScale>
                                      <p:cBhvr>
                                        <p:cTn id="208" dur="166" decel="50000">
                                          <p:stCondLst>
                                            <p:cond delay="1338"/>
                                          </p:stCondLst>
                                        </p:cTn>
                                        <p:tgtEl>
                                          <p:spTgt spid="16">
                                            <p:txEl>
                                              <p:pRg st="12" end="12"/>
                                            </p:txEl>
                                          </p:spTgt>
                                        </p:tgtEl>
                                      </p:cBhvr>
                                      <p:to x="100000" y="100000"/>
                                    </p:animScale>
                                    <p:animScale>
                                      <p:cBhvr>
                                        <p:cTn id="209" dur="26">
                                          <p:stCondLst>
                                            <p:cond delay="1642"/>
                                          </p:stCondLst>
                                        </p:cTn>
                                        <p:tgtEl>
                                          <p:spTgt spid="16">
                                            <p:txEl>
                                              <p:pRg st="12" end="12"/>
                                            </p:txEl>
                                          </p:spTgt>
                                        </p:tgtEl>
                                      </p:cBhvr>
                                      <p:to x="100000" y="90000"/>
                                    </p:animScale>
                                    <p:animScale>
                                      <p:cBhvr>
                                        <p:cTn id="210" dur="166" decel="50000">
                                          <p:stCondLst>
                                            <p:cond delay="1668"/>
                                          </p:stCondLst>
                                        </p:cTn>
                                        <p:tgtEl>
                                          <p:spTgt spid="16">
                                            <p:txEl>
                                              <p:pRg st="12" end="12"/>
                                            </p:txEl>
                                          </p:spTgt>
                                        </p:tgtEl>
                                      </p:cBhvr>
                                      <p:to x="100000" y="100000"/>
                                    </p:animScale>
                                    <p:animScale>
                                      <p:cBhvr>
                                        <p:cTn id="211" dur="26">
                                          <p:stCondLst>
                                            <p:cond delay="1808"/>
                                          </p:stCondLst>
                                        </p:cTn>
                                        <p:tgtEl>
                                          <p:spTgt spid="16">
                                            <p:txEl>
                                              <p:pRg st="12" end="12"/>
                                            </p:txEl>
                                          </p:spTgt>
                                        </p:tgtEl>
                                      </p:cBhvr>
                                      <p:to x="100000" y="95000"/>
                                    </p:animScale>
                                    <p:animScale>
                                      <p:cBhvr>
                                        <p:cTn id="212" dur="166" decel="50000">
                                          <p:stCondLst>
                                            <p:cond delay="1834"/>
                                          </p:stCondLst>
                                        </p:cTn>
                                        <p:tgtEl>
                                          <p:spTgt spid="16">
                                            <p:txEl>
                                              <p:pRg st="12" end="12"/>
                                            </p:txEl>
                                          </p:spTgt>
                                        </p:tgtEl>
                                      </p:cBhvr>
                                      <p:to x="100000" y="100000"/>
                                    </p:animScale>
                                  </p:childTnLst>
                                </p:cTn>
                              </p:par>
                              <p:par>
                                <p:cTn id="213" presetID="26" presetClass="entr" presetSubtype="0" fill="hold" nodeType="withEffect">
                                  <p:stCondLst>
                                    <p:cond delay="0"/>
                                  </p:stCondLst>
                                  <p:childTnLst>
                                    <p:set>
                                      <p:cBhvr>
                                        <p:cTn id="214" dur="1" fill="hold">
                                          <p:stCondLst>
                                            <p:cond delay="0"/>
                                          </p:stCondLst>
                                        </p:cTn>
                                        <p:tgtEl>
                                          <p:spTgt spid="16">
                                            <p:txEl>
                                              <p:pRg st="13" end="13"/>
                                            </p:txEl>
                                          </p:spTgt>
                                        </p:tgtEl>
                                        <p:attrNameLst>
                                          <p:attrName>style.visibility</p:attrName>
                                        </p:attrNameLst>
                                      </p:cBhvr>
                                      <p:to>
                                        <p:strVal val="visible"/>
                                      </p:to>
                                    </p:set>
                                    <p:animEffect transition="in" filter="wipe(down)">
                                      <p:cBhvr>
                                        <p:cTn id="215" dur="580">
                                          <p:stCondLst>
                                            <p:cond delay="0"/>
                                          </p:stCondLst>
                                        </p:cTn>
                                        <p:tgtEl>
                                          <p:spTgt spid="16">
                                            <p:txEl>
                                              <p:pRg st="13" end="13"/>
                                            </p:txEl>
                                          </p:spTgt>
                                        </p:tgtEl>
                                      </p:cBhvr>
                                    </p:animEffect>
                                    <p:anim calcmode="lin" valueType="num">
                                      <p:cBhvr>
                                        <p:cTn id="216" dur="1822" tmFilter="0,0; 0.14,0.36; 0.43,0.73; 0.71,0.91; 1.0,1.0">
                                          <p:stCondLst>
                                            <p:cond delay="0"/>
                                          </p:stCondLst>
                                        </p:cTn>
                                        <p:tgtEl>
                                          <p:spTgt spid="16">
                                            <p:txEl>
                                              <p:pRg st="13" end="13"/>
                                            </p:txEl>
                                          </p:spTgt>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6">
                                            <p:txEl>
                                              <p:pRg st="13" end="13"/>
                                            </p:txEl>
                                          </p:spTgt>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6">
                                            <p:txEl>
                                              <p:pRg st="13" end="13"/>
                                            </p:txEl>
                                          </p:spTgt>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6">
                                            <p:txEl>
                                              <p:pRg st="13" end="13"/>
                                            </p:txEl>
                                          </p:spTgt>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6">
                                            <p:txEl>
                                              <p:pRg st="13" end="13"/>
                                            </p:txEl>
                                          </p:spTgt>
                                        </p:tgtEl>
                                        <p:attrNameLst>
                                          <p:attrName>ppt_y</p:attrName>
                                        </p:attrNameLst>
                                      </p:cBhvr>
                                      <p:tavLst>
                                        <p:tav tm="0" fmla="#ppt_y-sin(pi*$)/81">
                                          <p:val>
                                            <p:fltVal val="0"/>
                                          </p:val>
                                        </p:tav>
                                        <p:tav tm="100000">
                                          <p:val>
                                            <p:fltVal val="1"/>
                                          </p:val>
                                        </p:tav>
                                      </p:tavLst>
                                    </p:anim>
                                    <p:animScale>
                                      <p:cBhvr>
                                        <p:cTn id="221" dur="26">
                                          <p:stCondLst>
                                            <p:cond delay="650"/>
                                          </p:stCondLst>
                                        </p:cTn>
                                        <p:tgtEl>
                                          <p:spTgt spid="16">
                                            <p:txEl>
                                              <p:pRg st="13" end="13"/>
                                            </p:txEl>
                                          </p:spTgt>
                                        </p:tgtEl>
                                      </p:cBhvr>
                                      <p:to x="100000" y="60000"/>
                                    </p:animScale>
                                    <p:animScale>
                                      <p:cBhvr>
                                        <p:cTn id="222" dur="166" decel="50000">
                                          <p:stCondLst>
                                            <p:cond delay="676"/>
                                          </p:stCondLst>
                                        </p:cTn>
                                        <p:tgtEl>
                                          <p:spTgt spid="16">
                                            <p:txEl>
                                              <p:pRg st="13" end="13"/>
                                            </p:txEl>
                                          </p:spTgt>
                                        </p:tgtEl>
                                      </p:cBhvr>
                                      <p:to x="100000" y="100000"/>
                                    </p:animScale>
                                    <p:animScale>
                                      <p:cBhvr>
                                        <p:cTn id="223" dur="26">
                                          <p:stCondLst>
                                            <p:cond delay="1312"/>
                                          </p:stCondLst>
                                        </p:cTn>
                                        <p:tgtEl>
                                          <p:spTgt spid="16">
                                            <p:txEl>
                                              <p:pRg st="13" end="13"/>
                                            </p:txEl>
                                          </p:spTgt>
                                        </p:tgtEl>
                                      </p:cBhvr>
                                      <p:to x="100000" y="80000"/>
                                    </p:animScale>
                                    <p:animScale>
                                      <p:cBhvr>
                                        <p:cTn id="224" dur="166" decel="50000">
                                          <p:stCondLst>
                                            <p:cond delay="1338"/>
                                          </p:stCondLst>
                                        </p:cTn>
                                        <p:tgtEl>
                                          <p:spTgt spid="16">
                                            <p:txEl>
                                              <p:pRg st="13" end="13"/>
                                            </p:txEl>
                                          </p:spTgt>
                                        </p:tgtEl>
                                      </p:cBhvr>
                                      <p:to x="100000" y="100000"/>
                                    </p:animScale>
                                    <p:animScale>
                                      <p:cBhvr>
                                        <p:cTn id="225" dur="26">
                                          <p:stCondLst>
                                            <p:cond delay="1642"/>
                                          </p:stCondLst>
                                        </p:cTn>
                                        <p:tgtEl>
                                          <p:spTgt spid="16">
                                            <p:txEl>
                                              <p:pRg st="13" end="13"/>
                                            </p:txEl>
                                          </p:spTgt>
                                        </p:tgtEl>
                                      </p:cBhvr>
                                      <p:to x="100000" y="90000"/>
                                    </p:animScale>
                                    <p:animScale>
                                      <p:cBhvr>
                                        <p:cTn id="226" dur="166" decel="50000">
                                          <p:stCondLst>
                                            <p:cond delay="1668"/>
                                          </p:stCondLst>
                                        </p:cTn>
                                        <p:tgtEl>
                                          <p:spTgt spid="16">
                                            <p:txEl>
                                              <p:pRg st="13" end="13"/>
                                            </p:txEl>
                                          </p:spTgt>
                                        </p:tgtEl>
                                      </p:cBhvr>
                                      <p:to x="100000" y="100000"/>
                                    </p:animScale>
                                    <p:animScale>
                                      <p:cBhvr>
                                        <p:cTn id="227" dur="26">
                                          <p:stCondLst>
                                            <p:cond delay="1808"/>
                                          </p:stCondLst>
                                        </p:cTn>
                                        <p:tgtEl>
                                          <p:spTgt spid="16">
                                            <p:txEl>
                                              <p:pRg st="13" end="13"/>
                                            </p:txEl>
                                          </p:spTgt>
                                        </p:tgtEl>
                                      </p:cBhvr>
                                      <p:to x="100000" y="95000"/>
                                    </p:animScale>
                                    <p:animScale>
                                      <p:cBhvr>
                                        <p:cTn id="228" dur="166" decel="50000">
                                          <p:stCondLst>
                                            <p:cond delay="1834"/>
                                          </p:stCondLst>
                                        </p:cTn>
                                        <p:tgtEl>
                                          <p:spTgt spid="16">
                                            <p:txEl>
                                              <p:pRg st="13" end="13"/>
                                            </p:txEl>
                                          </p:spTgt>
                                        </p:tgtEl>
                                      </p:cBhvr>
                                      <p:to x="100000" y="100000"/>
                                    </p:animScale>
                                  </p:childTnLst>
                                </p:cTn>
                              </p:par>
                            </p:childTnLst>
                          </p:cTn>
                        </p:par>
                      </p:childTnLst>
                    </p:cTn>
                  </p:par>
                  <p:par>
                    <p:cTn id="229" fill="hold">
                      <p:stCondLst>
                        <p:cond delay="indefinite"/>
                      </p:stCondLst>
                      <p:childTnLst>
                        <p:par>
                          <p:cTn id="230" fill="hold">
                            <p:stCondLst>
                              <p:cond delay="0"/>
                            </p:stCondLst>
                            <p:childTnLst>
                              <p:par>
                                <p:cTn id="231" presetID="2" presetClass="entr" presetSubtype="4" fill="hold" nodeType="clickEffect">
                                  <p:stCondLst>
                                    <p:cond delay="0"/>
                                  </p:stCondLst>
                                  <p:childTnLst>
                                    <p:set>
                                      <p:cBhvr>
                                        <p:cTn id="232" dur="1" fill="hold">
                                          <p:stCondLst>
                                            <p:cond delay="0"/>
                                          </p:stCondLst>
                                        </p:cTn>
                                        <p:tgtEl>
                                          <p:spTgt spid="20">
                                            <p:txEl>
                                              <p:pRg st="0" end="0"/>
                                            </p:txEl>
                                          </p:spTgt>
                                        </p:tgtEl>
                                        <p:attrNameLst>
                                          <p:attrName>style.visibility</p:attrName>
                                        </p:attrNameLst>
                                      </p:cBhvr>
                                      <p:to>
                                        <p:strVal val="visible"/>
                                      </p:to>
                                    </p:set>
                                    <p:anim calcmode="lin" valueType="num">
                                      <p:cBhvr additive="base">
                                        <p:cTn id="2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34"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5" fill="hold">
                      <p:stCondLst>
                        <p:cond delay="indefinite"/>
                      </p:stCondLst>
                      <p:childTnLst>
                        <p:par>
                          <p:cTn id="236" fill="hold">
                            <p:stCondLst>
                              <p:cond delay="0"/>
                            </p:stCondLst>
                            <p:childTnLst>
                              <p:par>
                                <p:cTn id="237" presetID="2" presetClass="entr" presetSubtype="4" fill="hold" nodeType="clickEffect">
                                  <p:stCondLst>
                                    <p:cond delay="0"/>
                                  </p:stCondLst>
                                  <p:childTnLst>
                                    <p:set>
                                      <p:cBhvr>
                                        <p:cTn id="238" dur="1" fill="hold">
                                          <p:stCondLst>
                                            <p:cond delay="0"/>
                                          </p:stCondLst>
                                        </p:cTn>
                                        <p:tgtEl>
                                          <p:spTgt spid="20">
                                            <p:txEl>
                                              <p:pRg st="1" end="1"/>
                                            </p:txEl>
                                          </p:spTgt>
                                        </p:tgtEl>
                                        <p:attrNameLst>
                                          <p:attrName>style.visibility</p:attrName>
                                        </p:attrNameLst>
                                      </p:cBhvr>
                                      <p:to>
                                        <p:strVal val="visible"/>
                                      </p:to>
                                    </p:set>
                                    <p:anim calcmode="lin" valueType="num">
                                      <p:cBhvr additive="base">
                                        <p:cTn id="239"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40"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41" fill="hold">
                      <p:stCondLst>
                        <p:cond delay="indefinite"/>
                      </p:stCondLst>
                      <p:childTnLst>
                        <p:par>
                          <p:cTn id="242" fill="hold">
                            <p:stCondLst>
                              <p:cond delay="0"/>
                            </p:stCondLst>
                            <p:childTnLst>
                              <p:par>
                                <p:cTn id="243" presetID="2" presetClass="entr" presetSubtype="4" fill="hold" nodeType="clickEffect">
                                  <p:stCondLst>
                                    <p:cond delay="0"/>
                                  </p:stCondLst>
                                  <p:childTnLst>
                                    <p:set>
                                      <p:cBhvr>
                                        <p:cTn id="244" dur="1" fill="hold">
                                          <p:stCondLst>
                                            <p:cond delay="0"/>
                                          </p:stCondLst>
                                        </p:cTn>
                                        <p:tgtEl>
                                          <p:spTgt spid="20">
                                            <p:txEl>
                                              <p:pRg st="2" end="2"/>
                                            </p:txEl>
                                          </p:spTgt>
                                        </p:tgtEl>
                                        <p:attrNameLst>
                                          <p:attrName>style.visibility</p:attrName>
                                        </p:attrNameLst>
                                      </p:cBhvr>
                                      <p:to>
                                        <p:strVal val="visible"/>
                                      </p:to>
                                    </p:set>
                                    <p:anim calcmode="lin" valueType="num">
                                      <p:cBhvr additive="base">
                                        <p:cTn id="245"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246"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7" fill="hold">
                      <p:stCondLst>
                        <p:cond delay="indefinite"/>
                      </p:stCondLst>
                      <p:childTnLst>
                        <p:par>
                          <p:cTn id="248" fill="hold">
                            <p:stCondLst>
                              <p:cond delay="0"/>
                            </p:stCondLst>
                            <p:childTnLst>
                              <p:par>
                                <p:cTn id="249" presetID="2" presetClass="entr" presetSubtype="4" fill="hold" nodeType="clickEffect">
                                  <p:stCondLst>
                                    <p:cond delay="0"/>
                                  </p:stCondLst>
                                  <p:childTnLst>
                                    <p:set>
                                      <p:cBhvr>
                                        <p:cTn id="250" dur="1" fill="hold">
                                          <p:stCondLst>
                                            <p:cond delay="0"/>
                                          </p:stCondLst>
                                        </p:cTn>
                                        <p:tgtEl>
                                          <p:spTgt spid="20">
                                            <p:txEl>
                                              <p:pRg st="3" end="3"/>
                                            </p:txEl>
                                          </p:spTgt>
                                        </p:tgtEl>
                                        <p:attrNameLst>
                                          <p:attrName>style.visibility</p:attrName>
                                        </p:attrNameLst>
                                      </p:cBhvr>
                                      <p:to>
                                        <p:strVal val="visible"/>
                                      </p:to>
                                    </p:set>
                                    <p:anim calcmode="lin" valueType="num">
                                      <p:cBhvr additive="base">
                                        <p:cTn id="251"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252"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2" presetClass="entr" presetSubtype="4" fill="hold" nodeType="clickEffect">
                                  <p:stCondLst>
                                    <p:cond delay="0"/>
                                  </p:stCondLst>
                                  <p:childTnLst>
                                    <p:set>
                                      <p:cBhvr>
                                        <p:cTn id="256" dur="1" fill="hold">
                                          <p:stCondLst>
                                            <p:cond delay="0"/>
                                          </p:stCondLst>
                                        </p:cTn>
                                        <p:tgtEl>
                                          <p:spTgt spid="20">
                                            <p:txEl>
                                              <p:pRg st="4" end="4"/>
                                            </p:txEl>
                                          </p:spTgt>
                                        </p:tgtEl>
                                        <p:attrNameLst>
                                          <p:attrName>style.visibility</p:attrName>
                                        </p:attrNameLst>
                                      </p:cBhvr>
                                      <p:to>
                                        <p:strVal val="visible"/>
                                      </p:to>
                                    </p:set>
                                    <p:anim calcmode="lin" valueType="num">
                                      <p:cBhvr additive="base">
                                        <p:cTn id="257"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258" dur="500" fill="hold"/>
                                        <p:tgtEl>
                                          <p:spTgt spid="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15</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Horner's scheme — n mults, better accuracy</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463040"/>
            <a:ext cx="5669280" cy="320040"/>
          </a:xfrm>
          <a:prstGeom prst="rect">
            <a:avLst/>
          </a:prstGeom>
          <a:noFill/>
          <a:ln/>
        </p:spPr>
        <p:txBody>
          <a:bodyPr wrap="square" lIns="0" tIns="0" rIns="0" bIns="0" rtlCol="0" anchor="ctr"/>
          <a:lstStyle/>
          <a:p>
            <a:pPr marL="0" indent="0">
              <a:buNone/>
            </a:pPr>
            <a:r>
              <a:rPr lang="en-US" sz="1350" dirty="0">
                <a:solidFill>
                  <a:srgbClr val="2B2722"/>
                </a:solidFill>
                <a:latin typeface="Cambria" pitchFamily="34" charset="0"/>
                <a:ea typeface="Cambria" pitchFamily="34" charset="-122"/>
                <a:cs typeface="Cambria" pitchFamily="34" charset="-120"/>
              </a:rPr>
              <a:t>Nest the polynomial so each step is one multiply-add:</a:t>
            </a:r>
            <a:endParaRPr lang="en-US" sz="1350" dirty="0"/>
          </a:p>
        </p:txBody>
      </p:sp>
      <p:sp>
        <p:nvSpPr>
          <p:cNvPr id="15" name="Shape 13"/>
          <p:cNvSpPr/>
          <p:nvPr/>
        </p:nvSpPr>
        <p:spPr>
          <a:xfrm>
            <a:off x="914400" y="1828800"/>
            <a:ext cx="5669280" cy="219456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6" name="Shape 14"/>
          <p:cNvSpPr/>
          <p:nvPr/>
        </p:nvSpPr>
        <p:spPr>
          <a:xfrm>
            <a:off x="914400" y="1828800"/>
            <a:ext cx="82296" cy="2194560"/>
          </a:xfrm>
          <a:prstGeom prst="rect">
            <a:avLst/>
          </a:prstGeom>
          <a:solidFill>
            <a:srgbClr val="7F8A3A"/>
          </a:solidFill>
          <a:ln/>
        </p:spPr>
      </p:sp>
      <p:sp>
        <p:nvSpPr>
          <p:cNvPr id="17" name="Text 15"/>
          <p:cNvSpPr/>
          <p:nvPr/>
        </p:nvSpPr>
        <p:spPr>
          <a:xfrm>
            <a:off x="1115568" y="1920240"/>
            <a:ext cx="5340096" cy="2011680"/>
          </a:xfrm>
          <a:prstGeom prst="rect">
            <a:avLst/>
          </a:prstGeom>
          <a:noFill/>
          <a:ln/>
        </p:spPr>
        <p:txBody>
          <a:bodyPr wrap="square" lIns="0" tIns="0" rIns="0" bIns="0" rtlCol="0" anchor="t"/>
          <a:lstStyle/>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p(x) = c0 + c1 x + c2 x^2 + ... + cn x^n</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     = c0 + x(c1 + x(c2 + ... + x*cn))</a:t>
            </a:r>
            <a:endParaRPr lang="en-US" sz="1150" dirty="0"/>
          </a:p>
          <a:p>
            <a:pPr marL="0" indent="0">
              <a:lnSpc>
                <a:spcPct val="104000"/>
              </a:lnSpc>
              <a:buNone/>
            </a:pP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acc = cn</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for i = n-1 .. 0:   acc = acc*x + c[i]</a:t>
            </a:r>
            <a:endParaRPr lang="en-US" sz="1150" dirty="0"/>
          </a:p>
          <a:p>
            <a:pPr marL="0" indent="0">
              <a:lnSpc>
                <a:spcPct val="104000"/>
              </a:lnSpc>
              <a:buNone/>
            </a:pPr>
            <a:endParaRPr lang="en-US" sz="1150" dirty="0"/>
          </a:p>
          <a:p>
            <a:pPr marL="0" indent="0">
              <a:lnSpc>
                <a:spcPct val="104000"/>
              </a:lnSpc>
              <a:buNone/>
            </a:pPr>
            <a:r>
              <a:rPr lang="en-US" sz="1150" dirty="0">
                <a:solidFill>
                  <a:srgbClr val="586127"/>
                </a:solidFill>
                <a:latin typeface="Consolas" pitchFamily="34" charset="0"/>
                <a:ea typeface="Consolas" pitchFamily="34" charset="-122"/>
                <a:cs typeface="Consolas" pitchFamily="34" charset="-120"/>
              </a:rPr>
              <a:t>; n mults, n adds; no separate powers;</a:t>
            </a:r>
            <a:endParaRPr lang="en-US" sz="1150" dirty="0"/>
          </a:p>
          <a:p>
            <a:pPr marL="0" indent="0">
              <a:lnSpc>
                <a:spcPct val="104000"/>
              </a:lnSpc>
              <a:buNone/>
            </a:pPr>
            <a:r>
              <a:rPr lang="en-US" sz="1150" dirty="0">
                <a:solidFill>
                  <a:srgbClr val="586127"/>
                </a:solidFill>
                <a:latin typeface="Consolas" pitchFamily="34" charset="0"/>
                <a:ea typeface="Consolas" pitchFamily="34" charset="-122"/>
                <a:cs typeface="Consolas" pitchFamily="34" charset="-120"/>
              </a:rPr>
              <a:t>; fewer ops and better rounding.</a:t>
            </a:r>
            <a:endParaRPr lang="en-US" sz="1150" dirty="0"/>
          </a:p>
        </p:txBody>
      </p:sp>
      <p:sp>
        <p:nvSpPr>
          <p:cNvPr id="18" name="Text 16"/>
          <p:cNvSpPr/>
          <p:nvPr/>
        </p:nvSpPr>
        <p:spPr>
          <a:xfrm>
            <a:off x="914400" y="4206240"/>
            <a:ext cx="5669280" cy="292608"/>
          </a:xfrm>
          <a:prstGeom prst="rect">
            <a:avLst/>
          </a:prstGeom>
          <a:noFill/>
          <a:ln/>
        </p:spPr>
        <p:txBody>
          <a:bodyPr wrap="square" lIns="0" tIns="0" rIns="0" bIns="0" rtlCol="0" anchor="ctr"/>
          <a:lstStyle/>
          <a:p>
            <a:pPr marL="0" indent="0">
              <a:buNone/>
            </a:pPr>
            <a:r>
              <a:rPr lang="en-US" sz="1250" b="1" dirty="0">
                <a:solidFill>
                  <a:srgbClr val="586127"/>
                </a:solidFill>
                <a:latin typeface="Cambria" pitchFamily="34" charset="0"/>
                <a:ea typeface="Cambria" pitchFamily="34" charset="-122"/>
                <a:cs typeface="Cambria" pitchFamily="34" charset="-120"/>
              </a:rPr>
              <a:t>Numeric trace on  T3 = 4x³ − 3x   (c = 0, −3, 0, 4):</a:t>
            </a:r>
            <a:endParaRPr lang="en-US" sz="1250" dirty="0"/>
          </a:p>
        </p:txBody>
      </p:sp>
      <p:sp>
        <p:nvSpPr>
          <p:cNvPr id="19" name="Shape 17"/>
          <p:cNvSpPr/>
          <p:nvPr/>
        </p:nvSpPr>
        <p:spPr>
          <a:xfrm>
            <a:off x="914400" y="4526280"/>
            <a:ext cx="5669280" cy="128016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20" name="Shape 18"/>
          <p:cNvSpPr/>
          <p:nvPr/>
        </p:nvSpPr>
        <p:spPr>
          <a:xfrm>
            <a:off x="914400" y="4526280"/>
            <a:ext cx="82296" cy="1280160"/>
          </a:xfrm>
          <a:prstGeom prst="rect">
            <a:avLst/>
          </a:prstGeom>
          <a:solidFill>
            <a:srgbClr val="7F8A3A"/>
          </a:solidFill>
          <a:ln/>
        </p:spPr>
      </p:sp>
      <p:sp>
        <p:nvSpPr>
          <p:cNvPr id="21" name="Text 19"/>
          <p:cNvSpPr/>
          <p:nvPr/>
        </p:nvSpPr>
        <p:spPr>
          <a:xfrm>
            <a:off x="1115568" y="4617720"/>
            <a:ext cx="5340096" cy="109728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acc = 4</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acc = 4*x + 0        = 4x</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acc = (4x)*x - 3     = 4x^2 - 3</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acc = (4x^2-3)*x + 0 = 4x^3 - 3x   (= T3)</a:t>
            </a:r>
            <a:endParaRPr lang="en-US" sz="1100" dirty="0"/>
          </a:p>
        </p:txBody>
      </p:sp>
      <p:sp>
        <p:nvSpPr>
          <p:cNvPr id="22" name="Shape 20"/>
          <p:cNvSpPr/>
          <p:nvPr/>
        </p:nvSpPr>
        <p:spPr>
          <a:xfrm>
            <a:off x="6858000" y="1463040"/>
            <a:ext cx="4480560" cy="434340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3" name="Shape 21"/>
          <p:cNvSpPr/>
          <p:nvPr/>
        </p:nvSpPr>
        <p:spPr>
          <a:xfrm>
            <a:off x="6858000" y="1463040"/>
            <a:ext cx="91440" cy="4343400"/>
          </a:xfrm>
          <a:prstGeom prst="rect">
            <a:avLst/>
          </a:prstGeom>
          <a:solidFill>
            <a:srgbClr val="7F8A3A"/>
          </a:solidFill>
          <a:ln/>
        </p:spPr>
      </p:sp>
      <p:sp>
        <p:nvSpPr>
          <p:cNvPr id="24" name="Text 22"/>
          <p:cNvSpPr/>
          <p:nvPr/>
        </p:nvSpPr>
        <p:spPr>
          <a:xfrm>
            <a:off x="7114032" y="1591056"/>
            <a:ext cx="402336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How ceval uses it</a:t>
            </a:r>
            <a:endParaRPr lang="en-US" sz="1550" dirty="0"/>
          </a:p>
        </p:txBody>
      </p:sp>
      <p:sp>
        <p:nvSpPr>
          <p:cNvPr id="25" name="Text 23"/>
          <p:cNvSpPr/>
          <p:nvPr/>
        </p:nvSpPr>
        <p:spPr>
          <a:xfrm>
            <a:off x="7132320" y="2029968"/>
            <a:ext cx="3977640" cy="3630168"/>
          </a:xfrm>
          <a:prstGeom prst="rect">
            <a:avLst/>
          </a:prstGeom>
          <a:noFill/>
          <a:ln/>
        </p:spPr>
        <p:txBody>
          <a:bodyPr wrap="square" lIns="0" tIns="0" rIns="0" bIns="0" rtlCol="0" anchor="t"/>
          <a:lstStyle/>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acc = coef[deg]; then acc = acc·z + coef[i].</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acc·z is a COMPLEX multiply → cmul.</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coef[i] is real → add to acc.re only (one fadd).</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One cmul + one fadd per coefficient.</a:t>
            </a:r>
            <a:endParaRPr lang="en-US" sz="1300" dirty="0"/>
          </a:p>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Deflation is Horner run in reverse (synthetic division):</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q[i-1] = coef[i] + r·q[i].</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down)">
                                      <p:cBhvr>
                                        <p:cTn id="7" dur="580">
                                          <p:stCondLst>
                                            <p:cond delay="0"/>
                                          </p:stCondLst>
                                        </p:cTn>
                                        <p:tgtEl>
                                          <p:spTgt spid="17">
                                            <p:txEl>
                                              <p:pRg st="0" end="0"/>
                                            </p:txEl>
                                          </p:spTgt>
                                        </p:tgtEl>
                                      </p:cBhvr>
                                    </p:animEffect>
                                    <p:anim calcmode="lin" valueType="num">
                                      <p:cBhvr>
                                        <p:cTn id="8" dur="1822" tmFilter="0,0; 0.14,0.36; 0.43,0.73; 0.71,0.91; 1.0,1.0">
                                          <p:stCondLst>
                                            <p:cond delay="0"/>
                                          </p:stCondLst>
                                        </p:cTn>
                                        <p:tgtEl>
                                          <p:spTgt spid="17">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xEl>
                                              <p:pRg st="0" end="0"/>
                                            </p:txEl>
                                          </p:spTgt>
                                        </p:tgtEl>
                                      </p:cBhvr>
                                      <p:to x="100000" y="60000"/>
                                    </p:animScale>
                                    <p:animScale>
                                      <p:cBhvr>
                                        <p:cTn id="14" dur="166" decel="50000">
                                          <p:stCondLst>
                                            <p:cond delay="676"/>
                                          </p:stCondLst>
                                        </p:cTn>
                                        <p:tgtEl>
                                          <p:spTgt spid="17">
                                            <p:txEl>
                                              <p:pRg st="0" end="0"/>
                                            </p:txEl>
                                          </p:spTgt>
                                        </p:tgtEl>
                                      </p:cBhvr>
                                      <p:to x="100000" y="100000"/>
                                    </p:animScale>
                                    <p:animScale>
                                      <p:cBhvr>
                                        <p:cTn id="15" dur="26">
                                          <p:stCondLst>
                                            <p:cond delay="1312"/>
                                          </p:stCondLst>
                                        </p:cTn>
                                        <p:tgtEl>
                                          <p:spTgt spid="17">
                                            <p:txEl>
                                              <p:pRg st="0" end="0"/>
                                            </p:txEl>
                                          </p:spTgt>
                                        </p:tgtEl>
                                      </p:cBhvr>
                                      <p:to x="100000" y="80000"/>
                                    </p:animScale>
                                    <p:animScale>
                                      <p:cBhvr>
                                        <p:cTn id="16" dur="166" decel="50000">
                                          <p:stCondLst>
                                            <p:cond delay="1338"/>
                                          </p:stCondLst>
                                        </p:cTn>
                                        <p:tgtEl>
                                          <p:spTgt spid="17">
                                            <p:txEl>
                                              <p:pRg st="0" end="0"/>
                                            </p:txEl>
                                          </p:spTgt>
                                        </p:tgtEl>
                                      </p:cBhvr>
                                      <p:to x="100000" y="100000"/>
                                    </p:animScale>
                                    <p:animScale>
                                      <p:cBhvr>
                                        <p:cTn id="17" dur="26">
                                          <p:stCondLst>
                                            <p:cond delay="1642"/>
                                          </p:stCondLst>
                                        </p:cTn>
                                        <p:tgtEl>
                                          <p:spTgt spid="17">
                                            <p:txEl>
                                              <p:pRg st="0" end="0"/>
                                            </p:txEl>
                                          </p:spTgt>
                                        </p:tgtEl>
                                      </p:cBhvr>
                                      <p:to x="100000" y="90000"/>
                                    </p:animScale>
                                    <p:animScale>
                                      <p:cBhvr>
                                        <p:cTn id="18" dur="166" decel="50000">
                                          <p:stCondLst>
                                            <p:cond delay="1668"/>
                                          </p:stCondLst>
                                        </p:cTn>
                                        <p:tgtEl>
                                          <p:spTgt spid="17">
                                            <p:txEl>
                                              <p:pRg st="0" end="0"/>
                                            </p:txEl>
                                          </p:spTgt>
                                        </p:tgtEl>
                                      </p:cBhvr>
                                      <p:to x="100000" y="100000"/>
                                    </p:animScale>
                                    <p:animScale>
                                      <p:cBhvr>
                                        <p:cTn id="19" dur="26">
                                          <p:stCondLst>
                                            <p:cond delay="1808"/>
                                          </p:stCondLst>
                                        </p:cTn>
                                        <p:tgtEl>
                                          <p:spTgt spid="17">
                                            <p:txEl>
                                              <p:pRg st="0" end="0"/>
                                            </p:txEl>
                                          </p:spTgt>
                                        </p:tgtEl>
                                      </p:cBhvr>
                                      <p:to x="100000" y="95000"/>
                                    </p:animScale>
                                    <p:animScale>
                                      <p:cBhvr>
                                        <p:cTn id="20" dur="166" decel="50000">
                                          <p:stCondLst>
                                            <p:cond delay="1834"/>
                                          </p:stCondLst>
                                        </p:cTn>
                                        <p:tgtEl>
                                          <p:spTgt spid="17">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7">
                                            <p:txEl>
                                              <p:pRg st="1" end="1"/>
                                            </p:txEl>
                                          </p:spTgt>
                                        </p:tgtEl>
                                        <p:attrNameLst>
                                          <p:attrName>style.visibility</p:attrName>
                                        </p:attrNameLst>
                                      </p:cBhvr>
                                      <p:to>
                                        <p:strVal val="visible"/>
                                      </p:to>
                                    </p:set>
                                    <p:animEffect transition="in" filter="wipe(down)">
                                      <p:cBhvr>
                                        <p:cTn id="23" dur="580">
                                          <p:stCondLst>
                                            <p:cond delay="0"/>
                                          </p:stCondLst>
                                        </p:cTn>
                                        <p:tgtEl>
                                          <p:spTgt spid="17">
                                            <p:txEl>
                                              <p:pRg st="1" end="1"/>
                                            </p:txEl>
                                          </p:spTgt>
                                        </p:tgtEl>
                                      </p:cBhvr>
                                    </p:animEffect>
                                    <p:anim calcmode="lin" valueType="num">
                                      <p:cBhvr>
                                        <p:cTn id="24" dur="1822" tmFilter="0,0; 0.14,0.36; 0.43,0.73; 0.71,0.91; 1.0,1.0">
                                          <p:stCondLst>
                                            <p:cond delay="0"/>
                                          </p:stCondLst>
                                        </p:cTn>
                                        <p:tgtEl>
                                          <p:spTgt spid="17">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7">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7">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7">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7">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7">
                                            <p:txEl>
                                              <p:pRg st="1" end="1"/>
                                            </p:txEl>
                                          </p:spTgt>
                                        </p:tgtEl>
                                      </p:cBhvr>
                                      <p:to x="100000" y="60000"/>
                                    </p:animScale>
                                    <p:animScale>
                                      <p:cBhvr>
                                        <p:cTn id="30" dur="166" decel="50000">
                                          <p:stCondLst>
                                            <p:cond delay="676"/>
                                          </p:stCondLst>
                                        </p:cTn>
                                        <p:tgtEl>
                                          <p:spTgt spid="17">
                                            <p:txEl>
                                              <p:pRg st="1" end="1"/>
                                            </p:txEl>
                                          </p:spTgt>
                                        </p:tgtEl>
                                      </p:cBhvr>
                                      <p:to x="100000" y="100000"/>
                                    </p:animScale>
                                    <p:animScale>
                                      <p:cBhvr>
                                        <p:cTn id="31" dur="26">
                                          <p:stCondLst>
                                            <p:cond delay="1312"/>
                                          </p:stCondLst>
                                        </p:cTn>
                                        <p:tgtEl>
                                          <p:spTgt spid="17">
                                            <p:txEl>
                                              <p:pRg st="1" end="1"/>
                                            </p:txEl>
                                          </p:spTgt>
                                        </p:tgtEl>
                                      </p:cBhvr>
                                      <p:to x="100000" y="80000"/>
                                    </p:animScale>
                                    <p:animScale>
                                      <p:cBhvr>
                                        <p:cTn id="32" dur="166" decel="50000">
                                          <p:stCondLst>
                                            <p:cond delay="1338"/>
                                          </p:stCondLst>
                                        </p:cTn>
                                        <p:tgtEl>
                                          <p:spTgt spid="17">
                                            <p:txEl>
                                              <p:pRg st="1" end="1"/>
                                            </p:txEl>
                                          </p:spTgt>
                                        </p:tgtEl>
                                      </p:cBhvr>
                                      <p:to x="100000" y="100000"/>
                                    </p:animScale>
                                    <p:animScale>
                                      <p:cBhvr>
                                        <p:cTn id="33" dur="26">
                                          <p:stCondLst>
                                            <p:cond delay="1642"/>
                                          </p:stCondLst>
                                        </p:cTn>
                                        <p:tgtEl>
                                          <p:spTgt spid="17">
                                            <p:txEl>
                                              <p:pRg st="1" end="1"/>
                                            </p:txEl>
                                          </p:spTgt>
                                        </p:tgtEl>
                                      </p:cBhvr>
                                      <p:to x="100000" y="90000"/>
                                    </p:animScale>
                                    <p:animScale>
                                      <p:cBhvr>
                                        <p:cTn id="34" dur="166" decel="50000">
                                          <p:stCondLst>
                                            <p:cond delay="1668"/>
                                          </p:stCondLst>
                                        </p:cTn>
                                        <p:tgtEl>
                                          <p:spTgt spid="17">
                                            <p:txEl>
                                              <p:pRg st="1" end="1"/>
                                            </p:txEl>
                                          </p:spTgt>
                                        </p:tgtEl>
                                      </p:cBhvr>
                                      <p:to x="100000" y="100000"/>
                                    </p:animScale>
                                    <p:animScale>
                                      <p:cBhvr>
                                        <p:cTn id="35" dur="26">
                                          <p:stCondLst>
                                            <p:cond delay="1808"/>
                                          </p:stCondLst>
                                        </p:cTn>
                                        <p:tgtEl>
                                          <p:spTgt spid="17">
                                            <p:txEl>
                                              <p:pRg st="1" end="1"/>
                                            </p:txEl>
                                          </p:spTgt>
                                        </p:tgtEl>
                                      </p:cBhvr>
                                      <p:to x="100000" y="95000"/>
                                    </p:animScale>
                                    <p:animScale>
                                      <p:cBhvr>
                                        <p:cTn id="36" dur="166" decel="50000">
                                          <p:stCondLst>
                                            <p:cond delay="1834"/>
                                          </p:stCondLst>
                                        </p:cTn>
                                        <p:tgtEl>
                                          <p:spTgt spid="17">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7">
                                            <p:txEl>
                                              <p:pRg st="3" end="3"/>
                                            </p:txEl>
                                          </p:spTgt>
                                        </p:tgtEl>
                                        <p:attrNameLst>
                                          <p:attrName>style.visibility</p:attrName>
                                        </p:attrNameLst>
                                      </p:cBhvr>
                                      <p:to>
                                        <p:strVal val="visible"/>
                                      </p:to>
                                    </p:set>
                                    <p:animEffect transition="in" filter="wipe(down)">
                                      <p:cBhvr>
                                        <p:cTn id="39" dur="580">
                                          <p:stCondLst>
                                            <p:cond delay="0"/>
                                          </p:stCondLst>
                                        </p:cTn>
                                        <p:tgtEl>
                                          <p:spTgt spid="17">
                                            <p:txEl>
                                              <p:pRg st="3" end="3"/>
                                            </p:txEl>
                                          </p:spTgt>
                                        </p:tgtEl>
                                      </p:cBhvr>
                                    </p:animEffect>
                                    <p:anim calcmode="lin" valueType="num">
                                      <p:cBhvr>
                                        <p:cTn id="40" dur="1822" tmFilter="0,0; 0.14,0.36; 0.43,0.73; 0.71,0.91; 1.0,1.0">
                                          <p:stCondLst>
                                            <p:cond delay="0"/>
                                          </p:stCondLst>
                                        </p:cTn>
                                        <p:tgtEl>
                                          <p:spTgt spid="17">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7">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7">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7">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7">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7">
                                            <p:txEl>
                                              <p:pRg st="3" end="3"/>
                                            </p:txEl>
                                          </p:spTgt>
                                        </p:tgtEl>
                                      </p:cBhvr>
                                      <p:to x="100000" y="60000"/>
                                    </p:animScale>
                                    <p:animScale>
                                      <p:cBhvr>
                                        <p:cTn id="46" dur="166" decel="50000">
                                          <p:stCondLst>
                                            <p:cond delay="676"/>
                                          </p:stCondLst>
                                        </p:cTn>
                                        <p:tgtEl>
                                          <p:spTgt spid="17">
                                            <p:txEl>
                                              <p:pRg st="3" end="3"/>
                                            </p:txEl>
                                          </p:spTgt>
                                        </p:tgtEl>
                                      </p:cBhvr>
                                      <p:to x="100000" y="100000"/>
                                    </p:animScale>
                                    <p:animScale>
                                      <p:cBhvr>
                                        <p:cTn id="47" dur="26">
                                          <p:stCondLst>
                                            <p:cond delay="1312"/>
                                          </p:stCondLst>
                                        </p:cTn>
                                        <p:tgtEl>
                                          <p:spTgt spid="17">
                                            <p:txEl>
                                              <p:pRg st="3" end="3"/>
                                            </p:txEl>
                                          </p:spTgt>
                                        </p:tgtEl>
                                      </p:cBhvr>
                                      <p:to x="100000" y="80000"/>
                                    </p:animScale>
                                    <p:animScale>
                                      <p:cBhvr>
                                        <p:cTn id="48" dur="166" decel="50000">
                                          <p:stCondLst>
                                            <p:cond delay="1338"/>
                                          </p:stCondLst>
                                        </p:cTn>
                                        <p:tgtEl>
                                          <p:spTgt spid="17">
                                            <p:txEl>
                                              <p:pRg st="3" end="3"/>
                                            </p:txEl>
                                          </p:spTgt>
                                        </p:tgtEl>
                                      </p:cBhvr>
                                      <p:to x="100000" y="100000"/>
                                    </p:animScale>
                                    <p:animScale>
                                      <p:cBhvr>
                                        <p:cTn id="49" dur="26">
                                          <p:stCondLst>
                                            <p:cond delay="1642"/>
                                          </p:stCondLst>
                                        </p:cTn>
                                        <p:tgtEl>
                                          <p:spTgt spid="17">
                                            <p:txEl>
                                              <p:pRg st="3" end="3"/>
                                            </p:txEl>
                                          </p:spTgt>
                                        </p:tgtEl>
                                      </p:cBhvr>
                                      <p:to x="100000" y="90000"/>
                                    </p:animScale>
                                    <p:animScale>
                                      <p:cBhvr>
                                        <p:cTn id="50" dur="166" decel="50000">
                                          <p:stCondLst>
                                            <p:cond delay="1668"/>
                                          </p:stCondLst>
                                        </p:cTn>
                                        <p:tgtEl>
                                          <p:spTgt spid="17">
                                            <p:txEl>
                                              <p:pRg st="3" end="3"/>
                                            </p:txEl>
                                          </p:spTgt>
                                        </p:tgtEl>
                                      </p:cBhvr>
                                      <p:to x="100000" y="100000"/>
                                    </p:animScale>
                                    <p:animScale>
                                      <p:cBhvr>
                                        <p:cTn id="51" dur="26">
                                          <p:stCondLst>
                                            <p:cond delay="1808"/>
                                          </p:stCondLst>
                                        </p:cTn>
                                        <p:tgtEl>
                                          <p:spTgt spid="17">
                                            <p:txEl>
                                              <p:pRg st="3" end="3"/>
                                            </p:txEl>
                                          </p:spTgt>
                                        </p:tgtEl>
                                      </p:cBhvr>
                                      <p:to x="100000" y="95000"/>
                                    </p:animScale>
                                    <p:animScale>
                                      <p:cBhvr>
                                        <p:cTn id="52" dur="166" decel="50000">
                                          <p:stCondLst>
                                            <p:cond delay="1834"/>
                                          </p:stCondLst>
                                        </p:cTn>
                                        <p:tgtEl>
                                          <p:spTgt spid="17">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7">
                                            <p:txEl>
                                              <p:pRg st="4" end="4"/>
                                            </p:txEl>
                                          </p:spTgt>
                                        </p:tgtEl>
                                        <p:attrNameLst>
                                          <p:attrName>style.visibility</p:attrName>
                                        </p:attrNameLst>
                                      </p:cBhvr>
                                      <p:to>
                                        <p:strVal val="visible"/>
                                      </p:to>
                                    </p:set>
                                    <p:animEffect transition="in" filter="wipe(down)">
                                      <p:cBhvr>
                                        <p:cTn id="55" dur="580">
                                          <p:stCondLst>
                                            <p:cond delay="0"/>
                                          </p:stCondLst>
                                        </p:cTn>
                                        <p:tgtEl>
                                          <p:spTgt spid="17">
                                            <p:txEl>
                                              <p:pRg st="4" end="4"/>
                                            </p:txEl>
                                          </p:spTgt>
                                        </p:tgtEl>
                                      </p:cBhvr>
                                    </p:animEffect>
                                    <p:anim calcmode="lin" valueType="num">
                                      <p:cBhvr>
                                        <p:cTn id="56" dur="1822" tmFilter="0,0; 0.14,0.36; 0.43,0.73; 0.71,0.91; 1.0,1.0">
                                          <p:stCondLst>
                                            <p:cond delay="0"/>
                                          </p:stCondLst>
                                        </p:cTn>
                                        <p:tgtEl>
                                          <p:spTgt spid="17">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7">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7">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7">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7">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7">
                                            <p:txEl>
                                              <p:pRg st="4" end="4"/>
                                            </p:txEl>
                                          </p:spTgt>
                                        </p:tgtEl>
                                      </p:cBhvr>
                                      <p:to x="100000" y="60000"/>
                                    </p:animScale>
                                    <p:animScale>
                                      <p:cBhvr>
                                        <p:cTn id="62" dur="166" decel="50000">
                                          <p:stCondLst>
                                            <p:cond delay="676"/>
                                          </p:stCondLst>
                                        </p:cTn>
                                        <p:tgtEl>
                                          <p:spTgt spid="17">
                                            <p:txEl>
                                              <p:pRg st="4" end="4"/>
                                            </p:txEl>
                                          </p:spTgt>
                                        </p:tgtEl>
                                      </p:cBhvr>
                                      <p:to x="100000" y="100000"/>
                                    </p:animScale>
                                    <p:animScale>
                                      <p:cBhvr>
                                        <p:cTn id="63" dur="26">
                                          <p:stCondLst>
                                            <p:cond delay="1312"/>
                                          </p:stCondLst>
                                        </p:cTn>
                                        <p:tgtEl>
                                          <p:spTgt spid="17">
                                            <p:txEl>
                                              <p:pRg st="4" end="4"/>
                                            </p:txEl>
                                          </p:spTgt>
                                        </p:tgtEl>
                                      </p:cBhvr>
                                      <p:to x="100000" y="80000"/>
                                    </p:animScale>
                                    <p:animScale>
                                      <p:cBhvr>
                                        <p:cTn id="64" dur="166" decel="50000">
                                          <p:stCondLst>
                                            <p:cond delay="1338"/>
                                          </p:stCondLst>
                                        </p:cTn>
                                        <p:tgtEl>
                                          <p:spTgt spid="17">
                                            <p:txEl>
                                              <p:pRg st="4" end="4"/>
                                            </p:txEl>
                                          </p:spTgt>
                                        </p:tgtEl>
                                      </p:cBhvr>
                                      <p:to x="100000" y="100000"/>
                                    </p:animScale>
                                    <p:animScale>
                                      <p:cBhvr>
                                        <p:cTn id="65" dur="26">
                                          <p:stCondLst>
                                            <p:cond delay="1642"/>
                                          </p:stCondLst>
                                        </p:cTn>
                                        <p:tgtEl>
                                          <p:spTgt spid="17">
                                            <p:txEl>
                                              <p:pRg st="4" end="4"/>
                                            </p:txEl>
                                          </p:spTgt>
                                        </p:tgtEl>
                                      </p:cBhvr>
                                      <p:to x="100000" y="90000"/>
                                    </p:animScale>
                                    <p:animScale>
                                      <p:cBhvr>
                                        <p:cTn id="66" dur="166" decel="50000">
                                          <p:stCondLst>
                                            <p:cond delay="1668"/>
                                          </p:stCondLst>
                                        </p:cTn>
                                        <p:tgtEl>
                                          <p:spTgt spid="17">
                                            <p:txEl>
                                              <p:pRg st="4" end="4"/>
                                            </p:txEl>
                                          </p:spTgt>
                                        </p:tgtEl>
                                      </p:cBhvr>
                                      <p:to x="100000" y="100000"/>
                                    </p:animScale>
                                    <p:animScale>
                                      <p:cBhvr>
                                        <p:cTn id="67" dur="26">
                                          <p:stCondLst>
                                            <p:cond delay="1808"/>
                                          </p:stCondLst>
                                        </p:cTn>
                                        <p:tgtEl>
                                          <p:spTgt spid="17">
                                            <p:txEl>
                                              <p:pRg st="4" end="4"/>
                                            </p:txEl>
                                          </p:spTgt>
                                        </p:tgtEl>
                                      </p:cBhvr>
                                      <p:to x="100000" y="95000"/>
                                    </p:animScale>
                                    <p:animScale>
                                      <p:cBhvr>
                                        <p:cTn id="68" dur="166" decel="50000">
                                          <p:stCondLst>
                                            <p:cond delay="1834"/>
                                          </p:stCondLst>
                                        </p:cTn>
                                        <p:tgtEl>
                                          <p:spTgt spid="17">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7">
                                            <p:txEl>
                                              <p:pRg st="6" end="6"/>
                                            </p:txEl>
                                          </p:spTgt>
                                        </p:tgtEl>
                                        <p:attrNameLst>
                                          <p:attrName>style.visibility</p:attrName>
                                        </p:attrNameLst>
                                      </p:cBhvr>
                                      <p:to>
                                        <p:strVal val="visible"/>
                                      </p:to>
                                    </p:set>
                                    <p:animEffect transition="in" filter="wipe(down)">
                                      <p:cBhvr>
                                        <p:cTn id="71" dur="580">
                                          <p:stCondLst>
                                            <p:cond delay="0"/>
                                          </p:stCondLst>
                                        </p:cTn>
                                        <p:tgtEl>
                                          <p:spTgt spid="17">
                                            <p:txEl>
                                              <p:pRg st="6" end="6"/>
                                            </p:txEl>
                                          </p:spTgt>
                                        </p:tgtEl>
                                      </p:cBhvr>
                                    </p:animEffect>
                                    <p:anim calcmode="lin" valueType="num">
                                      <p:cBhvr>
                                        <p:cTn id="72" dur="1822" tmFilter="0,0; 0.14,0.36; 0.43,0.73; 0.71,0.91; 1.0,1.0">
                                          <p:stCondLst>
                                            <p:cond delay="0"/>
                                          </p:stCondLst>
                                        </p:cTn>
                                        <p:tgtEl>
                                          <p:spTgt spid="17">
                                            <p:txEl>
                                              <p:pRg st="6" end="6"/>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7">
                                            <p:txEl>
                                              <p:pRg st="6" end="6"/>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7">
                                            <p:txEl>
                                              <p:pRg st="6" end="6"/>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7">
                                            <p:txEl>
                                              <p:pRg st="6" end="6"/>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7">
                                            <p:txEl>
                                              <p:pRg st="6" end="6"/>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7">
                                            <p:txEl>
                                              <p:pRg st="6" end="6"/>
                                            </p:txEl>
                                          </p:spTgt>
                                        </p:tgtEl>
                                      </p:cBhvr>
                                      <p:to x="100000" y="60000"/>
                                    </p:animScale>
                                    <p:animScale>
                                      <p:cBhvr>
                                        <p:cTn id="78" dur="166" decel="50000">
                                          <p:stCondLst>
                                            <p:cond delay="676"/>
                                          </p:stCondLst>
                                        </p:cTn>
                                        <p:tgtEl>
                                          <p:spTgt spid="17">
                                            <p:txEl>
                                              <p:pRg st="6" end="6"/>
                                            </p:txEl>
                                          </p:spTgt>
                                        </p:tgtEl>
                                      </p:cBhvr>
                                      <p:to x="100000" y="100000"/>
                                    </p:animScale>
                                    <p:animScale>
                                      <p:cBhvr>
                                        <p:cTn id="79" dur="26">
                                          <p:stCondLst>
                                            <p:cond delay="1312"/>
                                          </p:stCondLst>
                                        </p:cTn>
                                        <p:tgtEl>
                                          <p:spTgt spid="17">
                                            <p:txEl>
                                              <p:pRg st="6" end="6"/>
                                            </p:txEl>
                                          </p:spTgt>
                                        </p:tgtEl>
                                      </p:cBhvr>
                                      <p:to x="100000" y="80000"/>
                                    </p:animScale>
                                    <p:animScale>
                                      <p:cBhvr>
                                        <p:cTn id="80" dur="166" decel="50000">
                                          <p:stCondLst>
                                            <p:cond delay="1338"/>
                                          </p:stCondLst>
                                        </p:cTn>
                                        <p:tgtEl>
                                          <p:spTgt spid="17">
                                            <p:txEl>
                                              <p:pRg st="6" end="6"/>
                                            </p:txEl>
                                          </p:spTgt>
                                        </p:tgtEl>
                                      </p:cBhvr>
                                      <p:to x="100000" y="100000"/>
                                    </p:animScale>
                                    <p:animScale>
                                      <p:cBhvr>
                                        <p:cTn id="81" dur="26">
                                          <p:stCondLst>
                                            <p:cond delay="1642"/>
                                          </p:stCondLst>
                                        </p:cTn>
                                        <p:tgtEl>
                                          <p:spTgt spid="17">
                                            <p:txEl>
                                              <p:pRg st="6" end="6"/>
                                            </p:txEl>
                                          </p:spTgt>
                                        </p:tgtEl>
                                      </p:cBhvr>
                                      <p:to x="100000" y="90000"/>
                                    </p:animScale>
                                    <p:animScale>
                                      <p:cBhvr>
                                        <p:cTn id="82" dur="166" decel="50000">
                                          <p:stCondLst>
                                            <p:cond delay="1668"/>
                                          </p:stCondLst>
                                        </p:cTn>
                                        <p:tgtEl>
                                          <p:spTgt spid="17">
                                            <p:txEl>
                                              <p:pRg st="6" end="6"/>
                                            </p:txEl>
                                          </p:spTgt>
                                        </p:tgtEl>
                                      </p:cBhvr>
                                      <p:to x="100000" y="100000"/>
                                    </p:animScale>
                                    <p:animScale>
                                      <p:cBhvr>
                                        <p:cTn id="83" dur="26">
                                          <p:stCondLst>
                                            <p:cond delay="1808"/>
                                          </p:stCondLst>
                                        </p:cTn>
                                        <p:tgtEl>
                                          <p:spTgt spid="17">
                                            <p:txEl>
                                              <p:pRg st="6" end="6"/>
                                            </p:txEl>
                                          </p:spTgt>
                                        </p:tgtEl>
                                      </p:cBhvr>
                                      <p:to x="100000" y="95000"/>
                                    </p:animScale>
                                    <p:animScale>
                                      <p:cBhvr>
                                        <p:cTn id="84" dur="166" decel="50000">
                                          <p:stCondLst>
                                            <p:cond delay="1834"/>
                                          </p:stCondLst>
                                        </p:cTn>
                                        <p:tgtEl>
                                          <p:spTgt spid="17">
                                            <p:txEl>
                                              <p:pRg st="6" end="6"/>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7">
                                            <p:txEl>
                                              <p:pRg st="7" end="7"/>
                                            </p:txEl>
                                          </p:spTgt>
                                        </p:tgtEl>
                                        <p:attrNameLst>
                                          <p:attrName>style.visibility</p:attrName>
                                        </p:attrNameLst>
                                      </p:cBhvr>
                                      <p:to>
                                        <p:strVal val="visible"/>
                                      </p:to>
                                    </p:set>
                                    <p:animEffect transition="in" filter="wipe(down)">
                                      <p:cBhvr>
                                        <p:cTn id="87" dur="580">
                                          <p:stCondLst>
                                            <p:cond delay="0"/>
                                          </p:stCondLst>
                                        </p:cTn>
                                        <p:tgtEl>
                                          <p:spTgt spid="17">
                                            <p:txEl>
                                              <p:pRg st="7" end="7"/>
                                            </p:txEl>
                                          </p:spTgt>
                                        </p:tgtEl>
                                      </p:cBhvr>
                                    </p:animEffect>
                                    <p:anim calcmode="lin" valueType="num">
                                      <p:cBhvr>
                                        <p:cTn id="88" dur="1822" tmFilter="0,0; 0.14,0.36; 0.43,0.73; 0.71,0.91; 1.0,1.0">
                                          <p:stCondLst>
                                            <p:cond delay="0"/>
                                          </p:stCondLst>
                                        </p:cTn>
                                        <p:tgtEl>
                                          <p:spTgt spid="17">
                                            <p:txEl>
                                              <p:pRg st="7" end="7"/>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7">
                                            <p:txEl>
                                              <p:pRg st="7" end="7"/>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7">
                                            <p:txEl>
                                              <p:pRg st="7" end="7"/>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7">
                                            <p:txEl>
                                              <p:pRg st="7" end="7"/>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7">
                                            <p:txEl>
                                              <p:pRg st="7" end="7"/>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7">
                                            <p:txEl>
                                              <p:pRg st="7" end="7"/>
                                            </p:txEl>
                                          </p:spTgt>
                                        </p:tgtEl>
                                      </p:cBhvr>
                                      <p:to x="100000" y="60000"/>
                                    </p:animScale>
                                    <p:animScale>
                                      <p:cBhvr>
                                        <p:cTn id="94" dur="166" decel="50000">
                                          <p:stCondLst>
                                            <p:cond delay="676"/>
                                          </p:stCondLst>
                                        </p:cTn>
                                        <p:tgtEl>
                                          <p:spTgt spid="17">
                                            <p:txEl>
                                              <p:pRg st="7" end="7"/>
                                            </p:txEl>
                                          </p:spTgt>
                                        </p:tgtEl>
                                      </p:cBhvr>
                                      <p:to x="100000" y="100000"/>
                                    </p:animScale>
                                    <p:animScale>
                                      <p:cBhvr>
                                        <p:cTn id="95" dur="26">
                                          <p:stCondLst>
                                            <p:cond delay="1312"/>
                                          </p:stCondLst>
                                        </p:cTn>
                                        <p:tgtEl>
                                          <p:spTgt spid="17">
                                            <p:txEl>
                                              <p:pRg st="7" end="7"/>
                                            </p:txEl>
                                          </p:spTgt>
                                        </p:tgtEl>
                                      </p:cBhvr>
                                      <p:to x="100000" y="80000"/>
                                    </p:animScale>
                                    <p:animScale>
                                      <p:cBhvr>
                                        <p:cTn id="96" dur="166" decel="50000">
                                          <p:stCondLst>
                                            <p:cond delay="1338"/>
                                          </p:stCondLst>
                                        </p:cTn>
                                        <p:tgtEl>
                                          <p:spTgt spid="17">
                                            <p:txEl>
                                              <p:pRg st="7" end="7"/>
                                            </p:txEl>
                                          </p:spTgt>
                                        </p:tgtEl>
                                      </p:cBhvr>
                                      <p:to x="100000" y="100000"/>
                                    </p:animScale>
                                    <p:animScale>
                                      <p:cBhvr>
                                        <p:cTn id="97" dur="26">
                                          <p:stCondLst>
                                            <p:cond delay="1642"/>
                                          </p:stCondLst>
                                        </p:cTn>
                                        <p:tgtEl>
                                          <p:spTgt spid="17">
                                            <p:txEl>
                                              <p:pRg st="7" end="7"/>
                                            </p:txEl>
                                          </p:spTgt>
                                        </p:tgtEl>
                                      </p:cBhvr>
                                      <p:to x="100000" y="90000"/>
                                    </p:animScale>
                                    <p:animScale>
                                      <p:cBhvr>
                                        <p:cTn id="98" dur="166" decel="50000">
                                          <p:stCondLst>
                                            <p:cond delay="1668"/>
                                          </p:stCondLst>
                                        </p:cTn>
                                        <p:tgtEl>
                                          <p:spTgt spid="17">
                                            <p:txEl>
                                              <p:pRg st="7" end="7"/>
                                            </p:txEl>
                                          </p:spTgt>
                                        </p:tgtEl>
                                      </p:cBhvr>
                                      <p:to x="100000" y="100000"/>
                                    </p:animScale>
                                    <p:animScale>
                                      <p:cBhvr>
                                        <p:cTn id="99" dur="26">
                                          <p:stCondLst>
                                            <p:cond delay="1808"/>
                                          </p:stCondLst>
                                        </p:cTn>
                                        <p:tgtEl>
                                          <p:spTgt spid="17">
                                            <p:txEl>
                                              <p:pRg st="7" end="7"/>
                                            </p:txEl>
                                          </p:spTgt>
                                        </p:tgtEl>
                                      </p:cBhvr>
                                      <p:to x="100000" y="95000"/>
                                    </p:animScale>
                                    <p:animScale>
                                      <p:cBhvr>
                                        <p:cTn id="100" dur="166" decel="50000">
                                          <p:stCondLst>
                                            <p:cond delay="1834"/>
                                          </p:stCondLst>
                                        </p:cTn>
                                        <p:tgtEl>
                                          <p:spTgt spid="17">
                                            <p:txEl>
                                              <p:pRg st="7" end="7"/>
                                            </p:txEl>
                                          </p:spTgt>
                                        </p:tgtEl>
                                      </p:cBhvr>
                                      <p:to x="100000" y="100000"/>
                                    </p:animScale>
                                  </p:childTnLst>
                                </p:cTn>
                              </p:par>
                            </p:childTnLst>
                          </p:cTn>
                        </p:par>
                      </p:childTnLst>
                    </p:cTn>
                  </p:par>
                  <p:par>
                    <p:cTn id="101" fill="hold">
                      <p:stCondLst>
                        <p:cond delay="indefinite"/>
                      </p:stCondLst>
                      <p:childTnLst>
                        <p:par>
                          <p:cTn id="102" fill="hold">
                            <p:stCondLst>
                              <p:cond delay="0"/>
                            </p:stCondLst>
                            <p:childTnLst>
                              <p:par>
                                <p:cTn id="103" presetID="26" presetClass="entr" presetSubtype="0" fill="hold" nodeType="clickEffect">
                                  <p:stCondLst>
                                    <p:cond delay="0"/>
                                  </p:stCondLst>
                                  <p:childTnLst>
                                    <p:set>
                                      <p:cBhvr>
                                        <p:cTn id="104" dur="1" fill="hold">
                                          <p:stCondLst>
                                            <p:cond delay="0"/>
                                          </p:stCondLst>
                                        </p:cTn>
                                        <p:tgtEl>
                                          <p:spTgt spid="21">
                                            <p:txEl>
                                              <p:pRg st="0" end="0"/>
                                            </p:txEl>
                                          </p:spTgt>
                                        </p:tgtEl>
                                        <p:attrNameLst>
                                          <p:attrName>style.visibility</p:attrName>
                                        </p:attrNameLst>
                                      </p:cBhvr>
                                      <p:to>
                                        <p:strVal val="visible"/>
                                      </p:to>
                                    </p:set>
                                    <p:animEffect transition="in" filter="wipe(down)">
                                      <p:cBhvr>
                                        <p:cTn id="105" dur="580">
                                          <p:stCondLst>
                                            <p:cond delay="0"/>
                                          </p:stCondLst>
                                        </p:cTn>
                                        <p:tgtEl>
                                          <p:spTgt spid="21">
                                            <p:txEl>
                                              <p:pRg st="0" end="0"/>
                                            </p:txEl>
                                          </p:spTgt>
                                        </p:tgtEl>
                                      </p:cBhvr>
                                    </p:animEffect>
                                    <p:anim calcmode="lin" valueType="num">
                                      <p:cBhvr>
                                        <p:cTn id="106" dur="1822" tmFilter="0,0; 0.14,0.36; 0.43,0.73; 0.71,0.91; 1.0,1.0">
                                          <p:stCondLst>
                                            <p:cond delay="0"/>
                                          </p:stCondLst>
                                        </p:cTn>
                                        <p:tgtEl>
                                          <p:spTgt spid="21">
                                            <p:txEl>
                                              <p:pRg st="0" end="0"/>
                                            </p:txEl>
                                          </p:spTgt>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21">
                                            <p:txEl>
                                              <p:pRg st="0" end="0"/>
                                            </p:txEl>
                                          </p:spTgt>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21">
                                            <p:txEl>
                                              <p:pRg st="0" end="0"/>
                                            </p:txEl>
                                          </p:spTgt>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21">
                                            <p:txEl>
                                              <p:pRg st="0" end="0"/>
                                            </p:txEl>
                                          </p:spTgt>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21">
                                            <p:txEl>
                                              <p:pRg st="0" end="0"/>
                                            </p:txEl>
                                          </p:spTgt>
                                        </p:tgtEl>
                                        <p:attrNameLst>
                                          <p:attrName>ppt_y</p:attrName>
                                        </p:attrNameLst>
                                      </p:cBhvr>
                                      <p:tavLst>
                                        <p:tav tm="0" fmla="#ppt_y-sin(pi*$)/81">
                                          <p:val>
                                            <p:fltVal val="0"/>
                                          </p:val>
                                        </p:tav>
                                        <p:tav tm="100000">
                                          <p:val>
                                            <p:fltVal val="1"/>
                                          </p:val>
                                        </p:tav>
                                      </p:tavLst>
                                    </p:anim>
                                    <p:animScale>
                                      <p:cBhvr>
                                        <p:cTn id="111" dur="26">
                                          <p:stCondLst>
                                            <p:cond delay="650"/>
                                          </p:stCondLst>
                                        </p:cTn>
                                        <p:tgtEl>
                                          <p:spTgt spid="21">
                                            <p:txEl>
                                              <p:pRg st="0" end="0"/>
                                            </p:txEl>
                                          </p:spTgt>
                                        </p:tgtEl>
                                      </p:cBhvr>
                                      <p:to x="100000" y="60000"/>
                                    </p:animScale>
                                    <p:animScale>
                                      <p:cBhvr>
                                        <p:cTn id="112" dur="166" decel="50000">
                                          <p:stCondLst>
                                            <p:cond delay="676"/>
                                          </p:stCondLst>
                                        </p:cTn>
                                        <p:tgtEl>
                                          <p:spTgt spid="21">
                                            <p:txEl>
                                              <p:pRg st="0" end="0"/>
                                            </p:txEl>
                                          </p:spTgt>
                                        </p:tgtEl>
                                      </p:cBhvr>
                                      <p:to x="100000" y="100000"/>
                                    </p:animScale>
                                    <p:animScale>
                                      <p:cBhvr>
                                        <p:cTn id="113" dur="26">
                                          <p:stCondLst>
                                            <p:cond delay="1312"/>
                                          </p:stCondLst>
                                        </p:cTn>
                                        <p:tgtEl>
                                          <p:spTgt spid="21">
                                            <p:txEl>
                                              <p:pRg st="0" end="0"/>
                                            </p:txEl>
                                          </p:spTgt>
                                        </p:tgtEl>
                                      </p:cBhvr>
                                      <p:to x="100000" y="80000"/>
                                    </p:animScale>
                                    <p:animScale>
                                      <p:cBhvr>
                                        <p:cTn id="114" dur="166" decel="50000">
                                          <p:stCondLst>
                                            <p:cond delay="1338"/>
                                          </p:stCondLst>
                                        </p:cTn>
                                        <p:tgtEl>
                                          <p:spTgt spid="21">
                                            <p:txEl>
                                              <p:pRg st="0" end="0"/>
                                            </p:txEl>
                                          </p:spTgt>
                                        </p:tgtEl>
                                      </p:cBhvr>
                                      <p:to x="100000" y="100000"/>
                                    </p:animScale>
                                    <p:animScale>
                                      <p:cBhvr>
                                        <p:cTn id="115" dur="26">
                                          <p:stCondLst>
                                            <p:cond delay="1642"/>
                                          </p:stCondLst>
                                        </p:cTn>
                                        <p:tgtEl>
                                          <p:spTgt spid="21">
                                            <p:txEl>
                                              <p:pRg st="0" end="0"/>
                                            </p:txEl>
                                          </p:spTgt>
                                        </p:tgtEl>
                                      </p:cBhvr>
                                      <p:to x="100000" y="90000"/>
                                    </p:animScale>
                                    <p:animScale>
                                      <p:cBhvr>
                                        <p:cTn id="116" dur="166" decel="50000">
                                          <p:stCondLst>
                                            <p:cond delay="1668"/>
                                          </p:stCondLst>
                                        </p:cTn>
                                        <p:tgtEl>
                                          <p:spTgt spid="21">
                                            <p:txEl>
                                              <p:pRg st="0" end="0"/>
                                            </p:txEl>
                                          </p:spTgt>
                                        </p:tgtEl>
                                      </p:cBhvr>
                                      <p:to x="100000" y="100000"/>
                                    </p:animScale>
                                    <p:animScale>
                                      <p:cBhvr>
                                        <p:cTn id="117" dur="26">
                                          <p:stCondLst>
                                            <p:cond delay="1808"/>
                                          </p:stCondLst>
                                        </p:cTn>
                                        <p:tgtEl>
                                          <p:spTgt spid="21">
                                            <p:txEl>
                                              <p:pRg st="0" end="0"/>
                                            </p:txEl>
                                          </p:spTgt>
                                        </p:tgtEl>
                                      </p:cBhvr>
                                      <p:to x="100000" y="95000"/>
                                    </p:animScale>
                                    <p:animScale>
                                      <p:cBhvr>
                                        <p:cTn id="118" dur="166" decel="50000">
                                          <p:stCondLst>
                                            <p:cond delay="1834"/>
                                          </p:stCondLst>
                                        </p:cTn>
                                        <p:tgtEl>
                                          <p:spTgt spid="21">
                                            <p:txEl>
                                              <p:pRg st="0" end="0"/>
                                            </p:txEl>
                                          </p:spTgt>
                                        </p:tgtEl>
                                      </p:cBhvr>
                                      <p:to x="100000" y="100000"/>
                                    </p:animScale>
                                  </p:childTnLst>
                                </p:cTn>
                              </p:par>
                              <p:par>
                                <p:cTn id="119" presetID="26" presetClass="entr" presetSubtype="0" fill="hold" nodeType="withEffect">
                                  <p:stCondLst>
                                    <p:cond delay="0"/>
                                  </p:stCondLst>
                                  <p:childTnLst>
                                    <p:set>
                                      <p:cBhvr>
                                        <p:cTn id="120" dur="1" fill="hold">
                                          <p:stCondLst>
                                            <p:cond delay="0"/>
                                          </p:stCondLst>
                                        </p:cTn>
                                        <p:tgtEl>
                                          <p:spTgt spid="21">
                                            <p:txEl>
                                              <p:pRg st="1" end="1"/>
                                            </p:txEl>
                                          </p:spTgt>
                                        </p:tgtEl>
                                        <p:attrNameLst>
                                          <p:attrName>style.visibility</p:attrName>
                                        </p:attrNameLst>
                                      </p:cBhvr>
                                      <p:to>
                                        <p:strVal val="visible"/>
                                      </p:to>
                                    </p:set>
                                    <p:animEffect transition="in" filter="wipe(down)">
                                      <p:cBhvr>
                                        <p:cTn id="121" dur="580">
                                          <p:stCondLst>
                                            <p:cond delay="0"/>
                                          </p:stCondLst>
                                        </p:cTn>
                                        <p:tgtEl>
                                          <p:spTgt spid="21">
                                            <p:txEl>
                                              <p:pRg st="1" end="1"/>
                                            </p:txEl>
                                          </p:spTgt>
                                        </p:tgtEl>
                                      </p:cBhvr>
                                    </p:animEffect>
                                    <p:anim calcmode="lin" valueType="num">
                                      <p:cBhvr>
                                        <p:cTn id="122" dur="1822" tmFilter="0,0; 0.14,0.36; 0.43,0.73; 0.71,0.91; 1.0,1.0">
                                          <p:stCondLst>
                                            <p:cond delay="0"/>
                                          </p:stCondLst>
                                        </p:cTn>
                                        <p:tgtEl>
                                          <p:spTgt spid="21">
                                            <p:txEl>
                                              <p:pRg st="1" end="1"/>
                                            </p:txEl>
                                          </p:spTgt>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21">
                                            <p:txEl>
                                              <p:pRg st="1" end="1"/>
                                            </p:txEl>
                                          </p:spTgt>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21">
                                            <p:txEl>
                                              <p:pRg st="1" end="1"/>
                                            </p:txEl>
                                          </p:spTgt>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21">
                                            <p:txEl>
                                              <p:pRg st="1" end="1"/>
                                            </p:txEl>
                                          </p:spTgt>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21">
                                            <p:txEl>
                                              <p:pRg st="1" end="1"/>
                                            </p:txEl>
                                          </p:spTgt>
                                        </p:tgtEl>
                                        <p:attrNameLst>
                                          <p:attrName>ppt_y</p:attrName>
                                        </p:attrNameLst>
                                      </p:cBhvr>
                                      <p:tavLst>
                                        <p:tav tm="0" fmla="#ppt_y-sin(pi*$)/81">
                                          <p:val>
                                            <p:fltVal val="0"/>
                                          </p:val>
                                        </p:tav>
                                        <p:tav tm="100000">
                                          <p:val>
                                            <p:fltVal val="1"/>
                                          </p:val>
                                        </p:tav>
                                      </p:tavLst>
                                    </p:anim>
                                    <p:animScale>
                                      <p:cBhvr>
                                        <p:cTn id="127" dur="26">
                                          <p:stCondLst>
                                            <p:cond delay="650"/>
                                          </p:stCondLst>
                                        </p:cTn>
                                        <p:tgtEl>
                                          <p:spTgt spid="21">
                                            <p:txEl>
                                              <p:pRg st="1" end="1"/>
                                            </p:txEl>
                                          </p:spTgt>
                                        </p:tgtEl>
                                      </p:cBhvr>
                                      <p:to x="100000" y="60000"/>
                                    </p:animScale>
                                    <p:animScale>
                                      <p:cBhvr>
                                        <p:cTn id="128" dur="166" decel="50000">
                                          <p:stCondLst>
                                            <p:cond delay="676"/>
                                          </p:stCondLst>
                                        </p:cTn>
                                        <p:tgtEl>
                                          <p:spTgt spid="21">
                                            <p:txEl>
                                              <p:pRg st="1" end="1"/>
                                            </p:txEl>
                                          </p:spTgt>
                                        </p:tgtEl>
                                      </p:cBhvr>
                                      <p:to x="100000" y="100000"/>
                                    </p:animScale>
                                    <p:animScale>
                                      <p:cBhvr>
                                        <p:cTn id="129" dur="26">
                                          <p:stCondLst>
                                            <p:cond delay="1312"/>
                                          </p:stCondLst>
                                        </p:cTn>
                                        <p:tgtEl>
                                          <p:spTgt spid="21">
                                            <p:txEl>
                                              <p:pRg st="1" end="1"/>
                                            </p:txEl>
                                          </p:spTgt>
                                        </p:tgtEl>
                                      </p:cBhvr>
                                      <p:to x="100000" y="80000"/>
                                    </p:animScale>
                                    <p:animScale>
                                      <p:cBhvr>
                                        <p:cTn id="130" dur="166" decel="50000">
                                          <p:stCondLst>
                                            <p:cond delay="1338"/>
                                          </p:stCondLst>
                                        </p:cTn>
                                        <p:tgtEl>
                                          <p:spTgt spid="21">
                                            <p:txEl>
                                              <p:pRg st="1" end="1"/>
                                            </p:txEl>
                                          </p:spTgt>
                                        </p:tgtEl>
                                      </p:cBhvr>
                                      <p:to x="100000" y="100000"/>
                                    </p:animScale>
                                    <p:animScale>
                                      <p:cBhvr>
                                        <p:cTn id="131" dur="26">
                                          <p:stCondLst>
                                            <p:cond delay="1642"/>
                                          </p:stCondLst>
                                        </p:cTn>
                                        <p:tgtEl>
                                          <p:spTgt spid="21">
                                            <p:txEl>
                                              <p:pRg st="1" end="1"/>
                                            </p:txEl>
                                          </p:spTgt>
                                        </p:tgtEl>
                                      </p:cBhvr>
                                      <p:to x="100000" y="90000"/>
                                    </p:animScale>
                                    <p:animScale>
                                      <p:cBhvr>
                                        <p:cTn id="132" dur="166" decel="50000">
                                          <p:stCondLst>
                                            <p:cond delay="1668"/>
                                          </p:stCondLst>
                                        </p:cTn>
                                        <p:tgtEl>
                                          <p:spTgt spid="21">
                                            <p:txEl>
                                              <p:pRg st="1" end="1"/>
                                            </p:txEl>
                                          </p:spTgt>
                                        </p:tgtEl>
                                      </p:cBhvr>
                                      <p:to x="100000" y="100000"/>
                                    </p:animScale>
                                    <p:animScale>
                                      <p:cBhvr>
                                        <p:cTn id="133" dur="26">
                                          <p:stCondLst>
                                            <p:cond delay="1808"/>
                                          </p:stCondLst>
                                        </p:cTn>
                                        <p:tgtEl>
                                          <p:spTgt spid="21">
                                            <p:txEl>
                                              <p:pRg st="1" end="1"/>
                                            </p:txEl>
                                          </p:spTgt>
                                        </p:tgtEl>
                                      </p:cBhvr>
                                      <p:to x="100000" y="95000"/>
                                    </p:animScale>
                                    <p:animScale>
                                      <p:cBhvr>
                                        <p:cTn id="134" dur="166" decel="50000">
                                          <p:stCondLst>
                                            <p:cond delay="1834"/>
                                          </p:stCondLst>
                                        </p:cTn>
                                        <p:tgtEl>
                                          <p:spTgt spid="21">
                                            <p:txEl>
                                              <p:pRg st="1" end="1"/>
                                            </p:txEl>
                                          </p:spTgt>
                                        </p:tgtEl>
                                      </p:cBhvr>
                                      <p:to x="100000" y="100000"/>
                                    </p:animScale>
                                  </p:childTnLst>
                                </p:cTn>
                              </p:par>
                              <p:par>
                                <p:cTn id="135" presetID="26" presetClass="entr" presetSubtype="0" fill="hold" nodeType="withEffect">
                                  <p:stCondLst>
                                    <p:cond delay="0"/>
                                  </p:stCondLst>
                                  <p:childTnLst>
                                    <p:set>
                                      <p:cBhvr>
                                        <p:cTn id="136" dur="1" fill="hold">
                                          <p:stCondLst>
                                            <p:cond delay="0"/>
                                          </p:stCondLst>
                                        </p:cTn>
                                        <p:tgtEl>
                                          <p:spTgt spid="21">
                                            <p:txEl>
                                              <p:pRg st="2" end="2"/>
                                            </p:txEl>
                                          </p:spTgt>
                                        </p:tgtEl>
                                        <p:attrNameLst>
                                          <p:attrName>style.visibility</p:attrName>
                                        </p:attrNameLst>
                                      </p:cBhvr>
                                      <p:to>
                                        <p:strVal val="visible"/>
                                      </p:to>
                                    </p:set>
                                    <p:animEffect transition="in" filter="wipe(down)">
                                      <p:cBhvr>
                                        <p:cTn id="137" dur="580">
                                          <p:stCondLst>
                                            <p:cond delay="0"/>
                                          </p:stCondLst>
                                        </p:cTn>
                                        <p:tgtEl>
                                          <p:spTgt spid="21">
                                            <p:txEl>
                                              <p:pRg st="2" end="2"/>
                                            </p:txEl>
                                          </p:spTgt>
                                        </p:tgtEl>
                                      </p:cBhvr>
                                    </p:animEffect>
                                    <p:anim calcmode="lin" valueType="num">
                                      <p:cBhvr>
                                        <p:cTn id="138" dur="1822" tmFilter="0,0; 0.14,0.36; 0.43,0.73; 0.71,0.91; 1.0,1.0">
                                          <p:stCondLst>
                                            <p:cond delay="0"/>
                                          </p:stCondLst>
                                        </p:cTn>
                                        <p:tgtEl>
                                          <p:spTgt spid="21">
                                            <p:txEl>
                                              <p:pRg st="2" end="2"/>
                                            </p:txEl>
                                          </p:spTgt>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21">
                                            <p:txEl>
                                              <p:pRg st="2" end="2"/>
                                            </p:txEl>
                                          </p:spTgt>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21">
                                            <p:txEl>
                                              <p:pRg st="2" end="2"/>
                                            </p:txEl>
                                          </p:spTgt>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21">
                                            <p:txEl>
                                              <p:pRg st="2" end="2"/>
                                            </p:txEl>
                                          </p:spTgt>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21">
                                            <p:txEl>
                                              <p:pRg st="2" end="2"/>
                                            </p:txEl>
                                          </p:spTgt>
                                        </p:tgtEl>
                                        <p:attrNameLst>
                                          <p:attrName>ppt_y</p:attrName>
                                        </p:attrNameLst>
                                      </p:cBhvr>
                                      <p:tavLst>
                                        <p:tav tm="0" fmla="#ppt_y-sin(pi*$)/81">
                                          <p:val>
                                            <p:fltVal val="0"/>
                                          </p:val>
                                        </p:tav>
                                        <p:tav tm="100000">
                                          <p:val>
                                            <p:fltVal val="1"/>
                                          </p:val>
                                        </p:tav>
                                      </p:tavLst>
                                    </p:anim>
                                    <p:animScale>
                                      <p:cBhvr>
                                        <p:cTn id="143" dur="26">
                                          <p:stCondLst>
                                            <p:cond delay="650"/>
                                          </p:stCondLst>
                                        </p:cTn>
                                        <p:tgtEl>
                                          <p:spTgt spid="21">
                                            <p:txEl>
                                              <p:pRg st="2" end="2"/>
                                            </p:txEl>
                                          </p:spTgt>
                                        </p:tgtEl>
                                      </p:cBhvr>
                                      <p:to x="100000" y="60000"/>
                                    </p:animScale>
                                    <p:animScale>
                                      <p:cBhvr>
                                        <p:cTn id="144" dur="166" decel="50000">
                                          <p:stCondLst>
                                            <p:cond delay="676"/>
                                          </p:stCondLst>
                                        </p:cTn>
                                        <p:tgtEl>
                                          <p:spTgt spid="21">
                                            <p:txEl>
                                              <p:pRg st="2" end="2"/>
                                            </p:txEl>
                                          </p:spTgt>
                                        </p:tgtEl>
                                      </p:cBhvr>
                                      <p:to x="100000" y="100000"/>
                                    </p:animScale>
                                    <p:animScale>
                                      <p:cBhvr>
                                        <p:cTn id="145" dur="26">
                                          <p:stCondLst>
                                            <p:cond delay="1312"/>
                                          </p:stCondLst>
                                        </p:cTn>
                                        <p:tgtEl>
                                          <p:spTgt spid="21">
                                            <p:txEl>
                                              <p:pRg st="2" end="2"/>
                                            </p:txEl>
                                          </p:spTgt>
                                        </p:tgtEl>
                                      </p:cBhvr>
                                      <p:to x="100000" y="80000"/>
                                    </p:animScale>
                                    <p:animScale>
                                      <p:cBhvr>
                                        <p:cTn id="146" dur="166" decel="50000">
                                          <p:stCondLst>
                                            <p:cond delay="1338"/>
                                          </p:stCondLst>
                                        </p:cTn>
                                        <p:tgtEl>
                                          <p:spTgt spid="21">
                                            <p:txEl>
                                              <p:pRg st="2" end="2"/>
                                            </p:txEl>
                                          </p:spTgt>
                                        </p:tgtEl>
                                      </p:cBhvr>
                                      <p:to x="100000" y="100000"/>
                                    </p:animScale>
                                    <p:animScale>
                                      <p:cBhvr>
                                        <p:cTn id="147" dur="26">
                                          <p:stCondLst>
                                            <p:cond delay="1642"/>
                                          </p:stCondLst>
                                        </p:cTn>
                                        <p:tgtEl>
                                          <p:spTgt spid="21">
                                            <p:txEl>
                                              <p:pRg st="2" end="2"/>
                                            </p:txEl>
                                          </p:spTgt>
                                        </p:tgtEl>
                                      </p:cBhvr>
                                      <p:to x="100000" y="90000"/>
                                    </p:animScale>
                                    <p:animScale>
                                      <p:cBhvr>
                                        <p:cTn id="148" dur="166" decel="50000">
                                          <p:stCondLst>
                                            <p:cond delay="1668"/>
                                          </p:stCondLst>
                                        </p:cTn>
                                        <p:tgtEl>
                                          <p:spTgt spid="21">
                                            <p:txEl>
                                              <p:pRg st="2" end="2"/>
                                            </p:txEl>
                                          </p:spTgt>
                                        </p:tgtEl>
                                      </p:cBhvr>
                                      <p:to x="100000" y="100000"/>
                                    </p:animScale>
                                    <p:animScale>
                                      <p:cBhvr>
                                        <p:cTn id="149" dur="26">
                                          <p:stCondLst>
                                            <p:cond delay="1808"/>
                                          </p:stCondLst>
                                        </p:cTn>
                                        <p:tgtEl>
                                          <p:spTgt spid="21">
                                            <p:txEl>
                                              <p:pRg st="2" end="2"/>
                                            </p:txEl>
                                          </p:spTgt>
                                        </p:tgtEl>
                                      </p:cBhvr>
                                      <p:to x="100000" y="95000"/>
                                    </p:animScale>
                                    <p:animScale>
                                      <p:cBhvr>
                                        <p:cTn id="150" dur="166" decel="50000">
                                          <p:stCondLst>
                                            <p:cond delay="1834"/>
                                          </p:stCondLst>
                                        </p:cTn>
                                        <p:tgtEl>
                                          <p:spTgt spid="21">
                                            <p:txEl>
                                              <p:pRg st="2" end="2"/>
                                            </p:txEl>
                                          </p:spTgt>
                                        </p:tgtEl>
                                      </p:cBhvr>
                                      <p:to x="100000" y="100000"/>
                                    </p:animScale>
                                  </p:childTnLst>
                                </p:cTn>
                              </p:par>
                              <p:par>
                                <p:cTn id="151" presetID="26" presetClass="entr" presetSubtype="0" fill="hold" nodeType="withEffect">
                                  <p:stCondLst>
                                    <p:cond delay="0"/>
                                  </p:stCondLst>
                                  <p:childTnLst>
                                    <p:set>
                                      <p:cBhvr>
                                        <p:cTn id="152" dur="1" fill="hold">
                                          <p:stCondLst>
                                            <p:cond delay="0"/>
                                          </p:stCondLst>
                                        </p:cTn>
                                        <p:tgtEl>
                                          <p:spTgt spid="21">
                                            <p:txEl>
                                              <p:pRg st="3" end="3"/>
                                            </p:txEl>
                                          </p:spTgt>
                                        </p:tgtEl>
                                        <p:attrNameLst>
                                          <p:attrName>style.visibility</p:attrName>
                                        </p:attrNameLst>
                                      </p:cBhvr>
                                      <p:to>
                                        <p:strVal val="visible"/>
                                      </p:to>
                                    </p:set>
                                    <p:animEffect transition="in" filter="wipe(down)">
                                      <p:cBhvr>
                                        <p:cTn id="153" dur="580">
                                          <p:stCondLst>
                                            <p:cond delay="0"/>
                                          </p:stCondLst>
                                        </p:cTn>
                                        <p:tgtEl>
                                          <p:spTgt spid="21">
                                            <p:txEl>
                                              <p:pRg st="3" end="3"/>
                                            </p:txEl>
                                          </p:spTgt>
                                        </p:tgtEl>
                                      </p:cBhvr>
                                    </p:animEffect>
                                    <p:anim calcmode="lin" valueType="num">
                                      <p:cBhvr>
                                        <p:cTn id="154" dur="1822" tmFilter="0,0; 0.14,0.36; 0.43,0.73; 0.71,0.91; 1.0,1.0">
                                          <p:stCondLst>
                                            <p:cond delay="0"/>
                                          </p:stCondLst>
                                        </p:cTn>
                                        <p:tgtEl>
                                          <p:spTgt spid="21">
                                            <p:txEl>
                                              <p:pRg st="3" end="3"/>
                                            </p:txEl>
                                          </p:spTgt>
                                        </p:tgtEl>
                                        <p:attrNameLst>
                                          <p:attrName>ppt_x</p:attrName>
                                        </p:attrNameLst>
                                      </p:cBhvr>
                                      <p:tavLst>
                                        <p:tav tm="0">
                                          <p:val>
                                            <p:strVal val="#ppt_x-0.25"/>
                                          </p:val>
                                        </p:tav>
                                        <p:tav tm="100000">
                                          <p:val>
                                            <p:strVal val="#ppt_x"/>
                                          </p:val>
                                        </p:tav>
                                      </p:tavLst>
                                    </p:anim>
                                    <p:anim calcmode="lin" valueType="num">
                                      <p:cBhvr>
                                        <p:cTn id="155" dur="664" tmFilter="0.0,0.0; 0.25,0.07; 0.50,0.2; 0.75,0.467; 1.0,1.0">
                                          <p:stCondLst>
                                            <p:cond delay="0"/>
                                          </p:stCondLst>
                                        </p:cTn>
                                        <p:tgtEl>
                                          <p:spTgt spid="21">
                                            <p:txEl>
                                              <p:pRg st="3" end="3"/>
                                            </p:txEl>
                                          </p:spTgt>
                                        </p:tgtEl>
                                        <p:attrNameLst>
                                          <p:attrName>ppt_y</p:attrName>
                                        </p:attrNameLst>
                                      </p:cBhvr>
                                      <p:tavLst>
                                        <p:tav tm="0" fmla="#ppt_y-sin(pi*$)/3">
                                          <p:val>
                                            <p:fltVal val="0.5"/>
                                          </p:val>
                                        </p:tav>
                                        <p:tav tm="100000">
                                          <p:val>
                                            <p:fltVal val="1"/>
                                          </p:val>
                                        </p:tav>
                                      </p:tavLst>
                                    </p:anim>
                                    <p:anim calcmode="lin" valueType="num">
                                      <p:cBhvr>
                                        <p:cTn id="156" dur="664" tmFilter="0, 0; 0.125,0.2665; 0.25,0.4; 0.375,0.465; 0.5,0.5;  0.625,0.535; 0.75,0.6; 0.875,0.7335; 1,1">
                                          <p:stCondLst>
                                            <p:cond delay="664"/>
                                          </p:stCondLst>
                                        </p:cTn>
                                        <p:tgtEl>
                                          <p:spTgt spid="21">
                                            <p:txEl>
                                              <p:pRg st="3" end="3"/>
                                            </p:txEl>
                                          </p:spTgt>
                                        </p:tgtEl>
                                        <p:attrNameLst>
                                          <p:attrName>ppt_y</p:attrName>
                                        </p:attrNameLst>
                                      </p:cBhvr>
                                      <p:tavLst>
                                        <p:tav tm="0" fmla="#ppt_y-sin(pi*$)/9">
                                          <p:val>
                                            <p:fltVal val="0"/>
                                          </p:val>
                                        </p:tav>
                                        <p:tav tm="100000">
                                          <p:val>
                                            <p:fltVal val="1"/>
                                          </p:val>
                                        </p:tav>
                                      </p:tavLst>
                                    </p:anim>
                                    <p:anim calcmode="lin" valueType="num">
                                      <p:cBhvr>
                                        <p:cTn id="157" dur="332" tmFilter="0, 0; 0.125,0.2665; 0.25,0.4; 0.375,0.465; 0.5,0.5;  0.625,0.535; 0.75,0.6; 0.875,0.7335; 1,1">
                                          <p:stCondLst>
                                            <p:cond delay="1324"/>
                                          </p:stCondLst>
                                        </p:cTn>
                                        <p:tgtEl>
                                          <p:spTgt spid="21">
                                            <p:txEl>
                                              <p:pRg st="3" end="3"/>
                                            </p:txEl>
                                          </p:spTgt>
                                        </p:tgtEl>
                                        <p:attrNameLst>
                                          <p:attrName>ppt_y</p:attrName>
                                        </p:attrNameLst>
                                      </p:cBhvr>
                                      <p:tavLst>
                                        <p:tav tm="0" fmla="#ppt_y-sin(pi*$)/27">
                                          <p:val>
                                            <p:fltVal val="0"/>
                                          </p:val>
                                        </p:tav>
                                        <p:tav tm="100000">
                                          <p:val>
                                            <p:fltVal val="1"/>
                                          </p:val>
                                        </p:tav>
                                      </p:tavLst>
                                    </p:anim>
                                    <p:anim calcmode="lin" valueType="num">
                                      <p:cBhvr>
                                        <p:cTn id="158" dur="164" tmFilter="0, 0; 0.125,0.2665; 0.25,0.4; 0.375,0.465; 0.5,0.5;  0.625,0.535; 0.75,0.6; 0.875,0.7335; 1,1">
                                          <p:stCondLst>
                                            <p:cond delay="1656"/>
                                          </p:stCondLst>
                                        </p:cTn>
                                        <p:tgtEl>
                                          <p:spTgt spid="21">
                                            <p:txEl>
                                              <p:pRg st="3" end="3"/>
                                            </p:txEl>
                                          </p:spTgt>
                                        </p:tgtEl>
                                        <p:attrNameLst>
                                          <p:attrName>ppt_y</p:attrName>
                                        </p:attrNameLst>
                                      </p:cBhvr>
                                      <p:tavLst>
                                        <p:tav tm="0" fmla="#ppt_y-sin(pi*$)/81">
                                          <p:val>
                                            <p:fltVal val="0"/>
                                          </p:val>
                                        </p:tav>
                                        <p:tav tm="100000">
                                          <p:val>
                                            <p:fltVal val="1"/>
                                          </p:val>
                                        </p:tav>
                                      </p:tavLst>
                                    </p:anim>
                                    <p:animScale>
                                      <p:cBhvr>
                                        <p:cTn id="159" dur="26">
                                          <p:stCondLst>
                                            <p:cond delay="650"/>
                                          </p:stCondLst>
                                        </p:cTn>
                                        <p:tgtEl>
                                          <p:spTgt spid="21">
                                            <p:txEl>
                                              <p:pRg st="3" end="3"/>
                                            </p:txEl>
                                          </p:spTgt>
                                        </p:tgtEl>
                                      </p:cBhvr>
                                      <p:to x="100000" y="60000"/>
                                    </p:animScale>
                                    <p:animScale>
                                      <p:cBhvr>
                                        <p:cTn id="160" dur="166" decel="50000">
                                          <p:stCondLst>
                                            <p:cond delay="676"/>
                                          </p:stCondLst>
                                        </p:cTn>
                                        <p:tgtEl>
                                          <p:spTgt spid="21">
                                            <p:txEl>
                                              <p:pRg st="3" end="3"/>
                                            </p:txEl>
                                          </p:spTgt>
                                        </p:tgtEl>
                                      </p:cBhvr>
                                      <p:to x="100000" y="100000"/>
                                    </p:animScale>
                                    <p:animScale>
                                      <p:cBhvr>
                                        <p:cTn id="161" dur="26">
                                          <p:stCondLst>
                                            <p:cond delay="1312"/>
                                          </p:stCondLst>
                                        </p:cTn>
                                        <p:tgtEl>
                                          <p:spTgt spid="21">
                                            <p:txEl>
                                              <p:pRg st="3" end="3"/>
                                            </p:txEl>
                                          </p:spTgt>
                                        </p:tgtEl>
                                      </p:cBhvr>
                                      <p:to x="100000" y="80000"/>
                                    </p:animScale>
                                    <p:animScale>
                                      <p:cBhvr>
                                        <p:cTn id="162" dur="166" decel="50000">
                                          <p:stCondLst>
                                            <p:cond delay="1338"/>
                                          </p:stCondLst>
                                        </p:cTn>
                                        <p:tgtEl>
                                          <p:spTgt spid="21">
                                            <p:txEl>
                                              <p:pRg st="3" end="3"/>
                                            </p:txEl>
                                          </p:spTgt>
                                        </p:tgtEl>
                                      </p:cBhvr>
                                      <p:to x="100000" y="100000"/>
                                    </p:animScale>
                                    <p:animScale>
                                      <p:cBhvr>
                                        <p:cTn id="163" dur="26">
                                          <p:stCondLst>
                                            <p:cond delay="1642"/>
                                          </p:stCondLst>
                                        </p:cTn>
                                        <p:tgtEl>
                                          <p:spTgt spid="21">
                                            <p:txEl>
                                              <p:pRg st="3" end="3"/>
                                            </p:txEl>
                                          </p:spTgt>
                                        </p:tgtEl>
                                      </p:cBhvr>
                                      <p:to x="100000" y="90000"/>
                                    </p:animScale>
                                    <p:animScale>
                                      <p:cBhvr>
                                        <p:cTn id="164" dur="166" decel="50000">
                                          <p:stCondLst>
                                            <p:cond delay="1668"/>
                                          </p:stCondLst>
                                        </p:cTn>
                                        <p:tgtEl>
                                          <p:spTgt spid="21">
                                            <p:txEl>
                                              <p:pRg st="3" end="3"/>
                                            </p:txEl>
                                          </p:spTgt>
                                        </p:tgtEl>
                                      </p:cBhvr>
                                      <p:to x="100000" y="100000"/>
                                    </p:animScale>
                                    <p:animScale>
                                      <p:cBhvr>
                                        <p:cTn id="165" dur="26">
                                          <p:stCondLst>
                                            <p:cond delay="1808"/>
                                          </p:stCondLst>
                                        </p:cTn>
                                        <p:tgtEl>
                                          <p:spTgt spid="21">
                                            <p:txEl>
                                              <p:pRg st="3" end="3"/>
                                            </p:txEl>
                                          </p:spTgt>
                                        </p:tgtEl>
                                      </p:cBhvr>
                                      <p:to x="100000" y="95000"/>
                                    </p:animScale>
                                    <p:animScale>
                                      <p:cBhvr>
                                        <p:cTn id="166" dur="166" decel="50000">
                                          <p:stCondLst>
                                            <p:cond delay="1834"/>
                                          </p:stCondLst>
                                        </p:cTn>
                                        <p:tgtEl>
                                          <p:spTgt spid="21">
                                            <p:txEl>
                                              <p:pRg st="3" end="3"/>
                                            </p:txEl>
                                          </p:spTgt>
                                        </p:tgtEl>
                                      </p:cBhvr>
                                      <p:to x="100000" y="100000"/>
                                    </p:animScale>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nodeType="clickEffect">
                                  <p:stCondLst>
                                    <p:cond delay="0"/>
                                  </p:stCondLst>
                                  <p:childTnLst>
                                    <p:set>
                                      <p:cBhvr>
                                        <p:cTn id="170" dur="1" fill="hold">
                                          <p:stCondLst>
                                            <p:cond delay="0"/>
                                          </p:stCondLst>
                                        </p:cTn>
                                        <p:tgtEl>
                                          <p:spTgt spid="25">
                                            <p:txEl>
                                              <p:pRg st="0" end="0"/>
                                            </p:txEl>
                                          </p:spTgt>
                                        </p:tgtEl>
                                        <p:attrNameLst>
                                          <p:attrName>style.visibility</p:attrName>
                                        </p:attrNameLst>
                                      </p:cBhvr>
                                      <p:to>
                                        <p:strVal val="visible"/>
                                      </p:to>
                                    </p:set>
                                    <p:anim calcmode="lin" valueType="num">
                                      <p:cBhvr additive="base">
                                        <p:cTn id="171"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25">
                                            <p:txEl>
                                              <p:pRg st="1" end="1"/>
                                            </p:txEl>
                                          </p:spTgt>
                                        </p:tgtEl>
                                        <p:attrNameLst>
                                          <p:attrName>style.visibility</p:attrName>
                                        </p:attrNameLst>
                                      </p:cBhvr>
                                      <p:to>
                                        <p:strVal val="visible"/>
                                      </p:to>
                                    </p:set>
                                    <p:anim calcmode="lin" valueType="num">
                                      <p:cBhvr additive="base">
                                        <p:cTn id="177"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2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25">
                                            <p:txEl>
                                              <p:pRg st="2" end="2"/>
                                            </p:txEl>
                                          </p:spTgt>
                                        </p:tgtEl>
                                        <p:attrNameLst>
                                          <p:attrName>style.visibility</p:attrName>
                                        </p:attrNameLst>
                                      </p:cBhvr>
                                      <p:to>
                                        <p:strVal val="visible"/>
                                      </p:to>
                                    </p:set>
                                    <p:anim calcmode="lin" valueType="num">
                                      <p:cBhvr additive="base">
                                        <p:cTn id="183"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additive="base">
                                        <p:cTn id="184" dur="500" fill="hold"/>
                                        <p:tgtEl>
                                          <p:spTgt spid="2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 presetClass="entr" presetSubtype="4" fill="hold" nodeType="clickEffect">
                                  <p:stCondLst>
                                    <p:cond delay="0"/>
                                  </p:stCondLst>
                                  <p:childTnLst>
                                    <p:set>
                                      <p:cBhvr>
                                        <p:cTn id="188" dur="1" fill="hold">
                                          <p:stCondLst>
                                            <p:cond delay="0"/>
                                          </p:stCondLst>
                                        </p:cTn>
                                        <p:tgtEl>
                                          <p:spTgt spid="25">
                                            <p:txEl>
                                              <p:pRg st="3" end="3"/>
                                            </p:txEl>
                                          </p:spTgt>
                                        </p:tgtEl>
                                        <p:attrNameLst>
                                          <p:attrName>style.visibility</p:attrName>
                                        </p:attrNameLst>
                                      </p:cBhvr>
                                      <p:to>
                                        <p:strVal val="visible"/>
                                      </p:to>
                                    </p:set>
                                    <p:anim calcmode="lin" valueType="num">
                                      <p:cBhvr additive="base">
                                        <p:cTn id="189" dur="500" fill="hold"/>
                                        <p:tgtEl>
                                          <p:spTgt spid="25">
                                            <p:txEl>
                                              <p:pRg st="3" end="3"/>
                                            </p:txEl>
                                          </p:spTgt>
                                        </p:tgtEl>
                                        <p:attrNameLst>
                                          <p:attrName>ppt_x</p:attrName>
                                        </p:attrNameLst>
                                      </p:cBhvr>
                                      <p:tavLst>
                                        <p:tav tm="0">
                                          <p:val>
                                            <p:strVal val="#ppt_x"/>
                                          </p:val>
                                        </p:tav>
                                        <p:tav tm="100000">
                                          <p:val>
                                            <p:strVal val="#ppt_x"/>
                                          </p:val>
                                        </p:tav>
                                      </p:tavLst>
                                    </p:anim>
                                    <p:anim calcmode="lin" valueType="num">
                                      <p:cBhvr additive="base">
                                        <p:cTn id="190" dur="500" fill="hold"/>
                                        <p:tgtEl>
                                          <p:spTgt spid="2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nodeType="clickEffect">
                                  <p:stCondLst>
                                    <p:cond delay="0"/>
                                  </p:stCondLst>
                                  <p:childTnLst>
                                    <p:set>
                                      <p:cBhvr>
                                        <p:cTn id="194" dur="1" fill="hold">
                                          <p:stCondLst>
                                            <p:cond delay="0"/>
                                          </p:stCondLst>
                                        </p:cTn>
                                        <p:tgtEl>
                                          <p:spTgt spid="25">
                                            <p:txEl>
                                              <p:pRg st="4" end="4"/>
                                            </p:txEl>
                                          </p:spTgt>
                                        </p:tgtEl>
                                        <p:attrNameLst>
                                          <p:attrName>style.visibility</p:attrName>
                                        </p:attrNameLst>
                                      </p:cBhvr>
                                      <p:to>
                                        <p:strVal val="visible"/>
                                      </p:to>
                                    </p:set>
                                    <p:anim calcmode="lin" valueType="num">
                                      <p:cBhvr additive="base">
                                        <p:cTn id="195" dur="500" fill="hold"/>
                                        <p:tgtEl>
                                          <p:spTgt spid="25">
                                            <p:txEl>
                                              <p:pRg st="4" end="4"/>
                                            </p:txEl>
                                          </p:spTgt>
                                        </p:tgtEl>
                                        <p:attrNameLst>
                                          <p:attrName>ppt_x</p:attrName>
                                        </p:attrNameLst>
                                      </p:cBhvr>
                                      <p:tavLst>
                                        <p:tav tm="0">
                                          <p:val>
                                            <p:strVal val="#ppt_x"/>
                                          </p:val>
                                        </p:tav>
                                        <p:tav tm="100000">
                                          <p:val>
                                            <p:strVal val="#ppt_x"/>
                                          </p:val>
                                        </p:tav>
                                      </p:tavLst>
                                    </p:anim>
                                    <p:anim calcmode="lin" valueType="num">
                                      <p:cBhvr additive="base">
                                        <p:cTn id="196" dur="500" fill="hold"/>
                                        <p:tgtEl>
                                          <p:spTgt spid="2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nodeType="clickEffect">
                                  <p:stCondLst>
                                    <p:cond delay="0"/>
                                  </p:stCondLst>
                                  <p:childTnLst>
                                    <p:set>
                                      <p:cBhvr>
                                        <p:cTn id="200" dur="1" fill="hold">
                                          <p:stCondLst>
                                            <p:cond delay="0"/>
                                          </p:stCondLst>
                                        </p:cTn>
                                        <p:tgtEl>
                                          <p:spTgt spid="25">
                                            <p:txEl>
                                              <p:pRg st="5" end="5"/>
                                            </p:txEl>
                                          </p:spTgt>
                                        </p:tgtEl>
                                        <p:attrNameLst>
                                          <p:attrName>style.visibility</p:attrName>
                                        </p:attrNameLst>
                                      </p:cBhvr>
                                      <p:to>
                                        <p:strVal val="visible"/>
                                      </p:to>
                                    </p:set>
                                    <p:anim calcmode="lin" valueType="num">
                                      <p:cBhvr additive="base">
                                        <p:cTn id="201" dur="500" fill="hold"/>
                                        <p:tgtEl>
                                          <p:spTgt spid="25">
                                            <p:txEl>
                                              <p:pRg st="5" end="5"/>
                                            </p:txEl>
                                          </p:spTgt>
                                        </p:tgtEl>
                                        <p:attrNameLst>
                                          <p:attrName>ppt_x</p:attrName>
                                        </p:attrNameLst>
                                      </p:cBhvr>
                                      <p:tavLst>
                                        <p:tav tm="0">
                                          <p:val>
                                            <p:strVal val="#ppt_x"/>
                                          </p:val>
                                        </p:tav>
                                        <p:tav tm="100000">
                                          <p:val>
                                            <p:strVal val="#ppt_x"/>
                                          </p:val>
                                        </p:tav>
                                      </p:tavLst>
                                    </p:anim>
                                    <p:anim calcmode="lin" valueType="num">
                                      <p:cBhvr additive="base">
                                        <p:cTn id="202" dur="500" fill="hold"/>
                                        <p:tgtEl>
                                          <p:spTgt spid="2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16</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The polynomial T8 and the x87 that handles it</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08760"/>
            <a:ext cx="10360152" cy="685800"/>
          </a:xfrm>
          <a:prstGeom prst="rect">
            <a:avLst/>
          </a:prstGeom>
          <a:solidFill>
            <a:srgbClr val="F6EFDE"/>
          </a:solidFill>
          <a:ln w="12700">
            <a:solidFill>
              <a:srgbClr val="D8C7A1"/>
            </a:solidFill>
            <a:prstDash val="solid"/>
          </a:ln>
        </p:spPr>
      </p:sp>
      <p:sp>
        <p:nvSpPr>
          <p:cNvPr id="15" name="Text 13"/>
          <p:cNvSpPr/>
          <p:nvPr/>
        </p:nvSpPr>
        <p:spPr>
          <a:xfrm>
            <a:off x="1097280" y="1508760"/>
            <a:ext cx="9994392" cy="685800"/>
          </a:xfrm>
          <a:prstGeom prst="rect">
            <a:avLst/>
          </a:prstGeom>
          <a:noFill/>
          <a:ln/>
        </p:spPr>
        <p:txBody>
          <a:bodyPr wrap="square" lIns="0" tIns="0" rIns="0" bIns="0" rtlCol="0" anchor="ctr"/>
          <a:lstStyle/>
          <a:p>
            <a:pPr marL="0" indent="0">
              <a:buNone/>
            </a:pPr>
            <a:r>
              <a:rPr lang="en-US" sz="1600" b="1" dirty="0">
                <a:solidFill>
                  <a:srgbClr val="586127"/>
                </a:solidFill>
                <a:latin typeface="Consolas" pitchFamily="34" charset="0"/>
                <a:ea typeface="Consolas" pitchFamily="34" charset="-122"/>
                <a:cs typeface="Consolas" pitchFamily="34" charset="-120"/>
              </a:rPr>
              <a:t>T8(x) = </a:t>
            </a:r>
            <a:r>
              <a:rPr lang="en-US" sz="1600" b="1" dirty="0">
                <a:solidFill>
                  <a:srgbClr val="2B2722"/>
                </a:solidFill>
                <a:latin typeface="Consolas" pitchFamily="34" charset="0"/>
                <a:ea typeface="Consolas" pitchFamily="34" charset="-122"/>
                <a:cs typeface="Consolas" pitchFamily="34" charset="-120"/>
              </a:rPr>
              <a:t>128x⁸ − 256x⁶ + 160x⁴ − 32x² + 1</a:t>
            </a:r>
            <a:r>
              <a:rPr lang="en-US" sz="1600" dirty="0">
                <a:solidFill>
                  <a:srgbClr val="6E6453"/>
                </a:solidFill>
                <a:latin typeface="Consolas" pitchFamily="34" charset="0"/>
                <a:ea typeface="Consolas" pitchFamily="34" charset="-122"/>
                <a:cs typeface="Consolas" pitchFamily="34" charset="-120"/>
              </a:rPr>
              <a:t>     (leading 128 = 2⁷ = 2^(d−1))</a:t>
            </a:r>
            <a:endParaRPr lang="en-US" sz="1600" dirty="0"/>
          </a:p>
        </p:txBody>
      </p:sp>
      <p:sp>
        <p:nvSpPr>
          <p:cNvPr id="16" name="Text 14"/>
          <p:cNvSpPr/>
          <p:nvPr/>
        </p:nvSpPr>
        <p:spPr>
          <a:xfrm>
            <a:off x="914400" y="2331720"/>
            <a:ext cx="5486400" cy="292608"/>
          </a:xfrm>
          <a:prstGeom prst="rect">
            <a:avLst/>
          </a:prstGeom>
          <a:noFill/>
          <a:ln/>
        </p:spPr>
        <p:txBody>
          <a:bodyPr wrap="square" lIns="0" tIns="0" rIns="0" bIns="0" rtlCol="0" anchor="ctr"/>
          <a:lstStyle/>
          <a:p>
            <a:pPr marL="0" indent="0">
              <a:buNone/>
            </a:pPr>
            <a:r>
              <a:rPr lang="en-US" sz="1350" b="1" dirty="0">
                <a:solidFill>
                  <a:srgbClr val="586127"/>
                </a:solidFill>
                <a:latin typeface="Cambria" pitchFamily="34" charset="0"/>
                <a:ea typeface="Cambria" pitchFamily="34" charset="-122"/>
                <a:cs typeface="Cambria" pitchFamily="34" charset="-120"/>
              </a:rPr>
              <a:t>Evaluate P(z) — complex Horner (ceval):</a:t>
            </a:r>
            <a:endParaRPr lang="en-US" sz="1350" dirty="0"/>
          </a:p>
        </p:txBody>
      </p:sp>
      <p:sp>
        <p:nvSpPr>
          <p:cNvPr id="17" name="Shape 15"/>
          <p:cNvSpPr/>
          <p:nvPr/>
        </p:nvSpPr>
        <p:spPr>
          <a:xfrm>
            <a:off x="914400" y="2651760"/>
            <a:ext cx="5486400" cy="224028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914400" y="2651760"/>
            <a:ext cx="82296" cy="2240280"/>
          </a:xfrm>
          <a:prstGeom prst="rect">
            <a:avLst/>
          </a:prstGeom>
          <a:solidFill>
            <a:srgbClr val="7F8A3A"/>
          </a:solidFill>
          <a:ln/>
        </p:spPr>
      </p:sp>
      <p:sp>
        <p:nvSpPr>
          <p:cNvPr id="19" name="Text 17"/>
          <p:cNvSpPr/>
          <p:nvPr/>
        </p:nvSpPr>
        <p:spPr>
          <a:xfrm>
            <a:off x="1115568" y="2743200"/>
            <a:ext cx="5157216" cy="205740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rax,[deg]</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fld  qword [coef+rax*8]   ; acc = coef[deg]</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fstp qword [ev_acc]       ; (acc.im = 0)</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.l:  ; i = deg-1 .. 0</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call cmul               ; acc = acc * z</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fld  qword [ev_acc]</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fadd qword [coef+r15*8] ; + coef[i]  (real)</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  fstp qword [ev_acc]</a:t>
            </a:r>
            <a:endParaRPr lang="en-US" sz="1100" dirty="0"/>
          </a:p>
        </p:txBody>
      </p:sp>
      <p:sp>
        <p:nvSpPr>
          <p:cNvPr id="20" name="Text 18"/>
          <p:cNvSpPr/>
          <p:nvPr/>
        </p:nvSpPr>
        <p:spPr>
          <a:xfrm>
            <a:off x="6355080" y="2331720"/>
            <a:ext cx="5486400" cy="292608"/>
          </a:xfrm>
          <a:prstGeom prst="rect">
            <a:avLst/>
          </a:prstGeom>
          <a:noFill/>
          <a:ln/>
        </p:spPr>
        <p:txBody>
          <a:bodyPr wrap="square" lIns="0" tIns="0" rIns="0" bIns="0" rtlCol="0" anchor="ctr"/>
          <a:lstStyle/>
          <a:p>
            <a:pPr marL="0" indent="0">
              <a:buNone/>
            </a:pPr>
            <a:r>
              <a:rPr lang="en-US" sz="1350" b="1" dirty="0">
                <a:solidFill>
                  <a:srgbClr val="586127"/>
                </a:solidFill>
                <a:latin typeface="Cambria" pitchFamily="34" charset="0"/>
                <a:ea typeface="Cambria" pitchFamily="34" charset="-122"/>
                <a:cs typeface="Cambria" pitchFamily="34" charset="-120"/>
              </a:rPr>
              <a:t>Verify a root with x87 transcendentals:</a:t>
            </a:r>
            <a:endParaRPr lang="en-US" sz="1350" dirty="0"/>
          </a:p>
        </p:txBody>
      </p:sp>
      <p:sp>
        <p:nvSpPr>
          <p:cNvPr id="21" name="Shape 19"/>
          <p:cNvSpPr/>
          <p:nvPr/>
        </p:nvSpPr>
        <p:spPr>
          <a:xfrm>
            <a:off x="6355080" y="2651760"/>
            <a:ext cx="4983480" cy="224028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22" name="Shape 20"/>
          <p:cNvSpPr/>
          <p:nvPr/>
        </p:nvSpPr>
        <p:spPr>
          <a:xfrm>
            <a:off x="6355080" y="2651760"/>
            <a:ext cx="82296" cy="2240280"/>
          </a:xfrm>
          <a:prstGeom prst="rect">
            <a:avLst/>
          </a:prstGeom>
          <a:solidFill>
            <a:srgbClr val="7F8A3A"/>
          </a:solidFill>
          <a:ln/>
        </p:spPr>
      </p:sp>
      <p:sp>
        <p:nvSpPr>
          <p:cNvPr id="23" name="Text 21"/>
          <p:cNvSpPr/>
          <p:nvPr/>
        </p:nvSpPr>
        <p:spPr>
          <a:xfrm>
            <a:off x="6556248" y="2743200"/>
            <a:ext cx="4654296" cy="205740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fldpi                     ; pi</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fild dword [inum]         ; (2k-1)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fmulp st1,st0             ; pi*(2k-1)</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fild dword [iden]         ; 2d  (=16 for T8)</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fdivp st1,st0             ; angle</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fcos                      ; cos(angle) = exact root</a:t>
            </a:r>
            <a:endParaRPr lang="en-US" sz="1100" dirty="0"/>
          </a:p>
        </p:txBody>
      </p:sp>
      <p:sp>
        <p:nvSpPr>
          <p:cNvPr id="24" name="Text 22"/>
          <p:cNvSpPr/>
          <p:nvPr/>
        </p:nvSpPr>
        <p:spPr>
          <a:xfrm>
            <a:off x="914400" y="5074920"/>
            <a:ext cx="10360152" cy="457200"/>
          </a:xfrm>
          <a:prstGeom prst="rect">
            <a:avLst/>
          </a:prstGeom>
          <a:noFill/>
          <a:ln/>
        </p:spPr>
        <p:txBody>
          <a:bodyPr wrap="square" lIns="0" tIns="0" rIns="0" bIns="0" rtlCol="0" anchor="ctr"/>
          <a:lstStyle/>
          <a:p>
            <a:pPr marL="0" indent="0">
              <a:buNone/>
            </a:pPr>
            <a:r>
              <a:rPr lang="en-US" sz="1350" dirty="0">
                <a:solidFill>
                  <a:srgbClr val="2B2722"/>
                </a:solidFill>
                <a:latin typeface="Cambria" pitchFamily="34" charset="0"/>
                <a:ea typeface="Cambria" pitchFamily="34" charset="-122"/>
                <a:cs typeface="Cambria" pitchFamily="34" charset="-120"/>
              </a:rPr>
              <a:t>Build (slide 4) → evaluate with cmul-based Horner → verify with FLDPI / FCOS. </a:t>
            </a:r>
            <a:r>
              <a:rPr lang="en-US" sz="1350" b="1" dirty="0">
                <a:solidFill>
                  <a:srgbClr val="586127"/>
                </a:solidFill>
                <a:latin typeface="Cambria" pitchFamily="34" charset="0"/>
                <a:ea typeface="Cambria" pitchFamily="34" charset="-122"/>
                <a:cs typeface="Cambria" pitchFamily="34" charset="-120"/>
              </a:rPr>
              <a:t>All on the x87 FPU.</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wipe(down)">
                                      <p:cBhvr>
                                        <p:cTn id="13" dur="580">
                                          <p:stCondLst>
                                            <p:cond delay="0"/>
                                          </p:stCondLst>
                                        </p:cTn>
                                        <p:tgtEl>
                                          <p:spTgt spid="19">
                                            <p:txEl>
                                              <p:pRg st="0" end="0"/>
                                            </p:txEl>
                                          </p:spTgt>
                                        </p:tgtEl>
                                      </p:cBhvr>
                                    </p:animEffect>
                                    <p:anim calcmode="lin" valueType="num">
                                      <p:cBhvr>
                                        <p:cTn id="14" dur="1822" tmFilter="0,0; 0.14,0.36; 0.43,0.73; 0.71,0.91; 1.0,1.0">
                                          <p:stCondLst>
                                            <p:cond delay="0"/>
                                          </p:stCondLst>
                                        </p:cTn>
                                        <p:tgtEl>
                                          <p:spTgt spid="19">
                                            <p:txEl>
                                              <p:pRg st="0" end="0"/>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9">
                                            <p:txEl>
                                              <p:pRg st="0" end="0"/>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9">
                                            <p:txEl>
                                              <p:pRg st="0" end="0"/>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9">
                                            <p:txEl>
                                              <p:pRg st="0" end="0"/>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9">
                                            <p:txEl>
                                              <p:pRg st="0" end="0"/>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19">
                                            <p:txEl>
                                              <p:pRg st="0" end="0"/>
                                            </p:txEl>
                                          </p:spTgt>
                                        </p:tgtEl>
                                      </p:cBhvr>
                                      <p:to x="100000" y="60000"/>
                                    </p:animScale>
                                    <p:animScale>
                                      <p:cBhvr>
                                        <p:cTn id="20" dur="166" decel="50000">
                                          <p:stCondLst>
                                            <p:cond delay="676"/>
                                          </p:stCondLst>
                                        </p:cTn>
                                        <p:tgtEl>
                                          <p:spTgt spid="19">
                                            <p:txEl>
                                              <p:pRg st="0" end="0"/>
                                            </p:txEl>
                                          </p:spTgt>
                                        </p:tgtEl>
                                      </p:cBhvr>
                                      <p:to x="100000" y="100000"/>
                                    </p:animScale>
                                    <p:animScale>
                                      <p:cBhvr>
                                        <p:cTn id="21" dur="26">
                                          <p:stCondLst>
                                            <p:cond delay="1312"/>
                                          </p:stCondLst>
                                        </p:cTn>
                                        <p:tgtEl>
                                          <p:spTgt spid="19">
                                            <p:txEl>
                                              <p:pRg st="0" end="0"/>
                                            </p:txEl>
                                          </p:spTgt>
                                        </p:tgtEl>
                                      </p:cBhvr>
                                      <p:to x="100000" y="80000"/>
                                    </p:animScale>
                                    <p:animScale>
                                      <p:cBhvr>
                                        <p:cTn id="22" dur="166" decel="50000">
                                          <p:stCondLst>
                                            <p:cond delay="1338"/>
                                          </p:stCondLst>
                                        </p:cTn>
                                        <p:tgtEl>
                                          <p:spTgt spid="19">
                                            <p:txEl>
                                              <p:pRg st="0" end="0"/>
                                            </p:txEl>
                                          </p:spTgt>
                                        </p:tgtEl>
                                      </p:cBhvr>
                                      <p:to x="100000" y="100000"/>
                                    </p:animScale>
                                    <p:animScale>
                                      <p:cBhvr>
                                        <p:cTn id="23" dur="26">
                                          <p:stCondLst>
                                            <p:cond delay="1642"/>
                                          </p:stCondLst>
                                        </p:cTn>
                                        <p:tgtEl>
                                          <p:spTgt spid="19">
                                            <p:txEl>
                                              <p:pRg st="0" end="0"/>
                                            </p:txEl>
                                          </p:spTgt>
                                        </p:tgtEl>
                                      </p:cBhvr>
                                      <p:to x="100000" y="90000"/>
                                    </p:animScale>
                                    <p:animScale>
                                      <p:cBhvr>
                                        <p:cTn id="24" dur="166" decel="50000">
                                          <p:stCondLst>
                                            <p:cond delay="1668"/>
                                          </p:stCondLst>
                                        </p:cTn>
                                        <p:tgtEl>
                                          <p:spTgt spid="19">
                                            <p:txEl>
                                              <p:pRg st="0" end="0"/>
                                            </p:txEl>
                                          </p:spTgt>
                                        </p:tgtEl>
                                      </p:cBhvr>
                                      <p:to x="100000" y="100000"/>
                                    </p:animScale>
                                    <p:animScale>
                                      <p:cBhvr>
                                        <p:cTn id="25" dur="26">
                                          <p:stCondLst>
                                            <p:cond delay="1808"/>
                                          </p:stCondLst>
                                        </p:cTn>
                                        <p:tgtEl>
                                          <p:spTgt spid="19">
                                            <p:txEl>
                                              <p:pRg st="0" end="0"/>
                                            </p:txEl>
                                          </p:spTgt>
                                        </p:tgtEl>
                                      </p:cBhvr>
                                      <p:to x="100000" y="95000"/>
                                    </p:animScale>
                                    <p:animScale>
                                      <p:cBhvr>
                                        <p:cTn id="26" dur="166" decel="50000">
                                          <p:stCondLst>
                                            <p:cond delay="1834"/>
                                          </p:stCondLst>
                                        </p:cTn>
                                        <p:tgtEl>
                                          <p:spTgt spid="19">
                                            <p:txEl>
                                              <p:pRg st="0" end="0"/>
                                            </p:txEl>
                                          </p:spTgt>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19">
                                            <p:txEl>
                                              <p:pRg st="1" end="1"/>
                                            </p:txEl>
                                          </p:spTgt>
                                        </p:tgtEl>
                                        <p:attrNameLst>
                                          <p:attrName>style.visibility</p:attrName>
                                        </p:attrNameLst>
                                      </p:cBhvr>
                                      <p:to>
                                        <p:strVal val="visible"/>
                                      </p:to>
                                    </p:set>
                                    <p:animEffect transition="in" filter="wipe(down)">
                                      <p:cBhvr>
                                        <p:cTn id="29" dur="580">
                                          <p:stCondLst>
                                            <p:cond delay="0"/>
                                          </p:stCondLst>
                                        </p:cTn>
                                        <p:tgtEl>
                                          <p:spTgt spid="19">
                                            <p:txEl>
                                              <p:pRg st="1" end="1"/>
                                            </p:txEl>
                                          </p:spTgt>
                                        </p:tgtEl>
                                      </p:cBhvr>
                                    </p:animEffect>
                                    <p:anim calcmode="lin" valueType="num">
                                      <p:cBhvr>
                                        <p:cTn id="30" dur="1822" tmFilter="0,0; 0.14,0.36; 0.43,0.73; 0.71,0.91; 1.0,1.0">
                                          <p:stCondLst>
                                            <p:cond delay="0"/>
                                          </p:stCondLst>
                                        </p:cTn>
                                        <p:tgtEl>
                                          <p:spTgt spid="19">
                                            <p:txEl>
                                              <p:pRg st="1" end="1"/>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9">
                                            <p:txEl>
                                              <p:pRg st="1" end="1"/>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9">
                                            <p:txEl>
                                              <p:pRg st="1" end="1"/>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9">
                                            <p:txEl>
                                              <p:pRg st="1" end="1"/>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9">
                                            <p:txEl>
                                              <p:pRg st="1" end="1"/>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19">
                                            <p:txEl>
                                              <p:pRg st="1" end="1"/>
                                            </p:txEl>
                                          </p:spTgt>
                                        </p:tgtEl>
                                      </p:cBhvr>
                                      <p:to x="100000" y="60000"/>
                                    </p:animScale>
                                    <p:animScale>
                                      <p:cBhvr>
                                        <p:cTn id="36" dur="166" decel="50000">
                                          <p:stCondLst>
                                            <p:cond delay="676"/>
                                          </p:stCondLst>
                                        </p:cTn>
                                        <p:tgtEl>
                                          <p:spTgt spid="19">
                                            <p:txEl>
                                              <p:pRg st="1" end="1"/>
                                            </p:txEl>
                                          </p:spTgt>
                                        </p:tgtEl>
                                      </p:cBhvr>
                                      <p:to x="100000" y="100000"/>
                                    </p:animScale>
                                    <p:animScale>
                                      <p:cBhvr>
                                        <p:cTn id="37" dur="26">
                                          <p:stCondLst>
                                            <p:cond delay="1312"/>
                                          </p:stCondLst>
                                        </p:cTn>
                                        <p:tgtEl>
                                          <p:spTgt spid="19">
                                            <p:txEl>
                                              <p:pRg st="1" end="1"/>
                                            </p:txEl>
                                          </p:spTgt>
                                        </p:tgtEl>
                                      </p:cBhvr>
                                      <p:to x="100000" y="80000"/>
                                    </p:animScale>
                                    <p:animScale>
                                      <p:cBhvr>
                                        <p:cTn id="38" dur="166" decel="50000">
                                          <p:stCondLst>
                                            <p:cond delay="1338"/>
                                          </p:stCondLst>
                                        </p:cTn>
                                        <p:tgtEl>
                                          <p:spTgt spid="19">
                                            <p:txEl>
                                              <p:pRg st="1" end="1"/>
                                            </p:txEl>
                                          </p:spTgt>
                                        </p:tgtEl>
                                      </p:cBhvr>
                                      <p:to x="100000" y="100000"/>
                                    </p:animScale>
                                    <p:animScale>
                                      <p:cBhvr>
                                        <p:cTn id="39" dur="26">
                                          <p:stCondLst>
                                            <p:cond delay="1642"/>
                                          </p:stCondLst>
                                        </p:cTn>
                                        <p:tgtEl>
                                          <p:spTgt spid="19">
                                            <p:txEl>
                                              <p:pRg st="1" end="1"/>
                                            </p:txEl>
                                          </p:spTgt>
                                        </p:tgtEl>
                                      </p:cBhvr>
                                      <p:to x="100000" y="90000"/>
                                    </p:animScale>
                                    <p:animScale>
                                      <p:cBhvr>
                                        <p:cTn id="40" dur="166" decel="50000">
                                          <p:stCondLst>
                                            <p:cond delay="1668"/>
                                          </p:stCondLst>
                                        </p:cTn>
                                        <p:tgtEl>
                                          <p:spTgt spid="19">
                                            <p:txEl>
                                              <p:pRg st="1" end="1"/>
                                            </p:txEl>
                                          </p:spTgt>
                                        </p:tgtEl>
                                      </p:cBhvr>
                                      <p:to x="100000" y="100000"/>
                                    </p:animScale>
                                    <p:animScale>
                                      <p:cBhvr>
                                        <p:cTn id="41" dur="26">
                                          <p:stCondLst>
                                            <p:cond delay="1808"/>
                                          </p:stCondLst>
                                        </p:cTn>
                                        <p:tgtEl>
                                          <p:spTgt spid="19">
                                            <p:txEl>
                                              <p:pRg st="1" end="1"/>
                                            </p:txEl>
                                          </p:spTgt>
                                        </p:tgtEl>
                                      </p:cBhvr>
                                      <p:to x="100000" y="95000"/>
                                    </p:animScale>
                                    <p:animScale>
                                      <p:cBhvr>
                                        <p:cTn id="42" dur="166" decel="50000">
                                          <p:stCondLst>
                                            <p:cond delay="1834"/>
                                          </p:stCondLst>
                                        </p:cTn>
                                        <p:tgtEl>
                                          <p:spTgt spid="19">
                                            <p:txEl>
                                              <p:pRg st="1" end="1"/>
                                            </p:txEl>
                                          </p:spTgt>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19">
                                            <p:txEl>
                                              <p:pRg st="2" end="2"/>
                                            </p:txEl>
                                          </p:spTgt>
                                        </p:tgtEl>
                                        <p:attrNameLst>
                                          <p:attrName>style.visibility</p:attrName>
                                        </p:attrNameLst>
                                      </p:cBhvr>
                                      <p:to>
                                        <p:strVal val="visible"/>
                                      </p:to>
                                    </p:set>
                                    <p:animEffect transition="in" filter="wipe(down)">
                                      <p:cBhvr>
                                        <p:cTn id="45" dur="580">
                                          <p:stCondLst>
                                            <p:cond delay="0"/>
                                          </p:stCondLst>
                                        </p:cTn>
                                        <p:tgtEl>
                                          <p:spTgt spid="19">
                                            <p:txEl>
                                              <p:pRg st="2" end="2"/>
                                            </p:txEl>
                                          </p:spTgt>
                                        </p:tgtEl>
                                      </p:cBhvr>
                                    </p:animEffect>
                                    <p:anim calcmode="lin" valueType="num">
                                      <p:cBhvr>
                                        <p:cTn id="46" dur="1822" tmFilter="0,0; 0.14,0.36; 0.43,0.73; 0.71,0.91; 1.0,1.0">
                                          <p:stCondLst>
                                            <p:cond delay="0"/>
                                          </p:stCondLst>
                                        </p:cTn>
                                        <p:tgtEl>
                                          <p:spTgt spid="19">
                                            <p:txEl>
                                              <p:pRg st="2" end="2"/>
                                            </p:txEl>
                                          </p:spTgt>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9">
                                            <p:txEl>
                                              <p:pRg st="2" end="2"/>
                                            </p:txEl>
                                          </p:spTgt>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9">
                                            <p:txEl>
                                              <p:pRg st="2" end="2"/>
                                            </p:txEl>
                                          </p:spTgt>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9">
                                            <p:txEl>
                                              <p:pRg st="2" end="2"/>
                                            </p:txEl>
                                          </p:spTgt>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9">
                                            <p:txEl>
                                              <p:pRg st="2" end="2"/>
                                            </p:txEl>
                                          </p:spTgt>
                                        </p:tgtEl>
                                        <p:attrNameLst>
                                          <p:attrName>ppt_y</p:attrName>
                                        </p:attrNameLst>
                                      </p:cBhvr>
                                      <p:tavLst>
                                        <p:tav tm="0" fmla="#ppt_y-sin(pi*$)/81">
                                          <p:val>
                                            <p:fltVal val="0"/>
                                          </p:val>
                                        </p:tav>
                                        <p:tav tm="100000">
                                          <p:val>
                                            <p:fltVal val="1"/>
                                          </p:val>
                                        </p:tav>
                                      </p:tavLst>
                                    </p:anim>
                                    <p:animScale>
                                      <p:cBhvr>
                                        <p:cTn id="51" dur="26">
                                          <p:stCondLst>
                                            <p:cond delay="650"/>
                                          </p:stCondLst>
                                        </p:cTn>
                                        <p:tgtEl>
                                          <p:spTgt spid="19">
                                            <p:txEl>
                                              <p:pRg st="2" end="2"/>
                                            </p:txEl>
                                          </p:spTgt>
                                        </p:tgtEl>
                                      </p:cBhvr>
                                      <p:to x="100000" y="60000"/>
                                    </p:animScale>
                                    <p:animScale>
                                      <p:cBhvr>
                                        <p:cTn id="52" dur="166" decel="50000">
                                          <p:stCondLst>
                                            <p:cond delay="676"/>
                                          </p:stCondLst>
                                        </p:cTn>
                                        <p:tgtEl>
                                          <p:spTgt spid="19">
                                            <p:txEl>
                                              <p:pRg st="2" end="2"/>
                                            </p:txEl>
                                          </p:spTgt>
                                        </p:tgtEl>
                                      </p:cBhvr>
                                      <p:to x="100000" y="100000"/>
                                    </p:animScale>
                                    <p:animScale>
                                      <p:cBhvr>
                                        <p:cTn id="53" dur="26">
                                          <p:stCondLst>
                                            <p:cond delay="1312"/>
                                          </p:stCondLst>
                                        </p:cTn>
                                        <p:tgtEl>
                                          <p:spTgt spid="19">
                                            <p:txEl>
                                              <p:pRg st="2" end="2"/>
                                            </p:txEl>
                                          </p:spTgt>
                                        </p:tgtEl>
                                      </p:cBhvr>
                                      <p:to x="100000" y="80000"/>
                                    </p:animScale>
                                    <p:animScale>
                                      <p:cBhvr>
                                        <p:cTn id="54" dur="166" decel="50000">
                                          <p:stCondLst>
                                            <p:cond delay="1338"/>
                                          </p:stCondLst>
                                        </p:cTn>
                                        <p:tgtEl>
                                          <p:spTgt spid="19">
                                            <p:txEl>
                                              <p:pRg st="2" end="2"/>
                                            </p:txEl>
                                          </p:spTgt>
                                        </p:tgtEl>
                                      </p:cBhvr>
                                      <p:to x="100000" y="100000"/>
                                    </p:animScale>
                                    <p:animScale>
                                      <p:cBhvr>
                                        <p:cTn id="55" dur="26">
                                          <p:stCondLst>
                                            <p:cond delay="1642"/>
                                          </p:stCondLst>
                                        </p:cTn>
                                        <p:tgtEl>
                                          <p:spTgt spid="19">
                                            <p:txEl>
                                              <p:pRg st="2" end="2"/>
                                            </p:txEl>
                                          </p:spTgt>
                                        </p:tgtEl>
                                      </p:cBhvr>
                                      <p:to x="100000" y="90000"/>
                                    </p:animScale>
                                    <p:animScale>
                                      <p:cBhvr>
                                        <p:cTn id="56" dur="166" decel="50000">
                                          <p:stCondLst>
                                            <p:cond delay="1668"/>
                                          </p:stCondLst>
                                        </p:cTn>
                                        <p:tgtEl>
                                          <p:spTgt spid="19">
                                            <p:txEl>
                                              <p:pRg st="2" end="2"/>
                                            </p:txEl>
                                          </p:spTgt>
                                        </p:tgtEl>
                                      </p:cBhvr>
                                      <p:to x="100000" y="100000"/>
                                    </p:animScale>
                                    <p:animScale>
                                      <p:cBhvr>
                                        <p:cTn id="57" dur="26">
                                          <p:stCondLst>
                                            <p:cond delay="1808"/>
                                          </p:stCondLst>
                                        </p:cTn>
                                        <p:tgtEl>
                                          <p:spTgt spid="19">
                                            <p:txEl>
                                              <p:pRg st="2" end="2"/>
                                            </p:txEl>
                                          </p:spTgt>
                                        </p:tgtEl>
                                      </p:cBhvr>
                                      <p:to x="100000" y="95000"/>
                                    </p:animScale>
                                    <p:animScale>
                                      <p:cBhvr>
                                        <p:cTn id="58" dur="166" decel="50000">
                                          <p:stCondLst>
                                            <p:cond delay="1834"/>
                                          </p:stCondLst>
                                        </p:cTn>
                                        <p:tgtEl>
                                          <p:spTgt spid="19">
                                            <p:txEl>
                                              <p:pRg st="2" end="2"/>
                                            </p:txEl>
                                          </p:spTgt>
                                        </p:tgtEl>
                                      </p:cBhvr>
                                      <p:to x="100000" y="100000"/>
                                    </p:animScale>
                                  </p:childTnLst>
                                </p:cTn>
                              </p:par>
                              <p:par>
                                <p:cTn id="59" presetID="26" presetClass="entr" presetSubtype="0" fill="hold" nodeType="withEffect">
                                  <p:stCondLst>
                                    <p:cond delay="0"/>
                                  </p:stCondLst>
                                  <p:childTnLst>
                                    <p:set>
                                      <p:cBhvr>
                                        <p:cTn id="60" dur="1" fill="hold">
                                          <p:stCondLst>
                                            <p:cond delay="0"/>
                                          </p:stCondLst>
                                        </p:cTn>
                                        <p:tgtEl>
                                          <p:spTgt spid="19">
                                            <p:txEl>
                                              <p:pRg st="3" end="3"/>
                                            </p:txEl>
                                          </p:spTgt>
                                        </p:tgtEl>
                                        <p:attrNameLst>
                                          <p:attrName>style.visibility</p:attrName>
                                        </p:attrNameLst>
                                      </p:cBhvr>
                                      <p:to>
                                        <p:strVal val="visible"/>
                                      </p:to>
                                    </p:set>
                                    <p:animEffect transition="in" filter="wipe(down)">
                                      <p:cBhvr>
                                        <p:cTn id="61" dur="580">
                                          <p:stCondLst>
                                            <p:cond delay="0"/>
                                          </p:stCondLst>
                                        </p:cTn>
                                        <p:tgtEl>
                                          <p:spTgt spid="19">
                                            <p:txEl>
                                              <p:pRg st="3" end="3"/>
                                            </p:txEl>
                                          </p:spTgt>
                                        </p:tgtEl>
                                      </p:cBhvr>
                                    </p:animEffect>
                                    <p:anim calcmode="lin" valueType="num">
                                      <p:cBhvr>
                                        <p:cTn id="62" dur="1822" tmFilter="0,0; 0.14,0.36; 0.43,0.73; 0.71,0.91; 1.0,1.0">
                                          <p:stCondLst>
                                            <p:cond delay="0"/>
                                          </p:stCondLst>
                                        </p:cTn>
                                        <p:tgtEl>
                                          <p:spTgt spid="19">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9">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9">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9">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9">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19">
                                            <p:txEl>
                                              <p:pRg st="3" end="3"/>
                                            </p:txEl>
                                          </p:spTgt>
                                        </p:tgtEl>
                                      </p:cBhvr>
                                      <p:to x="100000" y="60000"/>
                                    </p:animScale>
                                    <p:animScale>
                                      <p:cBhvr>
                                        <p:cTn id="68" dur="166" decel="50000">
                                          <p:stCondLst>
                                            <p:cond delay="676"/>
                                          </p:stCondLst>
                                        </p:cTn>
                                        <p:tgtEl>
                                          <p:spTgt spid="19">
                                            <p:txEl>
                                              <p:pRg st="3" end="3"/>
                                            </p:txEl>
                                          </p:spTgt>
                                        </p:tgtEl>
                                      </p:cBhvr>
                                      <p:to x="100000" y="100000"/>
                                    </p:animScale>
                                    <p:animScale>
                                      <p:cBhvr>
                                        <p:cTn id="69" dur="26">
                                          <p:stCondLst>
                                            <p:cond delay="1312"/>
                                          </p:stCondLst>
                                        </p:cTn>
                                        <p:tgtEl>
                                          <p:spTgt spid="19">
                                            <p:txEl>
                                              <p:pRg st="3" end="3"/>
                                            </p:txEl>
                                          </p:spTgt>
                                        </p:tgtEl>
                                      </p:cBhvr>
                                      <p:to x="100000" y="80000"/>
                                    </p:animScale>
                                    <p:animScale>
                                      <p:cBhvr>
                                        <p:cTn id="70" dur="166" decel="50000">
                                          <p:stCondLst>
                                            <p:cond delay="1338"/>
                                          </p:stCondLst>
                                        </p:cTn>
                                        <p:tgtEl>
                                          <p:spTgt spid="19">
                                            <p:txEl>
                                              <p:pRg st="3" end="3"/>
                                            </p:txEl>
                                          </p:spTgt>
                                        </p:tgtEl>
                                      </p:cBhvr>
                                      <p:to x="100000" y="100000"/>
                                    </p:animScale>
                                    <p:animScale>
                                      <p:cBhvr>
                                        <p:cTn id="71" dur="26">
                                          <p:stCondLst>
                                            <p:cond delay="1642"/>
                                          </p:stCondLst>
                                        </p:cTn>
                                        <p:tgtEl>
                                          <p:spTgt spid="19">
                                            <p:txEl>
                                              <p:pRg st="3" end="3"/>
                                            </p:txEl>
                                          </p:spTgt>
                                        </p:tgtEl>
                                      </p:cBhvr>
                                      <p:to x="100000" y="90000"/>
                                    </p:animScale>
                                    <p:animScale>
                                      <p:cBhvr>
                                        <p:cTn id="72" dur="166" decel="50000">
                                          <p:stCondLst>
                                            <p:cond delay="1668"/>
                                          </p:stCondLst>
                                        </p:cTn>
                                        <p:tgtEl>
                                          <p:spTgt spid="19">
                                            <p:txEl>
                                              <p:pRg st="3" end="3"/>
                                            </p:txEl>
                                          </p:spTgt>
                                        </p:tgtEl>
                                      </p:cBhvr>
                                      <p:to x="100000" y="100000"/>
                                    </p:animScale>
                                    <p:animScale>
                                      <p:cBhvr>
                                        <p:cTn id="73" dur="26">
                                          <p:stCondLst>
                                            <p:cond delay="1808"/>
                                          </p:stCondLst>
                                        </p:cTn>
                                        <p:tgtEl>
                                          <p:spTgt spid="19">
                                            <p:txEl>
                                              <p:pRg st="3" end="3"/>
                                            </p:txEl>
                                          </p:spTgt>
                                        </p:tgtEl>
                                      </p:cBhvr>
                                      <p:to x="100000" y="95000"/>
                                    </p:animScale>
                                    <p:animScale>
                                      <p:cBhvr>
                                        <p:cTn id="74" dur="166" decel="50000">
                                          <p:stCondLst>
                                            <p:cond delay="1834"/>
                                          </p:stCondLst>
                                        </p:cTn>
                                        <p:tgtEl>
                                          <p:spTgt spid="19">
                                            <p:txEl>
                                              <p:pRg st="3" end="3"/>
                                            </p:txEl>
                                          </p:spTgt>
                                        </p:tgtEl>
                                      </p:cBhvr>
                                      <p:to x="100000" y="100000"/>
                                    </p:animScale>
                                  </p:childTnLst>
                                </p:cTn>
                              </p:par>
                              <p:par>
                                <p:cTn id="75" presetID="26" presetClass="entr" presetSubtype="0" fill="hold" nodeType="withEffect">
                                  <p:stCondLst>
                                    <p:cond delay="0"/>
                                  </p:stCondLst>
                                  <p:childTnLst>
                                    <p:set>
                                      <p:cBhvr>
                                        <p:cTn id="76" dur="1" fill="hold">
                                          <p:stCondLst>
                                            <p:cond delay="0"/>
                                          </p:stCondLst>
                                        </p:cTn>
                                        <p:tgtEl>
                                          <p:spTgt spid="19">
                                            <p:txEl>
                                              <p:pRg st="4" end="4"/>
                                            </p:txEl>
                                          </p:spTgt>
                                        </p:tgtEl>
                                        <p:attrNameLst>
                                          <p:attrName>style.visibility</p:attrName>
                                        </p:attrNameLst>
                                      </p:cBhvr>
                                      <p:to>
                                        <p:strVal val="visible"/>
                                      </p:to>
                                    </p:set>
                                    <p:animEffect transition="in" filter="wipe(down)">
                                      <p:cBhvr>
                                        <p:cTn id="77" dur="580">
                                          <p:stCondLst>
                                            <p:cond delay="0"/>
                                          </p:stCondLst>
                                        </p:cTn>
                                        <p:tgtEl>
                                          <p:spTgt spid="19">
                                            <p:txEl>
                                              <p:pRg st="4" end="4"/>
                                            </p:txEl>
                                          </p:spTgt>
                                        </p:tgtEl>
                                      </p:cBhvr>
                                    </p:animEffect>
                                    <p:anim calcmode="lin" valueType="num">
                                      <p:cBhvr>
                                        <p:cTn id="78" dur="1822" tmFilter="0,0; 0.14,0.36; 0.43,0.73; 0.71,0.91; 1.0,1.0">
                                          <p:stCondLst>
                                            <p:cond delay="0"/>
                                          </p:stCondLst>
                                        </p:cTn>
                                        <p:tgtEl>
                                          <p:spTgt spid="19">
                                            <p:txEl>
                                              <p:pRg st="4" end="4"/>
                                            </p:txEl>
                                          </p:spTgt>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9">
                                            <p:txEl>
                                              <p:pRg st="4" end="4"/>
                                            </p:txEl>
                                          </p:spTgt>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9">
                                            <p:txEl>
                                              <p:pRg st="4" end="4"/>
                                            </p:txEl>
                                          </p:spTgt>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9">
                                            <p:txEl>
                                              <p:pRg st="4" end="4"/>
                                            </p:txEl>
                                          </p:spTgt>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9">
                                            <p:txEl>
                                              <p:pRg st="4" end="4"/>
                                            </p:txEl>
                                          </p:spTgt>
                                        </p:tgtEl>
                                        <p:attrNameLst>
                                          <p:attrName>ppt_y</p:attrName>
                                        </p:attrNameLst>
                                      </p:cBhvr>
                                      <p:tavLst>
                                        <p:tav tm="0" fmla="#ppt_y-sin(pi*$)/81">
                                          <p:val>
                                            <p:fltVal val="0"/>
                                          </p:val>
                                        </p:tav>
                                        <p:tav tm="100000">
                                          <p:val>
                                            <p:fltVal val="1"/>
                                          </p:val>
                                        </p:tav>
                                      </p:tavLst>
                                    </p:anim>
                                    <p:animScale>
                                      <p:cBhvr>
                                        <p:cTn id="83" dur="26">
                                          <p:stCondLst>
                                            <p:cond delay="650"/>
                                          </p:stCondLst>
                                        </p:cTn>
                                        <p:tgtEl>
                                          <p:spTgt spid="19">
                                            <p:txEl>
                                              <p:pRg st="4" end="4"/>
                                            </p:txEl>
                                          </p:spTgt>
                                        </p:tgtEl>
                                      </p:cBhvr>
                                      <p:to x="100000" y="60000"/>
                                    </p:animScale>
                                    <p:animScale>
                                      <p:cBhvr>
                                        <p:cTn id="84" dur="166" decel="50000">
                                          <p:stCondLst>
                                            <p:cond delay="676"/>
                                          </p:stCondLst>
                                        </p:cTn>
                                        <p:tgtEl>
                                          <p:spTgt spid="19">
                                            <p:txEl>
                                              <p:pRg st="4" end="4"/>
                                            </p:txEl>
                                          </p:spTgt>
                                        </p:tgtEl>
                                      </p:cBhvr>
                                      <p:to x="100000" y="100000"/>
                                    </p:animScale>
                                    <p:animScale>
                                      <p:cBhvr>
                                        <p:cTn id="85" dur="26">
                                          <p:stCondLst>
                                            <p:cond delay="1312"/>
                                          </p:stCondLst>
                                        </p:cTn>
                                        <p:tgtEl>
                                          <p:spTgt spid="19">
                                            <p:txEl>
                                              <p:pRg st="4" end="4"/>
                                            </p:txEl>
                                          </p:spTgt>
                                        </p:tgtEl>
                                      </p:cBhvr>
                                      <p:to x="100000" y="80000"/>
                                    </p:animScale>
                                    <p:animScale>
                                      <p:cBhvr>
                                        <p:cTn id="86" dur="166" decel="50000">
                                          <p:stCondLst>
                                            <p:cond delay="1338"/>
                                          </p:stCondLst>
                                        </p:cTn>
                                        <p:tgtEl>
                                          <p:spTgt spid="19">
                                            <p:txEl>
                                              <p:pRg st="4" end="4"/>
                                            </p:txEl>
                                          </p:spTgt>
                                        </p:tgtEl>
                                      </p:cBhvr>
                                      <p:to x="100000" y="100000"/>
                                    </p:animScale>
                                    <p:animScale>
                                      <p:cBhvr>
                                        <p:cTn id="87" dur="26">
                                          <p:stCondLst>
                                            <p:cond delay="1642"/>
                                          </p:stCondLst>
                                        </p:cTn>
                                        <p:tgtEl>
                                          <p:spTgt spid="19">
                                            <p:txEl>
                                              <p:pRg st="4" end="4"/>
                                            </p:txEl>
                                          </p:spTgt>
                                        </p:tgtEl>
                                      </p:cBhvr>
                                      <p:to x="100000" y="90000"/>
                                    </p:animScale>
                                    <p:animScale>
                                      <p:cBhvr>
                                        <p:cTn id="88" dur="166" decel="50000">
                                          <p:stCondLst>
                                            <p:cond delay="1668"/>
                                          </p:stCondLst>
                                        </p:cTn>
                                        <p:tgtEl>
                                          <p:spTgt spid="19">
                                            <p:txEl>
                                              <p:pRg st="4" end="4"/>
                                            </p:txEl>
                                          </p:spTgt>
                                        </p:tgtEl>
                                      </p:cBhvr>
                                      <p:to x="100000" y="100000"/>
                                    </p:animScale>
                                    <p:animScale>
                                      <p:cBhvr>
                                        <p:cTn id="89" dur="26">
                                          <p:stCondLst>
                                            <p:cond delay="1808"/>
                                          </p:stCondLst>
                                        </p:cTn>
                                        <p:tgtEl>
                                          <p:spTgt spid="19">
                                            <p:txEl>
                                              <p:pRg st="4" end="4"/>
                                            </p:txEl>
                                          </p:spTgt>
                                        </p:tgtEl>
                                      </p:cBhvr>
                                      <p:to x="100000" y="95000"/>
                                    </p:animScale>
                                    <p:animScale>
                                      <p:cBhvr>
                                        <p:cTn id="90" dur="166" decel="50000">
                                          <p:stCondLst>
                                            <p:cond delay="1834"/>
                                          </p:stCondLst>
                                        </p:cTn>
                                        <p:tgtEl>
                                          <p:spTgt spid="19">
                                            <p:txEl>
                                              <p:pRg st="4" end="4"/>
                                            </p:txEl>
                                          </p:spTgt>
                                        </p:tgtEl>
                                      </p:cBhvr>
                                      <p:to x="100000" y="100000"/>
                                    </p:animScale>
                                  </p:childTnLst>
                                </p:cTn>
                              </p:par>
                              <p:par>
                                <p:cTn id="91" presetID="26" presetClass="entr" presetSubtype="0" fill="hold" nodeType="withEffect">
                                  <p:stCondLst>
                                    <p:cond delay="0"/>
                                  </p:stCondLst>
                                  <p:childTnLst>
                                    <p:set>
                                      <p:cBhvr>
                                        <p:cTn id="92" dur="1" fill="hold">
                                          <p:stCondLst>
                                            <p:cond delay="0"/>
                                          </p:stCondLst>
                                        </p:cTn>
                                        <p:tgtEl>
                                          <p:spTgt spid="19">
                                            <p:txEl>
                                              <p:pRg st="5" end="5"/>
                                            </p:txEl>
                                          </p:spTgt>
                                        </p:tgtEl>
                                        <p:attrNameLst>
                                          <p:attrName>style.visibility</p:attrName>
                                        </p:attrNameLst>
                                      </p:cBhvr>
                                      <p:to>
                                        <p:strVal val="visible"/>
                                      </p:to>
                                    </p:set>
                                    <p:animEffect transition="in" filter="wipe(down)">
                                      <p:cBhvr>
                                        <p:cTn id="93" dur="580">
                                          <p:stCondLst>
                                            <p:cond delay="0"/>
                                          </p:stCondLst>
                                        </p:cTn>
                                        <p:tgtEl>
                                          <p:spTgt spid="19">
                                            <p:txEl>
                                              <p:pRg st="5" end="5"/>
                                            </p:txEl>
                                          </p:spTgt>
                                        </p:tgtEl>
                                      </p:cBhvr>
                                    </p:animEffect>
                                    <p:anim calcmode="lin" valueType="num">
                                      <p:cBhvr>
                                        <p:cTn id="94" dur="1822" tmFilter="0,0; 0.14,0.36; 0.43,0.73; 0.71,0.91; 1.0,1.0">
                                          <p:stCondLst>
                                            <p:cond delay="0"/>
                                          </p:stCondLst>
                                        </p:cTn>
                                        <p:tgtEl>
                                          <p:spTgt spid="19">
                                            <p:txEl>
                                              <p:pRg st="5" end="5"/>
                                            </p:txEl>
                                          </p:spTgt>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9">
                                            <p:txEl>
                                              <p:pRg st="5" end="5"/>
                                            </p:txEl>
                                          </p:spTgt>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9">
                                            <p:txEl>
                                              <p:pRg st="5" end="5"/>
                                            </p:txEl>
                                          </p:spTgt>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9">
                                            <p:txEl>
                                              <p:pRg st="5" end="5"/>
                                            </p:txEl>
                                          </p:spTgt>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9">
                                            <p:txEl>
                                              <p:pRg st="5" end="5"/>
                                            </p:txEl>
                                          </p:spTgt>
                                        </p:tgtEl>
                                        <p:attrNameLst>
                                          <p:attrName>ppt_y</p:attrName>
                                        </p:attrNameLst>
                                      </p:cBhvr>
                                      <p:tavLst>
                                        <p:tav tm="0" fmla="#ppt_y-sin(pi*$)/81">
                                          <p:val>
                                            <p:fltVal val="0"/>
                                          </p:val>
                                        </p:tav>
                                        <p:tav tm="100000">
                                          <p:val>
                                            <p:fltVal val="1"/>
                                          </p:val>
                                        </p:tav>
                                      </p:tavLst>
                                    </p:anim>
                                    <p:animScale>
                                      <p:cBhvr>
                                        <p:cTn id="99" dur="26">
                                          <p:stCondLst>
                                            <p:cond delay="650"/>
                                          </p:stCondLst>
                                        </p:cTn>
                                        <p:tgtEl>
                                          <p:spTgt spid="19">
                                            <p:txEl>
                                              <p:pRg st="5" end="5"/>
                                            </p:txEl>
                                          </p:spTgt>
                                        </p:tgtEl>
                                      </p:cBhvr>
                                      <p:to x="100000" y="60000"/>
                                    </p:animScale>
                                    <p:animScale>
                                      <p:cBhvr>
                                        <p:cTn id="100" dur="166" decel="50000">
                                          <p:stCondLst>
                                            <p:cond delay="676"/>
                                          </p:stCondLst>
                                        </p:cTn>
                                        <p:tgtEl>
                                          <p:spTgt spid="19">
                                            <p:txEl>
                                              <p:pRg st="5" end="5"/>
                                            </p:txEl>
                                          </p:spTgt>
                                        </p:tgtEl>
                                      </p:cBhvr>
                                      <p:to x="100000" y="100000"/>
                                    </p:animScale>
                                    <p:animScale>
                                      <p:cBhvr>
                                        <p:cTn id="101" dur="26">
                                          <p:stCondLst>
                                            <p:cond delay="1312"/>
                                          </p:stCondLst>
                                        </p:cTn>
                                        <p:tgtEl>
                                          <p:spTgt spid="19">
                                            <p:txEl>
                                              <p:pRg st="5" end="5"/>
                                            </p:txEl>
                                          </p:spTgt>
                                        </p:tgtEl>
                                      </p:cBhvr>
                                      <p:to x="100000" y="80000"/>
                                    </p:animScale>
                                    <p:animScale>
                                      <p:cBhvr>
                                        <p:cTn id="102" dur="166" decel="50000">
                                          <p:stCondLst>
                                            <p:cond delay="1338"/>
                                          </p:stCondLst>
                                        </p:cTn>
                                        <p:tgtEl>
                                          <p:spTgt spid="19">
                                            <p:txEl>
                                              <p:pRg st="5" end="5"/>
                                            </p:txEl>
                                          </p:spTgt>
                                        </p:tgtEl>
                                      </p:cBhvr>
                                      <p:to x="100000" y="100000"/>
                                    </p:animScale>
                                    <p:animScale>
                                      <p:cBhvr>
                                        <p:cTn id="103" dur="26">
                                          <p:stCondLst>
                                            <p:cond delay="1642"/>
                                          </p:stCondLst>
                                        </p:cTn>
                                        <p:tgtEl>
                                          <p:spTgt spid="19">
                                            <p:txEl>
                                              <p:pRg st="5" end="5"/>
                                            </p:txEl>
                                          </p:spTgt>
                                        </p:tgtEl>
                                      </p:cBhvr>
                                      <p:to x="100000" y="90000"/>
                                    </p:animScale>
                                    <p:animScale>
                                      <p:cBhvr>
                                        <p:cTn id="104" dur="166" decel="50000">
                                          <p:stCondLst>
                                            <p:cond delay="1668"/>
                                          </p:stCondLst>
                                        </p:cTn>
                                        <p:tgtEl>
                                          <p:spTgt spid="19">
                                            <p:txEl>
                                              <p:pRg st="5" end="5"/>
                                            </p:txEl>
                                          </p:spTgt>
                                        </p:tgtEl>
                                      </p:cBhvr>
                                      <p:to x="100000" y="100000"/>
                                    </p:animScale>
                                    <p:animScale>
                                      <p:cBhvr>
                                        <p:cTn id="105" dur="26">
                                          <p:stCondLst>
                                            <p:cond delay="1808"/>
                                          </p:stCondLst>
                                        </p:cTn>
                                        <p:tgtEl>
                                          <p:spTgt spid="19">
                                            <p:txEl>
                                              <p:pRg st="5" end="5"/>
                                            </p:txEl>
                                          </p:spTgt>
                                        </p:tgtEl>
                                      </p:cBhvr>
                                      <p:to x="100000" y="95000"/>
                                    </p:animScale>
                                    <p:animScale>
                                      <p:cBhvr>
                                        <p:cTn id="106" dur="166" decel="50000">
                                          <p:stCondLst>
                                            <p:cond delay="1834"/>
                                          </p:stCondLst>
                                        </p:cTn>
                                        <p:tgtEl>
                                          <p:spTgt spid="19">
                                            <p:txEl>
                                              <p:pRg st="5" end="5"/>
                                            </p:txEl>
                                          </p:spTgt>
                                        </p:tgtEl>
                                      </p:cBhvr>
                                      <p:to x="100000" y="100000"/>
                                    </p:animScale>
                                  </p:childTnLst>
                                </p:cTn>
                              </p:par>
                              <p:par>
                                <p:cTn id="107" presetID="26" presetClass="entr" presetSubtype="0" fill="hold" nodeType="withEffect">
                                  <p:stCondLst>
                                    <p:cond delay="0"/>
                                  </p:stCondLst>
                                  <p:childTnLst>
                                    <p:set>
                                      <p:cBhvr>
                                        <p:cTn id="108" dur="1" fill="hold">
                                          <p:stCondLst>
                                            <p:cond delay="0"/>
                                          </p:stCondLst>
                                        </p:cTn>
                                        <p:tgtEl>
                                          <p:spTgt spid="19">
                                            <p:txEl>
                                              <p:pRg st="6" end="6"/>
                                            </p:txEl>
                                          </p:spTgt>
                                        </p:tgtEl>
                                        <p:attrNameLst>
                                          <p:attrName>style.visibility</p:attrName>
                                        </p:attrNameLst>
                                      </p:cBhvr>
                                      <p:to>
                                        <p:strVal val="visible"/>
                                      </p:to>
                                    </p:set>
                                    <p:animEffect transition="in" filter="wipe(down)">
                                      <p:cBhvr>
                                        <p:cTn id="109" dur="580">
                                          <p:stCondLst>
                                            <p:cond delay="0"/>
                                          </p:stCondLst>
                                        </p:cTn>
                                        <p:tgtEl>
                                          <p:spTgt spid="19">
                                            <p:txEl>
                                              <p:pRg st="6" end="6"/>
                                            </p:txEl>
                                          </p:spTgt>
                                        </p:tgtEl>
                                      </p:cBhvr>
                                    </p:animEffect>
                                    <p:anim calcmode="lin" valueType="num">
                                      <p:cBhvr>
                                        <p:cTn id="110" dur="1822" tmFilter="0,0; 0.14,0.36; 0.43,0.73; 0.71,0.91; 1.0,1.0">
                                          <p:stCondLst>
                                            <p:cond delay="0"/>
                                          </p:stCondLst>
                                        </p:cTn>
                                        <p:tgtEl>
                                          <p:spTgt spid="19">
                                            <p:txEl>
                                              <p:pRg st="6" end="6"/>
                                            </p:txEl>
                                          </p:spTgt>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9">
                                            <p:txEl>
                                              <p:pRg st="6" end="6"/>
                                            </p:txEl>
                                          </p:spTgt>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9">
                                            <p:txEl>
                                              <p:pRg st="6" end="6"/>
                                            </p:txEl>
                                          </p:spTgt>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9">
                                            <p:txEl>
                                              <p:pRg st="6" end="6"/>
                                            </p:txEl>
                                          </p:spTgt>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9">
                                            <p:txEl>
                                              <p:pRg st="6" end="6"/>
                                            </p:txEl>
                                          </p:spTgt>
                                        </p:tgtEl>
                                        <p:attrNameLst>
                                          <p:attrName>ppt_y</p:attrName>
                                        </p:attrNameLst>
                                      </p:cBhvr>
                                      <p:tavLst>
                                        <p:tav tm="0" fmla="#ppt_y-sin(pi*$)/81">
                                          <p:val>
                                            <p:fltVal val="0"/>
                                          </p:val>
                                        </p:tav>
                                        <p:tav tm="100000">
                                          <p:val>
                                            <p:fltVal val="1"/>
                                          </p:val>
                                        </p:tav>
                                      </p:tavLst>
                                    </p:anim>
                                    <p:animScale>
                                      <p:cBhvr>
                                        <p:cTn id="115" dur="26">
                                          <p:stCondLst>
                                            <p:cond delay="650"/>
                                          </p:stCondLst>
                                        </p:cTn>
                                        <p:tgtEl>
                                          <p:spTgt spid="19">
                                            <p:txEl>
                                              <p:pRg st="6" end="6"/>
                                            </p:txEl>
                                          </p:spTgt>
                                        </p:tgtEl>
                                      </p:cBhvr>
                                      <p:to x="100000" y="60000"/>
                                    </p:animScale>
                                    <p:animScale>
                                      <p:cBhvr>
                                        <p:cTn id="116" dur="166" decel="50000">
                                          <p:stCondLst>
                                            <p:cond delay="676"/>
                                          </p:stCondLst>
                                        </p:cTn>
                                        <p:tgtEl>
                                          <p:spTgt spid="19">
                                            <p:txEl>
                                              <p:pRg st="6" end="6"/>
                                            </p:txEl>
                                          </p:spTgt>
                                        </p:tgtEl>
                                      </p:cBhvr>
                                      <p:to x="100000" y="100000"/>
                                    </p:animScale>
                                    <p:animScale>
                                      <p:cBhvr>
                                        <p:cTn id="117" dur="26">
                                          <p:stCondLst>
                                            <p:cond delay="1312"/>
                                          </p:stCondLst>
                                        </p:cTn>
                                        <p:tgtEl>
                                          <p:spTgt spid="19">
                                            <p:txEl>
                                              <p:pRg st="6" end="6"/>
                                            </p:txEl>
                                          </p:spTgt>
                                        </p:tgtEl>
                                      </p:cBhvr>
                                      <p:to x="100000" y="80000"/>
                                    </p:animScale>
                                    <p:animScale>
                                      <p:cBhvr>
                                        <p:cTn id="118" dur="166" decel="50000">
                                          <p:stCondLst>
                                            <p:cond delay="1338"/>
                                          </p:stCondLst>
                                        </p:cTn>
                                        <p:tgtEl>
                                          <p:spTgt spid="19">
                                            <p:txEl>
                                              <p:pRg st="6" end="6"/>
                                            </p:txEl>
                                          </p:spTgt>
                                        </p:tgtEl>
                                      </p:cBhvr>
                                      <p:to x="100000" y="100000"/>
                                    </p:animScale>
                                    <p:animScale>
                                      <p:cBhvr>
                                        <p:cTn id="119" dur="26">
                                          <p:stCondLst>
                                            <p:cond delay="1642"/>
                                          </p:stCondLst>
                                        </p:cTn>
                                        <p:tgtEl>
                                          <p:spTgt spid="19">
                                            <p:txEl>
                                              <p:pRg st="6" end="6"/>
                                            </p:txEl>
                                          </p:spTgt>
                                        </p:tgtEl>
                                      </p:cBhvr>
                                      <p:to x="100000" y="90000"/>
                                    </p:animScale>
                                    <p:animScale>
                                      <p:cBhvr>
                                        <p:cTn id="120" dur="166" decel="50000">
                                          <p:stCondLst>
                                            <p:cond delay="1668"/>
                                          </p:stCondLst>
                                        </p:cTn>
                                        <p:tgtEl>
                                          <p:spTgt spid="19">
                                            <p:txEl>
                                              <p:pRg st="6" end="6"/>
                                            </p:txEl>
                                          </p:spTgt>
                                        </p:tgtEl>
                                      </p:cBhvr>
                                      <p:to x="100000" y="100000"/>
                                    </p:animScale>
                                    <p:animScale>
                                      <p:cBhvr>
                                        <p:cTn id="121" dur="26">
                                          <p:stCondLst>
                                            <p:cond delay="1808"/>
                                          </p:stCondLst>
                                        </p:cTn>
                                        <p:tgtEl>
                                          <p:spTgt spid="19">
                                            <p:txEl>
                                              <p:pRg st="6" end="6"/>
                                            </p:txEl>
                                          </p:spTgt>
                                        </p:tgtEl>
                                      </p:cBhvr>
                                      <p:to x="100000" y="95000"/>
                                    </p:animScale>
                                    <p:animScale>
                                      <p:cBhvr>
                                        <p:cTn id="122" dur="166" decel="50000">
                                          <p:stCondLst>
                                            <p:cond delay="1834"/>
                                          </p:stCondLst>
                                        </p:cTn>
                                        <p:tgtEl>
                                          <p:spTgt spid="19">
                                            <p:txEl>
                                              <p:pRg st="6" end="6"/>
                                            </p:txEl>
                                          </p:spTgt>
                                        </p:tgtEl>
                                      </p:cBhvr>
                                      <p:to x="100000" y="100000"/>
                                    </p:animScale>
                                  </p:childTnLst>
                                </p:cTn>
                              </p:par>
                              <p:par>
                                <p:cTn id="123" presetID="26" presetClass="entr" presetSubtype="0" fill="hold" nodeType="withEffect">
                                  <p:stCondLst>
                                    <p:cond delay="0"/>
                                  </p:stCondLst>
                                  <p:childTnLst>
                                    <p:set>
                                      <p:cBhvr>
                                        <p:cTn id="124" dur="1" fill="hold">
                                          <p:stCondLst>
                                            <p:cond delay="0"/>
                                          </p:stCondLst>
                                        </p:cTn>
                                        <p:tgtEl>
                                          <p:spTgt spid="19">
                                            <p:txEl>
                                              <p:pRg st="7" end="7"/>
                                            </p:txEl>
                                          </p:spTgt>
                                        </p:tgtEl>
                                        <p:attrNameLst>
                                          <p:attrName>style.visibility</p:attrName>
                                        </p:attrNameLst>
                                      </p:cBhvr>
                                      <p:to>
                                        <p:strVal val="visible"/>
                                      </p:to>
                                    </p:set>
                                    <p:animEffect transition="in" filter="wipe(down)">
                                      <p:cBhvr>
                                        <p:cTn id="125" dur="580">
                                          <p:stCondLst>
                                            <p:cond delay="0"/>
                                          </p:stCondLst>
                                        </p:cTn>
                                        <p:tgtEl>
                                          <p:spTgt spid="19">
                                            <p:txEl>
                                              <p:pRg st="7" end="7"/>
                                            </p:txEl>
                                          </p:spTgt>
                                        </p:tgtEl>
                                      </p:cBhvr>
                                    </p:animEffect>
                                    <p:anim calcmode="lin" valueType="num">
                                      <p:cBhvr>
                                        <p:cTn id="126" dur="1822" tmFilter="0,0; 0.14,0.36; 0.43,0.73; 0.71,0.91; 1.0,1.0">
                                          <p:stCondLst>
                                            <p:cond delay="0"/>
                                          </p:stCondLst>
                                        </p:cTn>
                                        <p:tgtEl>
                                          <p:spTgt spid="19">
                                            <p:txEl>
                                              <p:pRg st="7" end="7"/>
                                            </p:txEl>
                                          </p:spTgt>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9">
                                            <p:txEl>
                                              <p:pRg st="7" end="7"/>
                                            </p:txEl>
                                          </p:spTgt>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9">
                                            <p:txEl>
                                              <p:pRg st="7" end="7"/>
                                            </p:txEl>
                                          </p:spTgt>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9">
                                            <p:txEl>
                                              <p:pRg st="7" end="7"/>
                                            </p:txEl>
                                          </p:spTgt>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9">
                                            <p:txEl>
                                              <p:pRg st="7" end="7"/>
                                            </p:txEl>
                                          </p:spTgt>
                                        </p:tgtEl>
                                        <p:attrNameLst>
                                          <p:attrName>ppt_y</p:attrName>
                                        </p:attrNameLst>
                                      </p:cBhvr>
                                      <p:tavLst>
                                        <p:tav tm="0" fmla="#ppt_y-sin(pi*$)/81">
                                          <p:val>
                                            <p:fltVal val="0"/>
                                          </p:val>
                                        </p:tav>
                                        <p:tav tm="100000">
                                          <p:val>
                                            <p:fltVal val="1"/>
                                          </p:val>
                                        </p:tav>
                                      </p:tavLst>
                                    </p:anim>
                                    <p:animScale>
                                      <p:cBhvr>
                                        <p:cTn id="131" dur="26">
                                          <p:stCondLst>
                                            <p:cond delay="650"/>
                                          </p:stCondLst>
                                        </p:cTn>
                                        <p:tgtEl>
                                          <p:spTgt spid="19">
                                            <p:txEl>
                                              <p:pRg st="7" end="7"/>
                                            </p:txEl>
                                          </p:spTgt>
                                        </p:tgtEl>
                                      </p:cBhvr>
                                      <p:to x="100000" y="60000"/>
                                    </p:animScale>
                                    <p:animScale>
                                      <p:cBhvr>
                                        <p:cTn id="132" dur="166" decel="50000">
                                          <p:stCondLst>
                                            <p:cond delay="676"/>
                                          </p:stCondLst>
                                        </p:cTn>
                                        <p:tgtEl>
                                          <p:spTgt spid="19">
                                            <p:txEl>
                                              <p:pRg st="7" end="7"/>
                                            </p:txEl>
                                          </p:spTgt>
                                        </p:tgtEl>
                                      </p:cBhvr>
                                      <p:to x="100000" y="100000"/>
                                    </p:animScale>
                                    <p:animScale>
                                      <p:cBhvr>
                                        <p:cTn id="133" dur="26">
                                          <p:stCondLst>
                                            <p:cond delay="1312"/>
                                          </p:stCondLst>
                                        </p:cTn>
                                        <p:tgtEl>
                                          <p:spTgt spid="19">
                                            <p:txEl>
                                              <p:pRg st="7" end="7"/>
                                            </p:txEl>
                                          </p:spTgt>
                                        </p:tgtEl>
                                      </p:cBhvr>
                                      <p:to x="100000" y="80000"/>
                                    </p:animScale>
                                    <p:animScale>
                                      <p:cBhvr>
                                        <p:cTn id="134" dur="166" decel="50000">
                                          <p:stCondLst>
                                            <p:cond delay="1338"/>
                                          </p:stCondLst>
                                        </p:cTn>
                                        <p:tgtEl>
                                          <p:spTgt spid="19">
                                            <p:txEl>
                                              <p:pRg st="7" end="7"/>
                                            </p:txEl>
                                          </p:spTgt>
                                        </p:tgtEl>
                                      </p:cBhvr>
                                      <p:to x="100000" y="100000"/>
                                    </p:animScale>
                                    <p:animScale>
                                      <p:cBhvr>
                                        <p:cTn id="135" dur="26">
                                          <p:stCondLst>
                                            <p:cond delay="1642"/>
                                          </p:stCondLst>
                                        </p:cTn>
                                        <p:tgtEl>
                                          <p:spTgt spid="19">
                                            <p:txEl>
                                              <p:pRg st="7" end="7"/>
                                            </p:txEl>
                                          </p:spTgt>
                                        </p:tgtEl>
                                      </p:cBhvr>
                                      <p:to x="100000" y="90000"/>
                                    </p:animScale>
                                    <p:animScale>
                                      <p:cBhvr>
                                        <p:cTn id="136" dur="166" decel="50000">
                                          <p:stCondLst>
                                            <p:cond delay="1668"/>
                                          </p:stCondLst>
                                        </p:cTn>
                                        <p:tgtEl>
                                          <p:spTgt spid="19">
                                            <p:txEl>
                                              <p:pRg st="7" end="7"/>
                                            </p:txEl>
                                          </p:spTgt>
                                        </p:tgtEl>
                                      </p:cBhvr>
                                      <p:to x="100000" y="100000"/>
                                    </p:animScale>
                                    <p:animScale>
                                      <p:cBhvr>
                                        <p:cTn id="137" dur="26">
                                          <p:stCondLst>
                                            <p:cond delay="1808"/>
                                          </p:stCondLst>
                                        </p:cTn>
                                        <p:tgtEl>
                                          <p:spTgt spid="19">
                                            <p:txEl>
                                              <p:pRg st="7" end="7"/>
                                            </p:txEl>
                                          </p:spTgt>
                                        </p:tgtEl>
                                      </p:cBhvr>
                                      <p:to x="100000" y="95000"/>
                                    </p:animScale>
                                    <p:animScale>
                                      <p:cBhvr>
                                        <p:cTn id="138" dur="166" decel="50000">
                                          <p:stCondLst>
                                            <p:cond delay="1834"/>
                                          </p:stCondLst>
                                        </p:cTn>
                                        <p:tgtEl>
                                          <p:spTgt spid="19">
                                            <p:txEl>
                                              <p:pRg st="7" end="7"/>
                                            </p:txEl>
                                          </p:spTgt>
                                        </p:tgtEl>
                                      </p:cBhvr>
                                      <p:to x="100000" y="100000"/>
                                    </p:animScale>
                                  </p:childTnLst>
                                </p:cTn>
                              </p:par>
                            </p:childTnLst>
                          </p:cTn>
                        </p:par>
                      </p:childTnLst>
                    </p:cTn>
                  </p:par>
                  <p:par>
                    <p:cTn id="139" fill="hold">
                      <p:stCondLst>
                        <p:cond delay="indefinite"/>
                      </p:stCondLst>
                      <p:childTnLst>
                        <p:par>
                          <p:cTn id="140" fill="hold">
                            <p:stCondLst>
                              <p:cond delay="0"/>
                            </p:stCondLst>
                            <p:childTnLst>
                              <p:par>
                                <p:cTn id="141" presetID="26" presetClass="entr" presetSubtype="0" fill="hold" nodeType="clickEffect">
                                  <p:stCondLst>
                                    <p:cond delay="0"/>
                                  </p:stCondLst>
                                  <p:childTnLst>
                                    <p:set>
                                      <p:cBhvr>
                                        <p:cTn id="142" dur="1" fill="hold">
                                          <p:stCondLst>
                                            <p:cond delay="0"/>
                                          </p:stCondLst>
                                        </p:cTn>
                                        <p:tgtEl>
                                          <p:spTgt spid="23">
                                            <p:txEl>
                                              <p:pRg st="0" end="0"/>
                                            </p:txEl>
                                          </p:spTgt>
                                        </p:tgtEl>
                                        <p:attrNameLst>
                                          <p:attrName>style.visibility</p:attrName>
                                        </p:attrNameLst>
                                      </p:cBhvr>
                                      <p:to>
                                        <p:strVal val="visible"/>
                                      </p:to>
                                    </p:set>
                                    <p:animEffect transition="in" filter="wipe(down)">
                                      <p:cBhvr>
                                        <p:cTn id="143" dur="580">
                                          <p:stCondLst>
                                            <p:cond delay="0"/>
                                          </p:stCondLst>
                                        </p:cTn>
                                        <p:tgtEl>
                                          <p:spTgt spid="23">
                                            <p:txEl>
                                              <p:pRg st="0" end="0"/>
                                            </p:txEl>
                                          </p:spTgt>
                                        </p:tgtEl>
                                      </p:cBhvr>
                                    </p:animEffect>
                                    <p:anim calcmode="lin" valueType="num">
                                      <p:cBhvr>
                                        <p:cTn id="144" dur="1822" tmFilter="0,0; 0.14,0.36; 0.43,0.73; 0.71,0.91; 1.0,1.0">
                                          <p:stCondLst>
                                            <p:cond delay="0"/>
                                          </p:stCondLst>
                                        </p:cTn>
                                        <p:tgtEl>
                                          <p:spTgt spid="23">
                                            <p:txEl>
                                              <p:pRg st="0" end="0"/>
                                            </p:txEl>
                                          </p:spTgt>
                                        </p:tgtEl>
                                        <p:attrNameLst>
                                          <p:attrName>ppt_x</p:attrName>
                                        </p:attrNameLst>
                                      </p:cBhvr>
                                      <p:tavLst>
                                        <p:tav tm="0">
                                          <p:val>
                                            <p:strVal val="#ppt_x-0.25"/>
                                          </p:val>
                                        </p:tav>
                                        <p:tav tm="100000">
                                          <p:val>
                                            <p:strVal val="#ppt_x"/>
                                          </p:val>
                                        </p:tav>
                                      </p:tavLst>
                                    </p:anim>
                                    <p:anim calcmode="lin" valueType="num">
                                      <p:cBhvr>
                                        <p:cTn id="145" dur="664" tmFilter="0.0,0.0; 0.25,0.07; 0.50,0.2; 0.75,0.467; 1.0,1.0">
                                          <p:stCondLst>
                                            <p:cond delay="0"/>
                                          </p:stCondLst>
                                        </p:cTn>
                                        <p:tgtEl>
                                          <p:spTgt spid="23">
                                            <p:txEl>
                                              <p:pRg st="0" end="0"/>
                                            </p:txEl>
                                          </p:spTgt>
                                        </p:tgtEl>
                                        <p:attrNameLst>
                                          <p:attrName>ppt_y</p:attrName>
                                        </p:attrNameLst>
                                      </p:cBhvr>
                                      <p:tavLst>
                                        <p:tav tm="0" fmla="#ppt_y-sin(pi*$)/3">
                                          <p:val>
                                            <p:fltVal val="0.5"/>
                                          </p:val>
                                        </p:tav>
                                        <p:tav tm="100000">
                                          <p:val>
                                            <p:fltVal val="1"/>
                                          </p:val>
                                        </p:tav>
                                      </p:tavLst>
                                    </p:anim>
                                    <p:anim calcmode="lin" valueType="num">
                                      <p:cBhvr>
                                        <p:cTn id="146" dur="664" tmFilter="0, 0; 0.125,0.2665; 0.25,0.4; 0.375,0.465; 0.5,0.5;  0.625,0.535; 0.75,0.6; 0.875,0.7335; 1,1">
                                          <p:stCondLst>
                                            <p:cond delay="664"/>
                                          </p:stCondLst>
                                        </p:cTn>
                                        <p:tgtEl>
                                          <p:spTgt spid="23">
                                            <p:txEl>
                                              <p:pRg st="0" end="0"/>
                                            </p:txEl>
                                          </p:spTgt>
                                        </p:tgtEl>
                                        <p:attrNameLst>
                                          <p:attrName>ppt_y</p:attrName>
                                        </p:attrNameLst>
                                      </p:cBhvr>
                                      <p:tavLst>
                                        <p:tav tm="0" fmla="#ppt_y-sin(pi*$)/9">
                                          <p:val>
                                            <p:fltVal val="0"/>
                                          </p:val>
                                        </p:tav>
                                        <p:tav tm="100000">
                                          <p:val>
                                            <p:fltVal val="1"/>
                                          </p:val>
                                        </p:tav>
                                      </p:tavLst>
                                    </p:anim>
                                    <p:anim calcmode="lin" valueType="num">
                                      <p:cBhvr>
                                        <p:cTn id="147" dur="332" tmFilter="0, 0; 0.125,0.2665; 0.25,0.4; 0.375,0.465; 0.5,0.5;  0.625,0.535; 0.75,0.6; 0.875,0.7335; 1,1">
                                          <p:stCondLst>
                                            <p:cond delay="1324"/>
                                          </p:stCondLst>
                                        </p:cTn>
                                        <p:tgtEl>
                                          <p:spTgt spid="23">
                                            <p:txEl>
                                              <p:pRg st="0" end="0"/>
                                            </p:txEl>
                                          </p:spTgt>
                                        </p:tgtEl>
                                        <p:attrNameLst>
                                          <p:attrName>ppt_y</p:attrName>
                                        </p:attrNameLst>
                                      </p:cBhvr>
                                      <p:tavLst>
                                        <p:tav tm="0" fmla="#ppt_y-sin(pi*$)/27">
                                          <p:val>
                                            <p:fltVal val="0"/>
                                          </p:val>
                                        </p:tav>
                                        <p:tav tm="100000">
                                          <p:val>
                                            <p:fltVal val="1"/>
                                          </p:val>
                                        </p:tav>
                                      </p:tavLst>
                                    </p:anim>
                                    <p:anim calcmode="lin" valueType="num">
                                      <p:cBhvr>
                                        <p:cTn id="148" dur="164" tmFilter="0, 0; 0.125,0.2665; 0.25,0.4; 0.375,0.465; 0.5,0.5;  0.625,0.535; 0.75,0.6; 0.875,0.7335; 1,1">
                                          <p:stCondLst>
                                            <p:cond delay="1656"/>
                                          </p:stCondLst>
                                        </p:cTn>
                                        <p:tgtEl>
                                          <p:spTgt spid="23">
                                            <p:txEl>
                                              <p:pRg st="0" end="0"/>
                                            </p:txEl>
                                          </p:spTgt>
                                        </p:tgtEl>
                                        <p:attrNameLst>
                                          <p:attrName>ppt_y</p:attrName>
                                        </p:attrNameLst>
                                      </p:cBhvr>
                                      <p:tavLst>
                                        <p:tav tm="0" fmla="#ppt_y-sin(pi*$)/81">
                                          <p:val>
                                            <p:fltVal val="0"/>
                                          </p:val>
                                        </p:tav>
                                        <p:tav tm="100000">
                                          <p:val>
                                            <p:fltVal val="1"/>
                                          </p:val>
                                        </p:tav>
                                      </p:tavLst>
                                    </p:anim>
                                    <p:animScale>
                                      <p:cBhvr>
                                        <p:cTn id="149" dur="26">
                                          <p:stCondLst>
                                            <p:cond delay="650"/>
                                          </p:stCondLst>
                                        </p:cTn>
                                        <p:tgtEl>
                                          <p:spTgt spid="23">
                                            <p:txEl>
                                              <p:pRg st="0" end="0"/>
                                            </p:txEl>
                                          </p:spTgt>
                                        </p:tgtEl>
                                      </p:cBhvr>
                                      <p:to x="100000" y="60000"/>
                                    </p:animScale>
                                    <p:animScale>
                                      <p:cBhvr>
                                        <p:cTn id="150" dur="166" decel="50000">
                                          <p:stCondLst>
                                            <p:cond delay="676"/>
                                          </p:stCondLst>
                                        </p:cTn>
                                        <p:tgtEl>
                                          <p:spTgt spid="23">
                                            <p:txEl>
                                              <p:pRg st="0" end="0"/>
                                            </p:txEl>
                                          </p:spTgt>
                                        </p:tgtEl>
                                      </p:cBhvr>
                                      <p:to x="100000" y="100000"/>
                                    </p:animScale>
                                    <p:animScale>
                                      <p:cBhvr>
                                        <p:cTn id="151" dur="26">
                                          <p:stCondLst>
                                            <p:cond delay="1312"/>
                                          </p:stCondLst>
                                        </p:cTn>
                                        <p:tgtEl>
                                          <p:spTgt spid="23">
                                            <p:txEl>
                                              <p:pRg st="0" end="0"/>
                                            </p:txEl>
                                          </p:spTgt>
                                        </p:tgtEl>
                                      </p:cBhvr>
                                      <p:to x="100000" y="80000"/>
                                    </p:animScale>
                                    <p:animScale>
                                      <p:cBhvr>
                                        <p:cTn id="152" dur="166" decel="50000">
                                          <p:stCondLst>
                                            <p:cond delay="1338"/>
                                          </p:stCondLst>
                                        </p:cTn>
                                        <p:tgtEl>
                                          <p:spTgt spid="23">
                                            <p:txEl>
                                              <p:pRg st="0" end="0"/>
                                            </p:txEl>
                                          </p:spTgt>
                                        </p:tgtEl>
                                      </p:cBhvr>
                                      <p:to x="100000" y="100000"/>
                                    </p:animScale>
                                    <p:animScale>
                                      <p:cBhvr>
                                        <p:cTn id="153" dur="26">
                                          <p:stCondLst>
                                            <p:cond delay="1642"/>
                                          </p:stCondLst>
                                        </p:cTn>
                                        <p:tgtEl>
                                          <p:spTgt spid="23">
                                            <p:txEl>
                                              <p:pRg st="0" end="0"/>
                                            </p:txEl>
                                          </p:spTgt>
                                        </p:tgtEl>
                                      </p:cBhvr>
                                      <p:to x="100000" y="90000"/>
                                    </p:animScale>
                                    <p:animScale>
                                      <p:cBhvr>
                                        <p:cTn id="154" dur="166" decel="50000">
                                          <p:stCondLst>
                                            <p:cond delay="1668"/>
                                          </p:stCondLst>
                                        </p:cTn>
                                        <p:tgtEl>
                                          <p:spTgt spid="23">
                                            <p:txEl>
                                              <p:pRg st="0" end="0"/>
                                            </p:txEl>
                                          </p:spTgt>
                                        </p:tgtEl>
                                      </p:cBhvr>
                                      <p:to x="100000" y="100000"/>
                                    </p:animScale>
                                    <p:animScale>
                                      <p:cBhvr>
                                        <p:cTn id="155" dur="26">
                                          <p:stCondLst>
                                            <p:cond delay="1808"/>
                                          </p:stCondLst>
                                        </p:cTn>
                                        <p:tgtEl>
                                          <p:spTgt spid="23">
                                            <p:txEl>
                                              <p:pRg st="0" end="0"/>
                                            </p:txEl>
                                          </p:spTgt>
                                        </p:tgtEl>
                                      </p:cBhvr>
                                      <p:to x="100000" y="95000"/>
                                    </p:animScale>
                                    <p:animScale>
                                      <p:cBhvr>
                                        <p:cTn id="156" dur="166" decel="50000">
                                          <p:stCondLst>
                                            <p:cond delay="1834"/>
                                          </p:stCondLst>
                                        </p:cTn>
                                        <p:tgtEl>
                                          <p:spTgt spid="23">
                                            <p:txEl>
                                              <p:pRg st="0" end="0"/>
                                            </p:txEl>
                                          </p:spTgt>
                                        </p:tgtEl>
                                      </p:cBhvr>
                                      <p:to x="100000" y="100000"/>
                                    </p:animScale>
                                  </p:childTnLst>
                                </p:cTn>
                              </p:par>
                              <p:par>
                                <p:cTn id="157" presetID="26" presetClass="entr" presetSubtype="0" fill="hold" nodeType="withEffect">
                                  <p:stCondLst>
                                    <p:cond delay="0"/>
                                  </p:stCondLst>
                                  <p:childTnLst>
                                    <p:set>
                                      <p:cBhvr>
                                        <p:cTn id="158" dur="1" fill="hold">
                                          <p:stCondLst>
                                            <p:cond delay="0"/>
                                          </p:stCondLst>
                                        </p:cTn>
                                        <p:tgtEl>
                                          <p:spTgt spid="23">
                                            <p:txEl>
                                              <p:pRg st="1" end="1"/>
                                            </p:txEl>
                                          </p:spTgt>
                                        </p:tgtEl>
                                        <p:attrNameLst>
                                          <p:attrName>style.visibility</p:attrName>
                                        </p:attrNameLst>
                                      </p:cBhvr>
                                      <p:to>
                                        <p:strVal val="visible"/>
                                      </p:to>
                                    </p:set>
                                    <p:animEffect transition="in" filter="wipe(down)">
                                      <p:cBhvr>
                                        <p:cTn id="159" dur="580">
                                          <p:stCondLst>
                                            <p:cond delay="0"/>
                                          </p:stCondLst>
                                        </p:cTn>
                                        <p:tgtEl>
                                          <p:spTgt spid="23">
                                            <p:txEl>
                                              <p:pRg st="1" end="1"/>
                                            </p:txEl>
                                          </p:spTgt>
                                        </p:tgtEl>
                                      </p:cBhvr>
                                    </p:animEffect>
                                    <p:anim calcmode="lin" valueType="num">
                                      <p:cBhvr>
                                        <p:cTn id="160" dur="1822" tmFilter="0,0; 0.14,0.36; 0.43,0.73; 0.71,0.91; 1.0,1.0">
                                          <p:stCondLst>
                                            <p:cond delay="0"/>
                                          </p:stCondLst>
                                        </p:cTn>
                                        <p:tgtEl>
                                          <p:spTgt spid="23">
                                            <p:txEl>
                                              <p:pRg st="1" end="1"/>
                                            </p:txEl>
                                          </p:spTgt>
                                        </p:tgtEl>
                                        <p:attrNameLst>
                                          <p:attrName>ppt_x</p:attrName>
                                        </p:attrNameLst>
                                      </p:cBhvr>
                                      <p:tavLst>
                                        <p:tav tm="0">
                                          <p:val>
                                            <p:strVal val="#ppt_x-0.25"/>
                                          </p:val>
                                        </p:tav>
                                        <p:tav tm="100000">
                                          <p:val>
                                            <p:strVal val="#ppt_x"/>
                                          </p:val>
                                        </p:tav>
                                      </p:tavLst>
                                    </p:anim>
                                    <p:anim calcmode="lin" valueType="num">
                                      <p:cBhvr>
                                        <p:cTn id="161" dur="664" tmFilter="0.0,0.0; 0.25,0.07; 0.50,0.2; 0.75,0.467; 1.0,1.0">
                                          <p:stCondLst>
                                            <p:cond delay="0"/>
                                          </p:stCondLst>
                                        </p:cTn>
                                        <p:tgtEl>
                                          <p:spTgt spid="23">
                                            <p:txEl>
                                              <p:pRg st="1" end="1"/>
                                            </p:txEl>
                                          </p:spTgt>
                                        </p:tgtEl>
                                        <p:attrNameLst>
                                          <p:attrName>ppt_y</p:attrName>
                                        </p:attrNameLst>
                                      </p:cBhvr>
                                      <p:tavLst>
                                        <p:tav tm="0" fmla="#ppt_y-sin(pi*$)/3">
                                          <p:val>
                                            <p:fltVal val="0.5"/>
                                          </p:val>
                                        </p:tav>
                                        <p:tav tm="100000">
                                          <p:val>
                                            <p:fltVal val="1"/>
                                          </p:val>
                                        </p:tav>
                                      </p:tavLst>
                                    </p:anim>
                                    <p:anim calcmode="lin" valueType="num">
                                      <p:cBhvr>
                                        <p:cTn id="162" dur="664" tmFilter="0, 0; 0.125,0.2665; 0.25,0.4; 0.375,0.465; 0.5,0.5;  0.625,0.535; 0.75,0.6; 0.875,0.7335; 1,1">
                                          <p:stCondLst>
                                            <p:cond delay="664"/>
                                          </p:stCondLst>
                                        </p:cTn>
                                        <p:tgtEl>
                                          <p:spTgt spid="23">
                                            <p:txEl>
                                              <p:pRg st="1" end="1"/>
                                            </p:txEl>
                                          </p:spTgt>
                                        </p:tgtEl>
                                        <p:attrNameLst>
                                          <p:attrName>ppt_y</p:attrName>
                                        </p:attrNameLst>
                                      </p:cBhvr>
                                      <p:tavLst>
                                        <p:tav tm="0" fmla="#ppt_y-sin(pi*$)/9">
                                          <p:val>
                                            <p:fltVal val="0"/>
                                          </p:val>
                                        </p:tav>
                                        <p:tav tm="100000">
                                          <p:val>
                                            <p:fltVal val="1"/>
                                          </p:val>
                                        </p:tav>
                                      </p:tavLst>
                                    </p:anim>
                                    <p:anim calcmode="lin" valueType="num">
                                      <p:cBhvr>
                                        <p:cTn id="163" dur="332" tmFilter="0, 0; 0.125,0.2665; 0.25,0.4; 0.375,0.465; 0.5,0.5;  0.625,0.535; 0.75,0.6; 0.875,0.7335; 1,1">
                                          <p:stCondLst>
                                            <p:cond delay="1324"/>
                                          </p:stCondLst>
                                        </p:cTn>
                                        <p:tgtEl>
                                          <p:spTgt spid="23">
                                            <p:txEl>
                                              <p:pRg st="1" end="1"/>
                                            </p:txEl>
                                          </p:spTgt>
                                        </p:tgtEl>
                                        <p:attrNameLst>
                                          <p:attrName>ppt_y</p:attrName>
                                        </p:attrNameLst>
                                      </p:cBhvr>
                                      <p:tavLst>
                                        <p:tav tm="0" fmla="#ppt_y-sin(pi*$)/27">
                                          <p:val>
                                            <p:fltVal val="0"/>
                                          </p:val>
                                        </p:tav>
                                        <p:tav tm="100000">
                                          <p:val>
                                            <p:fltVal val="1"/>
                                          </p:val>
                                        </p:tav>
                                      </p:tavLst>
                                    </p:anim>
                                    <p:anim calcmode="lin" valueType="num">
                                      <p:cBhvr>
                                        <p:cTn id="164" dur="164" tmFilter="0, 0; 0.125,0.2665; 0.25,0.4; 0.375,0.465; 0.5,0.5;  0.625,0.535; 0.75,0.6; 0.875,0.7335; 1,1">
                                          <p:stCondLst>
                                            <p:cond delay="1656"/>
                                          </p:stCondLst>
                                        </p:cTn>
                                        <p:tgtEl>
                                          <p:spTgt spid="23">
                                            <p:txEl>
                                              <p:pRg st="1" end="1"/>
                                            </p:txEl>
                                          </p:spTgt>
                                        </p:tgtEl>
                                        <p:attrNameLst>
                                          <p:attrName>ppt_y</p:attrName>
                                        </p:attrNameLst>
                                      </p:cBhvr>
                                      <p:tavLst>
                                        <p:tav tm="0" fmla="#ppt_y-sin(pi*$)/81">
                                          <p:val>
                                            <p:fltVal val="0"/>
                                          </p:val>
                                        </p:tav>
                                        <p:tav tm="100000">
                                          <p:val>
                                            <p:fltVal val="1"/>
                                          </p:val>
                                        </p:tav>
                                      </p:tavLst>
                                    </p:anim>
                                    <p:animScale>
                                      <p:cBhvr>
                                        <p:cTn id="165" dur="26">
                                          <p:stCondLst>
                                            <p:cond delay="650"/>
                                          </p:stCondLst>
                                        </p:cTn>
                                        <p:tgtEl>
                                          <p:spTgt spid="23">
                                            <p:txEl>
                                              <p:pRg st="1" end="1"/>
                                            </p:txEl>
                                          </p:spTgt>
                                        </p:tgtEl>
                                      </p:cBhvr>
                                      <p:to x="100000" y="60000"/>
                                    </p:animScale>
                                    <p:animScale>
                                      <p:cBhvr>
                                        <p:cTn id="166" dur="166" decel="50000">
                                          <p:stCondLst>
                                            <p:cond delay="676"/>
                                          </p:stCondLst>
                                        </p:cTn>
                                        <p:tgtEl>
                                          <p:spTgt spid="23">
                                            <p:txEl>
                                              <p:pRg st="1" end="1"/>
                                            </p:txEl>
                                          </p:spTgt>
                                        </p:tgtEl>
                                      </p:cBhvr>
                                      <p:to x="100000" y="100000"/>
                                    </p:animScale>
                                    <p:animScale>
                                      <p:cBhvr>
                                        <p:cTn id="167" dur="26">
                                          <p:stCondLst>
                                            <p:cond delay="1312"/>
                                          </p:stCondLst>
                                        </p:cTn>
                                        <p:tgtEl>
                                          <p:spTgt spid="23">
                                            <p:txEl>
                                              <p:pRg st="1" end="1"/>
                                            </p:txEl>
                                          </p:spTgt>
                                        </p:tgtEl>
                                      </p:cBhvr>
                                      <p:to x="100000" y="80000"/>
                                    </p:animScale>
                                    <p:animScale>
                                      <p:cBhvr>
                                        <p:cTn id="168" dur="166" decel="50000">
                                          <p:stCondLst>
                                            <p:cond delay="1338"/>
                                          </p:stCondLst>
                                        </p:cTn>
                                        <p:tgtEl>
                                          <p:spTgt spid="23">
                                            <p:txEl>
                                              <p:pRg st="1" end="1"/>
                                            </p:txEl>
                                          </p:spTgt>
                                        </p:tgtEl>
                                      </p:cBhvr>
                                      <p:to x="100000" y="100000"/>
                                    </p:animScale>
                                    <p:animScale>
                                      <p:cBhvr>
                                        <p:cTn id="169" dur="26">
                                          <p:stCondLst>
                                            <p:cond delay="1642"/>
                                          </p:stCondLst>
                                        </p:cTn>
                                        <p:tgtEl>
                                          <p:spTgt spid="23">
                                            <p:txEl>
                                              <p:pRg st="1" end="1"/>
                                            </p:txEl>
                                          </p:spTgt>
                                        </p:tgtEl>
                                      </p:cBhvr>
                                      <p:to x="100000" y="90000"/>
                                    </p:animScale>
                                    <p:animScale>
                                      <p:cBhvr>
                                        <p:cTn id="170" dur="166" decel="50000">
                                          <p:stCondLst>
                                            <p:cond delay="1668"/>
                                          </p:stCondLst>
                                        </p:cTn>
                                        <p:tgtEl>
                                          <p:spTgt spid="23">
                                            <p:txEl>
                                              <p:pRg st="1" end="1"/>
                                            </p:txEl>
                                          </p:spTgt>
                                        </p:tgtEl>
                                      </p:cBhvr>
                                      <p:to x="100000" y="100000"/>
                                    </p:animScale>
                                    <p:animScale>
                                      <p:cBhvr>
                                        <p:cTn id="171" dur="26">
                                          <p:stCondLst>
                                            <p:cond delay="1808"/>
                                          </p:stCondLst>
                                        </p:cTn>
                                        <p:tgtEl>
                                          <p:spTgt spid="23">
                                            <p:txEl>
                                              <p:pRg st="1" end="1"/>
                                            </p:txEl>
                                          </p:spTgt>
                                        </p:tgtEl>
                                      </p:cBhvr>
                                      <p:to x="100000" y="95000"/>
                                    </p:animScale>
                                    <p:animScale>
                                      <p:cBhvr>
                                        <p:cTn id="172" dur="166" decel="50000">
                                          <p:stCondLst>
                                            <p:cond delay="1834"/>
                                          </p:stCondLst>
                                        </p:cTn>
                                        <p:tgtEl>
                                          <p:spTgt spid="23">
                                            <p:txEl>
                                              <p:pRg st="1" end="1"/>
                                            </p:txEl>
                                          </p:spTgt>
                                        </p:tgtEl>
                                      </p:cBhvr>
                                      <p:to x="100000" y="100000"/>
                                    </p:animScale>
                                  </p:childTnLst>
                                </p:cTn>
                              </p:par>
                              <p:par>
                                <p:cTn id="173" presetID="26" presetClass="entr" presetSubtype="0" fill="hold" nodeType="withEffect">
                                  <p:stCondLst>
                                    <p:cond delay="0"/>
                                  </p:stCondLst>
                                  <p:childTnLst>
                                    <p:set>
                                      <p:cBhvr>
                                        <p:cTn id="174" dur="1" fill="hold">
                                          <p:stCondLst>
                                            <p:cond delay="0"/>
                                          </p:stCondLst>
                                        </p:cTn>
                                        <p:tgtEl>
                                          <p:spTgt spid="23">
                                            <p:txEl>
                                              <p:pRg st="2" end="2"/>
                                            </p:txEl>
                                          </p:spTgt>
                                        </p:tgtEl>
                                        <p:attrNameLst>
                                          <p:attrName>style.visibility</p:attrName>
                                        </p:attrNameLst>
                                      </p:cBhvr>
                                      <p:to>
                                        <p:strVal val="visible"/>
                                      </p:to>
                                    </p:set>
                                    <p:animEffect transition="in" filter="wipe(down)">
                                      <p:cBhvr>
                                        <p:cTn id="175" dur="580">
                                          <p:stCondLst>
                                            <p:cond delay="0"/>
                                          </p:stCondLst>
                                        </p:cTn>
                                        <p:tgtEl>
                                          <p:spTgt spid="23">
                                            <p:txEl>
                                              <p:pRg st="2" end="2"/>
                                            </p:txEl>
                                          </p:spTgt>
                                        </p:tgtEl>
                                      </p:cBhvr>
                                    </p:animEffect>
                                    <p:anim calcmode="lin" valueType="num">
                                      <p:cBhvr>
                                        <p:cTn id="176" dur="1822" tmFilter="0,0; 0.14,0.36; 0.43,0.73; 0.71,0.91; 1.0,1.0">
                                          <p:stCondLst>
                                            <p:cond delay="0"/>
                                          </p:stCondLst>
                                        </p:cTn>
                                        <p:tgtEl>
                                          <p:spTgt spid="23">
                                            <p:txEl>
                                              <p:pRg st="2" end="2"/>
                                            </p:txEl>
                                          </p:spTgt>
                                        </p:tgtEl>
                                        <p:attrNameLst>
                                          <p:attrName>ppt_x</p:attrName>
                                        </p:attrNameLst>
                                      </p:cBhvr>
                                      <p:tavLst>
                                        <p:tav tm="0">
                                          <p:val>
                                            <p:strVal val="#ppt_x-0.25"/>
                                          </p:val>
                                        </p:tav>
                                        <p:tav tm="100000">
                                          <p:val>
                                            <p:strVal val="#ppt_x"/>
                                          </p:val>
                                        </p:tav>
                                      </p:tavLst>
                                    </p:anim>
                                    <p:anim calcmode="lin" valueType="num">
                                      <p:cBhvr>
                                        <p:cTn id="177" dur="664" tmFilter="0.0,0.0; 0.25,0.07; 0.50,0.2; 0.75,0.467; 1.0,1.0">
                                          <p:stCondLst>
                                            <p:cond delay="0"/>
                                          </p:stCondLst>
                                        </p:cTn>
                                        <p:tgtEl>
                                          <p:spTgt spid="23">
                                            <p:txEl>
                                              <p:pRg st="2" end="2"/>
                                            </p:txEl>
                                          </p:spTgt>
                                        </p:tgtEl>
                                        <p:attrNameLst>
                                          <p:attrName>ppt_y</p:attrName>
                                        </p:attrNameLst>
                                      </p:cBhvr>
                                      <p:tavLst>
                                        <p:tav tm="0" fmla="#ppt_y-sin(pi*$)/3">
                                          <p:val>
                                            <p:fltVal val="0.5"/>
                                          </p:val>
                                        </p:tav>
                                        <p:tav tm="100000">
                                          <p:val>
                                            <p:fltVal val="1"/>
                                          </p:val>
                                        </p:tav>
                                      </p:tavLst>
                                    </p:anim>
                                    <p:anim calcmode="lin" valueType="num">
                                      <p:cBhvr>
                                        <p:cTn id="178" dur="664" tmFilter="0, 0; 0.125,0.2665; 0.25,0.4; 0.375,0.465; 0.5,0.5;  0.625,0.535; 0.75,0.6; 0.875,0.7335; 1,1">
                                          <p:stCondLst>
                                            <p:cond delay="664"/>
                                          </p:stCondLst>
                                        </p:cTn>
                                        <p:tgtEl>
                                          <p:spTgt spid="23">
                                            <p:txEl>
                                              <p:pRg st="2" end="2"/>
                                            </p:txEl>
                                          </p:spTgt>
                                        </p:tgtEl>
                                        <p:attrNameLst>
                                          <p:attrName>ppt_y</p:attrName>
                                        </p:attrNameLst>
                                      </p:cBhvr>
                                      <p:tavLst>
                                        <p:tav tm="0" fmla="#ppt_y-sin(pi*$)/9">
                                          <p:val>
                                            <p:fltVal val="0"/>
                                          </p:val>
                                        </p:tav>
                                        <p:tav tm="100000">
                                          <p:val>
                                            <p:fltVal val="1"/>
                                          </p:val>
                                        </p:tav>
                                      </p:tavLst>
                                    </p:anim>
                                    <p:anim calcmode="lin" valueType="num">
                                      <p:cBhvr>
                                        <p:cTn id="179" dur="332" tmFilter="0, 0; 0.125,0.2665; 0.25,0.4; 0.375,0.465; 0.5,0.5;  0.625,0.535; 0.75,0.6; 0.875,0.7335; 1,1">
                                          <p:stCondLst>
                                            <p:cond delay="1324"/>
                                          </p:stCondLst>
                                        </p:cTn>
                                        <p:tgtEl>
                                          <p:spTgt spid="23">
                                            <p:txEl>
                                              <p:pRg st="2" end="2"/>
                                            </p:txEl>
                                          </p:spTgt>
                                        </p:tgtEl>
                                        <p:attrNameLst>
                                          <p:attrName>ppt_y</p:attrName>
                                        </p:attrNameLst>
                                      </p:cBhvr>
                                      <p:tavLst>
                                        <p:tav tm="0" fmla="#ppt_y-sin(pi*$)/27">
                                          <p:val>
                                            <p:fltVal val="0"/>
                                          </p:val>
                                        </p:tav>
                                        <p:tav tm="100000">
                                          <p:val>
                                            <p:fltVal val="1"/>
                                          </p:val>
                                        </p:tav>
                                      </p:tavLst>
                                    </p:anim>
                                    <p:anim calcmode="lin" valueType="num">
                                      <p:cBhvr>
                                        <p:cTn id="180" dur="164" tmFilter="0, 0; 0.125,0.2665; 0.25,0.4; 0.375,0.465; 0.5,0.5;  0.625,0.535; 0.75,0.6; 0.875,0.7335; 1,1">
                                          <p:stCondLst>
                                            <p:cond delay="1656"/>
                                          </p:stCondLst>
                                        </p:cTn>
                                        <p:tgtEl>
                                          <p:spTgt spid="23">
                                            <p:txEl>
                                              <p:pRg st="2" end="2"/>
                                            </p:txEl>
                                          </p:spTgt>
                                        </p:tgtEl>
                                        <p:attrNameLst>
                                          <p:attrName>ppt_y</p:attrName>
                                        </p:attrNameLst>
                                      </p:cBhvr>
                                      <p:tavLst>
                                        <p:tav tm="0" fmla="#ppt_y-sin(pi*$)/81">
                                          <p:val>
                                            <p:fltVal val="0"/>
                                          </p:val>
                                        </p:tav>
                                        <p:tav tm="100000">
                                          <p:val>
                                            <p:fltVal val="1"/>
                                          </p:val>
                                        </p:tav>
                                      </p:tavLst>
                                    </p:anim>
                                    <p:animScale>
                                      <p:cBhvr>
                                        <p:cTn id="181" dur="26">
                                          <p:stCondLst>
                                            <p:cond delay="650"/>
                                          </p:stCondLst>
                                        </p:cTn>
                                        <p:tgtEl>
                                          <p:spTgt spid="23">
                                            <p:txEl>
                                              <p:pRg st="2" end="2"/>
                                            </p:txEl>
                                          </p:spTgt>
                                        </p:tgtEl>
                                      </p:cBhvr>
                                      <p:to x="100000" y="60000"/>
                                    </p:animScale>
                                    <p:animScale>
                                      <p:cBhvr>
                                        <p:cTn id="182" dur="166" decel="50000">
                                          <p:stCondLst>
                                            <p:cond delay="676"/>
                                          </p:stCondLst>
                                        </p:cTn>
                                        <p:tgtEl>
                                          <p:spTgt spid="23">
                                            <p:txEl>
                                              <p:pRg st="2" end="2"/>
                                            </p:txEl>
                                          </p:spTgt>
                                        </p:tgtEl>
                                      </p:cBhvr>
                                      <p:to x="100000" y="100000"/>
                                    </p:animScale>
                                    <p:animScale>
                                      <p:cBhvr>
                                        <p:cTn id="183" dur="26">
                                          <p:stCondLst>
                                            <p:cond delay="1312"/>
                                          </p:stCondLst>
                                        </p:cTn>
                                        <p:tgtEl>
                                          <p:spTgt spid="23">
                                            <p:txEl>
                                              <p:pRg st="2" end="2"/>
                                            </p:txEl>
                                          </p:spTgt>
                                        </p:tgtEl>
                                      </p:cBhvr>
                                      <p:to x="100000" y="80000"/>
                                    </p:animScale>
                                    <p:animScale>
                                      <p:cBhvr>
                                        <p:cTn id="184" dur="166" decel="50000">
                                          <p:stCondLst>
                                            <p:cond delay="1338"/>
                                          </p:stCondLst>
                                        </p:cTn>
                                        <p:tgtEl>
                                          <p:spTgt spid="23">
                                            <p:txEl>
                                              <p:pRg st="2" end="2"/>
                                            </p:txEl>
                                          </p:spTgt>
                                        </p:tgtEl>
                                      </p:cBhvr>
                                      <p:to x="100000" y="100000"/>
                                    </p:animScale>
                                    <p:animScale>
                                      <p:cBhvr>
                                        <p:cTn id="185" dur="26">
                                          <p:stCondLst>
                                            <p:cond delay="1642"/>
                                          </p:stCondLst>
                                        </p:cTn>
                                        <p:tgtEl>
                                          <p:spTgt spid="23">
                                            <p:txEl>
                                              <p:pRg st="2" end="2"/>
                                            </p:txEl>
                                          </p:spTgt>
                                        </p:tgtEl>
                                      </p:cBhvr>
                                      <p:to x="100000" y="90000"/>
                                    </p:animScale>
                                    <p:animScale>
                                      <p:cBhvr>
                                        <p:cTn id="186" dur="166" decel="50000">
                                          <p:stCondLst>
                                            <p:cond delay="1668"/>
                                          </p:stCondLst>
                                        </p:cTn>
                                        <p:tgtEl>
                                          <p:spTgt spid="23">
                                            <p:txEl>
                                              <p:pRg st="2" end="2"/>
                                            </p:txEl>
                                          </p:spTgt>
                                        </p:tgtEl>
                                      </p:cBhvr>
                                      <p:to x="100000" y="100000"/>
                                    </p:animScale>
                                    <p:animScale>
                                      <p:cBhvr>
                                        <p:cTn id="187" dur="26">
                                          <p:stCondLst>
                                            <p:cond delay="1808"/>
                                          </p:stCondLst>
                                        </p:cTn>
                                        <p:tgtEl>
                                          <p:spTgt spid="23">
                                            <p:txEl>
                                              <p:pRg st="2" end="2"/>
                                            </p:txEl>
                                          </p:spTgt>
                                        </p:tgtEl>
                                      </p:cBhvr>
                                      <p:to x="100000" y="95000"/>
                                    </p:animScale>
                                    <p:animScale>
                                      <p:cBhvr>
                                        <p:cTn id="188" dur="166" decel="50000">
                                          <p:stCondLst>
                                            <p:cond delay="1834"/>
                                          </p:stCondLst>
                                        </p:cTn>
                                        <p:tgtEl>
                                          <p:spTgt spid="23">
                                            <p:txEl>
                                              <p:pRg st="2" end="2"/>
                                            </p:txEl>
                                          </p:spTgt>
                                        </p:tgtEl>
                                      </p:cBhvr>
                                      <p:to x="100000" y="100000"/>
                                    </p:animScale>
                                  </p:childTnLst>
                                </p:cTn>
                              </p:par>
                              <p:par>
                                <p:cTn id="189" presetID="26" presetClass="entr" presetSubtype="0" fill="hold" nodeType="withEffect">
                                  <p:stCondLst>
                                    <p:cond delay="0"/>
                                  </p:stCondLst>
                                  <p:childTnLst>
                                    <p:set>
                                      <p:cBhvr>
                                        <p:cTn id="190" dur="1" fill="hold">
                                          <p:stCondLst>
                                            <p:cond delay="0"/>
                                          </p:stCondLst>
                                        </p:cTn>
                                        <p:tgtEl>
                                          <p:spTgt spid="23">
                                            <p:txEl>
                                              <p:pRg st="3" end="3"/>
                                            </p:txEl>
                                          </p:spTgt>
                                        </p:tgtEl>
                                        <p:attrNameLst>
                                          <p:attrName>style.visibility</p:attrName>
                                        </p:attrNameLst>
                                      </p:cBhvr>
                                      <p:to>
                                        <p:strVal val="visible"/>
                                      </p:to>
                                    </p:set>
                                    <p:animEffect transition="in" filter="wipe(down)">
                                      <p:cBhvr>
                                        <p:cTn id="191" dur="580">
                                          <p:stCondLst>
                                            <p:cond delay="0"/>
                                          </p:stCondLst>
                                        </p:cTn>
                                        <p:tgtEl>
                                          <p:spTgt spid="23">
                                            <p:txEl>
                                              <p:pRg st="3" end="3"/>
                                            </p:txEl>
                                          </p:spTgt>
                                        </p:tgtEl>
                                      </p:cBhvr>
                                    </p:animEffect>
                                    <p:anim calcmode="lin" valueType="num">
                                      <p:cBhvr>
                                        <p:cTn id="192" dur="1822" tmFilter="0,0; 0.14,0.36; 0.43,0.73; 0.71,0.91; 1.0,1.0">
                                          <p:stCondLst>
                                            <p:cond delay="0"/>
                                          </p:stCondLst>
                                        </p:cTn>
                                        <p:tgtEl>
                                          <p:spTgt spid="23">
                                            <p:txEl>
                                              <p:pRg st="3" end="3"/>
                                            </p:txEl>
                                          </p:spTgt>
                                        </p:tgtEl>
                                        <p:attrNameLst>
                                          <p:attrName>ppt_x</p:attrName>
                                        </p:attrNameLst>
                                      </p:cBhvr>
                                      <p:tavLst>
                                        <p:tav tm="0">
                                          <p:val>
                                            <p:strVal val="#ppt_x-0.25"/>
                                          </p:val>
                                        </p:tav>
                                        <p:tav tm="100000">
                                          <p:val>
                                            <p:strVal val="#ppt_x"/>
                                          </p:val>
                                        </p:tav>
                                      </p:tavLst>
                                    </p:anim>
                                    <p:anim calcmode="lin" valueType="num">
                                      <p:cBhvr>
                                        <p:cTn id="193" dur="664" tmFilter="0.0,0.0; 0.25,0.07; 0.50,0.2; 0.75,0.467; 1.0,1.0">
                                          <p:stCondLst>
                                            <p:cond delay="0"/>
                                          </p:stCondLst>
                                        </p:cTn>
                                        <p:tgtEl>
                                          <p:spTgt spid="23">
                                            <p:txEl>
                                              <p:pRg st="3" end="3"/>
                                            </p:txEl>
                                          </p:spTgt>
                                        </p:tgtEl>
                                        <p:attrNameLst>
                                          <p:attrName>ppt_y</p:attrName>
                                        </p:attrNameLst>
                                      </p:cBhvr>
                                      <p:tavLst>
                                        <p:tav tm="0" fmla="#ppt_y-sin(pi*$)/3">
                                          <p:val>
                                            <p:fltVal val="0.5"/>
                                          </p:val>
                                        </p:tav>
                                        <p:tav tm="100000">
                                          <p:val>
                                            <p:fltVal val="1"/>
                                          </p:val>
                                        </p:tav>
                                      </p:tavLst>
                                    </p:anim>
                                    <p:anim calcmode="lin" valueType="num">
                                      <p:cBhvr>
                                        <p:cTn id="194" dur="664" tmFilter="0, 0; 0.125,0.2665; 0.25,0.4; 0.375,0.465; 0.5,0.5;  0.625,0.535; 0.75,0.6; 0.875,0.7335; 1,1">
                                          <p:stCondLst>
                                            <p:cond delay="664"/>
                                          </p:stCondLst>
                                        </p:cTn>
                                        <p:tgtEl>
                                          <p:spTgt spid="23">
                                            <p:txEl>
                                              <p:pRg st="3" end="3"/>
                                            </p:txEl>
                                          </p:spTgt>
                                        </p:tgtEl>
                                        <p:attrNameLst>
                                          <p:attrName>ppt_y</p:attrName>
                                        </p:attrNameLst>
                                      </p:cBhvr>
                                      <p:tavLst>
                                        <p:tav tm="0" fmla="#ppt_y-sin(pi*$)/9">
                                          <p:val>
                                            <p:fltVal val="0"/>
                                          </p:val>
                                        </p:tav>
                                        <p:tav tm="100000">
                                          <p:val>
                                            <p:fltVal val="1"/>
                                          </p:val>
                                        </p:tav>
                                      </p:tavLst>
                                    </p:anim>
                                    <p:anim calcmode="lin" valueType="num">
                                      <p:cBhvr>
                                        <p:cTn id="195" dur="332" tmFilter="0, 0; 0.125,0.2665; 0.25,0.4; 0.375,0.465; 0.5,0.5;  0.625,0.535; 0.75,0.6; 0.875,0.7335; 1,1">
                                          <p:stCondLst>
                                            <p:cond delay="1324"/>
                                          </p:stCondLst>
                                        </p:cTn>
                                        <p:tgtEl>
                                          <p:spTgt spid="23">
                                            <p:txEl>
                                              <p:pRg st="3" end="3"/>
                                            </p:txEl>
                                          </p:spTgt>
                                        </p:tgtEl>
                                        <p:attrNameLst>
                                          <p:attrName>ppt_y</p:attrName>
                                        </p:attrNameLst>
                                      </p:cBhvr>
                                      <p:tavLst>
                                        <p:tav tm="0" fmla="#ppt_y-sin(pi*$)/27">
                                          <p:val>
                                            <p:fltVal val="0"/>
                                          </p:val>
                                        </p:tav>
                                        <p:tav tm="100000">
                                          <p:val>
                                            <p:fltVal val="1"/>
                                          </p:val>
                                        </p:tav>
                                      </p:tavLst>
                                    </p:anim>
                                    <p:anim calcmode="lin" valueType="num">
                                      <p:cBhvr>
                                        <p:cTn id="196" dur="164" tmFilter="0, 0; 0.125,0.2665; 0.25,0.4; 0.375,0.465; 0.5,0.5;  0.625,0.535; 0.75,0.6; 0.875,0.7335; 1,1">
                                          <p:stCondLst>
                                            <p:cond delay="1656"/>
                                          </p:stCondLst>
                                        </p:cTn>
                                        <p:tgtEl>
                                          <p:spTgt spid="23">
                                            <p:txEl>
                                              <p:pRg st="3" end="3"/>
                                            </p:txEl>
                                          </p:spTgt>
                                        </p:tgtEl>
                                        <p:attrNameLst>
                                          <p:attrName>ppt_y</p:attrName>
                                        </p:attrNameLst>
                                      </p:cBhvr>
                                      <p:tavLst>
                                        <p:tav tm="0" fmla="#ppt_y-sin(pi*$)/81">
                                          <p:val>
                                            <p:fltVal val="0"/>
                                          </p:val>
                                        </p:tav>
                                        <p:tav tm="100000">
                                          <p:val>
                                            <p:fltVal val="1"/>
                                          </p:val>
                                        </p:tav>
                                      </p:tavLst>
                                    </p:anim>
                                    <p:animScale>
                                      <p:cBhvr>
                                        <p:cTn id="197" dur="26">
                                          <p:stCondLst>
                                            <p:cond delay="650"/>
                                          </p:stCondLst>
                                        </p:cTn>
                                        <p:tgtEl>
                                          <p:spTgt spid="23">
                                            <p:txEl>
                                              <p:pRg st="3" end="3"/>
                                            </p:txEl>
                                          </p:spTgt>
                                        </p:tgtEl>
                                      </p:cBhvr>
                                      <p:to x="100000" y="60000"/>
                                    </p:animScale>
                                    <p:animScale>
                                      <p:cBhvr>
                                        <p:cTn id="198" dur="166" decel="50000">
                                          <p:stCondLst>
                                            <p:cond delay="676"/>
                                          </p:stCondLst>
                                        </p:cTn>
                                        <p:tgtEl>
                                          <p:spTgt spid="23">
                                            <p:txEl>
                                              <p:pRg st="3" end="3"/>
                                            </p:txEl>
                                          </p:spTgt>
                                        </p:tgtEl>
                                      </p:cBhvr>
                                      <p:to x="100000" y="100000"/>
                                    </p:animScale>
                                    <p:animScale>
                                      <p:cBhvr>
                                        <p:cTn id="199" dur="26">
                                          <p:stCondLst>
                                            <p:cond delay="1312"/>
                                          </p:stCondLst>
                                        </p:cTn>
                                        <p:tgtEl>
                                          <p:spTgt spid="23">
                                            <p:txEl>
                                              <p:pRg st="3" end="3"/>
                                            </p:txEl>
                                          </p:spTgt>
                                        </p:tgtEl>
                                      </p:cBhvr>
                                      <p:to x="100000" y="80000"/>
                                    </p:animScale>
                                    <p:animScale>
                                      <p:cBhvr>
                                        <p:cTn id="200" dur="166" decel="50000">
                                          <p:stCondLst>
                                            <p:cond delay="1338"/>
                                          </p:stCondLst>
                                        </p:cTn>
                                        <p:tgtEl>
                                          <p:spTgt spid="23">
                                            <p:txEl>
                                              <p:pRg st="3" end="3"/>
                                            </p:txEl>
                                          </p:spTgt>
                                        </p:tgtEl>
                                      </p:cBhvr>
                                      <p:to x="100000" y="100000"/>
                                    </p:animScale>
                                    <p:animScale>
                                      <p:cBhvr>
                                        <p:cTn id="201" dur="26">
                                          <p:stCondLst>
                                            <p:cond delay="1642"/>
                                          </p:stCondLst>
                                        </p:cTn>
                                        <p:tgtEl>
                                          <p:spTgt spid="23">
                                            <p:txEl>
                                              <p:pRg st="3" end="3"/>
                                            </p:txEl>
                                          </p:spTgt>
                                        </p:tgtEl>
                                      </p:cBhvr>
                                      <p:to x="100000" y="90000"/>
                                    </p:animScale>
                                    <p:animScale>
                                      <p:cBhvr>
                                        <p:cTn id="202" dur="166" decel="50000">
                                          <p:stCondLst>
                                            <p:cond delay="1668"/>
                                          </p:stCondLst>
                                        </p:cTn>
                                        <p:tgtEl>
                                          <p:spTgt spid="23">
                                            <p:txEl>
                                              <p:pRg st="3" end="3"/>
                                            </p:txEl>
                                          </p:spTgt>
                                        </p:tgtEl>
                                      </p:cBhvr>
                                      <p:to x="100000" y="100000"/>
                                    </p:animScale>
                                    <p:animScale>
                                      <p:cBhvr>
                                        <p:cTn id="203" dur="26">
                                          <p:stCondLst>
                                            <p:cond delay="1808"/>
                                          </p:stCondLst>
                                        </p:cTn>
                                        <p:tgtEl>
                                          <p:spTgt spid="23">
                                            <p:txEl>
                                              <p:pRg st="3" end="3"/>
                                            </p:txEl>
                                          </p:spTgt>
                                        </p:tgtEl>
                                      </p:cBhvr>
                                      <p:to x="100000" y="95000"/>
                                    </p:animScale>
                                    <p:animScale>
                                      <p:cBhvr>
                                        <p:cTn id="204" dur="166" decel="50000">
                                          <p:stCondLst>
                                            <p:cond delay="1834"/>
                                          </p:stCondLst>
                                        </p:cTn>
                                        <p:tgtEl>
                                          <p:spTgt spid="23">
                                            <p:txEl>
                                              <p:pRg st="3" end="3"/>
                                            </p:txEl>
                                          </p:spTgt>
                                        </p:tgtEl>
                                      </p:cBhvr>
                                      <p:to x="100000" y="100000"/>
                                    </p:animScale>
                                  </p:childTnLst>
                                </p:cTn>
                              </p:par>
                              <p:par>
                                <p:cTn id="205" presetID="26" presetClass="entr" presetSubtype="0" fill="hold" nodeType="withEffect">
                                  <p:stCondLst>
                                    <p:cond delay="0"/>
                                  </p:stCondLst>
                                  <p:childTnLst>
                                    <p:set>
                                      <p:cBhvr>
                                        <p:cTn id="206" dur="1" fill="hold">
                                          <p:stCondLst>
                                            <p:cond delay="0"/>
                                          </p:stCondLst>
                                        </p:cTn>
                                        <p:tgtEl>
                                          <p:spTgt spid="23">
                                            <p:txEl>
                                              <p:pRg st="4" end="4"/>
                                            </p:txEl>
                                          </p:spTgt>
                                        </p:tgtEl>
                                        <p:attrNameLst>
                                          <p:attrName>style.visibility</p:attrName>
                                        </p:attrNameLst>
                                      </p:cBhvr>
                                      <p:to>
                                        <p:strVal val="visible"/>
                                      </p:to>
                                    </p:set>
                                    <p:animEffect transition="in" filter="wipe(down)">
                                      <p:cBhvr>
                                        <p:cTn id="207" dur="580">
                                          <p:stCondLst>
                                            <p:cond delay="0"/>
                                          </p:stCondLst>
                                        </p:cTn>
                                        <p:tgtEl>
                                          <p:spTgt spid="23">
                                            <p:txEl>
                                              <p:pRg st="4" end="4"/>
                                            </p:txEl>
                                          </p:spTgt>
                                        </p:tgtEl>
                                      </p:cBhvr>
                                    </p:animEffect>
                                    <p:anim calcmode="lin" valueType="num">
                                      <p:cBhvr>
                                        <p:cTn id="208" dur="1822" tmFilter="0,0; 0.14,0.36; 0.43,0.73; 0.71,0.91; 1.0,1.0">
                                          <p:stCondLst>
                                            <p:cond delay="0"/>
                                          </p:stCondLst>
                                        </p:cTn>
                                        <p:tgtEl>
                                          <p:spTgt spid="23">
                                            <p:txEl>
                                              <p:pRg st="4" end="4"/>
                                            </p:txEl>
                                          </p:spTgt>
                                        </p:tgtEl>
                                        <p:attrNameLst>
                                          <p:attrName>ppt_x</p:attrName>
                                        </p:attrNameLst>
                                      </p:cBhvr>
                                      <p:tavLst>
                                        <p:tav tm="0">
                                          <p:val>
                                            <p:strVal val="#ppt_x-0.25"/>
                                          </p:val>
                                        </p:tav>
                                        <p:tav tm="100000">
                                          <p:val>
                                            <p:strVal val="#ppt_x"/>
                                          </p:val>
                                        </p:tav>
                                      </p:tavLst>
                                    </p:anim>
                                    <p:anim calcmode="lin" valueType="num">
                                      <p:cBhvr>
                                        <p:cTn id="209" dur="664" tmFilter="0.0,0.0; 0.25,0.07; 0.50,0.2; 0.75,0.467; 1.0,1.0">
                                          <p:stCondLst>
                                            <p:cond delay="0"/>
                                          </p:stCondLst>
                                        </p:cTn>
                                        <p:tgtEl>
                                          <p:spTgt spid="23">
                                            <p:txEl>
                                              <p:pRg st="4" end="4"/>
                                            </p:txEl>
                                          </p:spTgt>
                                        </p:tgtEl>
                                        <p:attrNameLst>
                                          <p:attrName>ppt_y</p:attrName>
                                        </p:attrNameLst>
                                      </p:cBhvr>
                                      <p:tavLst>
                                        <p:tav tm="0" fmla="#ppt_y-sin(pi*$)/3">
                                          <p:val>
                                            <p:fltVal val="0.5"/>
                                          </p:val>
                                        </p:tav>
                                        <p:tav tm="100000">
                                          <p:val>
                                            <p:fltVal val="1"/>
                                          </p:val>
                                        </p:tav>
                                      </p:tavLst>
                                    </p:anim>
                                    <p:anim calcmode="lin" valueType="num">
                                      <p:cBhvr>
                                        <p:cTn id="210" dur="664" tmFilter="0, 0; 0.125,0.2665; 0.25,0.4; 0.375,0.465; 0.5,0.5;  0.625,0.535; 0.75,0.6; 0.875,0.7335; 1,1">
                                          <p:stCondLst>
                                            <p:cond delay="664"/>
                                          </p:stCondLst>
                                        </p:cTn>
                                        <p:tgtEl>
                                          <p:spTgt spid="23">
                                            <p:txEl>
                                              <p:pRg st="4" end="4"/>
                                            </p:txEl>
                                          </p:spTgt>
                                        </p:tgtEl>
                                        <p:attrNameLst>
                                          <p:attrName>ppt_y</p:attrName>
                                        </p:attrNameLst>
                                      </p:cBhvr>
                                      <p:tavLst>
                                        <p:tav tm="0" fmla="#ppt_y-sin(pi*$)/9">
                                          <p:val>
                                            <p:fltVal val="0"/>
                                          </p:val>
                                        </p:tav>
                                        <p:tav tm="100000">
                                          <p:val>
                                            <p:fltVal val="1"/>
                                          </p:val>
                                        </p:tav>
                                      </p:tavLst>
                                    </p:anim>
                                    <p:anim calcmode="lin" valueType="num">
                                      <p:cBhvr>
                                        <p:cTn id="211" dur="332" tmFilter="0, 0; 0.125,0.2665; 0.25,0.4; 0.375,0.465; 0.5,0.5;  0.625,0.535; 0.75,0.6; 0.875,0.7335; 1,1">
                                          <p:stCondLst>
                                            <p:cond delay="1324"/>
                                          </p:stCondLst>
                                        </p:cTn>
                                        <p:tgtEl>
                                          <p:spTgt spid="23">
                                            <p:txEl>
                                              <p:pRg st="4" end="4"/>
                                            </p:txEl>
                                          </p:spTgt>
                                        </p:tgtEl>
                                        <p:attrNameLst>
                                          <p:attrName>ppt_y</p:attrName>
                                        </p:attrNameLst>
                                      </p:cBhvr>
                                      <p:tavLst>
                                        <p:tav tm="0" fmla="#ppt_y-sin(pi*$)/27">
                                          <p:val>
                                            <p:fltVal val="0"/>
                                          </p:val>
                                        </p:tav>
                                        <p:tav tm="100000">
                                          <p:val>
                                            <p:fltVal val="1"/>
                                          </p:val>
                                        </p:tav>
                                      </p:tavLst>
                                    </p:anim>
                                    <p:anim calcmode="lin" valueType="num">
                                      <p:cBhvr>
                                        <p:cTn id="212" dur="164" tmFilter="0, 0; 0.125,0.2665; 0.25,0.4; 0.375,0.465; 0.5,0.5;  0.625,0.535; 0.75,0.6; 0.875,0.7335; 1,1">
                                          <p:stCondLst>
                                            <p:cond delay="1656"/>
                                          </p:stCondLst>
                                        </p:cTn>
                                        <p:tgtEl>
                                          <p:spTgt spid="23">
                                            <p:txEl>
                                              <p:pRg st="4" end="4"/>
                                            </p:txEl>
                                          </p:spTgt>
                                        </p:tgtEl>
                                        <p:attrNameLst>
                                          <p:attrName>ppt_y</p:attrName>
                                        </p:attrNameLst>
                                      </p:cBhvr>
                                      <p:tavLst>
                                        <p:tav tm="0" fmla="#ppt_y-sin(pi*$)/81">
                                          <p:val>
                                            <p:fltVal val="0"/>
                                          </p:val>
                                        </p:tav>
                                        <p:tav tm="100000">
                                          <p:val>
                                            <p:fltVal val="1"/>
                                          </p:val>
                                        </p:tav>
                                      </p:tavLst>
                                    </p:anim>
                                    <p:animScale>
                                      <p:cBhvr>
                                        <p:cTn id="213" dur="26">
                                          <p:stCondLst>
                                            <p:cond delay="650"/>
                                          </p:stCondLst>
                                        </p:cTn>
                                        <p:tgtEl>
                                          <p:spTgt spid="23">
                                            <p:txEl>
                                              <p:pRg st="4" end="4"/>
                                            </p:txEl>
                                          </p:spTgt>
                                        </p:tgtEl>
                                      </p:cBhvr>
                                      <p:to x="100000" y="60000"/>
                                    </p:animScale>
                                    <p:animScale>
                                      <p:cBhvr>
                                        <p:cTn id="214" dur="166" decel="50000">
                                          <p:stCondLst>
                                            <p:cond delay="676"/>
                                          </p:stCondLst>
                                        </p:cTn>
                                        <p:tgtEl>
                                          <p:spTgt spid="23">
                                            <p:txEl>
                                              <p:pRg st="4" end="4"/>
                                            </p:txEl>
                                          </p:spTgt>
                                        </p:tgtEl>
                                      </p:cBhvr>
                                      <p:to x="100000" y="100000"/>
                                    </p:animScale>
                                    <p:animScale>
                                      <p:cBhvr>
                                        <p:cTn id="215" dur="26">
                                          <p:stCondLst>
                                            <p:cond delay="1312"/>
                                          </p:stCondLst>
                                        </p:cTn>
                                        <p:tgtEl>
                                          <p:spTgt spid="23">
                                            <p:txEl>
                                              <p:pRg st="4" end="4"/>
                                            </p:txEl>
                                          </p:spTgt>
                                        </p:tgtEl>
                                      </p:cBhvr>
                                      <p:to x="100000" y="80000"/>
                                    </p:animScale>
                                    <p:animScale>
                                      <p:cBhvr>
                                        <p:cTn id="216" dur="166" decel="50000">
                                          <p:stCondLst>
                                            <p:cond delay="1338"/>
                                          </p:stCondLst>
                                        </p:cTn>
                                        <p:tgtEl>
                                          <p:spTgt spid="23">
                                            <p:txEl>
                                              <p:pRg st="4" end="4"/>
                                            </p:txEl>
                                          </p:spTgt>
                                        </p:tgtEl>
                                      </p:cBhvr>
                                      <p:to x="100000" y="100000"/>
                                    </p:animScale>
                                    <p:animScale>
                                      <p:cBhvr>
                                        <p:cTn id="217" dur="26">
                                          <p:stCondLst>
                                            <p:cond delay="1642"/>
                                          </p:stCondLst>
                                        </p:cTn>
                                        <p:tgtEl>
                                          <p:spTgt spid="23">
                                            <p:txEl>
                                              <p:pRg st="4" end="4"/>
                                            </p:txEl>
                                          </p:spTgt>
                                        </p:tgtEl>
                                      </p:cBhvr>
                                      <p:to x="100000" y="90000"/>
                                    </p:animScale>
                                    <p:animScale>
                                      <p:cBhvr>
                                        <p:cTn id="218" dur="166" decel="50000">
                                          <p:stCondLst>
                                            <p:cond delay="1668"/>
                                          </p:stCondLst>
                                        </p:cTn>
                                        <p:tgtEl>
                                          <p:spTgt spid="23">
                                            <p:txEl>
                                              <p:pRg st="4" end="4"/>
                                            </p:txEl>
                                          </p:spTgt>
                                        </p:tgtEl>
                                      </p:cBhvr>
                                      <p:to x="100000" y="100000"/>
                                    </p:animScale>
                                    <p:animScale>
                                      <p:cBhvr>
                                        <p:cTn id="219" dur="26">
                                          <p:stCondLst>
                                            <p:cond delay="1808"/>
                                          </p:stCondLst>
                                        </p:cTn>
                                        <p:tgtEl>
                                          <p:spTgt spid="23">
                                            <p:txEl>
                                              <p:pRg st="4" end="4"/>
                                            </p:txEl>
                                          </p:spTgt>
                                        </p:tgtEl>
                                      </p:cBhvr>
                                      <p:to x="100000" y="95000"/>
                                    </p:animScale>
                                    <p:animScale>
                                      <p:cBhvr>
                                        <p:cTn id="220" dur="166" decel="50000">
                                          <p:stCondLst>
                                            <p:cond delay="1834"/>
                                          </p:stCondLst>
                                        </p:cTn>
                                        <p:tgtEl>
                                          <p:spTgt spid="23">
                                            <p:txEl>
                                              <p:pRg st="4" end="4"/>
                                            </p:txEl>
                                          </p:spTgt>
                                        </p:tgtEl>
                                      </p:cBhvr>
                                      <p:to x="100000" y="100000"/>
                                    </p:animScale>
                                  </p:childTnLst>
                                </p:cTn>
                              </p:par>
                              <p:par>
                                <p:cTn id="221" presetID="26" presetClass="entr" presetSubtype="0" fill="hold" nodeType="withEffect">
                                  <p:stCondLst>
                                    <p:cond delay="0"/>
                                  </p:stCondLst>
                                  <p:childTnLst>
                                    <p:set>
                                      <p:cBhvr>
                                        <p:cTn id="222" dur="1" fill="hold">
                                          <p:stCondLst>
                                            <p:cond delay="0"/>
                                          </p:stCondLst>
                                        </p:cTn>
                                        <p:tgtEl>
                                          <p:spTgt spid="23">
                                            <p:txEl>
                                              <p:pRg st="5" end="5"/>
                                            </p:txEl>
                                          </p:spTgt>
                                        </p:tgtEl>
                                        <p:attrNameLst>
                                          <p:attrName>style.visibility</p:attrName>
                                        </p:attrNameLst>
                                      </p:cBhvr>
                                      <p:to>
                                        <p:strVal val="visible"/>
                                      </p:to>
                                    </p:set>
                                    <p:animEffect transition="in" filter="wipe(down)">
                                      <p:cBhvr>
                                        <p:cTn id="223" dur="580">
                                          <p:stCondLst>
                                            <p:cond delay="0"/>
                                          </p:stCondLst>
                                        </p:cTn>
                                        <p:tgtEl>
                                          <p:spTgt spid="23">
                                            <p:txEl>
                                              <p:pRg st="5" end="5"/>
                                            </p:txEl>
                                          </p:spTgt>
                                        </p:tgtEl>
                                      </p:cBhvr>
                                    </p:animEffect>
                                    <p:anim calcmode="lin" valueType="num">
                                      <p:cBhvr>
                                        <p:cTn id="224" dur="1822" tmFilter="0,0; 0.14,0.36; 0.43,0.73; 0.71,0.91; 1.0,1.0">
                                          <p:stCondLst>
                                            <p:cond delay="0"/>
                                          </p:stCondLst>
                                        </p:cTn>
                                        <p:tgtEl>
                                          <p:spTgt spid="23">
                                            <p:txEl>
                                              <p:pRg st="5" end="5"/>
                                            </p:txEl>
                                          </p:spTgt>
                                        </p:tgtEl>
                                        <p:attrNameLst>
                                          <p:attrName>ppt_x</p:attrName>
                                        </p:attrNameLst>
                                      </p:cBhvr>
                                      <p:tavLst>
                                        <p:tav tm="0">
                                          <p:val>
                                            <p:strVal val="#ppt_x-0.25"/>
                                          </p:val>
                                        </p:tav>
                                        <p:tav tm="100000">
                                          <p:val>
                                            <p:strVal val="#ppt_x"/>
                                          </p:val>
                                        </p:tav>
                                      </p:tavLst>
                                    </p:anim>
                                    <p:anim calcmode="lin" valueType="num">
                                      <p:cBhvr>
                                        <p:cTn id="225" dur="664" tmFilter="0.0,0.0; 0.25,0.07; 0.50,0.2; 0.75,0.467; 1.0,1.0">
                                          <p:stCondLst>
                                            <p:cond delay="0"/>
                                          </p:stCondLst>
                                        </p:cTn>
                                        <p:tgtEl>
                                          <p:spTgt spid="23">
                                            <p:txEl>
                                              <p:pRg st="5" end="5"/>
                                            </p:txEl>
                                          </p:spTgt>
                                        </p:tgtEl>
                                        <p:attrNameLst>
                                          <p:attrName>ppt_y</p:attrName>
                                        </p:attrNameLst>
                                      </p:cBhvr>
                                      <p:tavLst>
                                        <p:tav tm="0" fmla="#ppt_y-sin(pi*$)/3">
                                          <p:val>
                                            <p:fltVal val="0.5"/>
                                          </p:val>
                                        </p:tav>
                                        <p:tav tm="100000">
                                          <p:val>
                                            <p:fltVal val="1"/>
                                          </p:val>
                                        </p:tav>
                                      </p:tavLst>
                                    </p:anim>
                                    <p:anim calcmode="lin" valueType="num">
                                      <p:cBhvr>
                                        <p:cTn id="226" dur="664" tmFilter="0, 0; 0.125,0.2665; 0.25,0.4; 0.375,0.465; 0.5,0.5;  0.625,0.535; 0.75,0.6; 0.875,0.7335; 1,1">
                                          <p:stCondLst>
                                            <p:cond delay="664"/>
                                          </p:stCondLst>
                                        </p:cTn>
                                        <p:tgtEl>
                                          <p:spTgt spid="23">
                                            <p:txEl>
                                              <p:pRg st="5" end="5"/>
                                            </p:txEl>
                                          </p:spTgt>
                                        </p:tgtEl>
                                        <p:attrNameLst>
                                          <p:attrName>ppt_y</p:attrName>
                                        </p:attrNameLst>
                                      </p:cBhvr>
                                      <p:tavLst>
                                        <p:tav tm="0" fmla="#ppt_y-sin(pi*$)/9">
                                          <p:val>
                                            <p:fltVal val="0"/>
                                          </p:val>
                                        </p:tav>
                                        <p:tav tm="100000">
                                          <p:val>
                                            <p:fltVal val="1"/>
                                          </p:val>
                                        </p:tav>
                                      </p:tavLst>
                                    </p:anim>
                                    <p:anim calcmode="lin" valueType="num">
                                      <p:cBhvr>
                                        <p:cTn id="227" dur="332" tmFilter="0, 0; 0.125,0.2665; 0.25,0.4; 0.375,0.465; 0.5,0.5;  0.625,0.535; 0.75,0.6; 0.875,0.7335; 1,1">
                                          <p:stCondLst>
                                            <p:cond delay="1324"/>
                                          </p:stCondLst>
                                        </p:cTn>
                                        <p:tgtEl>
                                          <p:spTgt spid="23">
                                            <p:txEl>
                                              <p:pRg st="5" end="5"/>
                                            </p:txEl>
                                          </p:spTgt>
                                        </p:tgtEl>
                                        <p:attrNameLst>
                                          <p:attrName>ppt_y</p:attrName>
                                        </p:attrNameLst>
                                      </p:cBhvr>
                                      <p:tavLst>
                                        <p:tav tm="0" fmla="#ppt_y-sin(pi*$)/27">
                                          <p:val>
                                            <p:fltVal val="0"/>
                                          </p:val>
                                        </p:tav>
                                        <p:tav tm="100000">
                                          <p:val>
                                            <p:fltVal val="1"/>
                                          </p:val>
                                        </p:tav>
                                      </p:tavLst>
                                    </p:anim>
                                    <p:anim calcmode="lin" valueType="num">
                                      <p:cBhvr>
                                        <p:cTn id="228" dur="164" tmFilter="0, 0; 0.125,0.2665; 0.25,0.4; 0.375,0.465; 0.5,0.5;  0.625,0.535; 0.75,0.6; 0.875,0.7335; 1,1">
                                          <p:stCondLst>
                                            <p:cond delay="1656"/>
                                          </p:stCondLst>
                                        </p:cTn>
                                        <p:tgtEl>
                                          <p:spTgt spid="23">
                                            <p:txEl>
                                              <p:pRg st="5" end="5"/>
                                            </p:txEl>
                                          </p:spTgt>
                                        </p:tgtEl>
                                        <p:attrNameLst>
                                          <p:attrName>ppt_y</p:attrName>
                                        </p:attrNameLst>
                                      </p:cBhvr>
                                      <p:tavLst>
                                        <p:tav tm="0" fmla="#ppt_y-sin(pi*$)/81">
                                          <p:val>
                                            <p:fltVal val="0"/>
                                          </p:val>
                                        </p:tav>
                                        <p:tav tm="100000">
                                          <p:val>
                                            <p:fltVal val="1"/>
                                          </p:val>
                                        </p:tav>
                                      </p:tavLst>
                                    </p:anim>
                                    <p:animScale>
                                      <p:cBhvr>
                                        <p:cTn id="229" dur="26">
                                          <p:stCondLst>
                                            <p:cond delay="650"/>
                                          </p:stCondLst>
                                        </p:cTn>
                                        <p:tgtEl>
                                          <p:spTgt spid="23">
                                            <p:txEl>
                                              <p:pRg st="5" end="5"/>
                                            </p:txEl>
                                          </p:spTgt>
                                        </p:tgtEl>
                                      </p:cBhvr>
                                      <p:to x="100000" y="60000"/>
                                    </p:animScale>
                                    <p:animScale>
                                      <p:cBhvr>
                                        <p:cTn id="230" dur="166" decel="50000">
                                          <p:stCondLst>
                                            <p:cond delay="676"/>
                                          </p:stCondLst>
                                        </p:cTn>
                                        <p:tgtEl>
                                          <p:spTgt spid="23">
                                            <p:txEl>
                                              <p:pRg st="5" end="5"/>
                                            </p:txEl>
                                          </p:spTgt>
                                        </p:tgtEl>
                                      </p:cBhvr>
                                      <p:to x="100000" y="100000"/>
                                    </p:animScale>
                                    <p:animScale>
                                      <p:cBhvr>
                                        <p:cTn id="231" dur="26">
                                          <p:stCondLst>
                                            <p:cond delay="1312"/>
                                          </p:stCondLst>
                                        </p:cTn>
                                        <p:tgtEl>
                                          <p:spTgt spid="23">
                                            <p:txEl>
                                              <p:pRg st="5" end="5"/>
                                            </p:txEl>
                                          </p:spTgt>
                                        </p:tgtEl>
                                      </p:cBhvr>
                                      <p:to x="100000" y="80000"/>
                                    </p:animScale>
                                    <p:animScale>
                                      <p:cBhvr>
                                        <p:cTn id="232" dur="166" decel="50000">
                                          <p:stCondLst>
                                            <p:cond delay="1338"/>
                                          </p:stCondLst>
                                        </p:cTn>
                                        <p:tgtEl>
                                          <p:spTgt spid="23">
                                            <p:txEl>
                                              <p:pRg st="5" end="5"/>
                                            </p:txEl>
                                          </p:spTgt>
                                        </p:tgtEl>
                                      </p:cBhvr>
                                      <p:to x="100000" y="100000"/>
                                    </p:animScale>
                                    <p:animScale>
                                      <p:cBhvr>
                                        <p:cTn id="233" dur="26">
                                          <p:stCondLst>
                                            <p:cond delay="1642"/>
                                          </p:stCondLst>
                                        </p:cTn>
                                        <p:tgtEl>
                                          <p:spTgt spid="23">
                                            <p:txEl>
                                              <p:pRg st="5" end="5"/>
                                            </p:txEl>
                                          </p:spTgt>
                                        </p:tgtEl>
                                      </p:cBhvr>
                                      <p:to x="100000" y="90000"/>
                                    </p:animScale>
                                    <p:animScale>
                                      <p:cBhvr>
                                        <p:cTn id="234" dur="166" decel="50000">
                                          <p:stCondLst>
                                            <p:cond delay="1668"/>
                                          </p:stCondLst>
                                        </p:cTn>
                                        <p:tgtEl>
                                          <p:spTgt spid="23">
                                            <p:txEl>
                                              <p:pRg st="5" end="5"/>
                                            </p:txEl>
                                          </p:spTgt>
                                        </p:tgtEl>
                                      </p:cBhvr>
                                      <p:to x="100000" y="100000"/>
                                    </p:animScale>
                                    <p:animScale>
                                      <p:cBhvr>
                                        <p:cTn id="235" dur="26">
                                          <p:stCondLst>
                                            <p:cond delay="1808"/>
                                          </p:stCondLst>
                                        </p:cTn>
                                        <p:tgtEl>
                                          <p:spTgt spid="23">
                                            <p:txEl>
                                              <p:pRg st="5" end="5"/>
                                            </p:txEl>
                                          </p:spTgt>
                                        </p:tgtEl>
                                      </p:cBhvr>
                                      <p:to x="100000" y="95000"/>
                                    </p:animScale>
                                    <p:animScale>
                                      <p:cBhvr>
                                        <p:cTn id="236" dur="166" decel="50000">
                                          <p:stCondLst>
                                            <p:cond delay="1834"/>
                                          </p:stCondLst>
                                        </p:cTn>
                                        <p:tgtEl>
                                          <p:spTgt spid="2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17</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All 8 roots of T8 — computed vs exact</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60120" y="1691640"/>
          <a:ext cx="10698480" cy="3291840"/>
        </p:xfrm>
        <a:graphic>
          <a:graphicData uri="http://schemas.openxmlformats.org/drawingml/2006/table">
            <a:tbl>
              <a:tblPr/>
              <a:tblGrid>
                <a:gridCol w="868680"/>
                <a:gridCol w="3657600"/>
                <a:gridCol w="4069080"/>
                <a:gridCol w="2103120"/>
              </a:tblGrid>
              <a:tr h="365760">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k</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computed root</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exact cos((2k−1)π/16)</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error</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+0.9807852804032311</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+0.9807852804032304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+6.7e−16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+0.8314696123025445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+0.8314696123025452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−7.8e−16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+0.5555702330196024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+0.5555702330196022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+2.2e−16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+0.1950903220161282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+0.1950903220161283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−2.8e−17</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−0.1950903220161282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−0.1950903220161283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+5.6e−17</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−0.5555702330196024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−0.5555702330196022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−2.2e−16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7</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−0.8314696123025448</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−0.8314696123025452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+4.4e−16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65760">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8</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−0.9807852804032308</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−0.9807852804032304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A8451F"/>
                          </a:solidFill>
                          <a:latin typeface="Consolas" pitchFamily="34" charset="0"/>
                          <a:ea typeface="Consolas" pitchFamily="34" charset="-122"/>
                          <a:cs typeface="Consolas" pitchFamily="34" charset="-120"/>
                        </a:rPr>
                        <a:t>−3.3e−16</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5" name="Text 12"/>
          <p:cNvSpPr/>
          <p:nvPr/>
        </p:nvSpPr>
        <p:spPr>
          <a:xfrm>
            <a:off x="960120" y="5532120"/>
            <a:ext cx="10268712" cy="457200"/>
          </a:xfrm>
          <a:prstGeom prst="rect">
            <a:avLst/>
          </a:prstGeom>
          <a:noFill/>
          <a:ln/>
        </p:spPr>
        <p:txBody>
          <a:bodyPr wrap="square" lIns="0" tIns="0" rIns="0" bIns="0" rtlCol="0" anchor="ctr"/>
          <a:lstStyle/>
          <a:p>
            <a:pPr marL="0" indent="0">
              <a:buNone/>
            </a:pPr>
            <a:r>
              <a:rPr lang="en-US" sz="1350" b="1" dirty="0">
                <a:solidFill>
                  <a:srgbClr val="586127"/>
                </a:solidFill>
                <a:latin typeface="Cambria" pitchFamily="34" charset="0"/>
                <a:ea typeface="Cambria" pitchFamily="34" charset="-122"/>
                <a:cs typeface="Cambria" pitchFamily="34" charset="-120"/>
              </a:rPr>
              <a:t>Errors at the 1e−16 level (machine epsilon).  </a:t>
            </a:r>
            <a:r>
              <a:rPr lang="en-US" sz="1350" dirty="0">
                <a:solidFill>
                  <a:srgbClr val="6E6453"/>
                </a:solidFill>
                <a:latin typeface="Cambria" pitchFamily="34" charset="0"/>
                <a:ea typeface="Cambria" pitchFamily="34" charset="-122"/>
                <a:cs typeface="Cambria" pitchFamily="34" charset="-120"/>
              </a:rPr>
              <a:t>Muller + deflation reproduces the analytic roots to full double precision at this degree.</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18</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The control word selects the rounding mode</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54480"/>
            <a:ext cx="10058400" cy="320040"/>
          </a:xfrm>
          <a:prstGeom prst="rect">
            <a:avLst/>
          </a:prstGeom>
          <a:noFill/>
          <a:ln/>
        </p:spPr>
        <p:txBody>
          <a:bodyPr wrap="square" lIns="0" tIns="0" rIns="0" bIns="0" rtlCol="0" anchor="ctr"/>
          <a:lstStyle/>
          <a:p>
            <a:pPr marL="0" indent="0">
              <a:buNone/>
            </a:pPr>
            <a:r>
              <a:rPr lang="en-US" sz="1450" dirty="0">
                <a:solidFill>
                  <a:srgbClr val="2B2722"/>
                </a:solidFill>
                <a:latin typeface="Cambria" pitchFamily="34" charset="0"/>
                <a:ea typeface="Cambria" pitchFamily="34" charset="-122"/>
                <a:cs typeface="Cambria" pitchFamily="34" charset="-120"/>
              </a:rPr>
              <a:t>The 16-bit x87 control word (read with FSTCW, written with FLDCW):</a:t>
            </a:r>
            <a:endParaRPr lang="en-US" sz="1450" dirty="0"/>
          </a:p>
        </p:txBody>
      </p:sp>
      <p:sp>
        <p:nvSpPr>
          <p:cNvPr id="15" name="Shape 13"/>
          <p:cNvSpPr/>
          <p:nvPr/>
        </p:nvSpPr>
        <p:spPr>
          <a:xfrm>
            <a:off x="1051560" y="2011680"/>
            <a:ext cx="521208" cy="512064"/>
          </a:xfrm>
          <a:prstGeom prst="rect">
            <a:avLst/>
          </a:prstGeom>
          <a:solidFill>
            <a:srgbClr val="F2E8CF"/>
          </a:solidFill>
          <a:ln w="9525">
            <a:solidFill>
              <a:srgbClr val="D8C7A1"/>
            </a:solidFill>
            <a:prstDash val="solid"/>
          </a:ln>
        </p:spPr>
      </p:sp>
      <p:sp>
        <p:nvSpPr>
          <p:cNvPr id="16" name="Text 14"/>
          <p:cNvSpPr/>
          <p:nvPr/>
        </p:nvSpPr>
        <p:spPr>
          <a:xfrm>
            <a:off x="1051560"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15</a:t>
            </a:r>
            <a:endParaRPr lang="en-US" sz="1200" dirty="0"/>
          </a:p>
        </p:txBody>
      </p:sp>
      <p:sp>
        <p:nvSpPr>
          <p:cNvPr id="17" name="Shape 15"/>
          <p:cNvSpPr/>
          <p:nvPr/>
        </p:nvSpPr>
        <p:spPr>
          <a:xfrm>
            <a:off x="1618488" y="2011680"/>
            <a:ext cx="521208" cy="512064"/>
          </a:xfrm>
          <a:prstGeom prst="rect">
            <a:avLst/>
          </a:prstGeom>
          <a:solidFill>
            <a:srgbClr val="F2E8CF"/>
          </a:solidFill>
          <a:ln w="9525">
            <a:solidFill>
              <a:srgbClr val="D8C7A1"/>
            </a:solidFill>
            <a:prstDash val="solid"/>
          </a:ln>
        </p:spPr>
      </p:sp>
      <p:sp>
        <p:nvSpPr>
          <p:cNvPr id="18" name="Text 16"/>
          <p:cNvSpPr/>
          <p:nvPr/>
        </p:nvSpPr>
        <p:spPr>
          <a:xfrm>
            <a:off x="1618488"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14</a:t>
            </a:r>
            <a:endParaRPr lang="en-US" sz="1200" dirty="0"/>
          </a:p>
        </p:txBody>
      </p:sp>
      <p:sp>
        <p:nvSpPr>
          <p:cNvPr id="19" name="Shape 17"/>
          <p:cNvSpPr/>
          <p:nvPr/>
        </p:nvSpPr>
        <p:spPr>
          <a:xfrm>
            <a:off x="2185416" y="2011680"/>
            <a:ext cx="521208" cy="512064"/>
          </a:xfrm>
          <a:prstGeom prst="rect">
            <a:avLst/>
          </a:prstGeom>
          <a:solidFill>
            <a:srgbClr val="F2E8CF"/>
          </a:solidFill>
          <a:ln w="9525">
            <a:solidFill>
              <a:srgbClr val="D8C7A1"/>
            </a:solidFill>
            <a:prstDash val="solid"/>
          </a:ln>
        </p:spPr>
      </p:sp>
      <p:sp>
        <p:nvSpPr>
          <p:cNvPr id="20" name="Text 18"/>
          <p:cNvSpPr/>
          <p:nvPr/>
        </p:nvSpPr>
        <p:spPr>
          <a:xfrm>
            <a:off x="2185416"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13</a:t>
            </a:r>
            <a:endParaRPr lang="en-US" sz="1200" dirty="0"/>
          </a:p>
        </p:txBody>
      </p:sp>
      <p:sp>
        <p:nvSpPr>
          <p:cNvPr id="21" name="Shape 19"/>
          <p:cNvSpPr/>
          <p:nvPr/>
        </p:nvSpPr>
        <p:spPr>
          <a:xfrm>
            <a:off x="2752344" y="2011680"/>
            <a:ext cx="521208" cy="512064"/>
          </a:xfrm>
          <a:prstGeom prst="rect">
            <a:avLst/>
          </a:prstGeom>
          <a:solidFill>
            <a:srgbClr val="F2E8CF"/>
          </a:solidFill>
          <a:ln w="9525">
            <a:solidFill>
              <a:srgbClr val="D8C7A1"/>
            </a:solidFill>
            <a:prstDash val="solid"/>
          </a:ln>
        </p:spPr>
      </p:sp>
      <p:sp>
        <p:nvSpPr>
          <p:cNvPr id="22" name="Text 20"/>
          <p:cNvSpPr/>
          <p:nvPr/>
        </p:nvSpPr>
        <p:spPr>
          <a:xfrm>
            <a:off x="2752344"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12</a:t>
            </a:r>
            <a:endParaRPr lang="en-US" sz="1200" dirty="0"/>
          </a:p>
        </p:txBody>
      </p:sp>
      <p:sp>
        <p:nvSpPr>
          <p:cNvPr id="23" name="Shape 21"/>
          <p:cNvSpPr/>
          <p:nvPr/>
        </p:nvSpPr>
        <p:spPr>
          <a:xfrm>
            <a:off x="3319272" y="2011680"/>
            <a:ext cx="521208" cy="512064"/>
          </a:xfrm>
          <a:prstGeom prst="rect">
            <a:avLst/>
          </a:prstGeom>
          <a:solidFill>
            <a:srgbClr val="7F8A3A"/>
          </a:solidFill>
          <a:ln w="9525">
            <a:solidFill>
              <a:srgbClr val="D8C7A1"/>
            </a:solidFill>
            <a:prstDash val="solid"/>
          </a:ln>
        </p:spPr>
      </p:sp>
      <p:sp>
        <p:nvSpPr>
          <p:cNvPr id="24" name="Text 22"/>
          <p:cNvSpPr/>
          <p:nvPr/>
        </p:nvSpPr>
        <p:spPr>
          <a:xfrm>
            <a:off x="3319272" y="2011680"/>
            <a:ext cx="52120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11</a:t>
            </a:r>
            <a:endParaRPr lang="en-US" sz="1200" dirty="0"/>
          </a:p>
        </p:txBody>
      </p:sp>
      <p:sp>
        <p:nvSpPr>
          <p:cNvPr id="25" name="Shape 23"/>
          <p:cNvSpPr/>
          <p:nvPr/>
        </p:nvSpPr>
        <p:spPr>
          <a:xfrm>
            <a:off x="3886200" y="2011680"/>
            <a:ext cx="521208" cy="512064"/>
          </a:xfrm>
          <a:prstGeom prst="rect">
            <a:avLst/>
          </a:prstGeom>
          <a:solidFill>
            <a:srgbClr val="7F8A3A"/>
          </a:solidFill>
          <a:ln w="9525">
            <a:solidFill>
              <a:srgbClr val="D8C7A1"/>
            </a:solidFill>
            <a:prstDash val="solid"/>
          </a:ln>
        </p:spPr>
      </p:sp>
      <p:sp>
        <p:nvSpPr>
          <p:cNvPr id="26" name="Text 24"/>
          <p:cNvSpPr/>
          <p:nvPr/>
        </p:nvSpPr>
        <p:spPr>
          <a:xfrm>
            <a:off x="3886200" y="2011680"/>
            <a:ext cx="52120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10</a:t>
            </a:r>
            <a:endParaRPr lang="en-US" sz="1200" dirty="0"/>
          </a:p>
        </p:txBody>
      </p:sp>
      <p:sp>
        <p:nvSpPr>
          <p:cNvPr id="27" name="Shape 25"/>
          <p:cNvSpPr/>
          <p:nvPr/>
        </p:nvSpPr>
        <p:spPr>
          <a:xfrm>
            <a:off x="4453128" y="2011680"/>
            <a:ext cx="521208" cy="512064"/>
          </a:xfrm>
          <a:prstGeom prst="rect">
            <a:avLst/>
          </a:prstGeom>
          <a:solidFill>
            <a:srgbClr val="3E2B1C"/>
          </a:solidFill>
          <a:ln w="9525">
            <a:solidFill>
              <a:srgbClr val="D8C7A1"/>
            </a:solidFill>
            <a:prstDash val="solid"/>
          </a:ln>
        </p:spPr>
      </p:sp>
      <p:sp>
        <p:nvSpPr>
          <p:cNvPr id="28" name="Text 26"/>
          <p:cNvSpPr/>
          <p:nvPr/>
        </p:nvSpPr>
        <p:spPr>
          <a:xfrm>
            <a:off x="4453128" y="2011680"/>
            <a:ext cx="52120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9</a:t>
            </a:r>
            <a:endParaRPr lang="en-US" sz="1200" dirty="0"/>
          </a:p>
        </p:txBody>
      </p:sp>
      <p:sp>
        <p:nvSpPr>
          <p:cNvPr id="29" name="Shape 27"/>
          <p:cNvSpPr/>
          <p:nvPr/>
        </p:nvSpPr>
        <p:spPr>
          <a:xfrm>
            <a:off x="5020056" y="2011680"/>
            <a:ext cx="521208" cy="512064"/>
          </a:xfrm>
          <a:prstGeom prst="rect">
            <a:avLst/>
          </a:prstGeom>
          <a:solidFill>
            <a:srgbClr val="3E2B1C"/>
          </a:solidFill>
          <a:ln w="9525">
            <a:solidFill>
              <a:srgbClr val="D8C7A1"/>
            </a:solidFill>
            <a:prstDash val="solid"/>
          </a:ln>
        </p:spPr>
      </p:sp>
      <p:sp>
        <p:nvSpPr>
          <p:cNvPr id="30" name="Text 28"/>
          <p:cNvSpPr/>
          <p:nvPr/>
        </p:nvSpPr>
        <p:spPr>
          <a:xfrm>
            <a:off x="5020056" y="2011680"/>
            <a:ext cx="52120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8</a:t>
            </a:r>
            <a:endParaRPr lang="en-US" sz="1200" dirty="0"/>
          </a:p>
        </p:txBody>
      </p:sp>
      <p:sp>
        <p:nvSpPr>
          <p:cNvPr id="31" name="Shape 29"/>
          <p:cNvSpPr/>
          <p:nvPr/>
        </p:nvSpPr>
        <p:spPr>
          <a:xfrm>
            <a:off x="5586984" y="2011680"/>
            <a:ext cx="521208" cy="512064"/>
          </a:xfrm>
          <a:prstGeom prst="rect">
            <a:avLst/>
          </a:prstGeom>
          <a:solidFill>
            <a:srgbClr val="F2E8CF"/>
          </a:solidFill>
          <a:ln w="9525">
            <a:solidFill>
              <a:srgbClr val="D8C7A1"/>
            </a:solidFill>
            <a:prstDash val="solid"/>
          </a:ln>
        </p:spPr>
      </p:sp>
      <p:sp>
        <p:nvSpPr>
          <p:cNvPr id="32" name="Text 30"/>
          <p:cNvSpPr/>
          <p:nvPr/>
        </p:nvSpPr>
        <p:spPr>
          <a:xfrm>
            <a:off x="5586984"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7</a:t>
            </a:r>
            <a:endParaRPr lang="en-US" sz="1200" dirty="0"/>
          </a:p>
        </p:txBody>
      </p:sp>
      <p:sp>
        <p:nvSpPr>
          <p:cNvPr id="33" name="Shape 31"/>
          <p:cNvSpPr/>
          <p:nvPr/>
        </p:nvSpPr>
        <p:spPr>
          <a:xfrm>
            <a:off x="6153912" y="2011680"/>
            <a:ext cx="521208" cy="512064"/>
          </a:xfrm>
          <a:prstGeom prst="rect">
            <a:avLst/>
          </a:prstGeom>
          <a:solidFill>
            <a:srgbClr val="F2E8CF"/>
          </a:solidFill>
          <a:ln w="9525">
            <a:solidFill>
              <a:srgbClr val="D8C7A1"/>
            </a:solidFill>
            <a:prstDash val="solid"/>
          </a:ln>
        </p:spPr>
      </p:sp>
      <p:sp>
        <p:nvSpPr>
          <p:cNvPr id="34" name="Text 32"/>
          <p:cNvSpPr/>
          <p:nvPr/>
        </p:nvSpPr>
        <p:spPr>
          <a:xfrm>
            <a:off x="6153912"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6</a:t>
            </a:r>
            <a:endParaRPr lang="en-US" sz="1200" dirty="0"/>
          </a:p>
        </p:txBody>
      </p:sp>
      <p:sp>
        <p:nvSpPr>
          <p:cNvPr id="35" name="Shape 33"/>
          <p:cNvSpPr/>
          <p:nvPr/>
        </p:nvSpPr>
        <p:spPr>
          <a:xfrm>
            <a:off x="6720840" y="2011680"/>
            <a:ext cx="521208" cy="512064"/>
          </a:xfrm>
          <a:prstGeom prst="rect">
            <a:avLst/>
          </a:prstGeom>
          <a:solidFill>
            <a:srgbClr val="F2E8CF"/>
          </a:solidFill>
          <a:ln w="9525">
            <a:solidFill>
              <a:srgbClr val="D8C7A1"/>
            </a:solidFill>
            <a:prstDash val="solid"/>
          </a:ln>
        </p:spPr>
      </p:sp>
      <p:sp>
        <p:nvSpPr>
          <p:cNvPr id="36" name="Text 34"/>
          <p:cNvSpPr/>
          <p:nvPr/>
        </p:nvSpPr>
        <p:spPr>
          <a:xfrm>
            <a:off x="6720840"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5</a:t>
            </a:r>
            <a:endParaRPr lang="en-US" sz="1200" dirty="0"/>
          </a:p>
        </p:txBody>
      </p:sp>
      <p:sp>
        <p:nvSpPr>
          <p:cNvPr id="37" name="Shape 35"/>
          <p:cNvSpPr/>
          <p:nvPr/>
        </p:nvSpPr>
        <p:spPr>
          <a:xfrm>
            <a:off x="7287768" y="2011680"/>
            <a:ext cx="521208" cy="512064"/>
          </a:xfrm>
          <a:prstGeom prst="rect">
            <a:avLst/>
          </a:prstGeom>
          <a:solidFill>
            <a:srgbClr val="F2E8CF"/>
          </a:solidFill>
          <a:ln w="9525">
            <a:solidFill>
              <a:srgbClr val="D8C7A1"/>
            </a:solidFill>
            <a:prstDash val="solid"/>
          </a:ln>
        </p:spPr>
      </p:sp>
      <p:sp>
        <p:nvSpPr>
          <p:cNvPr id="38" name="Text 36"/>
          <p:cNvSpPr/>
          <p:nvPr/>
        </p:nvSpPr>
        <p:spPr>
          <a:xfrm>
            <a:off x="7287768"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4</a:t>
            </a:r>
            <a:endParaRPr lang="en-US" sz="1200" dirty="0"/>
          </a:p>
        </p:txBody>
      </p:sp>
      <p:sp>
        <p:nvSpPr>
          <p:cNvPr id="39" name="Shape 37"/>
          <p:cNvSpPr/>
          <p:nvPr/>
        </p:nvSpPr>
        <p:spPr>
          <a:xfrm>
            <a:off x="7854696" y="2011680"/>
            <a:ext cx="521208" cy="512064"/>
          </a:xfrm>
          <a:prstGeom prst="rect">
            <a:avLst/>
          </a:prstGeom>
          <a:solidFill>
            <a:srgbClr val="F2E8CF"/>
          </a:solidFill>
          <a:ln w="9525">
            <a:solidFill>
              <a:srgbClr val="D8C7A1"/>
            </a:solidFill>
            <a:prstDash val="solid"/>
          </a:ln>
        </p:spPr>
      </p:sp>
      <p:sp>
        <p:nvSpPr>
          <p:cNvPr id="40" name="Text 38"/>
          <p:cNvSpPr/>
          <p:nvPr/>
        </p:nvSpPr>
        <p:spPr>
          <a:xfrm>
            <a:off x="7854696"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3</a:t>
            </a:r>
            <a:endParaRPr lang="en-US" sz="1200" dirty="0"/>
          </a:p>
        </p:txBody>
      </p:sp>
      <p:sp>
        <p:nvSpPr>
          <p:cNvPr id="41" name="Shape 39"/>
          <p:cNvSpPr/>
          <p:nvPr/>
        </p:nvSpPr>
        <p:spPr>
          <a:xfrm>
            <a:off x="8421624" y="2011680"/>
            <a:ext cx="521208" cy="512064"/>
          </a:xfrm>
          <a:prstGeom prst="rect">
            <a:avLst/>
          </a:prstGeom>
          <a:solidFill>
            <a:srgbClr val="F2E8CF"/>
          </a:solidFill>
          <a:ln w="9525">
            <a:solidFill>
              <a:srgbClr val="D8C7A1"/>
            </a:solidFill>
            <a:prstDash val="solid"/>
          </a:ln>
        </p:spPr>
      </p:sp>
      <p:sp>
        <p:nvSpPr>
          <p:cNvPr id="42" name="Text 40"/>
          <p:cNvSpPr/>
          <p:nvPr/>
        </p:nvSpPr>
        <p:spPr>
          <a:xfrm>
            <a:off x="8421624"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2</a:t>
            </a:r>
            <a:endParaRPr lang="en-US" sz="1200" dirty="0"/>
          </a:p>
        </p:txBody>
      </p:sp>
      <p:sp>
        <p:nvSpPr>
          <p:cNvPr id="43" name="Shape 41"/>
          <p:cNvSpPr/>
          <p:nvPr/>
        </p:nvSpPr>
        <p:spPr>
          <a:xfrm>
            <a:off x="8988552" y="2011680"/>
            <a:ext cx="521208" cy="512064"/>
          </a:xfrm>
          <a:prstGeom prst="rect">
            <a:avLst/>
          </a:prstGeom>
          <a:solidFill>
            <a:srgbClr val="F2E8CF"/>
          </a:solidFill>
          <a:ln w="9525">
            <a:solidFill>
              <a:srgbClr val="D8C7A1"/>
            </a:solidFill>
            <a:prstDash val="solid"/>
          </a:ln>
        </p:spPr>
      </p:sp>
      <p:sp>
        <p:nvSpPr>
          <p:cNvPr id="44" name="Text 42"/>
          <p:cNvSpPr/>
          <p:nvPr/>
        </p:nvSpPr>
        <p:spPr>
          <a:xfrm>
            <a:off x="8988552"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1</a:t>
            </a:r>
            <a:endParaRPr lang="en-US" sz="1200" dirty="0"/>
          </a:p>
        </p:txBody>
      </p:sp>
      <p:sp>
        <p:nvSpPr>
          <p:cNvPr id="45" name="Shape 43"/>
          <p:cNvSpPr/>
          <p:nvPr/>
        </p:nvSpPr>
        <p:spPr>
          <a:xfrm>
            <a:off x="9555480" y="2011680"/>
            <a:ext cx="521208" cy="512064"/>
          </a:xfrm>
          <a:prstGeom prst="rect">
            <a:avLst/>
          </a:prstGeom>
          <a:solidFill>
            <a:srgbClr val="F2E8CF"/>
          </a:solidFill>
          <a:ln w="9525">
            <a:solidFill>
              <a:srgbClr val="D8C7A1"/>
            </a:solidFill>
            <a:prstDash val="solid"/>
          </a:ln>
        </p:spPr>
      </p:sp>
      <p:sp>
        <p:nvSpPr>
          <p:cNvPr id="46" name="Text 44"/>
          <p:cNvSpPr/>
          <p:nvPr/>
        </p:nvSpPr>
        <p:spPr>
          <a:xfrm>
            <a:off x="9555480" y="2011680"/>
            <a:ext cx="521208" cy="512064"/>
          </a:xfrm>
          <a:prstGeom prst="rect">
            <a:avLst/>
          </a:prstGeom>
          <a:noFill/>
          <a:ln/>
        </p:spPr>
        <p:txBody>
          <a:bodyPr wrap="square" lIns="0" tIns="0" rIns="0" bIns="0" rtlCol="0" anchor="ctr"/>
          <a:lstStyle/>
          <a:p>
            <a:pPr marL="0" indent="0" algn="ctr">
              <a:buNone/>
            </a:pPr>
            <a:r>
              <a:rPr lang="en-US" sz="1200" dirty="0">
                <a:solidFill>
                  <a:srgbClr val="6E6453"/>
                </a:solidFill>
                <a:latin typeface="Consolas" pitchFamily="34" charset="0"/>
                <a:ea typeface="Consolas" pitchFamily="34" charset="-122"/>
                <a:cs typeface="Consolas" pitchFamily="34" charset="-120"/>
              </a:rPr>
              <a:t>0</a:t>
            </a:r>
            <a:endParaRPr lang="en-US" sz="1200" dirty="0"/>
          </a:p>
        </p:txBody>
      </p:sp>
      <p:sp>
        <p:nvSpPr>
          <p:cNvPr id="47" name="Shape 45"/>
          <p:cNvSpPr/>
          <p:nvPr/>
        </p:nvSpPr>
        <p:spPr>
          <a:xfrm>
            <a:off x="1051560" y="2670048"/>
            <a:ext cx="237744" cy="237744"/>
          </a:xfrm>
          <a:prstGeom prst="rect">
            <a:avLst/>
          </a:prstGeom>
          <a:solidFill>
            <a:srgbClr val="7F8A3A"/>
          </a:solidFill>
          <a:ln/>
        </p:spPr>
      </p:sp>
      <p:sp>
        <p:nvSpPr>
          <p:cNvPr id="48" name="Text 46"/>
          <p:cNvSpPr/>
          <p:nvPr/>
        </p:nvSpPr>
        <p:spPr>
          <a:xfrm>
            <a:off x="1371600" y="2633472"/>
            <a:ext cx="4572000" cy="310896"/>
          </a:xfrm>
          <a:prstGeom prst="rect">
            <a:avLst/>
          </a:prstGeom>
          <a:noFill/>
          <a:ln/>
        </p:spPr>
        <p:txBody>
          <a:bodyPr wrap="square" lIns="0" tIns="0" rIns="0" bIns="0" rtlCol="0" anchor="ctr"/>
          <a:lstStyle/>
          <a:p>
            <a:pPr marL="0" indent="0">
              <a:buNone/>
            </a:pPr>
            <a:r>
              <a:rPr lang="en-US" sz="1250" b="1" dirty="0">
                <a:solidFill>
                  <a:srgbClr val="586127"/>
                </a:solidFill>
                <a:latin typeface="Consolas" pitchFamily="34" charset="0"/>
                <a:ea typeface="Consolas" pitchFamily="34" charset="-122"/>
                <a:cs typeface="Consolas" pitchFamily="34" charset="-120"/>
              </a:rPr>
              <a:t>RC — rounding direction (bits 11–10)</a:t>
            </a:r>
            <a:endParaRPr lang="en-US" sz="1250" dirty="0"/>
          </a:p>
        </p:txBody>
      </p:sp>
      <p:sp>
        <p:nvSpPr>
          <p:cNvPr id="49" name="Shape 47"/>
          <p:cNvSpPr/>
          <p:nvPr/>
        </p:nvSpPr>
        <p:spPr>
          <a:xfrm>
            <a:off x="5669280" y="2670048"/>
            <a:ext cx="237744" cy="237744"/>
          </a:xfrm>
          <a:prstGeom prst="rect">
            <a:avLst/>
          </a:prstGeom>
          <a:solidFill>
            <a:srgbClr val="3E2B1C"/>
          </a:solidFill>
          <a:ln/>
        </p:spPr>
      </p:sp>
      <p:sp>
        <p:nvSpPr>
          <p:cNvPr id="50" name="Text 48"/>
          <p:cNvSpPr/>
          <p:nvPr/>
        </p:nvSpPr>
        <p:spPr>
          <a:xfrm>
            <a:off x="5989320" y="2633472"/>
            <a:ext cx="4114800" cy="310896"/>
          </a:xfrm>
          <a:prstGeom prst="rect">
            <a:avLst/>
          </a:prstGeom>
          <a:noFill/>
          <a:ln/>
        </p:spPr>
        <p:txBody>
          <a:bodyPr wrap="square" lIns="0" tIns="0" rIns="0" bIns="0" rtlCol="0" anchor="ctr"/>
          <a:lstStyle/>
          <a:p>
            <a:pPr marL="0" indent="0">
              <a:buNone/>
            </a:pPr>
            <a:r>
              <a:rPr lang="en-US" sz="1250" b="1" dirty="0">
                <a:solidFill>
                  <a:srgbClr val="6B4E34"/>
                </a:solidFill>
                <a:latin typeface="Consolas" pitchFamily="34" charset="0"/>
                <a:ea typeface="Consolas" pitchFamily="34" charset="-122"/>
                <a:cs typeface="Consolas" pitchFamily="34" charset="-120"/>
              </a:rPr>
              <a:t>PC — precision (bits 9–8)</a:t>
            </a:r>
            <a:endParaRPr lang="en-US" sz="12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960120" y="3520440"/>
          <a:ext cx="6583680" cy="2011680"/>
        </p:xfrm>
        <a:graphic>
          <a:graphicData uri="http://schemas.openxmlformats.org/drawingml/2006/table">
            <a:tbl>
              <a:tblPr/>
              <a:tblGrid>
                <a:gridCol w="914400"/>
                <a:gridCol w="5669280"/>
              </a:tblGrid>
              <a:tr h="402336">
                <a:tc>
                  <a:txBody>
                    <a:bodyPr/>
                    <a:lstStyle/>
                    <a:p>
                      <a:pPr marL="0" indent="0">
                        <a:buNone/>
                      </a:pPr>
                      <a:r>
                        <a:rPr lang="en-US" sz="1200" b="1" dirty="0">
                          <a:solidFill>
                            <a:srgbClr val="FFFFFF"/>
                          </a:solidFill>
                          <a:latin typeface="Cambria" pitchFamily="34" charset="0"/>
                          <a:ea typeface="Cambria" pitchFamily="34" charset="-122"/>
                          <a:cs typeface="Cambria" pitchFamily="34" charset="-120"/>
                        </a:rPr>
                        <a:t>RC</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buNone/>
                      </a:pPr>
                      <a:r>
                        <a:rPr lang="en-US" sz="1200" b="1" dirty="0">
                          <a:solidFill>
                            <a:srgbClr val="FFFFFF"/>
                          </a:solidFill>
                          <a:latin typeface="Cambria" pitchFamily="34" charset="0"/>
                          <a:ea typeface="Cambria" pitchFamily="34" charset="-122"/>
                          <a:cs typeface="Cambria" pitchFamily="34" charset="-120"/>
                        </a:rPr>
                        <a:t>meaning</a:t>
                      </a:r>
                      <a:endParaRPr lang="en-US" sz="12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402336">
                <a:tc>
                  <a:txBody>
                    <a:bodyPr/>
                    <a:lstStyle/>
                    <a:p>
                      <a:pPr marL="0" indent="0">
                        <a:buNone/>
                      </a:pPr>
                      <a:r>
                        <a:rPr lang="en-US" sz="1300" dirty="0">
                          <a:solidFill>
                            <a:srgbClr val="2B2722"/>
                          </a:solidFill>
                          <a:latin typeface="Consolas" pitchFamily="34" charset="0"/>
                          <a:ea typeface="Consolas" pitchFamily="34" charset="-122"/>
                          <a:cs typeface="Consolas" pitchFamily="34" charset="-120"/>
                        </a:rPr>
                        <a:t>00</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300" dirty="0">
                          <a:solidFill>
                            <a:srgbClr val="2B2722"/>
                          </a:solidFill>
                          <a:latin typeface="Cambria" pitchFamily="34" charset="0"/>
                          <a:ea typeface="Cambria" pitchFamily="34" charset="-122"/>
                          <a:cs typeface="Cambria" pitchFamily="34" charset="-120"/>
                        </a:rPr>
                        <a:t>round to NEAREST, ties to EVEN  (default)</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buNone/>
                      </a:pPr>
                      <a:r>
                        <a:rPr lang="en-US" sz="1300" dirty="0">
                          <a:solidFill>
                            <a:srgbClr val="2B2722"/>
                          </a:solidFill>
                          <a:latin typeface="Consolas" pitchFamily="34" charset="0"/>
                          <a:ea typeface="Consolas" pitchFamily="34" charset="-122"/>
                          <a:cs typeface="Consolas" pitchFamily="34" charset="-120"/>
                        </a:rPr>
                        <a:t>01</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300" dirty="0">
                          <a:solidFill>
                            <a:srgbClr val="2B2722"/>
                          </a:solidFill>
                          <a:latin typeface="Cambria" pitchFamily="34" charset="0"/>
                          <a:ea typeface="Cambria" pitchFamily="34" charset="-122"/>
                          <a:cs typeface="Cambria" pitchFamily="34" charset="-120"/>
                        </a:rPr>
                        <a:t>round DOWN   (toward −∞)</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402336">
                <a:tc>
                  <a:txBody>
                    <a:bodyPr/>
                    <a:lstStyle/>
                    <a:p>
                      <a:pPr marL="0" indent="0">
                        <a:buNone/>
                      </a:pPr>
                      <a:r>
                        <a:rPr lang="en-US" sz="1300" dirty="0">
                          <a:solidFill>
                            <a:srgbClr val="2B2722"/>
                          </a:solidFill>
                          <a:latin typeface="Consolas" pitchFamily="34" charset="0"/>
                          <a:ea typeface="Consolas" pitchFamily="34" charset="-122"/>
                          <a:cs typeface="Consolas" pitchFamily="34" charset="-120"/>
                        </a:rPr>
                        <a:t>10</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300" dirty="0">
                          <a:solidFill>
                            <a:srgbClr val="2B2722"/>
                          </a:solidFill>
                          <a:latin typeface="Cambria" pitchFamily="34" charset="0"/>
                          <a:ea typeface="Cambria" pitchFamily="34" charset="-122"/>
                          <a:cs typeface="Cambria" pitchFamily="34" charset="-120"/>
                        </a:rPr>
                        <a:t>round UP     (toward +∞)</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buNone/>
                      </a:pPr>
                      <a:r>
                        <a:rPr lang="en-US" sz="1300" dirty="0">
                          <a:solidFill>
                            <a:srgbClr val="2B2722"/>
                          </a:solidFill>
                          <a:latin typeface="Consolas" pitchFamily="34" charset="0"/>
                          <a:ea typeface="Consolas" pitchFamily="34" charset="-122"/>
                          <a:cs typeface="Consolas" pitchFamily="34" charset="-120"/>
                        </a:rPr>
                        <a:t>11</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300" dirty="0">
                          <a:solidFill>
                            <a:srgbClr val="2B2722"/>
                          </a:solidFill>
                          <a:latin typeface="Cambria" pitchFamily="34" charset="0"/>
                          <a:ea typeface="Cambria" pitchFamily="34" charset="-122"/>
                          <a:cs typeface="Cambria" pitchFamily="34" charset="-120"/>
                        </a:rPr>
                        <a:t>round toward ZERO  (truncate / chop)</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52" name="Shape 49"/>
          <p:cNvSpPr/>
          <p:nvPr/>
        </p:nvSpPr>
        <p:spPr>
          <a:xfrm>
            <a:off x="7909560" y="3520440"/>
            <a:ext cx="3429000" cy="21031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53" name="Shape 50"/>
          <p:cNvSpPr/>
          <p:nvPr/>
        </p:nvSpPr>
        <p:spPr>
          <a:xfrm>
            <a:off x="7909560" y="3520440"/>
            <a:ext cx="91440" cy="2103120"/>
          </a:xfrm>
          <a:prstGeom prst="rect">
            <a:avLst/>
          </a:prstGeom>
          <a:solidFill>
            <a:srgbClr val="7F8A3A"/>
          </a:solidFill>
          <a:ln/>
        </p:spPr>
      </p:sp>
      <p:sp>
        <p:nvSpPr>
          <p:cNvPr id="54" name="Text 51"/>
          <p:cNvSpPr/>
          <p:nvPr/>
        </p:nvSpPr>
        <p:spPr>
          <a:xfrm>
            <a:off x="8165592" y="3648456"/>
            <a:ext cx="297180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PC — precision</a:t>
            </a:r>
            <a:endParaRPr lang="en-US" sz="1550" dirty="0"/>
          </a:p>
        </p:txBody>
      </p:sp>
      <p:sp>
        <p:nvSpPr>
          <p:cNvPr id="55" name="Text 52"/>
          <p:cNvSpPr/>
          <p:nvPr/>
        </p:nvSpPr>
        <p:spPr>
          <a:xfrm>
            <a:off x="8183880" y="4087368"/>
            <a:ext cx="2926080" cy="1389888"/>
          </a:xfrm>
          <a:prstGeom prst="rect">
            <a:avLst/>
          </a:prstGeom>
          <a:noFill/>
          <a:ln/>
        </p:spPr>
        <p:txBody>
          <a:bodyPr wrap="square" lIns="0" tIns="0" rIns="0" bIns="0" rtlCol="0" anchor="t"/>
          <a:lstStyle/>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00 = 24-bit (single)</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10 = 53-bit (double)</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11 = 64-bit (extended)</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Sets mantissa width before rounding.</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
                                            <p:txEl>
                                              <p:pRg st="0" end="0"/>
                                            </p:txEl>
                                          </p:spTgt>
                                        </p:tgtEl>
                                        <p:attrNameLst>
                                          <p:attrName>style.visibility</p:attrName>
                                        </p:attrNameLst>
                                      </p:cBhvr>
                                      <p:to>
                                        <p:strVal val="visible"/>
                                      </p:to>
                                    </p:set>
                                    <p:anim calcmode="lin" valueType="num">
                                      <p:cBhvr additive="base">
                                        <p:cTn id="1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0">
                                            <p:txEl>
                                              <p:pRg st="0" end="0"/>
                                            </p:txEl>
                                          </p:spTgt>
                                        </p:tgtEl>
                                        <p:attrNameLst>
                                          <p:attrName>style.visibility</p:attrName>
                                        </p:attrNameLst>
                                      </p:cBhvr>
                                      <p:to>
                                        <p:strVal val="visible"/>
                                      </p:to>
                                    </p:set>
                                    <p:anim calcmode="lin" valueType="num">
                                      <p:cBhvr additive="base">
                                        <p:cTn id="19"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ppt_x"/>
                                          </p:val>
                                        </p:tav>
                                        <p:tav tm="100000">
                                          <p:val>
                                            <p:strVal val="#ppt_x"/>
                                          </p:val>
                                        </p:tav>
                                      </p:tavLst>
                                    </p:anim>
                                    <p:anim calcmode="lin" valueType="num">
                                      <p:cBhvr additive="base">
                                        <p:cTn id="2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5">
                                            <p:txEl>
                                              <p:pRg st="0" end="0"/>
                                            </p:txEl>
                                          </p:spTgt>
                                        </p:tgtEl>
                                        <p:attrNameLst>
                                          <p:attrName>style.visibility</p:attrName>
                                        </p:attrNameLst>
                                      </p:cBhvr>
                                      <p:to>
                                        <p:strVal val="visible"/>
                                      </p:to>
                                    </p:set>
                                    <p:anim calcmode="lin" valueType="num">
                                      <p:cBhvr additive="base">
                                        <p:cTn id="31"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5">
                                            <p:txEl>
                                              <p:pRg st="1" end="1"/>
                                            </p:txEl>
                                          </p:spTgt>
                                        </p:tgtEl>
                                        <p:attrNameLst>
                                          <p:attrName>style.visibility</p:attrName>
                                        </p:attrNameLst>
                                      </p:cBhvr>
                                      <p:to>
                                        <p:strVal val="visible"/>
                                      </p:to>
                                    </p:set>
                                    <p:anim calcmode="lin" valueType="num">
                                      <p:cBhvr additive="base">
                                        <p:cTn id="37" dur="500" fill="hold"/>
                                        <p:tgtEl>
                                          <p:spTgt spid="55">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5">
                                            <p:txEl>
                                              <p:pRg st="2" end="2"/>
                                            </p:txEl>
                                          </p:spTgt>
                                        </p:tgtEl>
                                        <p:attrNameLst>
                                          <p:attrName>style.visibility</p:attrName>
                                        </p:attrNameLst>
                                      </p:cBhvr>
                                      <p:to>
                                        <p:strVal val="visible"/>
                                      </p:to>
                                    </p:set>
                                    <p:anim calcmode="lin" valueType="num">
                                      <p:cBhvr additive="base">
                                        <p:cTn id="43" dur="500" fill="hold"/>
                                        <p:tgtEl>
                                          <p:spTgt spid="55">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5">
                                            <p:txEl>
                                              <p:pRg st="3" end="3"/>
                                            </p:txEl>
                                          </p:spTgt>
                                        </p:tgtEl>
                                        <p:attrNameLst>
                                          <p:attrName>style.visibility</p:attrName>
                                        </p:attrNameLst>
                                      </p:cBhvr>
                                      <p:to>
                                        <p:strVal val="visible"/>
                                      </p:to>
                                    </p:set>
                                    <p:anim calcmode="lin" valueType="num">
                                      <p:cBhvr additive="base">
                                        <p:cTn id="49" dur="500" fill="hold"/>
                                        <p:tgtEl>
                                          <p:spTgt spid="55">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19</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Code — selecting the mode (FSTCW / FLDCW)</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08760"/>
            <a:ext cx="6126480" cy="425196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508760"/>
            <a:ext cx="82296" cy="4251960"/>
          </a:xfrm>
          <a:prstGeom prst="rect">
            <a:avLst/>
          </a:prstGeom>
          <a:solidFill>
            <a:srgbClr val="7F8A3A"/>
          </a:solidFill>
          <a:ln/>
        </p:spPr>
      </p:sp>
      <p:sp>
        <p:nvSpPr>
          <p:cNvPr id="16" name="Text 14"/>
          <p:cNvSpPr/>
          <p:nvPr/>
        </p:nvSpPr>
        <p:spPr>
          <a:xfrm>
            <a:off x="1115568" y="1600200"/>
            <a:ext cx="5797296" cy="4069080"/>
          </a:xfrm>
          <a:prstGeom prst="rect">
            <a:avLst/>
          </a:prstGeom>
          <a:noFill/>
          <a:ln/>
        </p:spPr>
        <p:txBody>
          <a:bodyPr wrap="square" lIns="0" tIns="0" rIns="0" bIns="0" rtlCol="0" anchor="t"/>
          <a:lstStyle/>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set_round:                ; edi = RC (0..3)</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fstcw [cw]              ; read control word</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mov ax,[cw]</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and ax, 0xF3FF          ; clear RC (bits 11-10)</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mov cx, di</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and cx, 3</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shl cx, 10              ; position RC</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or  ax, cx</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mov [cw], ax</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fldcw [cw]              ; commit -&gt; mode active</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ret</a:t>
            </a:r>
            <a:endParaRPr lang="en-US" sz="1080" dirty="0"/>
          </a:p>
          <a:p>
            <a:pPr marL="0" indent="0">
              <a:lnSpc>
                <a:spcPct val="104000"/>
              </a:lnSpc>
              <a:buNone/>
            </a:pP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set_prec_double:          ; PC = 53-bit</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fstcw [cw]</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and  word [cw], 0xFCFF  ; clear PC</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or   word [cw], 0x0200  ; PC = 10b (double)</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fldcw [cw]</a:t>
            </a:r>
            <a:endParaRPr lang="en-US" sz="1080" dirty="0"/>
          </a:p>
          <a:p>
            <a:pPr marL="0" indent="0">
              <a:lnSpc>
                <a:spcPct val="104000"/>
              </a:lnSpc>
              <a:buNone/>
            </a:pPr>
            <a:r>
              <a:rPr lang="en-US" sz="1080" dirty="0">
                <a:solidFill>
                  <a:srgbClr val="2B2722"/>
                </a:solidFill>
                <a:latin typeface="Consolas" pitchFamily="34" charset="0"/>
                <a:ea typeface="Consolas" pitchFamily="34" charset="-122"/>
                <a:cs typeface="Consolas" pitchFamily="34" charset="-120"/>
              </a:rPr>
              <a:t>  ret</a:t>
            </a:r>
            <a:endParaRPr lang="en-US" sz="1080" dirty="0"/>
          </a:p>
        </p:txBody>
      </p:sp>
      <p:sp>
        <p:nvSpPr>
          <p:cNvPr id="17" name="Shape 15"/>
          <p:cNvSpPr/>
          <p:nvPr/>
        </p:nvSpPr>
        <p:spPr>
          <a:xfrm>
            <a:off x="6858000" y="1508760"/>
            <a:ext cx="4480560" cy="425196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8" name="Shape 16"/>
          <p:cNvSpPr/>
          <p:nvPr/>
        </p:nvSpPr>
        <p:spPr>
          <a:xfrm>
            <a:off x="6858000" y="1508760"/>
            <a:ext cx="91440" cy="4251960"/>
          </a:xfrm>
          <a:prstGeom prst="rect">
            <a:avLst/>
          </a:prstGeom>
          <a:solidFill>
            <a:srgbClr val="7F8A3A"/>
          </a:solidFill>
          <a:ln/>
        </p:spPr>
      </p:sp>
      <p:sp>
        <p:nvSpPr>
          <p:cNvPr id="19" name="Text 17"/>
          <p:cNvSpPr/>
          <p:nvPr/>
        </p:nvSpPr>
        <p:spPr>
          <a:xfrm>
            <a:off x="7114032" y="1636776"/>
            <a:ext cx="402336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Read–modify–write</a:t>
            </a:r>
            <a:endParaRPr lang="en-US" sz="1550" dirty="0"/>
          </a:p>
        </p:txBody>
      </p:sp>
      <p:sp>
        <p:nvSpPr>
          <p:cNvPr id="20" name="Text 18"/>
          <p:cNvSpPr/>
          <p:nvPr/>
        </p:nvSpPr>
        <p:spPr>
          <a:xfrm>
            <a:off x="7132320" y="2075688"/>
            <a:ext cx="3977640" cy="3538728"/>
          </a:xfrm>
          <a:prstGeom prst="rect">
            <a:avLst/>
          </a:prstGeom>
          <a:noFill/>
          <a:ln/>
        </p:spPr>
        <p:txBody>
          <a:bodyPr wrap="square" lIns="0" tIns="0" rIns="0" bIns="0" rtlCol="0" anchor="t"/>
          <a:lstStyle/>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FSTCW copies the word out; FLDCW commits it back.</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AND with a mask clears just the target field; OR writes the new bits — every other flag is preserved.</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RC sits at bits 11–10, so the value is shifted left by 10.</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Once FLDCW runs, every following FPU instruction obeys the new mode — no per-op flag needed.</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This 11-line routine is the whole rounding-control mechanism.</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
                                            <p:txEl>
                                              <p:pRg st="1" end="1"/>
                                            </p:txEl>
                                          </p:spTgt>
                                        </p:tgtEl>
                                        <p:attrNameLst>
                                          <p:attrName>style.visibility</p:attrName>
                                        </p:attrNameLst>
                                      </p:cBhvr>
                                      <p:to>
                                        <p:strVal val="visible"/>
                                      </p:to>
                                    </p:set>
                                    <p:animEffect transition="in" filter="wipe(down)">
                                      <p:cBhvr>
                                        <p:cTn id="23" dur="580">
                                          <p:stCondLst>
                                            <p:cond delay="0"/>
                                          </p:stCondLst>
                                        </p:cTn>
                                        <p:tgtEl>
                                          <p:spTgt spid="16">
                                            <p:txEl>
                                              <p:pRg st="1" end="1"/>
                                            </p:txEl>
                                          </p:spTgt>
                                        </p:tgtEl>
                                      </p:cBhvr>
                                    </p:animEffect>
                                    <p:anim calcmode="lin" valueType="num">
                                      <p:cBhvr>
                                        <p:cTn id="24" dur="1822" tmFilter="0,0; 0.14,0.36; 0.43,0.73; 0.71,0.91; 1.0,1.0">
                                          <p:stCondLst>
                                            <p:cond delay="0"/>
                                          </p:stCondLst>
                                        </p:cTn>
                                        <p:tgtEl>
                                          <p:spTgt spid="1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xEl>
                                              <p:pRg st="1" end="1"/>
                                            </p:txEl>
                                          </p:spTgt>
                                        </p:tgtEl>
                                      </p:cBhvr>
                                      <p:to x="100000" y="60000"/>
                                    </p:animScale>
                                    <p:animScale>
                                      <p:cBhvr>
                                        <p:cTn id="30" dur="166" decel="50000">
                                          <p:stCondLst>
                                            <p:cond delay="676"/>
                                          </p:stCondLst>
                                        </p:cTn>
                                        <p:tgtEl>
                                          <p:spTgt spid="16">
                                            <p:txEl>
                                              <p:pRg st="1" end="1"/>
                                            </p:txEl>
                                          </p:spTgt>
                                        </p:tgtEl>
                                      </p:cBhvr>
                                      <p:to x="100000" y="100000"/>
                                    </p:animScale>
                                    <p:animScale>
                                      <p:cBhvr>
                                        <p:cTn id="31" dur="26">
                                          <p:stCondLst>
                                            <p:cond delay="1312"/>
                                          </p:stCondLst>
                                        </p:cTn>
                                        <p:tgtEl>
                                          <p:spTgt spid="16">
                                            <p:txEl>
                                              <p:pRg st="1" end="1"/>
                                            </p:txEl>
                                          </p:spTgt>
                                        </p:tgtEl>
                                      </p:cBhvr>
                                      <p:to x="100000" y="80000"/>
                                    </p:animScale>
                                    <p:animScale>
                                      <p:cBhvr>
                                        <p:cTn id="32" dur="166" decel="50000">
                                          <p:stCondLst>
                                            <p:cond delay="1338"/>
                                          </p:stCondLst>
                                        </p:cTn>
                                        <p:tgtEl>
                                          <p:spTgt spid="16">
                                            <p:txEl>
                                              <p:pRg st="1" end="1"/>
                                            </p:txEl>
                                          </p:spTgt>
                                        </p:tgtEl>
                                      </p:cBhvr>
                                      <p:to x="100000" y="100000"/>
                                    </p:animScale>
                                    <p:animScale>
                                      <p:cBhvr>
                                        <p:cTn id="33" dur="26">
                                          <p:stCondLst>
                                            <p:cond delay="1642"/>
                                          </p:stCondLst>
                                        </p:cTn>
                                        <p:tgtEl>
                                          <p:spTgt spid="16">
                                            <p:txEl>
                                              <p:pRg st="1" end="1"/>
                                            </p:txEl>
                                          </p:spTgt>
                                        </p:tgtEl>
                                      </p:cBhvr>
                                      <p:to x="100000" y="90000"/>
                                    </p:animScale>
                                    <p:animScale>
                                      <p:cBhvr>
                                        <p:cTn id="34" dur="166" decel="50000">
                                          <p:stCondLst>
                                            <p:cond delay="1668"/>
                                          </p:stCondLst>
                                        </p:cTn>
                                        <p:tgtEl>
                                          <p:spTgt spid="16">
                                            <p:txEl>
                                              <p:pRg st="1" end="1"/>
                                            </p:txEl>
                                          </p:spTgt>
                                        </p:tgtEl>
                                      </p:cBhvr>
                                      <p:to x="100000" y="100000"/>
                                    </p:animScale>
                                    <p:animScale>
                                      <p:cBhvr>
                                        <p:cTn id="35" dur="26">
                                          <p:stCondLst>
                                            <p:cond delay="1808"/>
                                          </p:stCondLst>
                                        </p:cTn>
                                        <p:tgtEl>
                                          <p:spTgt spid="16">
                                            <p:txEl>
                                              <p:pRg st="1" end="1"/>
                                            </p:txEl>
                                          </p:spTgt>
                                        </p:tgtEl>
                                      </p:cBhvr>
                                      <p:to x="100000" y="95000"/>
                                    </p:animScale>
                                    <p:animScale>
                                      <p:cBhvr>
                                        <p:cTn id="36" dur="166" decel="50000">
                                          <p:stCondLst>
                                            <p:cond delay="1834"/>
                                          </p:stCondLst>
                                        </p:cTn>
                                        <p:tgtEl>
                                          <p:spTgt spid="1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down)">
                                      <p:cBhvr>
                                        <p:cTn id="39" dur="580">
                                          <p:stCondLst>
                                            <p:cond delay="0"/>
                                          </p:stCondLst>
                                        </p:cTn>
                                        <p:tgtEl>
                                          <p:spTgt spid="16">
                                            <p:txEl>
                                              <p:pRg st="2" end="2"/>
                                            </p:txEl>
                                          </p:spTgt>
                                        </p:tgtEl>
                                      </p:cBhvr>
                                    </p:animEffect>
                                    <p:anim calcmode="lin" valueType="num">
                                      <p:cBhvr>
                                        <p:cTn id="40" dur="1822" tmFilter="0,0; 0.14,0.36; 0.43,0.73; 0.71,0.91; 1.0,1.0">
                                          <p:stCondLst>
                                            <p:cond delay="0"/>
                                          </p:stCondLst>
                                        </p:cTn>
                                        <p:tgtEl>
                                          <p:spTgt spid="1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6">
                                            <p:txEl>
                                              <p:pRg st="2" end="2"/>
                                            </p:txEl>
                                          </p:spTgt>
                                        </p:tgtEl>
                                      </p:cBhvr>
                                      <p:to x="100000" y="60000"/>
                                    </p:animScale>
                                    <p:animScale>
                                      <p:cBhvr>
                                        <p:cTn id="46" dur="166" decel="50000">
                                          <p:stCondLst>
                                            <p:cond delay="676"/>
                                          </p:stCondLst>
                                        </p:cTn>
                                        <p:tgtEl>
                                          <p:spTgt spid="16">
                                            <p:txEl>
                                              <p:pRg st="2" end="2"/>
                                            </p:txEl>
                                          </p:spTgt>
                                        </p:tgtEl>
                                      </p:cBhvr>
                                      <p:to x="100000" y="100000"/>
                                    </p:animScale>
                                    <p:animScale>
                                      <p:cBhvr>
                                        <p:cTn id="47" dur="26">
                                          <p:stCondLst>
                                            <p:cond delay="1312"/>
                                          </p:stCondLst>
                                        </p:cTn>
                                        <p:tgtEl>
                                          <p:spTgt spid="16">
                                            <p:txEl>
                                              <p:pRg st="2" end="2"/>
                                            </p:txEl>
                                          </p:spTgt>
                                        </p:tgtEl>
                                      </p:cBhvr>
                                      <p:to x="100000" y="80000"/>
                                    </p:animScale>
                                    <p:animScale>
                                      <p:cBhvr>
                                        <p:cTn id="48" dur="166" decel="50000">
                                          <p:stCondLst>
                                            <p:cond delay="1338"/>
                                          </p:stCondLst>
                                        </p:cTn>
                                        <p:tgtEl>
                                          <p:spTgt spid="16">
                                            <p:txEl>
                                              <p:pRg st="2" end="2"/>
                                            </p:txEl>
                                          </p:spTgt>
                                        </p:tgtEl>
                                      </p:cBhvr>
                                      <p:to x="100000" y="100000"/>
                                    </p:animScale>
                                    <p:animScale>
                                      <p:cBhvr>
                                        <p:cTn id="49" dur="26">
                                          <p:stCondLst>
                                            <p:cond delay="1642"/>
                                          </p:stCondLst>
                                        </p:cTn>
                                        <p:tgtEl>
                                          <p:spTgt spid="16">
                                            <p:txEl>
                                              <p:pRg st="2" end="2"/>
                                            </p:txEl>
                                          </p:spTgt>
                                        </p:tgtEl>
                                      </p:cBhvr>
                                      <p:to x="100000" y="90000"/>
                                    </p:animScale>
                                    <p:animScale>
                                      <p:cBhvr>
                                        <p:cTn id="50" dur="166" decel="50000">
                                          <p:stCondLst>
                                            <p:cond delay="1668"/>
                                          </p:stCondLst>
                                        </p:cTn>
                                        <p:tgtEl>
                                          <p:spTgt spid="16">
                                            <p:txEl>
                                              <p:pRg st="2" end="2"/>
                                            </p:txEl>
                                          </p:spTgt>
                                        </p:tgtEl>
                                      </p:cBhvr>
                                      <p:to x="100000" y="100000"/>
                                    </p:animScale>
                                    <p:animScale>
                                      <p:cBhvr>
                                        <p:cTn id="51" dur="26">
                                          <p:stCondLst>
                                            <p:cond delay="1808"/>
                                          </p:stCondLst>
                                        </p:cTn>
                                        <p:tgtEl>
                                          <p:spTgt spid="16">
                                            <p:txEl>
                                              <p:pRg st="2" end="2"/>
                                            </p:txEl>
                                          </p:spTgt>
                                        </p:tgtEl>
                                      </p:cBhvr>
                                      <p:to x="100000" y="95000"/>
                                    </p:animScale>
                                    <p:animScale>
                                      <p:cBhvr>
                                        <p:cTn id="52" dur="166" decel="50000">
                                          <p:stCondLst>
                                            <p:cond delay="1834"/>
                                          </p:stCondLst>
                                        </p:cTn>
                                        <p:tgtEl>
                                          <p:spTgt spid="16">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16">
                                            <p:txEl>
                                              <p:pRg st="3" end="3"/>
                                            </p:txEl>
                                          </p:spTgt>
                                        </p:tgtEl>
                                        <p:attrNameLst>
                                          <p:attrName>style.visibility</p:attrName>
                                        </p:attrNameLst>
                                      </p:cBhvr>
                                      <p:to>
                                        <p:strVal val="visible"/>
                                      </p:to>
                                    </p:set>
                                    <p:animEffect transition="in" filter="wipe(down)">
                                      <p:cBhvr>
                                        <p:cTn id="55" dur="580">
                                          <p:stCondLst>
                                            <p:cond delay="0"/>
                                          </p:stCondLst>
                                        </p:cTn>
                                        <p:tgtEl>
                                          <p:spTgt spid="16">
                                            <p:txEl>
                                              <p:pRg st="3" end="3"/>
                                            </p:txEl>
                                          </p:spTgt>
                                        </p:tgtEl>
                                      </p:cBhvr>
                                    </p:animEffect>
                                    <p:anim calcmode="lin" valueType="num">
                                      <p:cBhvr>
                                        <p:cTn id="56" dur="1822" tmFilter="0,0; 0.14,0.36; 0.43,0.73; 0.71,0.91; 1.0,1.0">
                                          <p:stCondLst>
                                            <p:cond delay="0"/>
                                          </p:stCondLst>
                                        </p:cTn>
                                        <p:tgtEl>
                                          <p:spTgt spid="16">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xEl>
                                              <p:pRg st="3" end="3"/>
                                            </p:txEl>
                                          </p:spTgt>
                                        </p:tgtEl>
                                      </p:cBhvr>
                                      <p:to x="100000" y="60000"/>
                                    </p:animScale>
                                    <p:animScale>
                                      <p:cBhvr>
                                        <p:cTn id="62" dur="166" decel="50000">
                                          <p:stCondLst>
                                            <p:cond delay="676"/>
                                          </p:stCondLst>
                                        </p:cTn>
                                        <p:tgtEl>
                                          <p:spTgt spid="16">
                                            <p:txEl>
                                              <p:pRg st="3" end="3"/>
                                            </p:txEl>
                                          </p:spTgt>
                                        </p:tgtEl>
                                      </p:cBhvr>
                                      <p:to x="100000" y="100000"/>
                                    </p:animScale>
                                    <p:animScale>
                                      <p:cBhvr>
                                        <p:cTn id="63" dur="26">
                                          <p:stCondLst>
                                            <p:cond delay="1312"/>
                                          </p:stCondLst>
                                        </p:cTn>
                                        <p:tgtEl>
                                          <p:spTgt spid="16">
                                            <p:txEl>
                                              <p:pRg st="3" end="3"/>
                                            </p:txEl>
                                          </p:spTgt>
                                        </p:tgtEl>
                                      </p:cBhvr>
                                      <p:to x="100000" y="80000"/>
                                    </p:animScale>
                                    <p:animScale>
                                      <p:cBhvr>
                                        <p:cTn id="64" dur="166" decel="50000">
                                          <p:stCondLst>
                                            <p:cond delay="1338"/>
                                          </p:stCondLst>
                                        </p:cTn>
                                        <p:tgtEl>
                                          <p:spTgt spid="16">
                                            <p:txEl>
                                              <p:pRg st="3" end="3"/>
                                            </p:txEl>
                                          </p:spTgt>
                                        </p:tgtEl>
                                      </p:cBhvr>
                                      <p:to x="100000" y="100000"/>
                                    </p:animScale>
                                    <p:animScale>
                                      <p:cBhvr>
                                        <p:cTn id="65" dur="26">
                                          <p:stCondLst>
                                            <p:cond delay="1642"/>
                                          </p:stCondLst>
                                        </p:cTn>
                                        <p:tgtEl>
                                          <p:spTgt spid="16">
                                            <p:txEl>
                                              <p:pRg st="3" end="3"/>
                                            </p:txEl>
                                          </p:spTgt>
                                        </p:tgtEl>
                                      </p:cBhvr>
                                      <p:to x="100000" y="90000"/>
                                    </p:animScale>
                                    <p:animScale>
                                      <p:cBhvr>
                                        <p:cTn id="66" dur="166" decel="50000">
                                          <p:stCondLst>
                                            <p:cond delay="1668"/>
                                          </p:stCondLst>
                                        </p:cTn>
                                        <p:tgtEl>
                                          <p:spTgt spid="16">
                                            <p:txEl>
                                              <p:pRg st="3" end="3"/>
                                            </p:txEl>
                                          </p:spTgt>
                                        </p:tgtEl>
                                      </p:cBhvr>
                                      <p:to x="100000" y="100000"/>
                                    </p:animScale>
                                    <p:animScale>
                                      <p:cBhvr>
                                        <p:cTn id="67" dur="26">
                                          <p:stCondLst>
                                            <p:cond delay="1808"/>
                                          </p:stCondLst>
                                        </p:cTn>
                                        <p:tgtEl>
                                          <p:spTgt spid="16">
                                            <p:txEl>
                                              <p:pRg st="3" end="3"/>
                                            </p:txEl>
                                          </p:spTgt>
                                        </p:tgtEl>
                                      </p:cBhvr>
                                      <p:to x="100000" y="95000"/>
                                    </p:animScale>
                                    <p:animScale>
                                      <p:cBhvr>
                                        <p:cTn id="68" dur="166" decel="50000">
                                          <p:stCondLst>
                                            <p:cond delay="1834"/>
                                          </p:stCondLst>
                                        </p:cTn>
                                        <p:tgtEl>
                                          <p:spTgt spid="16">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16">
                                            <p:txEl>
                                              <p:pRg st="4" end="4"/>
                                            </p:txEl>
                                          </p:spTgt>
                                        </p:tgtEl>
                                        <p:attrNameLst>
                                          <p:attrName>style.visibility</p:attrName>
                                        </p:attrNameLst>
                                      </p:cBhvr>
                                      <p:to>
                                        <p:strVal val="visible"/>
                                      </p:to>
                                    </p:set>
                                    <p:animEffect transition="in" filter="wipe(down)">
                                      <p:cBhvr>
                                        <p:cTn id="71" dur="580">
                                          <p:stCondLst>
                                            <p:cond delay="0"/>
                                          </p:stCondLst>
                                        </p:cTn>
                                        <p:tgtEl>
                                          <p:spTgt spid="16">
                                            <p:txEl>
                                              <p:pRg st="4" end="4"/>
                                            </p:txEl>
                                          </p:spTgt>
                                        </p:tgtEl>
                                      </p:cBhvr>
                                    </p:animEffect>
                                    <p:anim calcmode="lin" valueType="num">
                                      <p:cBhvr>
                                        <p:cTn id="72" dur="1822" tmFilter="0,0; 0.14,0.36; 0.43,0.73; 0.71,0.91; 1.0,1.0">
                                          <p:stCondLst>
                                            <p:cond delay="0"/>
                                          </p:stCondLst>
                                        </p:cTn>
                                        <p:tgtEl>
                                          <p:spTgt spid="16">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4" end="4"/>
                                            </p:txEl>
                                          </p:spTgt>
                                        </p:tgtEl>
                                      </p:cBhvr>
                                      <p:to x="100000" y="60000"/>
                                    </p:animScale>
                                    <p:animScale>
                                      <p:cBhvr>
                                        <p:cTn id="78" dur="166" decel="50000">
                                          <p:stCondLst>
                                            <p:cond delay="676"/>
                                          </p:stCondLst>
                                        </p:cTn>
                                        <p:tgtEl>
                                          <p:spTgt spid="16">
                                            <p:txEl>
                                              <p:pRg st="4" end="4"/>
                                            </p:txEl>
                                          </p:spTgt>
                                        </p:tgtEl>
                                      </p:cBhvr>
                                      <p:to x="100000" y="100000"/>
                                    </p:animScale>
                                    <p:animScale>
                                      <p:cBhvr>
                                        <p:cTn id="79" dur="26">
                                          <p:stCondLst>
                                            <p:cond delay="1312"/>
                                          </p:stCondLst>
                                        </p:cTn>
                                        <p:tgtEl>
                                          <p:spTgt spid="16">
                                            <p:txEl>
                                              <p:pRg st="4" end="4"/>
                                            </p:txEl>
                                          </p:spTgt>
                                        </p:tgtEl>
                                      </p:cBhvr>
                                      <p:to x="100000" y="80000"/>
                                    </p:animScale>
                                    <p:animScale>
                                      <p:cBhvr>
                                        <p:cTn id="80" dur="166" decel="50000">
                                          <p:stCondLst>
                                            <p:cond delay="1338"/>
                                          </p:stCondLst>
                                        </p:cTn>
                                        <p:tgtEl>
                                          <p:spTgt spid="16">
                                            <p:txEl>
                                              <p:pRg st="4" end="4"/>
                                            </p:txEl>
                                          </p:spTgt>
                                        </p:tgtEl>
                                      </p:cBhvr>
                                      <p:to x="100000" y="100000"/>
                                    </p:animScale>
                                    <p:animScale>
                                      <p:cBhvr>
                                        <p:cTn id="81" dur="26">
                                          <p:stCondLst>
                                            <p:cond delay="1642"/>
                                          </p:stCondLst>
                                        </p:cTn>
                                        <p:tgtEl>
                                          <p:spTgt spid="16">
                                            <p:txEl>
                                              <p:pRg st="4" end="4"/>
                                            </p:txEl>
                                          </p:spTgt>
                                        </p:tgtEl>
                                      </p:cBhvr>
                                      <p:to x="100000" y="90000"/>
                                    </p:animScale>
                                    <p:animScale>
                                      <p:cBhvr>
                                        <p:cTn id="82" dur="166" decel="50000">
                                          <p:stCondLst>
                                            <p:cond delay="1668"/>
                                          </p:stCondLst>
                                        </p:cTn>
                                        <p:tgtEl>
                                          <p:spTgt spid="16">
                                            <p:txEl>
                                              <p:pRg st="4" end="4"/>
                                            </p:txEl>
                                          </p:spTgt>
                                        </p:tgtEl>
                                      </p:cBhvr>
                                      <p:to x="100000" y="100000"/>
                                    </p:animScale>
                                    <p:animScale>
                                      <p:cBhvr>
                                        <p:cTn id="83" dur="26">
                                          <p:stCondLst>
                                            <p:cond delay="1808"/>
                                          </p:stCondLst>
                                        </p:cTn>
                                        <p:tgtEl>
                                          <p:spTgt spid="16">
                                            <p:txEl>
                                              <p:pRg st="4" end="4"/>
                                            </p:txEl>
                                          </p:spTgt>
                                        </p:tgtEl>
                                      </p:cBhvr>
                                      <p:to x="100000" y="95000"/>
                                    </p:animScale>
                                    <p:animScale>
                                      <p:cBhvr>
                                        <p:cTn id="84" dur="166" decel="50000">
                                          <p:stCondLst>
                                            <p:cond delay="1834"/>
                                          </p:stCondLst>
                                        </p:cTn>
                                        <p:tgtEl>
                                          <p:spTgt spid="16">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16">
                                            <p:txEl>
                                              <p:pRg st="5" end="5"/>
                                            </p:txEl>
                                          </p:spTgt>
                                        </p:tgtEl>
                                        <p:attrNameLst>
                                          <p:attrName>style.visibility</p:attrName>
                                        </p:attrNameLst>
                                      </p:cBhvr>
                                      <p:to>
                                        <p:strVal val="visible"/>
                                      </p:to>
                                    </p:set>
                                    <p:animEffect transition="in" filter="wipe(down)">
                                      <p:cBhvr>
                                        <p:cTn id="87" dur="580">
                                          <p:stCondLst>
                                            <p:cond delay="0"/>
                                          </p:stCondLst>
                                        </p:cTn>
                                        <p:tgtEl>
                                          <p:spTgt spid="16">
                                            <p:txEl>
                                              <p:pRg st="5" end="5"/>
                                            </p:txEl>
                                          </p:spTgt>
                                        </p:tgtEl>
                                      </p:cBhvr>
                                    </p:animEffect>
                                    <p:anim calcmode="lin" valueType="num">
                                      <p:cBhvr>
                                        <p:cTn id="88" dur="1822" tmFilter="0,0; 0.14,0.36; 0.43,0.73; 0.71,0.91; 1.0,1.0">
                                          <p:stCondLst>
                                            <p:cond delay="0"/>
                                          </p:stCondLst>
                                        </p:cTn>
                                        <p:tgtEl>
                                          <p:spTgt spid="16">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6">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6">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6">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6">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16">
                                            <p:txEl>
                                              <p:pRg st="5" end="5"/>
                                            </p:txEl>
                                          </p:spTgt>
                                        </p:tgtEl>
                                      </p:cBhvr>
                                      <p:to x="100000" y="60000"/>
                                    </p:animScale>
                                    <p:animScale>
                                      <p:cBhvr>
                                        <p:cTn id="94" dur="166" decel="50000">
                                          <p:stCondLst>
                                            <p:cond delay="676"/>
                                          </p:stCondLst>
                                        </p:cTn>
                                        <p:tgtEl>
                                          <p:spTgt spid="16">
                                            <p:txEl>
                                              <p:pRg st="5" end="5"/>
                                            </p:txEl>
                                          </p:spTgt>
                                        </p:tgtEl>
                                      </p:cBhvr>
                                      <p:to x="100000" y="100000"/>
                                    </p:animScale>
                                    <p:animScale>
                                      <p:cBhvr>
                                        <p:cTn id="95" dur="26">
                                          <p:stCondLst>
                                            <p:cond delay="1312"/>
                                          </p:stCondLst>
                                        </p:cTn>
                                        <p:tgtEl>
                                          <p:spTgt spid="16">
                                            <p:txEl>
                                              <p:pRg st="5" end="5"/>
                                            </p:txEl>
                                          </p:spTgt>
                                        </p:tgtEl>
                                      </p:cBhvr>
                                      <p:to x="100000" y="80000"/>
                                    </p:animScale>
                                    <p:animScale>
                                      <p:cBhvr>
                                        <p:cTn id="96" dur="166" decel="50000">
                                          <p:stCondLst>
                                            <p:cond delay="1338"/>
                                          </p:stCondLst>
                                        </p:cTn>
                                        <p:tgtEl>
                                          <p:spTgt spid="16">
                                            <p:txEl>
                                              <p:pRg st="5" end="5"/>
                                            </p:txEl>
                                          </p:spTgt>
                                        </p:tgtEl>
                                      </p:cBhvr>
                                      <p:to x="100000" y="100000"/>
                                    </p:animScale>
                                    <p:animScale>
                                      <p:cBhvr>
                                        <p:cTn id="97" dur="26">
                                          <p:stCondLst>
                                            <p:cond delay="1642"/>
                                          </p:stCondLst>
                                        </p:cTn>
                                        <p:tgtEl>
                                          <p:spTgt spid="16">
                                            <p:txEl>
                                              <p:pRg st="5" end="5"/>
                                            </p:txEl>
                                          </p:spTgt>
                                        </p:tgtEl>
                                      </p:cBhvr>
                                      <p:to x="100000" y="90000"/>
                                    </p:animScale>
                                    <p:animScale>
                                      <p:cBhvr>
                                        <p:cTn id="98" dur="166" decel="50000">
                                          <p:stCondLst>
                                            <p:cond delay="1668"/>
                                          </p:stCondLst>
                                        </p:cTn>
                                        <p:tgtEl>
                                          <p:spTgt spid="16">
                                            <p:txEl>
                                              <p:pRg st="5" end="5"/>
                                            </p:txEl>
                                          </p:spTgt>
                                        </p:tgtEl>
                                      </p:cBhvr>
                                      <p:to x="100000" y="100000"/>
                                    </p:animScale>
                                    <p:animScale>
                                      <p:cBhvr>
                                        <p:cTn id="99" dur="26">
                                          <p:stCondLst>
                                            <p:cond delay="1808"/>
                                          </p:stCondLst>
                                        </p:cTn>
                                        <p:tgtEl>
                                          <p:spTgt spid="16">
                                            <p:txEl>
                                              <p:pRg st="5" end="5"/>
                                            </p:txEl>
                                          </p:spTgt>
                                        </p:tgtEl>
                                      </p:cBhvr>
                                      <p:to x="100000" y="95000"/>
                                    </p:animScale>
                                    <p:animScale>
                                      <p:cBhvr>
                                        <p:cTn id="100" dur="166" decel="50000">
                                          <p:stCondLst>
                                            <p:cond delay="1834"/>
                                          </p:stCondLst>
                                        </p:cTn>
                                        <p:tgtEl>
                                          <p:spTgt spid="16">
                                            <p:txEl>
                                              <p:pRg st="5" end="5"/>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16">
                                            <p:txEl>
                                              <p:pRg st="6" end="6"/>
                                            </p:txEl>
                                          </p:spTgt>
                                        </p:tgtEl>
                                        <p:attrNameLst>
                                          <p:attrName>style.visibility</p:attrName>
                                        </p:attrNameLst>
                                      </p:cBhvr>
                                      <p:to>
                                        <p:strVal val="visible"/>
                                      </p:to>
                                    </p:set>
                                    <p:animEffect transition="in" filter="wipe(down)">
                                      <p:cBhvr>
                                        <p:cTn id="103" dur="580">
                                          <p:stCondLst>
                                            <p:cond delay="0"/>
                                          </p:stCondLst>
                                        </p:cTn>
                                        <p:tgtEl>
                                          <p:spTgt spid="16">
                                            <p:txEl>
                                              <p:pRg st="6" end="6"/>
                                            </p:txEl>
                                          </p:spTgt>
                                        </p:tgtEl>
                                      </p:cBhvr>
                                    </p:animEffect>
                                    <p:anim calcmode="lin" valueType="num">
                                      <p:cBhvr>
                                        <p:cTn id="104" dur="1822" tmFilter="0,0; 0.14,0.36; 0.43,0.73; 0.71,0.91; 1.0,1.0">
                                          <p:stCondLst>
                                            <p:cond delay="0"/>
                                          </p:stCondLst>
                                        </p:cTn>
                                        <p:tgtEl>
                                          <p:spTgt spid="16">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6">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6">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6">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6">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16">
                                            <p:txEl>
                                              <p:pRg st="6" end="6"/>
                                            </p:txEl>
                                          </p:spTgt>
                                        </p:tgtEl>
                                      </p:cBhvr>
                                      <p:to x="100000" y="60000"/>
                                    </p:animScale>
                                    <p:animScale>
                                      <p:cBhvr>
                                        <p:cTn id="110" dur="166" decel="50000">
                                          <p:stCondLst>
                                            <p:cond delay="676"/>
                                          </p:stCondLst>
                                        </p:cTn>
                                        <p:tgtEl>
                                          <p:spTgt spid="16">
                                            <p:txEl>
                                              <p:pRg st="6" end="6"/>
                                            </p:txEl>
                                          </p:spTgt>
                                        </p:tgtEl>
                                      </p:cBhvr>
                                      <p:to x="100000" y="100000"/>
                                    </p:animScale>
                                    <p:animScale>
                                      <p:cBhvr>
                                        <p:cTn id="111" dur="26">
                                          <p:stCondLst>
                                            <p:cond delay="1312"/>
                                          </p:stCondLst>
                                        </p:cTn>
                                        <p:tgtEl>
                                          <p:spTgt spid="16">
                                            <p:txEl>
                                              <p:pRg st="6" end="6"/>
                                            </p:txEl>
                                          </p:spTgt>
                                        </p:tgtEl>
                                      </p:cBhvr>
                                      <p:to x="100000" y="80000"/>
                                    </p:animScale>
                                    <p:animScale>
                                      <p:cBhvr>
                                        <p:cTn id="112" dur="166" decel="50000">
                                          <p:stCondLst>
                                            <p:cond delay="1338"/>
                                          </p:stCondLst>
                                        </p:cTn>
                                        <p:tgtEl>
                                          <p:spTgt spid="16">
                                            <p:txEl>
                                              <p:pRg st="6" end="6"/>
                                            </p:txEl>
                                          </p:spTgt>
                                        </p:tgtEl>
                                      </p:cBhvr>
                                      <p:to x="100000" y="100000"/>
                                    </p:animScale>
                                    <p:animScale>
                                      <p:cBhvr>
                                        <p:cTn id="113" dur="26">
                                          <p:stCondLst>
                                            <p:cond delay="1642"/>
                                          </p:stCondLst>
                                        </p:cTn>
                                        <p:tgtEl>
                                          <p:spTgt spid="16">
                                            <p:txEl>
                                              <p:pRg st="6" end="6"/>
                                            </p:txEl>
                                          </p:spTgt>
                                        </p:tgtEl>
                                      </p:cBhvr>
                                      <p:to x="100000" y="90000"/>
                                    </p:animScale>
                                    <p:animScale>
                                      <p:cBhvr>
                                        <p:cTn id="114" dur="166" decel="50000">
                                          <p:stCondLst>
                                            <p:cond delay="1668"/>
                                          </p:stCondLst>
                                        </p:cTn>
                                        <p:tgtEl>
                                          <p:spTgt spid="16">
                                            <p:txEl>
                                              <p:pRg st="6" end="6"/>
                                            </p:txEl>
                                          </p:spTgt>
                                        </p:tgtEl>
                                      </p:cBhvr>
                                      <p:to x="100000" y="100000"/>
                                    </p:animScale>
                                    <p:animScale>
                                      <p:cBhvr>
                                        <p:cTn id="115" dur="26">
                                          <p:stCondLst>
                                            <p:cond delay="1808"/>
                                          </p:stCondLst>
                                        </p:cTn>
                                        <p:tgtEl>
                                          <p:spTgt spid="16">
                                            <p:txEl>
                                              <p:pRg st="6" end="6"/>
                                            </p:txEl>
                                          </p:spTgt>
                                        </p:tgtEl>
                                      </p:cBhvr>
                                      <p:to x="100000" y="95000"/>
                                    </p:animScale>
                                    <p:animScale>
                                      <p:cBhvr>
                                        <p:cTn id="116" dur="166" decel="50000">
                                          <p:stCondLst>
                                            <p:cond delay="1834"/>
                                          </p:stCondLst>
                                        </p:cTn>
                                        <p:tgtEl>
                                          <p:spTgt spid="16">
                                            <p:txEl>
                                              <p:pRg st="6" end="6"/>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6">
                                            <p:txEl>
                                              <p:pRg st="7" end="7"/>
                                            </p:txEl>
                                          </p:spTgt>
                                        </p:tgtEl>
                                        <p:attrNameLst>
                                          <p:attrName>style.visibility</p:attrName>
                                        </p:attrNameLst>
                                      </p:cBhvr>
                                      <p:to>
                                        <p:strVal val="visible"/>
                                      </p:to>
                                    </p:set>
                                    <p:animEffect transition="in" filter="wipe(down)">
                                      <p:cBhvr>
                                        <p:cTn id="119" dur="580">
                                          <p:stCondLst>
                                            <p:cond delay="0"/>
                                          </p:stCondLst>
                                        </p:cTn>
                                        <p:tgtEl>
                                          <p:spTgt spid="16">
                                            <p:txEl>
                                              <p:pRg st="7" end="7"/>
                                            </p:txEl>
                                          </p:spTgt>
                                        </p:tgtEl>
                                      </p:cBhvr>
                                    </p:animEffect>
                                    <p:anim calcmode="lin" valueType="num">
                                      <p:cBhvr>
                                        <p:cTn id="120" dur="1822" tmFilter="0,0; 0.14,0.36; 0.43,0.73; 0.71,0.91; 1.0,1.0">
                                          <p:stCondLst>
                                            <p:cond delay="0"/>
                                          </p:stCondLst>
                                        </p:cTn>
                                        <p:tgtEl>
                                          <p:spTgt spid="16">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xEl>
                                              <p:pRg st="7" end="7"/>
                                            </p:txEl>
                                          </p:spTgt>
                                        </p:tgtEl>
                                      </p:cBhvr>
                                      <p:to x="100000" y="60000"/>
                                    </p:animScale>
                                    <p:animScale>
                                      <p:cBhvr>
                                        <p:cTn id="126" dur="166" decel="50000">
                                          <p:stCondLst>
                                            <p:cond delay="676"/>
                                          </p:stCondLst>
                                        </p:cTn>
                                        <p:tgtEl>
                                          <p:spTgt spid="16">
                                            <p:txEl>
                                              <p:pRg st="7" end="7"/>
                                            </p:txEl>
                                          </p:spTgt>
                                        </p:tgtEl>
                                      </p:cBhvr>
                                      <p:to x="100000" y="100000"/>
                                    </p:animScale>
                                    <p:animScale>
                                      <p:cBhvr>
                                        <p:cTn id="127" dur="26">
                                          <p:stCondLst>
                                            <p:cond delay="1312"/>
                                          </p:stCondLst>
                                        </p:cTn>
                                        <p:tgtEl>
                                          <p:spTgt spid="16">
                                            <p:txEl>
                                              <p:pRg st="7" end="7"/>
                                            </p:txEl>
                                          </p:spTgt>
                                        </p:tgtEl>
                                      </p:cBhvr>
                                      <p:to x="100000" y="80000"/>
                                    </p:animScale>
                                    <p:animScale>
                                      <p:cBhvr>
                                        <p:cTn id="128" dur="166" decel="50000">
                                          <p:stCondLst>
                                            <p:cond delay="1338"/>
                                          </p:stCondLst>
                                        </p:cTn>
                                        <p:tgtEl>
                                          <p:spTgt spid="16">
                                            <p:txEl>
                                              <p:pRg st="7" end="7"/>
                                            </p:txEl>
                                          </p:spTgt>
                                        </p:tgtEl>
                                      </p:cBhvr>
                                      <p:to x="100000" y="100000"/>
                                    </p:animScale>
                                    <p:animScale>
                                      <p:cBhvr>
                                        <p:cTn id="129" dur="26">
                                          <p:stCondLst>
                                            <p:cond delay="1642"/>
                                          </p:stCondLst>
                                        </p:cTn>
                                        <p:tgtEl>
                                          <p:spTgt spid="16">
                                            <p:txEl>
                                              <p:pRg st="7" end="7"/>
                                            </p:txEl>
                                          </p:spTgt>
                                        </p:tgtEl>
                                      </p:cBhvr>
                                      <p:to x="100000" y="90000"/>
                                    </p:animScale>
                                    <p:animScale>
                                      <p:cBhvr>
                                        <p:cTn id="130" dur="166" decel="50000">
                                          <p:stCondLst>
                                            <p:cond delay="1668"/>
                                          </p:stCondLst>
                                        </p:cTn>
                                        <p:tgtEl>
                                          <p:spTgt spid="16">
                                            <p:txEl>
                                              <p:pRg st="7" end="7"/>
                                            </p:txEl>
                                          </p:spTgt>
                                        </p:tgtEl>
                                      </p:cBhvr>
                                      <p:to x="100000" y="100000"/>
                                    </p:animScale>
                                    <p:animScale>
                                      <p:cBhvr>
                                        <p:cTn id="131" dur="26">
                                          <p:stCondLst>
                                            <p:cond delay="1808"/>
                                          </p:stCondLst>
                                        </p:cTn>
                                        <p:tgtEl>
                                          <p:spTgt spid="16">
                                            <p:txEl>
                                              <p:pRg st="7" end="7"/>
                                            </p:txEl>
                                          </p:spTgt>
                                        </p:tgtEl>
                                      </p:cBhvr>
                                      <p:to x="100000" y="95000"/>
                                    </p:animScale>
                                    <p:animScale>
                                      <p:cBhvr>
                                        <p:cTn id="132" dur="166" decel="50000">
                                          <p:stCondLst>
                                            <p:cond delay="1834"/>
                                          </p:stCondLst>
                                        </p:cTn>
                                        <p:tgtEl>
                                          <p:spTgt spid="16">
                                            <p:txEl>
                                              <p:pRg st="7" end="7"/>
                                            </p:txEl>
                                          </p:spTgt>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16">
                                            <p:txEl>
                                              <p:pRg st="8" end="8"/>
                                            </p:txEl>
                                          </p:spTgt>
                                        </p:tgtEl>
                                        <p:attrNameLst>
                                          <p:attrName>style.visibility</p:attrName>
                                        </p:attrNameLst>
                                      </p:cBhvr>
                                      <p:to>
                                        <p:strVal val="visible"/>
                                      </p:to>
                                    </p:set>
                                    <p:animEffect transition="in" filter="wipe(down)">
                                      <p:cBhvr>
                                        <p:cTn id="135" dur="580">
                                          <p:stCondLst>
                                            <p:cond delay="0"/>
                                          </p:stCondLst>
                                        </p:cTn>
                                        <p:tgtEl>
                                          <p:spTgt spid="16">
                                            <p:txEl>
                                              <p:pRg st="8" end="8"/>
                                            </p:txEl>
                                          </p:spTgt>
                                        </p:tgtEl>
                                      </p:cBhvr>
                                    </p:animEffect>
                                    <p:anim calcmode="lin" valueType="num">
                                      <p:cBhvr>
                                        <p:cTn id="136" dur="1822" tmFilter="0,0; 0.14,0.36; 0.43,0.73; 0.71,0.91; 1.0,1.0">
                                          <p:stCondLst>
                                            <p:cond delay="0"/>
                                          </p:stCondLst>
                                        </p:cTn>
                                        <p:tgtEl>
                                          <p:spTgt spid="16">
                                            <p:txEl>
                                              <p:pRg st="8" end="8"/>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6">
                                            <p:txEl>
                                              <p:pRg st="8" end="8"/>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6">
                                            <p:txEl>
                                              <p:pRg st="8" end="8"/>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6">
                                            <p:txEl>
                                              <p:pRg st="8" end="8"/>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6">
                                            <p:txEl>
                                              <p:pRg st="8" end="8"/>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16">
                                            <p:txEl>
                                              <p:pRg st="8" end="8"/>
                                            </p:txEl>
                                          </p:spTgt>
                                        </p:tgtEl>
                                      </p:cBhvr>
                                      <p:to x="100000" y="60000"/>
                                    </p:animScale>
                                    <p:animScale>
                                      <p:cBhvr>
                                        <p:cTn id="142" dur="166" decel="50000">
                                          <p:stCondLst>
                                            <p:cond delay="676"/>
                                          </p:stCondLst>
                                        </p:cTn>
                                        <p:tgtEl>
                                          <p:spTgt spid="16">
                                            <p:txEl>
                                              <p:pRg st="8" end="8"/>
                                            </p:txEl>
                                          </p:spTgt>
                                        </p:tgtEl>
                                      </p:cBhvr>
                                      <p:to x="100000" y="100000"/>
                                    </p:animScale>
                                    <p:animScale>
                                      <p:cBhvr>
                                        <p:cTn id="143" dur="26">
                                          <p:stCondLst>
                                            <p:cond delay="1312"/>
                                          </p:stCondLst>
                                        </p:cTn>
                                        <p:tgtEl>
                                          <p:spTgt spid="16">
                                            <p:txEl>
                                              <p:pRg st="8" end="8"/>
                                            </p:txEl>
                                          </p:spTgt>
                                        </p:tgtEl>
                                      </p:cBhvr>
                                      <p:to x="100000" y="80000"/>
                                    </p:animScale>
                                    <p:animScale>
                                      <p:cBhvr>
                                        <p:cTn id="144" dur="166" decel="50000">
                                          <p:stCondLst>
                                            <p:cond delay="1338"/>
                                          </p:stCondLst>
                                        </p:cTn>
                                        <p:tgtEl>
                                          <p:spTgt spid="16">
                                            <p:txEl>
                                              <p:pRg st="8" end="8"/>
                                            </p:txEl>
                                          </p:spTgt>
                                        </p:tgtEl>
                                      </p:cBhvr>
                                      <p:to x="100000" y="100000"/>
                                    </p:animScale>
                                    <p:animScale>
                                      <p:cBhvr>
                                        <p:cTn id="145" dur="26">
                                          <p:stCondLst>
                                            <p:cond delay="1642"/>
                                          </p:stCondLst>
                                        </p:cTn>
                                        <p:tgtEl>
                                          <p:spTgt spid="16">
                                            <p:txEl>
                                              <p:pRg st="8" end="8"/>
                                            </p:txEl>
                                          </p:spTgt>
                                        </p:tgtEl>
                                      </p:cBhvr>
                                      <p:to x="100000" y="90000"/>
                                    </p:animScale>
                                    <p:animScale>
                                      <p:cBhvr>
                                        <p:cTn id="146" dur="166" decel="50000">
                                          <p:stCondLst>
                                            <p:cond delay="1668"/>
                                          </p:stCondLst>
                                        </p:cTn>
                                        <p:tgtEl>
                                          <p:spTgt spid="16">
                                            <p:txEl>
                                              <p:pRg st="8" end="8"/>
                                            </p:txEl>
                                          </p:spTgt>
                                        </p:tgtEl>
                                      </p:cBhvr>
                                      <p:to x="100000" y="100000"/>
                                    </p:animScale>
                                    <p:animScale>
                                      <p:cBhvr>
                                        <p:cTn id="147" dur="26">
                                          <p:stCondLst>
                                            <p:cond delay="1808"/>
                                          </p:stCondLst>
                                        </p:cTn>
                                        <p:tgtEl>
                                          <p:spTgt spid="16">
                                            <p:txEl>
                                              <p:pRg st="8" end="8"/>
                                            </p:txEl>
                                          </p:spTgt>
                                        </p:tgtEl>
                                      </p:cBhvr>
                                      <p:to x="100000" y="95000"/>
                                    </p:animScale>
                                    <p:animScale>
                                      <p:cBhvr>
                                        <p:cTn id="148" dur="166" decel="50000">
                                          <p:stCondLst>
                                            <p:cond delay="1834"/>
                                          </p:stCondLst>
                                        </p:cTn>
                                        <p:tgtEl>
                                          <p:spTgt spid="16">
                                            <p:txEl>
                                              <p:pRg st="8" end="8"/>
                                            </p:txEl>
                                          </p:spTgt>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6">
                                            <p:txEl>
                                              <p:pRg st="9" end="9"/>
                                            </p:txEl>
                                          </p:spTgt>
                                        </p:tgtEl>
                                        <p:attrNameLst>
                                          <p:attrName>style.visibility</p:attrName>
                                        </p:attrNameLst>
                                      </p:cBhvr>
                                      <p:to>
                                        <p:strVal val="visible"/>
                                      </p:to>
                                    </p:set>
                                    <p:animEffect transition="in" filter="wipe(down)">
                                      <p:cBhvr>
                                        <p:cTn id="151" dur="580">
                                          <p:stCondLst>
                                            <p:cond delay="0"/>
                                          </p:stCondLst>
                                        </p:cTn>
                                        <p:tgtEl>
                                          <p:spTgt spid="16">
                                            <p:txEl>
                                              <p:pRg st="9" end="9"/>
                                            </p:txEl>
                                          </p:spTgt>
                                        </p:tgtEl>
                                      </p:cBhvr>
                                    </p:animEffect>
                                    <p:anim calcmode="lin" valueType="num">
                                      <p:cBhvr>
                                        <p:cTn id="152" dur="1822" tmFilter="0,0; 0.14,0.36; 0.43,0.73; 0.71,0.91; 1.0,1.0">
                                          <p:stCondLst>
                                            <p:cond delay="0"/>
                                          </p:stCondLst>
                                        </p:cTn>
                                        <p:tgtEl>
                                          <p:spTgt spid="16">
                                            <p:txEl>
                                              <p:pRg st="9" end="9"/>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6">
                                            <p:txEl>
                                              <p:pRg st="9" end="9"/>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6">
                                            <p:txEl>
                                              <p:pRg st="9" end="9"/>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6">
                                            <p:txEl>
                                              <p:pRg st="9" end="9"/>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6">
                                            <p:txEl>
                                              <p:pRg st="9" end="9"/>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16">
                                            <p:txEl>
                                              <p:pRg st="9" end="9"/>
                                            </p:txEl>
                                          </p:spTgt>
                                        </p:tgtEl>
                                      </p:cBhvr>
                                      <p:to x="100000" y="60000"/>
                                    </p:animScale>
                                    <p:animScale>
                                      <p:cBhvr>
                                        <p:cTn id="158" dur="166" decel="50000">
                                          <p:stCondLst>
                                            <p:cond delay="676"/>
                                          </p:stCondLst>
                                        </p:cTn>
                                        <p:tgtEl>
                                          <p:spTgt spid="16">
                                            <p:txEl>
                                              <p:pRg st="9" end="9"/>
                                            </p:txEl>
                                          </p:spTgt>
                                        </p:tgtEl>
                                      </p:cBhvr>
                                      <p:to x="100000" y="100000"/>
                                    </p:animScale>
                                    <p:animScale>
                                      <p:cBhvr>
                                        <p:cTn id="159" dur="26">
                                          <p:stCondLst>
                                            <p:cond delay="1312"/>
                                          </p:stCondLst>
                                        </p:cTn>
                                        <p:tgtEl>
                                          <p:spTgt spid="16">
                                            <p:txEl>
                                              <p:pRg st="9" end="9"/>
                                            </p:txEl>
                                          </p:spTgt>
                                        </p:tgtEl>
                                      </p:cBhvr>
                                      <p:to x="100000" y="80000"/>
                                    </p:animScale>
                                    <p:animScale>
                                      <p:cBhvr>
                                        <p:cTn id="160" dur="166" decel="50000">
                                          <p:stCondLst>
                                            <p:cond delay="1338"/>
                                          </p:stCondLst>
                                        </p:cTn>
                                        <p:tgtEl>
                                          <p:spTgt spid="16">
                                            <p:txEl>
                                              <p:pRg st="9" end="9"/>
                                            </p:txEl>
                                          </p:spTgt>
                                        </p:tgtEl>
                                      </p:cBhvr>
                                      <p:to x="100000" y="100000"/>
                                    </p:animScale>
                                    <p:animScale>
                                      <p:cBhvr>
                                        <p:cTn id="161" dur="26">
                                          <p:stCondLst>
                                            <p:cond delay="1642"/>
                                          </p:stCondLst>
                                        </p:cTn>
                                        <p:tgtEl>
                                          <p:spTgt spid="16">
                                            <p:txEl>
                                              <p:pRg st="9" end="9"/>
                                            </p:txEl>
                                          </p:spTgt>
                                        </p:tgtEl>
                                      </p:cBhvr>
                                      <p:to x="100000" y="90000"/>
                                    </p:animScale>
                                    <p:animScale>
                                      <p:cBhvr>
                                        <p:cTn id="162" dur="166" decel="50000">
                                          <p:stCondLst>
                                            <p:cond delay="1668"/>
                                          </p:stCondLst>
                                        </p:cTn>
                                        <p:tgtEl>
                                          <p:spTgt spid="16">
                                            <p:txEl>
                                              <p:pRg st="9" end="9"/>
                                            </p:txEl>
                                          </p:spTgt>
                                        </p:tgtEl>
                                      </p:cBhvr>
                                      <p:to x="100000" y="100000"/>
                                    </p:animScale>
                                    <p:animScale>
                                      <p:cBhvr>
                                        <p:cTn id="163" dur="26">
                                          <p:stCondLst>
                                            <p:cond delay="1808"/>
                                          </p:stCondLst>
                                        </p:cTn>
                                        <p:tgtEl>
                                          <p:spTgt spid="16">
                                            <p:txEl>
                                              <p:pRg st="9" end="9"/>
                                            </p:txEl>
                                          </p:spTgt>
                                        </p:tgtEl>
                                      </p:cBhvr>
                                      <p:to x="100000" y="95000"/>
                                    </p:animScale>
                                    <p:animScale>
                                      <p:cBhvr>
                                        <p:cTn id="164" dur="166" decel="50000">
                                          <p:stCondLst>
                                            <p:cond delay="1834"/>
                                          </p:stCondLst>
                                        </p:cTn>
                                        <p:tgtEl>
                                          <p:spTgt spid="16">
                                            <p:txEl>
                                              <p:pRg st="9" end="9"/>
                                            </p:txEl>
                                          </p:spTgt>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6">
                                            <p:txEl>
                                              <p:pRg st="10" end="10"/>
                                            </p:txEl>
                                          </p:spTgt>
                                        </p:tgtEl>
                                        <p:attrNameLst>
                                          <p:attrName>style.visibility</p:attrName>
                                        </p:attrNameLst>
                                      </p:cBhvr>
                                      <p:to>
                                        <p:strVal val="visible"/>
                                      </p:to>
                                    </p:set>
                                    <p:animEffect transition="in" filter="wipe(down)">
                                      <p:cBhvr>
                                        <p:cTn id="167" dur="580">
                                          <p:stCondLst>
                                            <p:cond delay="0"/>
                                          </p:stCondLst>
                                        </p:cTn>
                                        <p:tgtEl>
                                          <p:spTgt spid="16">
                                            <p:txEl>
                                              <p:pRg st="10" end="10"/>
                                            </p:txEl>
                                          </p:spTgt>
                                        </p:tgtEl>
                                      </p:cBhvr>
                                    </p:animEffect>
                                    <p:anim calcmode="lin" valueType="num">
                                      <p:cBhvr>
                                        <p:cTn id="168" dur="1822" tmFilter="0,0; 0.14,0.36; 0.43,0.73; 0.71,0.91; 1.0,1.0">
                                          <p:stCondLst>
                                            <p:cond delay="0"/>
                                          </p:stCondLst>
                                        </p:cTn>
                                        <p:tgtEl>
                                          <p:spTgt spid="16">
                                            <p:txEl>
                                              <p:pRg st="10" end="10"/>
                                            </p:txEl>
                                          </p:spTgt>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6">
                                            <p:txEl>
                                              <p:pRg st="10" end="10"/>
                                            </p:txEl>
                                          </p:spTgt>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6">
                                            <p:txEl>
                                              <p:pRg st="10" end="10"/>
                                            </p:txEl>
                                          </p:spTgt>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6">
                                            <p:txEl>
                                              <p:pRg st="10" end="10"/>
                                            </p:txEl>
                                          </p:spTgt>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6">
                                            <p:txEl>
                                              <p:pRg st="10" end="10"/>
                                            </p:txEl>
                                          </p:spTgt>
                                        </p:tgtEl>
                                        <p:attrNameLst>
                                          <p:attrName>ppt_y</p:attrName>
                                        </p:attrNameLst>
                                      </p:cBhvr>
                                      <p:tavLst>
                                        <p:tav tm="0" fmla="#ppt_y-sin(pi*$)/81">
                                          <p:val>
                                            <p:fltVal val="0"/>
                                          </p:val>
                                        </p:tav>
                                        <p:tav tm="100000">
                                          <p:val>
                                            <p:fltVal val="1"/>
                                          </p:val>
                                        </p:tav>
                                      </p:tavLst>
                                    </p:anim>
                                    <p:animScale>
                                      <p:cBhvr>
                                        <p:cTn id="173" dur="26">
                                          <p:stCondLst>
                                            <p:cond delay="650"/>
                                          </p:stCondLst>
                                        </p:cTn>
                                        <p:tgtEl>
                                          <p:spTgt spid="16">
                                            <p:txEl>
                                              <p:pRg st="10" end="10"/>
                                            </p:txEl>
                                          </p:spTgt>
                                        </p:tgtEl>
                                      </p:cBhvr>
                                      <p:to x="100000" y="60000"/>
                                    </p:animScale>
                                    <p:animScale>
                                      <p:cBhvr>
                                        <p:cTn id="174" dur="166" decel="50000">
                                          <p:stCondLst>
                                            <p:cond delay="676"/>
                                          </p:stCondLst>
                                        </p:cTn>
                                        <p:tgtEl>
                                          <p:spTgt spid="16">
                                            <p:txEl>
                                              <p:pRg st="10" end="10"/>
                                            </p:txEl>
                                          </p:spTgt>
                                        </p:tgtEl>
                                      </p:cBhvr>
                                      <p:to x="100000" y="100000"/>
                                    </p:animScale>
                                    <p:animScale>
                                      <p:cBhvr>
                                        <p:cTn id="175" dur="26">
                                          <p:stCondLst>
                                            <p:cond delay="1312"/>
                                          </p:stCondLst>
                                        </p:cTn>
                                        <p:tgtEl>
                                          <p:spTgt spid="16">
                                            <p:txEl>
                                              <p:pRg st="10" end="10"/>
                                            </p:txEl>
                                          </p:spTgt>
                                        </p:tgtEl>
                                      </p:cBhvr>
                                      <p:to x="100000" y="80000"/>
                                    </p:animScale>
                                    <p:animScale>
                                      <p:cBhvr>
                                        <p:cTn id="176" dur="166" decel="50000">
                                          <p:stCondLst>
                                            <p:cond delay="1338"/>
                                          </p:stCondLst>
                                        </p:cTn>
                                        <p:tgtEl>
                                          <p:spTgt spid="16">
                                            <p:txEl>
                                              <p:pRg st="10" end="10"/>
                                            </p:txEl>
                                          </p:spTgt>
                                        </p:tgtEl>
                                      </p:cBhvr>
                                      <p:to x="100000" y="100000"/>
                                    </p:animScale>
                                    <p:animScale>
                                      <p:cBhvr>
                                        <p:cTn id="177" dur="26">
                                          <p:stCondLst>
                                            <p:cond delay="1642"/>
                                          </p:stCondLst>
                                        </p:cTn>
                                        <p:tgtEl>
                                          <p:spTgt spid="16">
                                            <p:txEl>
                                              <p:pRg st="10" end="10"/>
                                            </p:txEl>
                                          </p:spTgt>
                                        </p:tgtEl>
                                      </p:cBhvr>
                                      <p:to x="100000" y="90000"/>
                                    </p:animScale>
                                    <p:animScale>
                                      <p:cBhvr>
                                        <p:cTn id="178" dur="166" decel="50000">
                                          <p:stCondLst>
                                            <p:cond delay="1668"/>
                                          </p:stCondLst>
                                        </p:cTn>
                                        <p:tgtEl>
                                          <p:spTgt spid="16">
                                            <p:txEl>
                                              <p:pRg st="10" end="10"/>
                                            </p:txEl>
                                          </p:spTgt>
                                        </p:tgtEl>
                                      </p:cBhvr>
                                      <p:to x="100000" y="100000"/>
                                    </p:animScale>
                                    <p:animScale>
                                      <p:cBhvr>
                                        <p:cTn id="179" dur="26">
                                          <p:stCondLst>
                                            <p:cond delay="1808"/>
                                          </p:stCondLst>
                                        </p:cTn>
                                        <p:tgtEl>
                                          <p:spTgt spid="16">
                                            <p:txEl>
                                              <p:pRg st="10" end="10"/>
                                            </p:txEl>
                                          </p:spTgt>
                                        </p:tgtEl>
                                      </p:cBhvr>
                                      <p:to x="100000" y="95000"/>
                                    </p:animScale>
                                    <p:animScale>
                                      <p:cBhvr>
                                        <p:cTn id="180" dur="166" decel="50000">
                                          <p:stCondLst>
                                            <p:cond delay="1834"/>
                                          </p:stCondLst>
                                        </p:cTn>
                                        <p:tgtEl>
                                          <p:spTgt spid="16">
                                            <p:txEl>
                                              <p:pRg st="10" end="10"/>
                                            </p:txEl>
                                          </p:spTgt>
                                        </p:tgtEl>
                                      </p:cBhvr>
                                      <p:to x="100000" y="100000"/>
                                    </p:animScale>
                                  </p:childTnLst>
                                </p:cTn>
                              </p:par>
                              <p:par>
                                <p:cTn id="181" presetID="26" presetClass="entr" presetSubtype="0" fill="hold" nodeType="withEffect">
                                  <p:stCondLst>
                                    <p:cond delay="0"/>
                                  </p:stCondLst>
                                  <p:childTnLst>
                                    <p:set>
                                      <p:cBhvr>
                                        <p:cTn id="182" dur="1" fill="hold">
                                          <p:stCondLst>
                                            <p:cond delay="0"/>
                                          </p:stCondLst>
                                        </p:cTn>
                                        <p:tgtEl>
                                          <p:spTgt spid="16">
                                            <p:txEl>
                                              <p:pRg st="12" end="12"/>
                                            </p:txEl>
                                          </p:spTgt>
                                        </p:tgtEl>
                                        <p:attrNameLst>
                                          <p:attrName>style.visibility</p:attrName>
                                        </p:attrNameLst>
                                      </p:cBhvr>
                                      <p:to>
                                        <p:strVal val="visible"/>
                                      </p:to>
                                    </p:set>
                                    <p:animEffect transition="in" filter="wipe(down)">
                                      <p:cBhvr>
                                        <p:cTn id="183" dur="580">
                                          <p:stCondLst>
                                            <p:cond delay="0"/>
                                          </p:stCondLst>
                                        </p:cTn>
                                        <p:tgtEl>
                                          <p:spTgt spid="16">
                                            <p:txEl>
                                              <p:pRg st="12" end="12"/>
                                            </p:txEl>
                                          </p:spTgt>
                                        </p:tgtEl>
                                      </p:cBhvr>
                                    </p:animEffect>
                                    <p:anim calcmode="lin" valueType="num">
                                      <p:cBhvr>
                                        <p:cTn id="184" dur="1822" tmFilter="0,0; 0.14,0.36; 0.43,0.73; 0.71,0.91; 1.0,1.0">
                                          <p:stCondLst>
                                            <p:cond delay="0"/>
                                          </p:stCondLst>
                                        </p:cTn>
                                        <p:tgtEl>
                                          <p:spTgt spid="16">
                                            <p:txEl>
                                              <p:pRg st="12" end="12"/>
                                            </p:txEl>
                                          </p:spTgt>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6">
                                            <p:txEl>
                                              <p:pRg st="12" end="12"/>
                                            </p:txEl>
                                          </p:spTgt>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6">
                                            <p:txEl>
                                              <p:pRg st="12" end="12"/>
                                            </p:txEl>
                                          </p:spTgt>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6">
                                            <p:txEl>
                                              <p:pRg st="12" end="12"/>
                                            </p:txEl>
                                          </p:spTgt>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6">
                                            <p:txEl>
                                              <p:pRg st="12" end="12"/>
                                            </p:txEl>
                                          </p:spTgt>
                                        </p:tgtEl>
                                        <p:attrNameLst>
                                          <p:attrName>ppt_y</p:attrName>
                                        </p:attrNameLst>
                                      </p:cBhvr>
                                      <p:tavLst>
                                        <p:tav tm="0" fmla="#ppt_y-sin(pi*$)/81">
                                          <p:val>
                                            <p:fltVal val="0"/>
                                          </p:val>
                                        </p:tav>
                                        <p:tav tm="100000">
                                          <p:val>
                                            <p:fltVal val="1"/>
                                          </p:val>
                                        </p:tav>
                                      </p:tavLst>
                                    </p:anim>
                                    <p:animScale>
                                      <p:cBhvr>
                                        <p:cTn id="189" dur="26">
                                          <p:stCondLst>
                                            <p:cond delay="650"/>
                                          </p:stCondLst>
                                        </p:cTn>
                                        <p:tgtEl>
                                          <p:spTgt spid="16">
                                            <p:txEl>
                                              <p:pRg st="12" end="12"/>
                                            </p:txEl>
                                          </p:spTgt>
                                        </p:tgtEl>
                                      </p:cBhvr>
                                      <p:to x="100000" y="60000"/>
                                    </p:animScale>
                                    <p:animScale>
                                      <p:cBhvr>
                                        <p:cTn id="190" dur="166" decel="50000">
                                          <p:stCondLst>
                                            <p:cond delay="676"/>
                                          </p:stCondLst>
                                        </p:cTn>
                                        <p:tgtEl>
                                          <p:spTgt spid="16">
                                            <p:txEl>
                                              <p:pRg st="12" end="12"/>
                                            </p:txEl>
                                          </p:spTgt>
                                        </p:tgtEl>
                                      </p:cBhvr>
                                      <p:to x="100000" y="100000"/>
                                    </p:animScale>
                                    <p:animScale>
                                      <p:cBhvr>
                                        <p:cTn id="191" dur="26">
                                          <p:stCondLst>
                                            <p:cond delay="1312"/>
                                          </p:stCondLst>
                                        </p:cTn>
                                        <p:tgtEl>
                                          <p:spTgt spid="16">
                                            <p:txEl>
                                              <p:pRg st="12" end="12"/>
                                            </p:txEl>
                                          </p:spTgt>
                                        </p:tgtEl>
                                      </p:cBhvr>
                                      <p:to x="100000" y="80000"/>
                                    </p:animScale>
                                    <p:animScale>
                                      <p:cBhvr>
                                        <p:cTn id="192" dur="166" decel="50000">
                                          <p:stCondLst>
                                            <p:cond delay="1338"/>
                                          </p:stCondLst>
                                        </p:cTn>
                                        <p:tgtEl>
                                          <p:spTgt spid="16">
                                            <p:txEl>
                                              <p:pRg st="12" end="12"/>
                                            </p:txEl>
                                          </p:spTgt>
                                        </p:tgtEl>
                                      </p:cBhvr>
                                      <p:to x="100000" y="100000"/>
                                    </p:animScale>
                                    <p:animScale>
                                      <p:cBhvr>
                                        <p:cTn id="193" dur="26">
                                          <p:stCondLst>
                                            <p:cond delay="1642"/>
                                          </p:stCondLst>
                                        </p:cTn>
                                        <p:tgtEl>
                                          <p:spTgt spid="16">
                                            <p:txEl>
                                              <p:pRg st="12" end="12"/>
                                            </p:txEl>
                                          </p:spTgt>
                                        </p:tgtEl>
                                      </p:cBhvr>
                                      <p:to x="100000" y="90000"/>
                                    </p:animScale>
                                    <p:animScale>
                                      <p:cBhvr>
                                        <p:cTn id="194" dur="166" decel="50000">
                                          <p:stCondLst>
                                            <p:cond delay="1668"/>
                                          </p:stCondLst>
                                        </p:cTn>
                                        <p:tgtEl>
                                          <p:spTgt spid="16">
                                            <p:txEl>
                                              <p:pRg st="12" end="12"/>
                                            </p:txEl>
                                          </p:spTgt>
                                        </p:tgtEl>
                                      </p:cBhvr>
                                      <p:to x="100000" y="100000"/>
                                    </p:animScale>
                                    <p:animScale>
                                      <p:cBhvr>
                                        <p:cTn id="195" dur="26">
                                          <p:stCondLst>
                                            <p:cond delay="1808"/>
                                          </p:stCondLst>
                                        </p:cTn>
                                        <p:tgtEl>
                                          <p:spTgt spid="16">
                                            <p:txEl>
                                              <p:pRg st="12" end="12"/>
                                            </p:txEl>
                                          </p:spTgt>
                                        </p:tgtEl>
                                      </p:cBhvr>
                                      <p:to x="100000" y="95000"/>
                                    </p:animScale>
                                    <p:animScale>
                                      <p:cBhvr>
                                        <p:cTn id="196" dur="166" decel="50000">
                                          <p:stCondLst>
                                            <p:cond delay="1834"/>
                                          </p:stCondLst>
                                        </p:cTn>
                                        <p:tgtEl>
                                          <p:spTgt spid="16">
                                            <p:txEl>
                                              <p:pRg st="12" end="12"/>
                                            </p:txEl>
                                          </p:spTgt>
                                        </p:tgtEl>
                                      </p:cBhvr>
                                      <p:to x="100000" y="100000"/>
                                    </p:animScale>
                                  </p:childTnLst>
                                </p:cTn>
                              </p:par>
                              <p:par>
                                <p:cTn id="197" presetID="26" presetClass="entr" presetSubtype="0" fill="hold" nodeType="withEffect">
                                  <p:stCondLst>
                                    <p:cond delay="0"/>
                                  </p:stCondLst>
                                  <p:childTnLst>
                                    <p:set>
                                      <p:cBhvr>
                                        <p:cTn id="198" dur="1" fill="hold">
                                          <p:stCondLst>
                                            <p:cond delay="0"/>
                                          </p:stCondLst>
                                        </p:cTn>
                                        <p:tgtEl>
                                          <p:spTgt spid="16">
                                            <p:txEl>
                                              <p:pRg st="13" end="13"/>
                                            </p:txEl>
                                          </p:spTgt>
                                        </p:tgtEl>
                                        <p:attrNameLst>
                                          <p:attrName>style.visibility</p:attrName>
                                        </p:attrNameLst>
                                      </p:cBhvr>
                                      <p:to>
                                        <p:strVal val="visible"/>
                                      </p:to>
                                    </p:set>
                                    <p:animEffect transition="in" filter="wipe(down)">
                                      <p:cBhvr>
                                        <p:cTn id="199" dur="580">
                                          <p:stCondLst>
                                            <p:cond delay="0"/>
                                          </p:stCondLst>
                                        </p:cTn>
                                        <p:tgtEl>
                                          <p:spTgt spid="16">
                                            <p:txEl>
                                              <p:pRg st="13" end="13"/>
                                            </p:txEl>
                                          </p:spTgt>
                                        </p:tgtEl>
                                      </p:cBhvr>
                                    </p:animEffect>
                                    <p:anim calcmode="lin" valueType="num">
                                      <p:cBhvr>
                                        <p:cTn id="200" dur="1822" tmFilter="0,0; 0.14,0.36; 0.43,0.73; 0.71,0.91; 1.0,1.0">
                                          <p:stCondLst>
                                            <p:cond delay="0"/>
                                          </p:stCondLst>
                                        </p:cTn>
                                        <p:tgtEl>
                                          <p:spTgt spid="16">
                                            <p:txEl>
                                              <p:pRg st="13" end="13"/>
                                            </p:txEl>
                                          </p:spTgt>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6">
                                            <p:txEl>
                                              <p:pRg st="13" end="13"/>
                                            </p:txEl>
                                          </p:spTgt>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6">
                                            <p:txEl>
                                              <p:pRg st="13" end="13"/>
                                            </p:txEl>
                                          </p:spTgt>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6">
                                            <p:txEl>
                                              <p:pRg st="13" end="13"/>
                                            </p:txEl>
                                          </p:spTgt>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6">
                                            <p:txEl>
                                              <p:pRg st="13" end="13"/>
                                            </p:txEl>
                                          </p:spTgt>
                                        </p:tgtEl>
                                        <p:attrNameLst>
                                          <p:attrName>ppt_y</p:attrName>
                                        </p:attrNameLst>
                                      </p:cBhvr>
                                      <p:tavLst>
                                        <p:tav tm="0" fmla="#ppt_y-sin(pi*$)/81">
                                          <p:val>
                                            <p:fltVal val="0"/>
                                          </p:val>
                                        </p:tav>
                                        <p:tav tm="100000">
                                          <p:val>
                                            <p:fltVal val="1"/>
                                          </p:val>
                                        </p:tav>
                                      </p:tavLst>
                                    </p:anim>
                                    <p:animScale>
                                      <p:cBhvr>
                                        <p:cTn id="205" dur="26">
                                          <p:stCondLst>
                                            <p:cond delay="650"/>
                                          </p:stCondLst>
                                        </p:cTn>
                                        <p:tgtEl>
                                          <p:spTgt spid="16">
                                            <p:txEl>
                                              <p:pRg st="13" end="13"/>
                                            </p:txEl>
                                          </p:spTgt>
                                        </p:tgtEl>
                                      </p:cBhvr>
                                      <p:to x="100000" y="60000"/>
                                    </p:animScale>
                                    <p:animScale>
                                      <p:cBhvr>
                                        <p:cTn id="206" dur="166" decel="50000">
                                          <p:stCondLst>
                                            <p:cond delay="676"/>
                                          </p:stCondLst>
                                        </p:cTn>
                                        <p:tgtEl>
                                          <p:spTgt spid="16">
                                            <p:txEl>
                                              <p:pRg st="13" end="13"/>
                                            </p:txEl>
                                          </p:spTgt>
                                        </p:tgtEl>
                                      </p:cBhvr>
                                      <p:to x="100000" y="100000"/>
                                    </p:animScale>
                                    <p:animScale>
                                      <p:cBhvr>
                                        <p:cTn id="207" dur="26">
                                          <p:stCondLst>
                                            <p:cond delay="1312"/>
                                          </p:stCondLst>
                                        </p:cTn>
                                        <p:tgtEl>
                                          <p:spTgt spid="16">
                                            <p:txEl>
                                              <p:pRg st="13" end="13"/>
                                            </p:txEl>
                                          </p:spTgt>
                                        </p:tgtEl>
                                      </p:cBhvr>
                                      <p:to x="100000" y="80000"/>
                                    </p:animScale>
                                    <p:animScale>
                                      <p:cBhvr>
                                        <p:cTn id="208" dur="166" decel="50000">
                                          <p:stCondLst>
                                            <p:cond delay="1338"/>
                                          </p:stCondLst>
                                        </p:cTn>
                                        <p:tgtEl>
                                          <p:spTgt spid="16">
                                            <p:txEl>
                                              <p:pRg st="13" end="13"/>
                                            </p:txEl>
                                          </p:spTgt>
                                        </p:tgtEl>
                                      </p:cBhvr>
                                      <p:to x="100000" y="100000"/>
                                    </p:animScale>
                                    <p:animScale>
                                      <p:cBhvr>
                                        <p:cTn id="209" dur="26">
                                          <p:stCondLst>
                                            <p:cond delay="1642"/>
                                          </p:stCondLst>
                                        </p:cTn>
                                        <p:tgtEl>
                                          <p:spTgt spid="16">
                                            <p:txEl>
                                              <p:pRg st="13" end="13"/>
                                            </p:txEl>
                                          </p:spTgt>
                                        </p:tgtEl>
                                      </p:cBhvr>
                                      <p:to x="100000" y="90000"/>
                                    </p:animScale>
                                    <p:animScale>
                                      <p:cBhvr>
                                        <p:cTn id="210" dur="166" decel="50000">
                                          <p:stCondLst>
                                            <p:cond delay="1668"/>
                                          </p:stCondLst>
                                        </p:cTn>
                                        <p:tgtEl>
                                          <p:spTgt spid="16">
                                            <p:txEl>
                                              <p:pRg st="13" end="13"/>
                                            </p:txEl>
                                          </p:spTgt>
                                        </p:tgtEl>
                                      </p:cBhvr>
                                      <p:to x="100000" y="100000"/>
                                    </p:animScale>
                                    <p:animScale>
                                      <p:cBhvr>
                                        <p:cTn id="211" dur="26">
                                          <p:stCondLst>
                                            <p:cond delay="1808"/>
                                          </p:stCondLst>
                                        </p:cTn>
                                        <p:tgtEl>
                                          <p:spTgt spid="16">
                                            <p:txEl>
                                              <p:pRg st="13" end="13"/>
                                            </p:txEl>
                                          </p:spTgt>
                                        </p:tgtEl>
                                      </p:cBhvr>
                                      <p:to x="100000" y="95000"/>
                                    </p:animScale>
                                    <p:animScale>
                                      <p:cBhvr>
                                        <p:cTn id="212" dur="166" decel="50000">
                                          <p:stCondLst>
                                            <p:cond delay="1834"/>
                                          </p:stCondLst>
                                        </p:cTn>
                                        <p:tgtEl>
                                          <p:spTgt spid="16">
                                            <p:txEl>
                                              <p:pRg st="13" end="13"/>
                                            </p:txEl>
                                          </p:spTgt>
                                        </p:tgtEl>
                                      </p:cBhvr>
                                      <p:to x="100000" y="100000"/>
                                    </p:animScale>
                                  </p:childTnLst>
                                </p:cTn>
                              </p:par>
                              <p:par>
                                <p:cTn id="213" presetID="26" presetClass="entr" presetSubtype="0" fill="hold" nodeType="withEffect">
                                  <p:stCondLst>
                                    <p:cond delay="0"/>
                                  </p:stCondLst>
                                  <p:childTnLst>
                                    <p:set>
                                      <p:cBhvr>
                                        <p:cTn id="214" dur="1" fill="hold">
                                          <p:stCondLst>
                                            <p:cond delay="0"/>
                                          </p:stCondLst>
                                        </p:cTn>
                                        <p:tgtEl>
                                          <p:spTgt spid="16">
                                            <p:txEl>
                                              <p:pRg st="14" end="14"/>
                                            </p:txEl>
                                          </p:spTgt>
                                        </p:tgtEl>
                                        <p:attrNameLst>
                                          <p:attrName>style.visibility</p:attrName>
                                        </p:attrNameLst>
                                      </p:cBhvr>
                                      <p:to>
                                        <p:strVal val="visible"/>
                                      </p:to>
                                    </p:set>
                                    <p:animEffect transition="in" filter="wipe(down)">
                                      <p:cBhvr>
                                        <p:cTn id="215" dur="580">
                                          <p:stCondLst>
                                            <p:cond delay="0"/>
                                          </p:stCondLst>
                                        </p:cTn>
                                        <p:tgtEl>
                                          <p:spTgt spid="16">
                                            <p:txEl>
                                              <p:pRg st="14" end="14"/>
                                            </p:txEl>
                                          </p:spTgt>
                                        </p:tgtEl>
                                      </p:cBhvr>
                                    </p:animEffect>
                                    <p:anim calcmode="lin" valueType="num">
                                      <p:cBhvr>
                                        <p:cTn id="216" dur="1822" tmFilter="0,0; 0.14,0.36; 0.43,0.73; 0.71,0.91; 1.0,1.0">
                                          <p:stCondLst>
                                            <p:cond delay="0"/>
                                          </p:stCondLst>
                                        </p:cTn>
                                        <p:tgtEl>
                                          <p:spTgt spid="16">
                                            <p:txEl>
                                              <p:pRg st="14" end="14"/>
                                            </p:txEl>
                                          </p:spTgt>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6">
                                            <p:txEl>
                                              <p:pRg st="14" end="14"/>
                                            </p:txEl>
                                          </p:spTgt>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6">
                                            <p:txEl>
                                              <p:pRg st="14" end="14"/>
                                            </p:txEl>
                                          </p:spTgt>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6">
                                            <p:txEl>
                                              <p:pRg st="14" end="14"/>
                                            </p:txEl>
                                          </p:spTgt>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6">
                                            <p:txEl>
                                              <p:pRg st="14" end="14"/>
                                            </p:txEl>
                                          </p:spTgt>
                                        </p:tgtEl>
                                        <p:attrNameLst>
                                          <p:attrName>ppt_y</p:attrName>
                                        </p:attrNameLst>
                                      </p:cBhvr>
                                      <p:tavLst>
                                        <p:tav tm="0" fmla="#ppt_y-sin(pi*$)/81">
                                          <p:val>
                                            <p:fltVal val="0"/>
                                          </p:val>
                                        </p:tav>
                                        <p:tav tm="100000">
                                          <p:val>
                                            <p:fltVal val="1"/>
                                          </p:val>
                                        </p:tav>
                                      </p:tavLst>
                                    </p:anim>
                                    <p:animScale>
                                      <p:cBhvr>
                                        <p:cTn id="221" dur="26">
                                          <p:stCondLst>
                                            <p:cond delay="650"/>
                                          </p:stCondLst>
                                        </p:cTn>
                                        <p:tgtEl>
                                          <p:spTgt spid="16">
                                            <p:txEl>
                                              <p:pRg st="14" end="14"/>
                                            </p:txEl>
                                          </p:spTgt>
                                        </p:tgtEl>
                                      </p:cBhvr>
                                      <p:to x="100000" y="60000"/>
                                    </p:animScale>
                                    <p:animScale>
                                      <p:cBhvr>
                                        <p:cTn id="222" dur="166" decel="50000">
                                          <p:stCondLst>
                                            <p:cond delay="676"/>
                                          </p:stCondLst>
                                        </p:cTn>
                                        <p:tgtEl>
                                          <p:spTgt spid="16">
                                            <p:txEl>
                                              <p:pRg st="14" end="14"/>
                                            </p:txEl>
                                          </p:spTgt>
                                        </p:tgtEl>
                                      </p:cBhvr>
                                      <p:to x="100000" y="100000"/>
                                    </p:animScale>
                                    <p:animScale>
                                      <p:cBhvr>
                                        <p:cTn id="223" dur="26">
                                          <p:stCondLst>
                                            <p:cond delay="1312"/>
                                          </p:stCondLst>
                                        </p:cTn>
                                        <p:tgtEl>
                                          <p:spTgt spid="16">
                                            <p:txEl>
                                              <p:pRg st="14" end="14"/>
                                            </p:txEl>
                                          </p:spTgt>
                                        </p:tgtEl>
                                      </p:cBhvr>
                                      <p:to x="100000" y="80000"/>
                                    </p:animScale>
                                    <p:animScale>
                                      <p:cBhvr>
                                        <p:cTn id="224" dur="166" decel="50000">
                                          <p:stCondLst>
                                            <p:cond delay="1338"/>
                                          </p:stCondLst>
                                        </p:cTn>
                                        <p:tgtEl>
                                          <p:spTgt spid="16">
                                            <p:txEl>
                                              <p:pRg st="14" end="14"/>
                                            </p:txEl>
                                          </p:spTgt>
                                        </p:tgtEl>
                                      </p:cBhvr>
                                      <p:to x="100000" y="100000"/>
                                    </p:animScale>
                                    <p:animScale>
                                      <p:cBhvr>
                                        <p:cTn id="225" dur="26">
                                          <p:stCondLst>
                                            <p:cond delay="1642"/>
                                          </p:stCondLst>
                                        </p:cTn>
                                        <p:tgtEl>
                                          <p:spTgt spid="16">
                                            <p:txEl>
                                              <p:pRg st="14" end="14"/>
                                            </p:txEl>
                                          </p:spTgt>
                                        </p:tgtEl>
                                      </p:cBhvr>
                                      <p:to x="100000" y="90000"/>
                                    </p:animScale>
                                    <p:animScale>
                                      <p:cBhvr>
                                        <p:cTn id="226" dur="166" decel="50000">
                                          <p:stCondLst>
                                            <p:cond delay="1668"/>
                                          </p:stCondLst>
                                        </p:cTn>
                                        <p:tgtEl>
                                          <p:spTgt spid="16">
                                            <p:txEl>
                                              <p:pRg st="14" end="14"/>
                                            </p:txEl>
                                          </p:spTgt>
                                        </p:tgtEl>
                                      </p:cBhvr>
                                      <p:to x="100000" y="100000"/>
                                    </p:animScale>
                                    <p:animScale>
                                      <p:cBhvr>
                                        <p:cTn id="227" dur="26">
                                          <p:stCondLst>
                                            <p:cond delay="1808"/>
                                          </p:stCondLst>
                                        </p:cTn>
                                        <p:tgtEl>
                                          <p:spTgt spid="16">
                                            <p:txEl>
                                              <p:pRg st="14" end="14"/>
                                            </p:txEl>
                                          </p:spTgt>
                                        </p:tgtEl>
                                      </p:cBhvr>
                                      <p:to x="100000" y="95000"/>
                                    </p:animScale>
                                    <p:animScale>
                                      <p:cBhvr>
                                        <p:cTn id="228" dur="166" decel="50000">
                                          <p:stCondLst>
                                            <p:cond delay="1834"/>
                                          </p:stCondLst>
                                        </p:cTn>
                                        <p:tgtEl>
                                          <p:spTgt spid="16">
                                            <p:txEl>
                                              <p:pRg st="14" end="14"/>
                                            </p:txEl>
                                          </p:spTgt>
                                        </p:tgtEl>
                                      </p:cBhvr>
                                      <p:to x="100000" y="100000"/>
                                    </p:animScale>
                                  </p:childTnLst>
                                </p:cTn>
                              </p:par>
                              <p:par>
                                <p:cTn id="229" presetID="26" presetClass="entr" presetSubtype="0" fill="hold" nodeType="withEffect">
                                  <p:stCondLst>
                                    <p:cond delay="0"/>
                                  </p:stCondLst>
                                  <p:childTnLst>
                                    <p:set>
                                      <p:cBhvr>
                                        <p:cTn id="230" dur="1" fill="hold">
                                          <p:stCondLst>
                                            <p:cond delay="0"/>
                                          </p:stCondLst>
                                        </p:cTn>
                                        <p:tgtEl>
                                          <p:spTgt spid="16">
                                            <p:txEl>
                                              <p:pRg st="15" end="15"/>
                                            </p:txEl>
                                          </p:spTgt>
                                        </p:tgtEl>
                                        <p:attrNameLst>
                                          <p:attrName>style.visibility</p:attrName>
                                        </p:attrNameLst>
                                      </p:cBhvr>
                                      <p:to>
                                        <p:strVal val="visible"/>
                                      </p:to>
                                    </p:set>
                                    <p:animEffect transition="in" filter="wipe(down)">
                                      <p:cBhvr>
                                        <p:cTn id="231" dur="580">
                                          <p:stCondLst>
                                            <p:cond delay="0"/>
                                          </p:stCondLst>
                                        </p:cTn>
                                        <p:tgtEl>
                                          <p:spTgt spid="16">
                                            <p:txEl>
                                              <p:pRg st="15" end="15"/>
                                            </p:txEl>
                                          </p:spTgt>
                                        </p:tgtEl>
                                      </p:cBhvr>
                                    </p:animEffect>
                                    <p:anim calcmode="lin" valueType="num">
                                      <p:cBhvr>
                                        <p:cTn id="232" dur="1822" tmFilter="0,0; 0.14,0.36; 0.43,0.73; 0.71,0.91; 1.0,1.0">
                                          <p:stCondLst>
                                            <p:cond delay="0"/>
                                          </p:stCondLst>
                                        </p:cTn>
                                        <p:tgtEl>
                                          <p:spTgt spid="16">
                                            <p:txEl>
                                              <p:pRg st="15" end="15"/>
                                            </p:txEl>
                                          </p:spTgt>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16">
                                            <p:txEl>
                                              <p:pRg st="15" end="15"/>
                                            </p:txEl>
                                          </p:spTgt>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16">
                                            <p:txEl>
                                              <p:pRg st="15" end="15"/>
                                            </p:txEl>
                                          </p:spTgt>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16">
                                            <p:txEl>
                                              <p:pRg st="15" end="15"/>
                                            </p:txEl>
                                          </p:spTgt>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16">
                                            <p:txEl>
                                              <p:pRg st="15" end="15"/>
                                            </p:txEl>
                                          </p:spTgt>
                                        </p:tgtEl>
                                        <p:attrNameLst>
                                          <p:attrName>ppt_y</p:attrName>
                                        </p:attrNameLst>
                                      </p:cBhvr>
                                      <p:tavLst>
                                        <p:tav tm="0" fmla="#ppt_y-sin(pi*$)/81">
                                          <p:val>
                                            <p:fltVal val="0"/>
                                          </p:val>
                                        </p:tav>
                                        <p:tav tm="100000">
                                          <p:val>
                                            <p:fltVal val="1"/>
                                          </p:val>
                                        </p:tav>
                                      </p:tavLst>
                                    </p:anim>
                                    <p:animScale>
                                      <p:cBhvr>
                                        <p:cTn id="237" dur="26">
                                          <p:stCondLst>
                                            <p:cond delay="650"/>
                                          </p:stCondLst>
                                        </p:cTn>
                                        <p:tgtEl>
                                          <p:spTgt spid="16">
                                            <p:txEl>
                                              <p:pRg st="15" end="15"/>
                                            </p:txEl>
                                          </p:spTgt>
                                        </p:tgtEl>
                                      </p:cBhvr>
                                      <p:to x="100000" y="60000"/>
                                    </p:animScale>
                                    <p:animScale>
                                      <p:cBhvr>
                                        <p:cTn id="238" dur="166" decel="50000">
                                          <p:stCondLst>
                                            <p:cond delay="676"/>
                                          </p:stCondLst>
                                        </p:cTn>
                                        <p:tgtEl>
                                          <p:spTgt spid="16">
                                            <p:txEl>
                                              <p:pRg st="15" end="15"/>
                                            </p:txEl>
                                          </p:spTgt>
                                        </p:tgtEl>
                                      </p:cBhvr>
                                      <p:to x="100000" y="100000"/>
                                    </p:animScale>
                                    <p:animScale>
                                      <p:cBhvr>
                                        <p:cTn id="239" dur="26">
                                          <p:stCondLst>
                                            <p:cond delay="1312"/>
                                          </p:stCondLst>
                                        </p:cTn>
                                        <p:tgtEl>
                                          <p:spTgt spid="16">
                                            <p:txEl>
                                              <p:pRg st="15" end="15"/>
                                            </p:txEl>
                                          </p:spTgt>
                                        </p:tgtEl>
                                      </p:cBhvr>
                                      <p:to x="100000" y="80000"/>
                                    </p:animScale>
                                    <p:animScale>
                                      <p:cBhvr>
                                        <p:cTn id="240" dur="166" decel="50000">
                                          <p:stCondLst>
                                            <p:cond delay="1338"/>
                                          </p:stCondLst>
                                        </p:cTn>
                                        <p:tgtEl>
                                          <p:spTgt spid="16">
                                            <p:txEl>
                                              <p:pRg st="15" end="15"/>
                                            </p:txEl>
                                          </p:spTgt>
                                        </p:tgtEl>
                                      </p:cBhvr>
                                      <p:to x="100000" y="100000"/>
                                    </p:animScale>
                                    <p:animScale>
                                      <p:cBhvr>
                                        <p:cTn id="241" dur="26">
                                          <p:stCondLst>
                                            <p:cond delay="1642"/>
                                          </p:stCondLst>
                                        </p:cTn>
                                        <p:tgtEl>
                                          <p:spTgt spid="16">
                                            <p:txEl>
                                              <p:pRg st="15" end="15"/>
                                            </p:txEl>
                                          </p:spTgt>
                                        </p:tgtEl>
                                      </p:cBhvr>
                                      <p:to x="100000" y="90000"/>
                                    </p:animScale>
                                    <p:animScale>
                                      <p:cBhvr>
                                        <p:cTn id="242" dur="166" decel="50000">
                                          <p:stCondLst>
                                            <p:cond delay="1668"/>
                                          </p:stCondLst>
                                        </p:cTn>
                                        <p:tgtEl>
                                          <p:spTgt spid="16">
                                            <p:txEl>
                                              <p:pRg st="15" end="15"/>
                                            </p:txEl>
                                          </p:spTgt>
                                        </p:tgtEl>
                                      </p:cBhvr>
                                      <p:to x="100000" y="100000"/>
                                    </p:animScale>
                                    <p:animScale>
                                      <p:cBhvr>
                                        <p:cTn id="243" dur="26">
                                          <p:stCondLst>
                                            <p:cond delay="1808"/>
                                          </p:stCondLst>
                                        </p:cTn>
                                        <p:tgtEl>
                                          <p:spTgt spid="16">
                                            <p:txEl>
                                              <p:pRg st="15" end="15"/>
                                            </p:txEl>
                                          </p:spTgt>
                                        </p:tgtEl>
                                      </p:cBhvr>
                                      <p:to x="100000" y="95000"/>
                                    </p:animScale>
                                    <p:animScale>
                                      <p:cBhvr>
                                        <p:cTn id="244" dur="166" decel="50000">
                                          <p:stCondLst>
                                            <p:cond delay="1834"/>
                                          </p:stCondLst>
                                        </p:cTn>
                                        <p:tgtEl>
                                          <p:spTgt spid="16">
                                            <p:txEl>
                                              <p:pRg st="15" end="15"/>
                                            </p:txEl>
                                          </p:spTgt>
                                        </p:tgtEl>
                                      </p:cBhvr>
                                      <p:to x="100000" y="100000"/>
                                    </p:animScale>
                                  </p:childTnLst>
                                </p:cTn>
                              </p:par>
                              <p:par>
                                <p:cTn id="245" presetID="26" presetClass="entr" presetSubtype="0" fill="hold" nodeType="withEffect">
                                  <p:stCondLst>
                                    <p:cond delay="0"/>
                                  </p:stCondLst>
                                  <p:childTnLst>
                                    <p:set>
                                      <p:cBhvr>
                                        <p:cTn id="246" dur="1" fill="hold">
                                          <p:stCondLst>
                                            <p:cond delay="0"/>
                                          </p:stCondLst>
                                        </p:cTn>
                                        <p:tgtEl>
                                          <p:spTgt spid="16">
                                            <p:txEl>
                                              <p:pRg st="16" end="16"/>
                                            </p:txEl>
                                          </p:spTgt>
                                        </p:tgtEl>
                                        <p:attrNameLst>
                                          <p:attrName>style.visibility</p:attrName>
                                        </p:attrNameLst>
                                      </p:cBhvr>
                                      <p:to>
                                        <p:strVal val="visible"/>
                                      </p:to>
                                    </p:set>
                                    <p:animEffect transition="in" filter="wipe(down)">
                                      <p:cBhvr>
                                        <p:cTn id="247" dur="580">
                                          <p:stCondLst>
                                            <p:cond delay="0"/>
                                          </p:stCondLst>
                                        </p:cTn>
                                        <p:tgtEl>
                                          <p:spTgt spid="16">
                                            <p:txEl>
                                              <p:pRg st="16" end="16"/>
                                            </p:txEl>
                                          </p:spTgt>
                                        </p:tgtEl>
                                      </p:cBhvr>
                                    </p:animEffect>
                                    <p:anim calcmode="lin" valueType="num">
                                      <p:cBhvr>
                                        <p:cTn id="248" dur="1822" tmFilter="0,0; 0.14,0.36; 0.43,0.73; 0.71,0.91; 1.0,1.0">
                                          <p:stCondLst>
                                            <p:cond delay="0"/>
                                          </p:stCondLst>
                                        </p:cTn>
                                        <p:tgtEl>
                                          <p:spTgt spid="16">
                                            <p:txEl>
                                              <p:pRg st="16" end="16"/>
                                            </p:txEl>
                                          </p:spTgt>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16">
                                            <p:txEl>
                                              <p:pRg st="16" end="16"/>
                                            </p:txEl>
                                          </p:spTgt>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16">
                                            <p:txEl>
                                              <p:pRg st="16" end="16"/>
                                            </p:txEl>
                                          </p:spTgt>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16">
                                            <p:txEl>
                                              <p:pRg st="16" end="16"/>
                                            </p:txEl>
                                          </p:spTgt>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16">
                                            <p:txEl>
                                              <p:pRg st="16" end="16"/>
                                            </p:txEl>
                                          </p:spTgt>
                                        </p:tgtEl>
                                        <p:attrNameLst>
                                          <p:attrName>ppt_y</p:attrName>
                                        </p:attrNameLst>
                                      </p:cBhvr>
                                      <p:tavLst>
                                        <p:tav tm="0" fmla="#ppt_y-sin(pi*$)/81">
                                          <p:val>
                                            <p:fltVal val="0"/>
                                          </p:val>
                                        </p:tav>
                                        <p:tav tm="100000">
                                          <p:val>
                                            <p:fltVal val="1"/>
                                          </p:val>
                                        </p:tav>
                                      </p:tavLst>
                                    </p:anim>
                                    <p:animScale>
                                      <p:cBhvr>
                                        <p:cTn id="253" dur="26">
                                          <p:stCondLst>
                                            <p:cond delay="650"/>
                                          </p:stCondLst>
                                        </p:cTn>
                                        <p:tgtEl>
                                          <p:spTgt spid="16">
                                            <p:txEl>
                                              <p:pRg st="16" end="16"/>
                                            </p:txEl>
                                          </p:spTgt>
                                        </p:tgtEl>
                                      </p:cBhvr>
                                      <p:to x="100000" y="60000"/>
                                    </p:animScale>
                                    <p:animScale>
                                      <p:cBhvr>
                                        <p:cTn id="254" dur="166" decel="50000">
                                          <p:stCondLst>
                                            <p:cond delay="676"/>
                                          </p:stCondLst>
                                        </p:cTn>
                                        <p:tgtEl>
                                          <p:spTgt spid="16">
                                            <p:txEl>
                                              <p:pRg st="16" end="16"/>
                                            </p:txEl>
                                          </p:spTgt>
                                        </p:tgtEl>
                                      </p:cBhvr>
                                      <p:to x="100000" y="100000"/>
                                    </p:animScale>
                                    <p:animScale>
                                      <p:cBhvr>
                                        <p:cTn id="255" dur="26">
                                          <p:stCondLst>
                                            <p:cond delay="1312"/>
                                          </p:stCondLst>
                                        </p:cTn>
                                        <p:tgtEl>
                                          <p:spTgt spid="16">
                                            <p:txEl>
                                              <p:pRg st="16" end="16"/>
                                            </p:txEl>
                                          </p:spTgt>
                                        </p:tgtEl>
                                      </p:cBhvr>
                                      <p:to x="100000" y="80000"/>
                                    </p:animScale>
                                    <p:animScale>
                                      <p:cBhvr>
                                        <p:cTn id="256" dur="166" decel="50000">
                                          <p:stCondLst>
                                            <p:cond delay="1338"/>
                                          </p:stCondLst>
                                        </p:cTn>
                                        <p:tgtEl>
                                          <p:spTgt spid="16">
                                            <p:txEl>
                                              <p:pRg st="16" end="16"/>
                                            </p:txEl>
                                          </p:spTgt>
                                        </p:tgtEl>
                                      </p:cBhvr>
                                      <p:to x="100000" y="100000"/>
                                    </p:animScale>
                                    <p:animScale>
                                      <p:cBhvr>
                                        <p:cTn id="257" dur="26">
                                          <p:stCondLst>
                                            <p:cond delay="1642"/>
                                          </p:stCondLst>
                                        </p:cTn>
                                        <p:tgtEl>
                                          <p:spTgt spid="16">
                                            <p:txEl>
                                              <p:pRg st="16" end="16"/>
                                            </p:txEl>
                                          </p:spTgt>
                                        </p:tgtEl>
                                      </p:cBhvr>
                                      <p:to x="100000" y="90000"/>
                                    </p:animScale>
                                    <p:animScale>
                                      <p:cBhvr>
                                        <p:cTn id="258" dur="166" decel="50000">
                                          <p:stCondLst>
                                            <p:cond delay="1668"/>
                                          </p:stCondLst>
                                        </p:cTn>
                                        <p:tgtEl>
                                          <p:spTgt spid="16">
                                            <p:txEl>
                                              <p:pRg st="16" end="16"/>
                                            </p:txEl>
                                          </p:spTgt>
                                        </p:tgtEl>
                                      </p:cBhvr>
                                      <p:to x="100000" y="100000"/>
                                    </p:animScale>
                                    <p:animScale>
                                      <p:cBhvr>
                                        <p:cTn id="259" dur="26">
                                          <p:stCondLst>
                                            <p:cond delay="1808"/>
                                          </p:stCondLst>
                                        </p:cTn>
                                        <p:tgtEl>
                                          <p:spTgt spid="16">
                                            <p:txEl>
                                              <p:pRg st="16" end="16"/>
                                            </p:txEl>
                                          </p:spTgt>
                                        </p:tgtEl>
                                      </p:cBhvr>
                                      <p:to x="100000" y="95000"/>
                                    </p:animScale>
                                    <p:animScale>
                                      <p:cBhvr>
                                        <p:cTn id="260" dur="166" decel="50000">
                                          <p:stCondLst>
                                            <p:cond delay="1834"/>
                                          </p:stCondLst>
                                        </p:cTn>
                                        <p:tgtEl>
                                          <p:spTgt spid="16">
                                            <p:txEl>
                                              <p:pRg st="16" end="16"/>
                                            </p:txEl>
                                          </p:spTgt>
                                        </p:tgtEl>
                                      </p:cBhvr>
                                      <p:to x="100000" y="100000"/>
                                    </p:animScale>
                                  </p:childTnLst>
                                </p:cTn>
                              </p:par>
                              <p:par>
                                <p:cTn id="261" presetID="26" presetClass="entr" presetSubtype="0" fill="hold" nodeType="withEffect">
                                  <p:stCondLst>
                                    <p:cond delay="0"/>
                                  </p:stCondLst>
                                  <p:childTnLst>
                                    <p:set>
                                      <p:cBhvr>
                                        <p:cTn id="262" dur="1" fill="hold">
                                          <p:stCondLst>
                                            <p:cond delay="0"/>
                                          </p:stCondLst>
                                        </p:cTn>
                                        <p:tgtEl>
                                          <p:spTgt spid="16">
                                            <p:txEl>
                                              <p:pRg st="17" end="17"/>
                                            </p:txEl>
                                          </p:spTgt>
                                        </p:tgtEl>
                                        <p:attrNameLst>
                                          <p:attrName>style.visibility</p:attrName>
                                        </p:attrNameLst>
                                      </p:cBhvr>
                                      <p:to>
                                        <p:strVal val="visible"/>
                                      </p:to>
                                    </p:set>
                                    <p:animEffect transition="in" filter="wipe(down)">
                                      <p:cBhvr>
                                        <p:cTn id="263" dur="580">
                                          <p:stCondLst>
                                            <p:cond delay="0"/>
                                          </p:stCondLst>
                                        </p:cTn>
                                        <p:tgtEl>
                                          <p:spTgt spid="16">
                                            <p:txEl>
                                              <p:pRg st="17" end="17"/>
                                            </p:txEl>
                                          </p:spTgt>
                                        </p:tgtEl>
                                      </p:cBhvr>
                                    </p:animEffect>
                                    <p:anim calcmode="lin" valueType="num">
                                      <p:cBhvr>
                                        <p:cTn id="264" dur="1822" tmFilter="0,0; 0.14,0.36; 0.43,0.73; 0.71,0.91; 1.0,1.0">
                                          <p:stCondLst>
                                            <p:cond delay="0"/>
                                          </p:stCondLst>
                                        </p:cTn>
                                        <p:tgtEl>
                                          <p:spTgt spid="16">
                                            <p:txEl>
                                              <p:pRg st="17" end="17"/>
                                            </p:txEl>
                                          </p:spTgt>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16">
                                            <p:txEl>
                                              <p:pRg st="17" end="17"/>
                                            </p:txEl>
                                          </p:spTgt>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16">
                                            <p:txEl>
                                              <p:pRg st="17" end="17"/>
                                            </p:txEl>
                                          </p:spTgt>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16">
                                            <p:txEl>
                                              <p:pRg st="17" end="17"/>
                                            </p:txEl>
                                          </p:spTgt>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16">
                                            <p:txEl>
                                              <p:pRg st="17" end="17"/>
                                            </p:txEl>
                                          </p:spTgt>
                                        </p:tgtEl>
                                        <p:attrNameLst>
                                          <p:attrName>ppt_y</p:attrName>
                                        </p:attrNameLst>
                                      </p:cBhvr>
                                      <p:tavLst>
                                        <p:tav tm="0" fmla="#ppt_y-sin(pi*$)/81">
                                          <p:val>
                                            <p:fltVal val="0"/>
                                          </p:val>
                                        </p:tav>
                                        <p:tav tm="100000">
                                          <p:val>
                                            <p:fltVal val="1"/>
                                          </p:val>
                                        </p:tav>
                                      </p:tavLst>
                                    </p:anim>
                                    <p:animScale>
                                      <p:cBhvr>
                                        <p:cTn id="269" dur="26">
                                          <p:stCondLst>
                                            <p:cond delay="650"/>
                                          </p:stCondLst>
                                        </p:cTn>
                                        <p:tgtEl>
                                          <p:spTgt spid="16">
                                            <p:txEl>
                                              <p:pRg st="17" end="17"/>
                                            </p:txEl>
                                          </p:spTgt>
                                        </p:tgtEl>
                                      </p:cBhvr>
                                      <p:to x="100000" y="60000"/>
                                    </p:animScale>
                                    <p:animScale>
                                      <p:cBhvr>
                                        <p:cTn id="270" dur="166" decel="50000">
                                          <p:stCondLst>
                                            <p:cond delay="676"/>
                                          </p:stCondLst>
                                        </p:cTn>
                                        <p:tgtEl>
                                          <p:spTgt spid="16">
                                            <p:txEl>
                                              <p:pRg st="17" end="17"/>
                                            </p:txEl>
                                          </p:spTgt>
                                        </p:tgtEl>
                                      </p:cBhvr>
                                      <p:to x="100000" y="100000"/>
                                    </p:animScale>
                                    <p:animScale>
                                      <p:cBhvr>
                                        <p:cTn id="271" dur="26">
                                          <p:stCondLst>
                                            <p:cond delay="1312"/>
                                          </p:stCondLst>
                                        </p:cTn>
                                        <p:tgtEl>
                                          <p:spTgt spid="16">
                                            <p:txEl>
                                              <p:pRg st="17" end="17"/>
                                            </p:txEl>
                                          </p:spTgt>
                                        </p:tgtEl>
                                      </p:cBhvr>
                                      <p:to x="100000" y="80000"/>
                                    </p:animScale>
                                    <p:animScale>
                                      <p:cBhvr>
                                        <p:cTn id="272" dur="166" decel="50000">
                                          <p:stCondLst>
                                            <p:cond delay="1338"/>
                                          </p:stCondLst>
                                        </p:cTn>
                                        <p:tgtEl>
                                          <p:spTgt spid="16">
                                            <p:txEl>
                                              <p:pRg st="17" end="17"/>
                                            </p:txEl>
                                          </p:spTgt>
                                        </p:tgtEl>
                                      </p:cBhvr>
                                      <p:to x="100000" y="100000"/>
                                    </p:animScale>
                                    <p:animScale>
                                      <p:cBhvr>
                                        <p:cTn id="273" dur="26">
                                          <p:stCondLst>
                                            <p:cond delay="1642"/>
                                          </p:stCondLst>
                                        </p:cTn>
                                        <p:tgtEl>
                                          <p:spTgt spid="16">
                                            <p:txEl>
                                              <p:pRg st="17" end="17"/>
                                            </p:txEl>
                                          </p:spTgt>
                                        </p:tgtEl>
                                      </p:cBhvr>
                                      <p:to x="100000" y="90000"/>
                                    </p:animScale>
                                    <p:animScale>
                                      <p:cBhvr>
                                        <p:cTn id="274" dur="166" decel="50000">
                                          <p:stCondLst>
                                            <p:cond delay="1668"/>
                                          </p:stCondLst>
                                        </p:cTn>
                                        <p:tgtEl>
                                          <p:spTgt spid="16">
                                            <p:txEl>
                                              <p:pRg st="17" end="17"/>
                                            </p:txEl>
                                          </p:spTgt>
                                        </p:tgtEl>
                                      </p:cBhvr>
                                      <p:to x="100000" y="100000"/>
                                    </p:animScale>
                                    <p:animScale>
                                      <p:cBhvr>
                                        <p:cTn id="275" dur="26">
                                          <p:stCondLst>
                                            <p:cond delay="1808"/>
                                          </p:stCondLst>
                                        </p:cTn>
                                        <p:tgtEl>
                                          <p:spTgt spid="16">
                                            <p:txEl>
                                              <p:pRg st="17" end="17"/>
                                            </p:txEl>
                                          </p:spTgt>
                                        </p:tgtEl>
                                      </p:cBhvr>
                                      <p:to x="100000" y="95000"/>
                                    </p:animScale>
                                    <p:animScale>
                                      <p:cBhvr>
                                        <p:cTn id="276" dur="166" decel="50000">
                                          <p:stCondLst>
                                            <p:cond delay="1834"/>
                                          </p:stCondLst>
                                        </p:cTn>
                                        <p:tgtEl>
                                          <p:spTgt spid="16">
                                            <p:txEl>
                                              <p:pRg st="17" end="17"/>
                                            </p:txEl>
                                          </p:spTgt>
                                        </p:tgtEl>
                                      </p:cBhvr>
                                      <p:to x="100000" y="100000"/>
                                    </p:animScale>
                                  </p:childTnLst>
                                </p:cTn>
                              </p:par>
                            </p:childTnLst>
                          </p:cTn>
                        </p:par>
                      </p:childTnLst>
                    </p:cTn>
                  </p:par>
                  <p:par>
                    <p:cTn id="277" fill="hold">
                      <p:stCondLst>
                        <p:cond delay="indefinite"/>
                      </p:stCondLst>
                      <p:childTnLst>
                        <p:par>
                          <p:cTn id="278" fill="hold">
                            <p:stCondLst>
                              <p:cond delay="0"/>
                            </p:stCondLst>
                            <p:childTnLst>
                              <p:par>
                                <p:cTn id="279" presetID="2" presetClass="entr" presetSubtype="4" fill="hold" nodeType="clickEffect">
                                  <p:stCondLst>
                                    <p:cond delay="0"/>
                                  </p:stCondLst>
                                  <p:childTnLst>
                                    <p:set>
                                      <p:cBhvr>
                                        <p:cTn id="280" dur="1" fill="hold">
                                          <p:stCondLst>
                                            <p:cond delay="0"/>
                                          </p:stCondLst>
                                        </p:cTn>
                                        <p:tgtEl>
                                          <p:spTgt spid="20">
                                            <p:txEl>
                                              <p:pRg st="0" end="0"/>
                                            </p:txEl>
                                          </p:spTgt>
                                        </p:tgtEl>
                                        <p:attrNameLst>
                                          <p:attrName>style.visibility</p:attrName>
                                        </p:attrNameLst>
                                      </p:cBhvr>
                                      <p:to>
                                        <p:strVal val="visible"/>
                                      </p:to>
                                    </p:set>
                                    <p:anim calcmode="lin" valueType="num">
                                      <p:cBhvr additive="base">
                                        <p:cTn id="281"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82"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3" fill="hold">
                      <p:stCondLst>
                        <p:cond delay="indefinite"/>
                      </p:stCondLst>
                      <p:childTnLst>
                        <p:par>
                          <p:cTn id="284" fill="hold">
                            <p:stCondLst>
                              <p:cond delay="0"/>
                            </p:stCondLst>
                            <p:childTnLst>
                              <p:par>
                                <p:cTn id="285" presetID="2" presetClass="entr" presetSubtype="4" fill="hold" nodeType="clickEffect">
                                  <p:stCondLst>
                                    <p:cond delay="0"/>
                                  </p:stCondLst>
                                  <p:childTnLst>
                                    <p:set>
                                      <p:cBhvr>
                                        <p:cTn id="286" dur="1" fill="hold">
                                          <p:stCondLst>
                                            <p:cond delay="0"/>
                                          </p:stCondLst>
                                        </p:cTn>
                                        <p:tgtEl>
                                          <p:spTgt spid="20">
                                            <p:txEl>
                                              <p:pRg st="1" end="1"/>
                                            </p:txEl>
                                          </p:spTgt>
                                        </p:tgtEl>
                                        <p:attrNameLst>
                                          <p:attrName>style.visibility</p:attrName>
                                        </p:attrNameLst>
                                      </p:cBhvr>
                                      <p:to>
                                        <p:strVal val="visible"/>
                                      </p:to>
                                    </p:set>
                                    <p:anim calcmode="lin" valueType="num">
                                      <p:cBhvr additive="base">
                                        <p:cTn id="287"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88"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9" fill="hold">
                      <p:stCondLst>
                        <p:cond delay="indefinite"/>
                      </p:stCondLst>
                      <p:childTnLst>
                        <p:par>
                          <p:cTn id="290" fill="hold">
                            <p:stCondLst>
                              <p:cond delay="0"/>
                            </p:stCondLst>
                            <p:childTnLst>
                              <p:par>
                                <p:cTn id="291" presetID="2" presetClass="entr" presetSubtype="4" fill="hold" nodeType="clickEffect">
                                  <p:stCondLst>
                                    <p:cond delay="0"/>
                                  </p:stCondLst>
                                  <p:childTnLst>
                                    <p:set>
                                      <p:cBhvr>
                                        <p:cTn id="292" dur="1" fill="hold">
                                          <p:stCondLst>
                                            <p:cond delay="0"/>
                                          </p:stCondLst>
                                        </p:cTn>
                                        <p:tgtEl>
                                          <p:spTgt spid="20">
                                            <p:txEl>
                                              <p:pRg st="2" end="2"/>
                                            </p:txEl>
                                          </p:spTgt>
                                        </p:tgtEl>
                                        <p:attrNameLst>
                                          <p:attrName>style.visibility</p:attrName>
                                        </p:attrNameLst>
                                      </p:cBhvr>
                                      <p:to>
                                        <p:strVal val="visible"/>
                                      </p:to>
                                    </p:set>
                                    <p:anim calcmode="lin" valueType="num">
                                      <p:cBhvr additive="base">
                                        <p:cTn id="293"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294"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5" fill="hold">
                      <p:stCondLst>
                        <p:cond delay="indefinite"/>
                      </p:stCondLst>
                      <p:childTnLst>
                        <p:par>
                          <p:cTn id="296" fill="hold">
                            <p:stCondLst>
                              <p:cond delay="0"/>
                            </p:stCondLst>
                            <p:childTnLst>
                              <p:par>
                                <p:cTn id="297" presetID="2" presetClass="entr" presetSubtype="4" fill="hold" nodeType="clickEffect">
                                  <p:stCondLst>
                                    <p:cond delay="0"/>
                                  </p:stCondLst>
                                  <p:childTnLst>
                                    <p:set>
                                      <p:cBhvr>
                                        <p:cTn id="298" dur="1" fill="hold">
                                          <p:stCondLst>
                                            <p:cond delay="0"/>
                                          </p:stCondLst>
                                        </p:cTn>
                                        <p:tgtEl>
                                          <p:spTgt spid="20">
                                            <p:txEl>
                                              <p:pRg st="3" end="3"/>
                                            </p:txEl>
                                          </p:spTgt>
                                        </p:tgtEl>
                                        <p:attrNameLst>
                                          <p:attrName>style.visibility</p:attrName>
                                        </p:attrNameLst>
                                      </p:cBhvr>
                                      <p:to>
                                        <p:strVal val="visible"/>
                                      </p:to>
                                    </p:set>
                                    <p:anim calcmode="lin" valueType="num">
                                      <p:cBhvr additive="base">
                                        <p:cTn id="299"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300"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1" fill="hold">
                      <p:stCondLst>
                        <p:cond delay="indefinite"/>
                      </p:stCondLst>
                      <p:childTnLst>
                        <p:par>
                          <p:cTn id="302" fill="hold">
                            <p:stCondLst>
                              <p:cond delay="0"/>
                            </p:stCondLst>
                            <p:childTnLst>
                              <p:par>
                                <p:cTn id="303" presetID="2" presetClass="entr" presetSubtype="4" fill="hold" nodeType="clickEffect">
                                  <p:stCondLst>
                                    <p:cond delay="0"/>
                                  </p:stCondLst>
                                  <p:childTnLst>
                                    <p:set>
                                      <p:cBhvr>
                                        <p:cTn id="304" dur="1" fill="hold">
                                          <p:stCondLst>
                                            <p:cond delay="0"/>
                                          </p:stCondLst>
                                        </p:cTn>
                                        <p:tgtEl>
                                          <p:spTgt spid="20">
                                            <p:txEl>
                                              <p:pRg st="4" end="4"/>
                                            </p:txEl>
                                          </p:spTgt>
                                        </p:tgtEl>
                                        <p:attrNameLst>
                                          <p:attrName>style.visibility</p:attrName>
                                        </p:attrNameLst>
                                      </p:cBhvr>
                                      <p:to>
                                        <p:strVal val="visible"/>
                                      </p:to>
                                    </p:set>
                                    <p:anim calcmode="lin" valueType="num">
                                      <p:cBhvr additive="base">
                                        <p:cTn id="305"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306" dur="500" fill="hold"/>
                                        <p:tgtEl>
                                          <p:spTgt spid="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20</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Four directions, and why ties go to even</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08760"/>
            <a:ext cx="5120640" cy="1280160"/>
          </a:xfrm>
          <a:prstGeom prst="rect">
            <a:avLst/>
          </a:prstGeom>
          <a:noFill/>
          <a:ln/>
        </p:spPr>
        <p:txBody>
          <a:bodyPr wrap="square" lIns="0" tIns="0" rIns="0" bIns="0" rtlCol="0" anchor="ctr"/>
          <a:lstStyle/>
          <a:p>
            <a:pPr marL="0" indent="0">
              <a:buNone/>
            </a:pPr>
            <a:r>
              <a:rPr lang="en-US" sz="1400" b="1" dirty="0">
                <a:solidFill>
                  <a:srgbClr val="586127"/>
                </a:solidFill>
                <a:latin typeface="Cambria" pitchFamily="34" charset="0"/>
                <a:ea typeface="Cambria" pitchFamily="34" charset="-122"/>
                <a:cs typeface="Cambria" pitchFamily="34" charset="-120"/>
              </a:rPr>
              <a:t>Round-half-to-even </a:t>
            </a:r>
            <a:r>
              <a:rPr lang="en-US" sz="1400" dirty="0">
                <a:solidFill>
                  <a:srgbClr val="2B2722"/>
                </a:solidFill>
                <a:latin typeface="Cambria" pitchFamily="34" charset="0"/>
                <a:ea typeface="Cambria" pitchFamily="34" charset="-122"/>
                <a:cs typeface="Cambria" pitchFamily="34" charset="-120"/>
              </a:rPr>
              <a:t>is the default: a halfway value rounds to the neighbour whose last bit is 0. Always rounding halves up biases sums; ties-to-even cancels it.</a:t>
            </a:r>
            <a:endParaRPr lang="en-US" sz="1400" dirty="0"/>
          </a:p>
        </p:txBody>
      </p:sp>
      <p:sp>
        <p:nvSpPr>
          <p:cNvPr id="15" name="Shape 13"/>
          <p:cNvSpPr/>
          <p:nvPr/>
        </p:nvSpPr>
        <p:spPr>
          <a:xfrm>
            <a:off x="914400" y="2788920"/>
            <a:ext cx="5120640" cy="137160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6" name="Shape 14"/>
          <p:cNvSpPr/>
          <p:nvPr/>
        </p:nvSpPr>
        <p:spPr>
          <a:xfrm>
            <a:off x="914400" y="2788920"/>
            <a:ext cx="82296" cy="1371600"/>
          </a:xfrm>
          <a:prstGeom prst="rect">
            <a:avLst/>
          </a:prstGeom>
          <a:solidFill>
            <a:srgbClr val="7F8A3A"/>
          </a:solidFill>
          <a:ln/>
        </p:spPr>
      </p:sp>
      <p:sp>
        <p:nvSpPr>
          <p:cNvPr id="17" name="Text 15"/>
          <p:cNvSpPr/>
          <p:nvPr/>
        </p:nvSpPr>
        <p:spPr>
          <a:xfrm>
            <a:off x="1115568" y="2880360"/>
            <a:ext cx="4791456" cy="1188720"/>
          </a:xfrm>
          <a:prstGeom prst="rect">
            <a:avLst/>
          </a:prstGeom>
          <a:noFill/>
          <a:ln/>
        </p:spPr>
        <p:txBody>
          <a:bodyPr wrap="square" lIns="0" tIns="0" rIns="0" bIns="0" rtlCol="0" anchor="t"/>
          <a:lstStyle/>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mov  edi, rc</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call set_round           ; install mode</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fld  qword [value]</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frndint                  ; round to integer (this mode)</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fstp qword [result]</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5029200" cy="1755648"/>
        </p:xfrm>
        <a:graphic>
          <a:graphicData uri="http://schemas.openxmlformats.org/drawingml/2006/table">
            <a:tbl>
              <a:tblPr/>
              <a:tblGrid>
                <a:gridCol w="1371600"/>
                <a:gridCol w="914400"/>
                <a:gridCol w="914400"/>
                <a:gridCol w="914400"/>
                <a:gridCol w="914400"/>
              </a:tblGrid>
              <a:tr h="292608">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value</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near</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down</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up</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chop</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292608">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0</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292608">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1.5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292608">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292608">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4</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292608">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−2.5</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−3</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250" dirty="0">
                          <a:solidFill>
                            <a:srgbClr val="2B2722"/>
                          </a:solidFill>
                          <a:latin typeface="Consolas" pitchFamily="34" charset="0"/>
                          <a:ea typeface="Consolas" pitchFamily="34" charset="-122"/>
                          <a:cs typeface="Consolas" pitchFamily="34" charset="-120"/>
                        </a:rPr>
                        <a:t>−2</a:t>
                      </a:r>
                      <a:endParaRPr lang="en-US" sz="12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bl>
          </a:graphicData>
        </a:graphic>
      </p:graphicFrame>
      <p:sp>
        <p:nvSpPr>
          <p:cNvPr id="19" name="Shape 16"/>
          <p:cNvSpPr/>
          <p:nvPr/>
        </p:nvSpPr>
        <p:spPr>
          <a:xfrm>
            <a:off x="6217920" y="1508760"/>
            <a:ext cx="5120640" cy="41605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0" name="Text 17"/>
          <p:cNvSpPr/>
          <p:nvPr/>
        </p:nvSpPr>
        <p:spPr>
          <a:xfrm>
            <a:off x="6400800" y="1691640"/>
            <a:ext cx="4754880" cy="365760"/>
          </a:xfrm>
          <a:prstGeom prst="rect">
            <a:avLst/>
          </a:prstGeom>
          <a:noFill/>
          <a:ln/>
        </p:spPr>
        <p:txBody>
          <a:bodyPr wrap="square" lIns="0" tIns="0" rIns="0" bIns="0" rtlCol="0" anchor="ctr"/>
          <a:lstStyle/>
          <a:p>
            <a:pPr marL="0" indent="0">
              <a:buNone/>
            </a:pPr>
            <a:r>
              <a:rPr lang="en-US" sz="1400" b="1" dirty="0">
                <a:solidFill>
                  <a:srgbClr val="586127"/>
                </a:solidFill>
                <a:latin typeface="Cambria" pitchFamily="34" charset="0"/>
                <a:ea typeface="Cambria" pitchFamily="34" charset="-122"/>
                <a:cs typeface="Cambria" pitchFamily="34" charset="-120"/>
              </a:rPr>
              <a:t>A real value between two representable doubles</a:t>
            </a:r>
            <a:endParaRPr lang="en-US" sz="1400" dirty="0"/>
          </a:p>
        </p:txBody>
      </p:sp>
      <p:sp>
        <p:nvSpPr>
          <p:cNvPr id="18" name="Shape 18"/>
          <p:cNvSpPr/>
          <p:nvPr/>
        </p:nvSpPr>
        <p:spPr>
          <a:xfrm>
            <a:off x="6629400" y="3063240"/>
            <a:ext cx="4343400" cy="0"/>
          </a:xfrm>
          <a:prstGeom prst="line">
            <a:avLst/>
          </a:prstGeom>
          <a:noFill/>
          <a:ln w="25400">
            <a:solidFill>
              <a:srgbClr val="6B4E34"/>
            </a:solidFill>
            <a:prstDash val="solid"/>
          </a:ln>
        </p:spPr>
      </p:sp>
      <p:sp>
        <p:nvSpPr>
          <p:cNvPr id="22" name="Shape 19"/>
          <p:cNvSpPr/>
          <p:nvPr/>
        </p:nvSpPr>
        <p:spPr>
          <a:xfrm>
            <a:off x="6565392" y="2999232"/>
            <a:ext cx="128016" cy="128016"/>
          </a:xfrm>
          <a:prstGeom prst="ellipse">
            <a:avLst/>
          </a:prstGeom>
          <a:solidFill>
            <a:srgbClr val="3E2B1C"/>
          </a:solidFill>
          <a:ln/>
        </p:spPr>
      </p:sp>
      <p:sp>
        <p:nvSpPr>
          <p:cNvPr id="23" name="Shape 20"/>
          <p:cNvSpPr/>
          <p:nvPr/>
        </p:nvSpPr>
        <p:spPr>
          <a:xfrm>
            <a:off x="10908792" y="2999232"/>
            <a:ext cx="128016" cy="128016"/>
          </a:xfrm>
          <a:prstGeom prst="ellipse">
            <a:avLst/>
          </a:prstGeom>
          <a:solidFill>
            <a:srgbClr val="3E2B1C"/>
          </a:solidFill>
          <a:ln/>
        </p:spPr>
      </p:sp>
      <p:sp>
        <p:nvSpPr>
          <p:cNvPr id="24" name="Text 21"/>
          <p:cNvSpPr/>
          <p:nvPr/>
        </p:nvSpPr>
        <p:spPr>
          <a:xfrm>
            <a:off x="6400800" y="3172968"/>
            <a:ext cx="914400" cy="274320"/>
          </a:xfrm>
          <a:prstGeom prst="rect">
            <a:avLst/>
          </a:prstGeom>
          <a:noFill/>
          <a:ln/>
        </p:spPr>
        <p:txBody>
          <a:bodyPr wrap="square" lIns="0" tIns="0" rIns="0" bIns="0" rtlCol="0" anchor="ctr"/>
          <a:lstStyle/>
          <a:p>
            <a:pPr marL="0" indent="0">
              <a:buNone/>
            </a:pPr>
            <a:r>
              <a:rPr lang="en-US" sz="1300" dirty="0">
                <a:solidFill>
                  <a:srgbClr val="6B4E34"/>
                </a:solidFill>
                <a:latin typeface="Consolas" pitchFamily="34" charset="0"/>
                <a:ea typeface="Consolas" pitchFamily="34" charset="-122"/>
                <a:cs typeface="Consolas" pitchFamily="34" charset="-120"/>
              </a:rPr>
              <a:t>d⁻</a:t>
            </a:r>
            <a:endParaRPr lang="en-US" sz="1300" dirty="0"/>
          </a:p>
        </p:txBody>
      </p:sp>
      <p:sp>
        <p:nvSpPr>
          <p:cNvPr id="25" name="Text 22"/>
          <p:cNvSpPr/>
          <p:nvPr/>
        </p:nvSpPr>
        <p:spPr>
          <a:xfrm>
            <a:off x="10744200" y="3172968"/>
            <a:ext cx="914400" cy="274320"/>
          </a:xfrm>
          <a:prstGeom prst="rect">
            <a:avLst/>
          </a:prstGeom>
          <a:noFill/>
          <a:ln/>
        </p:spPr>
        <p:txBody>
          <a:bodyPr wrap="square" lIns="0" tIns="0" rIns="0" bIns="0" rtlCol="0" anchor="ctr"/>
          <a:lstStyle/>
          <a:p>
            <a:pPr marL="0" indent="0">
              <a:buNone/>
            </a:pPr>
            <a:r>
              <a:rPr lang="en-US" sz="1300" dirty="0">
                <a:solidFill>
                  <a:srgbClr val="6B4E34"/>
                </a:solidFill>
                <a:latin typeface="Consolas" pitchFamily="34" charset="0"/>
                <a:ea typeface="Consolas" pitchFamily="34" charset="-122"/>
                <a:cs typeface="Consolas" pitchFamily="34" charset="-120"/>
              </a:rPr>
              <a:t>d⁺</a:t>
            </a:r>
            <a:endParaRPr lang="en-US" sz="1300" dirty="0"/>
          </a:p>
        </p:txBody>
      </p:sp>
      <p:sp>
        <p:nvSpPr>
          <p:cNvPr id="26" name="Shape 23"/>
          <p:cNvSpPr/>
          <p:nvPr/>
        </p:nvSpPr>
        <p:spPr>
          <a:xfrm>
            <a:off x="9322308" y="2651760"/>
            <a:ext cx="0" cy="822960"/>
          </a:xfrm>
          <a:prstGeom prst="line">
            <a:avLst/>
          </a:prstGeom>
          <a:noFill/>
          <a:ln w="31750">
            <a:solidFill>
              <a:srgbClr val="A8451F"/>
            </a:solidFill>
            <a:prstDash val="solid"/>
          </a:ln>
        </p:spPr>
      </p:sp>
      <p:sp>
        <p:nvSpPr>
          <p:cNvPr id="27" name="Text 24"/>
          <p:cNvSpPr/>
          <p:nvPr/>
        </p:nvSpPr>
        <p:spPr>
          <a:xfrm>
            <a:off x="8407908" y="2286000"/>
            <a:ext cx="1828800" cy="274320"/>
          </a:xfrm>
          <a:prstGeom prst="rect">
            <a:avLst/>
          </a:prstGeom>
          <a:noFill/>
          <a:ln/>
        </p:spPr>
        <p:txBody>
          <a:bodyPr wrap="square" lIns="0" tIns="0" rIns="0" bIns="0" rtlCol="0" anchor="ctr"/>
          <a:lstStyle/>
          <a:p>
            <a:pPr marL="0" indent="0" algn="ctr">
              <a:buNone/>
            </a:pPr>
            <a:r>
              <a:rPr lang="en-US" sz="1200" dirty="0">
                <a:solidFill>
                  <a:srgbClr val="A8451F"/>
                </a:solidFill>
                <a:latin typeface="Consolas" pitchFamily="34" charset="0"/>
                <a:ea typeface="Consolas" pitchFamily="34" charset="-122"/>
                <a:cs typeface="Consolas" pitchFamily="34" charset="-120"/>
              </a:rPr>
              <a:t>exact result</a:t>
            </a:r>
            <a:endParaRPr lang="en-US" sz="1200" dirty="0"/>
          </a:p>
        </p:txBody>
      </p:sp>
      <p:sp>
        <p:nvSpPr>
          <p:cNvPr id="28" name="Text 25"/>
          <p:cNvSpPr/>
          <p:nvPr/>
        </p:nvSpPr>
        <p:spPr>
          <a:xfrm>
            <a:off x="6629400" y="3977640"/>
            <a:ext cx="4572000" cy="1554480"/>
          </a:xfrm>
          <a:prstGeom prst="rect">
            <a:avLst/>
          </a:prstGeom>
          <a:noFill/>
          <a:ln/>
        </p:spPr>
        <p:txBody>
          <a:bodyPr wrap="square" lIns="0" tIns="0" rIns="0" bIns="0" rtlCol="0" anchor="ctr"/>
          <a:lstStyle/>
          <a:p>
            <a:pPr marL="0" indent="0">
              <a:lnSpc>
                <a:spcPct val="122000"/>
              </a:lnSpc>
              <a:buNone/>
            </a:pPr>
            <a:r>
              <a:rPr lang="en-US" sz="1350" dirty="0">
                <a:solidFill>
                  <a:srgbClr val="586127"/>
                </a:solidFill>
                <a:latin typeface="Consolas" pitchFamily="34" charset="0"/>
                <a:ea typeface="Consolas" pitchFamily="34" charset="-122"/>
                <a:cs typeface="Consolas" pitchFamily="34" charset="-120"/>
              </a:rPr>
              <a:t>down / chop </a:t>
            </a:r>
            <a:r>
              <a:rPr lang="en-US" sz="1350" dirty="0">
                <a:solidFill>
                  <a:srgbClr val="6E6453"/>
                </a:solidFill>
                <a:latin typeface="Consolas" pitchFamily="34" charset="0"/>
                <a:ea typeface="Consolas" pitchFamily="34" charset="-122"/>
                <a:cs typeface="Consolas" pitchFamily="34" charset="-120"/>
              </a:rPr>
              <a:t>→ d⁻</a:t>
            </a:r>
            <a:endParaRPr lang="en-US" sz="1350" dirty="0"/>
          </a:p>
          <a:p>
            <a:pPr marL="0" indent="0">
              <a:lnSpc>
                <a:spcPct val="122000"/>
              </a:lnSpc>
              <a:buNone/>
            </a:pPr>
            <a:r>
              <a:rPr lang="en-US" sz="1350" dirty="0">
                <a:solidFill>
                  <a:srgbClr val="586127"/>
                </a:solidFill>
                <a:latin typeface="Consolas" pitchFamily="34" charset="0"/>
                <a:ea typeface="Consolas" pitchFamily="34" charset="-122"/>
                <a:cs typeface="Consolas" pitchFamily="34" charset="-120"/>
              </a:rPr>
              <a:t>up </a:t>
            </a:r>
            <a:r>
              <a:rPr lang="en-US" sz="1350" dirty="0">
                <a:solidFill>
                  <a:srgbClr val="6E6453"/>
                </a:solidFill>
                <a:latin typeface="Consolas" pitchFamily="34" charset="0"/>
                <a:ea typeface="Consolas" pitchFamily="34" charset="-122"/>
                <a:cs typeface="Consolas" pitchFamily="34" charset="-120"/>
              </a:rPr>
              <a:t>→ d⁺</a:t>
            </a:r>
            <a:endParaRPr lang="en-US" sz="1350" dirty="0"/>
          </a:p>
          <a:p>
            <a:pPr marL="0" indent="0">
              <a:lnSpc>
                <a:spcPct val="122000"/>
              </a:lnSpc>
              <a:buNone/>
            </a:pPr>
            <a:r>
              <a:rPr lang="en-US" sz="1350" dirty="0">
                <a:solidFill>
                  <a:srgbClr val="586127"/>
                </a:solidFill>
                <a:latin typeface="Consolas" pitchFamily="34" charset="0"/>
                <a:ea typeface="Consolas" pitchFamily="34" charset="-122"/>
                <a:cs typeface="Consolas" pitchFamily="34" charset="-120"/>
              </a:rPr>
              <a:t>nearest </a:t>
            </a:r>
            <a:r>
              <a:rPr lang="en-US" sz="1350" dirty="0">
                <a:solidFill>
                  <a:srgbClr val="6E6453"/>
                </a:solidFill>
                <a:latin typeface="Consolas" pitchFamily="34" charset="0"/>
                <a:ea typeface="Consolas" pitchFamily="34" charset="-122"/>
                <a:cs typeface="Consolas" pitchFamily="34" charset="-120"/>
              </a:rPr>
              <a:t>→ closer one (here d⁺)</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down)">
                                      <p:cBhvr>
                                        <p:cTn id="14" dur="580">
                                          <p:stCondLst>
                                            <p:cond delay="0"/>
                                          </p:stCondLst>
                                        </p:cTn>
                                        <p:tgtEl>
                                          <p:spTgt spid="17"/>
                                        </p:tgtEl>
                                      </p:cBhvr>
                                    </p:animEffect>
                                    <p:anim calcmode="lin" valueType="num">
                                      <p:cBhvr>
                                        <p:cTn id="15"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0" dur="26">
                                          <p:stCondLst>
                                            <p:cond delay="650"/>
                                          </p:stCondLst>
                                        </p:cTn>
                                        <p:tgtEl>
                                          <p:spTgt spid="17"/>
                                        </p:tgtEl>
                                      </p:cBhvr>
                                      <p:to x="100000" y="60000"/>
                                    </p:animScale>
                                    <p:animScale>
                                      <p:cBhvr>
                                        <p:cTn id="21" dur="166" decel="50000">
                                          <p:stCondLst>
                                            <p:cond delay="676"/>
                                          </p:stCondLst>
                                        </p:cTn>
                                        <p:tgtEl>
                                          <p:spTgt spid="17"/>
                                        </p:tgtEl>
                                      </p:cBhvr>
                                      <p:to x="100000" y="100000"/>
                                    </p:animScale>
                                    <p:animScale>
                                      <p:cBhvr>
                                        <p:cTn id="22" dur="26">
                                          <p:stCondLst>
                                            <p:cond delay="1312"/>
                                          </p:stCondLst>
                                        </p:cTn>
                                        <p:tgtEl>
                                          <p:spTgt spid="17"/>
                                        </p:tgtEl>
                                      </p:cBhvr>
                                      <p:to x="100000" y="80000"/>
                                    </p:animScale>
                                    <p:animScale>
                                      <p:cBhvr>
                                        <p:cTn id="23" dur="166" decel="50000">
                                          <p:stCondLst>
                                            <p:cond delay="1338"/>
                                          </p:stCondLst>
                                        </p:cTn>
                                        <p:tgtEl>
                                          <p:spTgt spid="17"/>
                                        </p:tgtEl>
                                      </p:cBhvr>
                                      <p:to x="100000" y="100000"/>
                                    </p:animScale>
                                    <p:animScale>
                                      <p:cBhvr>
                                        <p:cTn id="24" dur="26">
                                          <p:stCondLst>
                                            <p:cond delay="1642"/>
                                          </p:stCondLst>
                                        </p:cTn>
                                        <p:tgtEl>
                                          <p:spTgt spid="17"/>
                                        </p:tgtEl>
                                      </p:cBhvr>
                                      <p:to x="100000" y="90000"/>
                                    </p:animScale>
                                    <p:animScale>
                                      <p:cBhvr>
                                        <p:cTn id="25" dur="166" decel="50000">
                                          <p:stCondLst>
                                            <p:cond delay="1668"/>
                                          </p:stCondLst>
                                        </p:cTn>
                                        <p:tgtEl>
                                          <p:spTgt spid="17"/>
                                        </p:tgtEl>
                                      </p:cBhvr>
                                      <p:to x="100000" y="100000"/>
                                    </p:animScale>
                                    <p:animScale>
                                      <p:cBhvr>
                                        <p:cTn id="26" dur="26">
                                          <p:stCondLst>
                                            <p:cond delay="1808"/>
                                          </p:stCondLst>
                                        </p:cTn>
                                        <p:tgtEl>
                                          <p:spTgt spid="17"/>
                                        </p:tgtEl>
                                      </p:cBhvr>
                                      <p:to x="100000" y="95000"/>
                                    </p:animScale>
                                    <p:animScale>
                                      <p:cBhvr>
                                        <p:cTn id="27" dur="166" decel="50000">
                                          <p:stCondLst>
                                            <p:cond delay="1834"/>
                                          </p:stCondLst>
                                        </p:cTn>
                                        <p:tgtEl>
                                          <p:spTgt spid="17"/>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21</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Demonstration 1 — even arithmetic rounds</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08760"/>
            <a:ext cx="10360152" cy="457200"/>
          </a:xfrm>
          <a:prstGeom prst="rect">
            <a:avLst/>
          </a:prstGeom>
          <a:noFill/>
          <a:ln/>
        </p:spPr>
        <p:txBody>
          <a:bodyPr wrap="square" lIns="0" tIns="0" rIns="0" bIns="0" rtlCol="0" anchor="ctr"/>
          <a:lstStyle/>
          <a:p>
            <a:pPr marL="0" indent="0">
              <a:buNone/>
            </a:pPr>
            <a:r>
              <a:rPr lang="en-US" sz="1450" b="1" dirty="0">
                <a:solidFill>
                  <a:srgbClr val="586127"/>
                </a:solidFill>
                <a:latin typeface="Cambria" pitchFamily="34" charset="0"/>
                <a:ea typeface="Cambria" pitchFamily="34" charset="-122"/>
                <a:cs typeface="Cambria" pitchFamily="34" charset="-120"/>
              </a:rPr>
              <a:t>1/3 and 2/3 are not representable in binary. </a:t>
            </a:r>
            <a:r>
              <a:rPr lang="en-US" sz="1450" dirty="0">
                <a:solidFill>
                  <a:srgbClr val="2B2722"/>
                </a:solidFill>
                <a:latin typeface="Cambria" pitchFamily="34" charset="0"/>
                <a:ea typeface="Cambria" pitchFamily="34" charset="-122"/>
                <a:cs typeface="Cambria" pitchFamily="34" charset="-120"/>
              </a:rPr>
              <a:t>With PC = 53 the same FDIV gives a different last bit per mode:</a:t>
            </a:r>
            <a:endParaRPr lang="en-US" sz="14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331720" y="2011680"/>
          <a:ext cx="7498080" cy="2011680"/>
        </p:xfrm>
        <a:graphic>
          <a:graphicData uri="http://schemas.openxmlformats.org/drawingml/2006/table">
            <a:tbl>
              <a:tblPr/>
              <a:tblGrid>
                <a:gridCol w="868680"/>
                <a:gridCol w="1508760"/>
                <a:gridCol w="2560320"/>
                <a:gridCol w="2560320"/>
              </a:tblGrid>
              <a:tr h="402336">
                <a:tc>
                  <a:txBody>
                    <a:bodyPr/>
                    <a:lstStyle/>
                    <a:p>
                      <a:pPr marL="0" indent="0" algn="ctr">
                        <a:buNone/>
                      </a:pPr>
                      <a:r>
                        <a:rPr lang="en-US" sz="1350" b="1" dirty="0">
                          <a:solidFill>
                            <a:srgbClr val="FFFFFF"/>
                          </a:solidFill>
                          <a:latin typeface="Cambria" pitchFamily="34" charset="0"/>
                          <a:ea typeface="Cambria" pitchFamily="34" charset="-122"/>
                          <a:cs typeface="Cambria" pitchFamily="34" charset="-120"/>
                        </a:rPr>
                        <a:t>RC</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350" b="1" dirty="0">
                          <a:solidFill>
                            <a:srgbClr val="FFFFFF"/>
                          </a:solidFill>
                          <a:latin typeface="Cambria" pitchFamily="34" charset="0"/>
                          <a:ea typeface="Cambria" pitchFamily="34" charset="-122"/>
                          <a:cs typeface="Cambria" pitchFamily="34" charset="-120"/>
                        </a:rPr>
                        <a:t>mode</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l">
                        <a:buNone/>
                      </a:pPr>
                      <a:r>
                        <a:rPr lang="en-US" sz="1350" b="1" dirty="0">
                          <a:solidFill>
                            <a:srgbClr val="FFFFFF"/>
                          </a:solidFill>
                          <a:latin typeface="Cambria" pitchFamily="34" charset="0"/>
                          <a:ea typeface="Cambria" pitchFamily="34" charset="-122"/>
                          <a:cs typeface="Cambria" pitchFamily="34" charset="-120"/>
                        </a:rPr>
                        <a:t>1.0 / 3.0</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l">
                        <a:buNone/>
                      </a:pPr>
                      <a:r>
                        <a:rPr lang="en-US" sz="1350" b="1" dirty="0">
                          <a:solidFill>
                            <a:srgbClr val="FFFFFF"/>
                          </a:solidFill>
                          <a:latin typeface="Cambria" pitchFamily="34" charset="0"/>
                          <a:ea typeface="Cambria" pitchFamily="34" charset="-122"/>
                          <a:cs typeface="Cambria" pitchFamily="34" charset="-120"/>
                        </a:rPr>
                        <a:t>2.0 / 3.0</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402336">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00</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nearest</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0.33333333333333331</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0.66666666666666663</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01</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down</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0.33333333333333331</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0.66666666666666662</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402336">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10</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up</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50" dirty="0">
                          <a:solidFill>
                            <a:srgbClr val="B5642A"/>
                          </a:solidFill>
                          <a:latin typeface="Consolas" pitchFamily="34" charset="0"/>
                          <a:ea typeface="Consolas" pitchFamily="34" charset="-122"/>
                          <a:cs typeface="Consolas" pitchFamily="34" charset="-120"/>
                        </a:rPr>
                        <a:t>0.33333333333333338</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50" dirty="0">
                          <a:solidFill>
                            <a:srgbClr val="B5642A"/>
                          </a:solidFill>
                          <a:latin typeface="Consolas" pitchFamily="34" charset="0"/>
                          <a:ea typeface="Consolas" pitchFamily="34" charset="-122"/>
                          <a:cs typeface="Consolas" pitchFamily="34" charset="-120"/>
                        </a:rPr>
                        <a:t>0.66666666666666675</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11</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2722"/>
                          </a:solidFill>
                          <a:latin typeface="Cambria" pitchFamily="34" charset="0"/>
                          <a:ea typeface="Cambria" pitchFamily="34" charset="-122"/>
                          <a:cs typeface="Cambria" pitchFamily="34" charset="-120"/>
                        </a:rPr>
                        <a:t>chop</a:t>
                      </a:r>
                      <a:endParaRPr lang="en-US" sz="13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0.33333333333333331</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B2722"/>
                          </a:solidFill>
                          <a:latin typeface="Consolas" pitchFamily="34" charset="0"/>
                          <a:ea typeface="Consolas" pitchFamily="34" charset="-122"/>
                          <a:cs typeface="Consolas" pitchFamily="34" charset="-120"/>
                        </a:rPr>
                        <a:t>0.66666666666666662</a:t>
                      </a:r>
                      <a:endParaRPr lang="en-US" sz="13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6" name="Shape 13"/>
          <p:cNvSpPr/>
          <p:nvPr/>
        </p:nvSpPr>
        <p:spPr>
          <a:xfrm>
            <a:off x="914400" y="4297680"/>
            <a:ext cx="5486400" cy="141732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7" name="Shape 14"/>
          <p:cNvSpPr/>
          <p:nvPr/>
        </p:nvSpPr>
        <p:spPr>
          <a:xfrm>
            <a:off x="914400" y="4297680"/>
            <a:ext cx="82296" cy="1417320"/>
          </a:xfrm>
          <a:prstGeom prst="rect">
            <a:avLst/>
          </a:prstGeom>
          <a:solidFill>
            <a:srgbClr val="7F8A3A"/>
          </a:solidFill>
          <a:ln/>
        </p:spPr>
      </p:sp>
      <p:sp>
        <p:nvSpPr>
          <p:cNvPr id="18" name="Text 15"/>
          <p:cNvSpPr/>
          <p:nvPr/>
        </p:nvSpPr>
        <p:spPr>
          <a:xfrm>
            <a:off x="1115568" y="4389120"/>
            <a:ext cx="5157216" cy="1234440"/>
          </a:xfrm>
          <a:prstGeom prst="rect">
            <a:avLst/>
          </a:prstGeom>
          <a:noFill/>
          <a:ln/>
        </p:spPr>
        <p:txBody>
          <a:bodyPr wrap="square" lIns="0" tIns="0" rIns="0" bIns="0" rtlCol="0" anchor="t"/>
          <a:lstStyle/>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call set_prec_double     ; PC = 53</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mov  edi, rc</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call set_round           ; RC = mode</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fld  qword [one]</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fdiv qword [three]       ; 1.0/3.0, this mode</a:t>
            </a:r>
            <a:endParaRPr lang="en-US" sz="1100" dirty="0"/>
          </a:p>
          <a:p>
            <a:pPr marL="0" indent="0">
              <a:lnSpc>
                <a:spcPct val="104000"/>
              </a:lnSpc>
              <a:buNone/>
            </a:pPr>
            <a:r>
              <a:rPr lang="en-US" sz="1100" dirty="0">
                <a:solidFill>
                  <a:srgbClr val="2B2722"/>
                </a:solidFill>
                <a:latin typeface="Consolas" pitchFamily="34" charset="0"/>
                <a:ea typeface="Consolas" pitchFamily="34" charset="-122"/>
                <a:cs typeface="Consolas" pitchFamily="34" charset="-120"/>
              </a:rPr>
              <a:t>fstp qword [res13]</a:t>
            </a:r>
            <a:endParaRPr lang="en-US" sz="1100" dirty="0"/>
          </a:p>
        </p:txBody>
      </p:sp>
      <p:sp>
        <p:nvSpPr>
          <p:cNvPr id="19" name="Shape 16"/>
          <p:cNvSpPr/>
          <p:nvPr/>
        </p:nvSpPr>
        <p:spPr>
          <a:xfrm>
            <a:off x="6263640" y="4297680"/>
            <a:ext cx="5074920" cy="141732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0" name="Shape 17"/>
          <p:cNvSpPr/>
          <p:nvPr/>
        </p:nvSpPr>
        <p:spPr>
          <a:xfrm>
            <a:off x="6263640" y="4297680"/>
            <a:ext cx="100584" cy="1417320"/>
          </a:xfrm>
          <a:prstGeom prst="rect">
            <a:avLst/>
          </a:prstGeom>
          <a:solidFill>
            <a:srgbClr val="B5642A"/>
          </a:solidFill>
          <a:ln/>
        </p:spPr>
      </p:sp>
      <p:sp>
        <p:nvSpPr>
          <p:cNvPr id="21" name="Text 18"/>
          <p:cNvSpPr/>
          <p:nvPr/>
        </p:nvSpPr>
        <p:spPr>
          <a:xfrm>
            <a:off x="6492240" y="4297680"/>
            <a:ext cx="4663440" cy="1417320"/>
          </a:xfrm>
          <a:prstGeom prst="rect">
            <a:avLst/>
          </a:prstGeom>
          <a:noFill/>
          <a:ln/>
        </p:spPr>
        <p:txBody>
          <a:bodyPr wrap="square" lIns="0" tIns="0" rIns="0" bIns="0" rtlCol="0" anchor="ctr"/>
          <a:lstStyle/>
          <a:p>
            <a:pPr marL="0" indent="0">
              <a:buNone/>
            </a:pPr>
            <a:r>
              <a:rPr lang="en-US" sz="1350" b="1" dirty="0">
                <a:solidFill>
                  <a:srgbClr val="B5642A"/>
                </a:solidFill>
                <a:latin typeface="Cambria" pitchFamily="34" charset="0"/>
                <a:ea typeface="Cambria" pitchFamily="34" charset="-122"/>
                <a:cs typeface="Cambria" pitchFamily="34" charset="-120"/>
              </a:rPr>
              <a:t>Up </a:t>
            </a:r>
            <a:r>
              <a:rPr lang="en-US" sz="1350" dirty="0">
                <a:solidFill>
                  <a:srgbClr val="2B2722"/>
                </a:solidFill>
                <a:latin typeface="Cambria" pitchFamily="34" charset="0"/>
                <a:ea typeface="Cambria" pitchFamily="34" charset="-122"/>
                <a:cs typeface="Cambria" pitchFamily="34" charset="-120"/>
              </a:rPr>
              <a:t>pushes the last digit to …38 / …75; </a:t>
            </a:r>
            <a:r>
              <a:rPr lang="en-US" sz="1350" b="1" dirty="0">
                <a:solidFill>
                  <a:srgbClr val="586127"/>
                </a:solidFill>
                <a:latin typeface="Cambria" pitchFamily="34" charset="0"/>
                <a:ea typeface="Cambria" pitchFamily="34" charset="-122"/>
                <a:cs typeface="Cambria" pitchFamily="34" charset="-120"/>
              </a:rPr>
              <a:t>down/chop </a:t>
            </a:r>
            <a:r>
              <a:rPr lang="en-US" sz="1350" dirty="0">
                <a:solidFill>
                  <a:srgbClr val="2B2722"/>
                </a:solidFill>
                <a:latin typeface="Cambria" pitchFamily="34" charset="0"/>
                <a:ea typeface="Cambria" pitchFamily="34" charset="-122"/>
                <a:cs typeface="Cambria" pitchFamily="34" charset="-120"/>
              </a:rPr>
              <a:t>keep …31 / …62. Same FDIV, same inputs — only the control word changed.</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80">
                                          <p:stCondLst>
                                            <p:cond delay="0"/>
                                          </p:stCondLst>
                                        </p:cTn>
                                        <p:tgtEl>
                                          <p:spTgt spid="18"/>
                                        </p:tgtEl>
                                      </p:cBhvr>
                                    </p:animEffect>
                                    <p:anim calcmode="lin" valueType="num">
                                      <p:cBhvr>
                                        <p:cTn id="20"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5" dur="26">
                                          <p:stCondLst>
                                            <p:cond delay="650"/>
                                          </p:stCondLst>
                                        </p:cTn>
                                        <p:tgtEl>
                                          <p:spTgt spid="18"/>
                                        </p:tgtEl>
                                      </p:cBhvr>
                                      <p:to x="100000" y="60000"/>
                                    </p:animScale>
                                    <p:animScale>
                                      <p:cBhvr>
                                        <p:cTn id="26" dur="166" decel="50000">
                                          <p:stCondLst>
                                            <p:cond delay="676"/>
                                          </p:stCondLst>
                                        </p:cTn>
                                        <p:tgtEl>
                                          <p:spTgt spid="18"/>
                                        </p:tgtEl>
                                      </p:cBhvr>
                                      <p:to x="100000" y="100000"/>
                                    </p:animScale>
                                    <p:animScale>
                                      <p:cBhvr>
                                        <p:cTn id="27" dur="26">
                                          <p:stCondLst>
                                            <p:cond delay="1312"/>
                                          </p:stCondLst>
                                        </p:cTn>
                                        <p:tgtEl>
                                          <p:spTgt spid="18"/>
                                        </p:tgtEl>
                                      </p:cBhvr>
                                      <p:to x="100000" y="80000"/>
                                    </p:animScale>
                                    <p:animScale>
                                      <p:cBhvr>
                                        <p:cTn id="28" dur="166" decel="50000">
                                          <p:stCondLst>
                                            <p:cond delay="1338"/>
                                          </p:stCondLst>
                                        </p:cTn>
                                        <p:tgtEl>
                                          <p:spTgt spid="18"/>
                                        </p:tgtEl>
                                      </p:cBhvr>
                                      <p:to x="100000" y="100000"/>
                                    </p:animScale>
                                    <p:animScale>
                                      <p:cBhvr>
                                        <p:cTn id="29" dur="26">
                                          <p:stCondLst>
                                            <p:cond delay="1642"/>
                                          </p:stCondLst>
                                        </p:cTn>
                                        <p:tgtEl>
                                          <p:spTgt spid="18"/>
                                        </p:tgtEl>
                                      </p:cBhvr>
                                      <p:to x="100000" y="90000"/>
                                    </p:animScale>
                                    <p:animScale>
                                      <p:cBhvr>
                                        <p:cTn id="30" dur="166" decel="50000">
                                          <p:stCondLst>
                                            <p:cond delay="1668"/>
                                          </p:stCondLst>
                                        </p:cTn>
                                        <p:tgtEl>
                                          <p:spTgt spid="18"/>
                                        </p:tgtEl>
                                      </p:cBhvr>
                                      <p:to x="100000" y="100000"/>
                                    </p:animScale>
                                    <p:animScale>
                                      <p:cBhvr>
                                        <p:cTn id="31" dur="26">
                                          <p:stCondLst>
                                            <p:cond delay="1808"/>
                                          </p:stCondLst>
                                        </p:cTn>
                                        <p:tgtEl>
                                          <p:spTgt spid="18"/>
                                        </p:tgtEl>
                                      </p:cBhvr>
                                      <p:to x="100000" y="95000"/>
                                    </p:animScale>
                                    <p:animScale>
                                      <p:cBhvr>
                                        <p:cTn id="32" dur="166" decel="50000">
                                          <p:stCondLst>
                                            <p:cond delay="1834"/>
                                          </p:stCondLst>
                                        </p:cTn>
                                        <p:tgtEl>
                                          <p:spTgt spid="18"/>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22</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Demonstration 2 — rounding a Chebyshev root</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08760"/>
            <a:ext cx="10360152" cy="411480"/>
          </a:xfrm>
          <a:prstGeom prst="rect">
            <a:avLst/>
          </a:prstGeom>
          <a:noFill/>
          <a:ln/>
        </p:spPr>
        <p:txBody>
          <a:bodyPr wrap="square" lIns="0" tIns="0" rIns="0" bIns="0" rtlCol="0" anchor="ctr"/>
          <a:lstStyle/>
          <a:p>
            <a:pPr marL="0" indent="0">
              <a:buNone/>
            </a:pPr>
            <a:r>
              <a:rPr lang="en-US" sz="1450" dirty="0">
                <a:solidFill>
                  <a:srgbClr val="2B2722"/>
                </a:solidFill>
                <a:latin typeface="Cambria" pitchFamily="34" charset="0"/>
                <a:ea typeface="Cambria" pitchFamily="34" charset="-122"/>
                <a:cs typeface="Cambria" pitchFamily="34" charset="-120"/>
              </a:rPr>
              <a:t>Root of T₂ = 2x²−1 is  </a:t>
            </a:r>
            <a:r>
              <a:rPr lang="en-US" sz="1450" b="1" dirty="0">
                <a:solidFill>
                  <a:srgbClr val="586127"/>
                </a:solidFill>
                <a:latin typeface="Consolas" pitchFamily="34" charset="0"/>
                <a:ea typeface="Consolas" pitchFamily="34" charset="-122"/>
                <a:cs typeface="Consolas" pitchFamily="34" charset="-120"/>
              </a:rPr>
              <a:t>r = √(1/2) = cos(π/4)</a:t>
            </a:r>
            <a:r>
              <a:rPr lang="en-US" sz="1450" dirty="0">
                <a:solidFill>
                  <a:srgbClr val="2B2722"/>
                </a:solidFill>
                <a:latin typeface="Cambria" pitchFamily="34" charset="0"/>
                <a:ea typeface="Cambria" pitchFamily="34" charset="-122"/>
                <a:cs typeface="Cambria" pitchFamily="34" charset="-120"/>
              </a:rPr>
              <a:t> — irrational, so it rounds per mode:</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514600" y="1965960"/>
          <a:ext cx="7178040" cy="2011680"/>
        </p:xfrm>
        <a:graphic>
          <a:graphicData uri="http://schemas.openxmlformats.org/drawingml/2006/table">
            <a:tbl>
              <a:tblPr/>
              <a:tblGrid>
                <a:gridCol w="777240"/>
                <a:gridCol w="1371600"/>
                <a:gridCol w="2651760"/>
                <a:gridCol w="2377440"/>
              </a:tblGrid>
              <a:tr h="402336">
                <a:tc>
                  <a:txBody>
                    <a:bodyPr/>
                    <a:lstStyle/>
                    <a:p>
                      <a:pPr marL="0" indent="0" algn="ctr">
                        <a:buNone/>
                      </a:pPr>
                      <a:r>
                        <a:rPr lang="en-US" sz="1300" b="1" dirty="0">
                          <a:solidFill>
                            <a:srgbClr val="FFFFFF"/>
                          </a:solidFill>
                          <a:latin typeface="Cambria" pitchFamily="34" charset="0"/>
                          <a:ea typeface="Cambria" pitchFamily="34" charset="-122"/>
                          <a:cs typeface="Cambria" pitchFamily="34" charset="-120"/>
                        </a:rPr>
                        <a:t>RC</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300" b="1" dirty="0">
                          <a:solidFill>
                            <a:srgbClr val="FFFFFF"/>
                          </a:solidFill>
                          <a:latin typeface="Cambria" pitchFamily="34" charset="0"/>
                          <a:ea typeface="Cambria" pitchFamily="34" charset="-122"/>
                          <a:cs typeface="Cambria" pitchFamily="34" charset="-120"/>
                        </a:rPr>
                        <a:t>mode</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r (17 digits)</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IEEE-754 bits</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402336">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00</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nearest</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00" dirty="0">
                          <a:solidFill>
                            <a:srgbClr val="2B2722"/>
                          </a:solidFill>
                          <a:latin typeface="Consolas" pitchFamily="34" charset="0"/>
                          <a:ea typeface="Consolas" pitchFamily="34" charset="-122"/>
                          <a:cs typeface="Consolas" pitchFamily="34" charset="-120"/>
                        </a:rPr>
                        <a:t>0.70710678118654757</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00" dirty="0">
                          <a:solidFill>
                            <a:srgbClr val="586127"/>
                          </a:solidFill>
                          <a:latin typeface="Consolas" pitchFamily="34" charset="0"/>
                          <a:ea typeface="Consolas" pitchFamily="34" charset="-122"/>
                          <a:cs typeface="Consolas" pitchFamily="34" charset="-120"/>
                        </a:rPr>
                        <a:t>3fe6a09e667f3bcd</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01</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down</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B2722"/>
                          </a:solidFill>
                          <a:latin typeface="Consolas" pitchFamily="34" charset="0"/>
                          <a:ea typeface="Consolas" pitchFamily="34" charset="-122"/>
                          <a:cs typeface="Consolas" pitchFamily="34" charset="-120"/>
                        </a:rPr>
                        <a:t>0.70710678118654746</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00" dirty="0">
                          <a:solidFill>
                            <a:srgbClr val="B5642A"/>
                          </a:solidFill>
                          <a:latin typeface="Consolas" pitchFamily="34" charset="0"/>
                          <a:ea typeface="Consolas" pitchFamily="34" charset="-122"/>
                          <a:cs typeface="Consolas" pitchFamily="34" charset="-120"/>
                        </a:rPr>
                        <a:t>3fe6a09e667f3bcc</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402336">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10</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up</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00" dirty="0">
                          <a:solidFill>
                            <a:srgbClr val="2B2722"/>
                          </a:solidFill>
                          <a:latin typeface="Consolas" pitchFamily="34" charset="0"/>
                          <a:ea typeface="Consolas" pitchFamily="34" charset="-122"/>
                          <a:cs typeface="Consolas" pitchFamily="34" charset="-120"/>
                        </a:rPr>
                        <a:t>0.70710678118654758</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lgn="l">
                        <a:buNone/>
                      </a:pPr>
                      <a:r>
                        <a:rPr lang="en-US" sz="1300" dirty="0">
                          <a:solidFill>
                            <a:srgbClr val="586127"/>
                          </a:solidFill>
                          <a:latin typeface="Consolas" pitchFamily="34" charset="0"/>
                          <a:ea typeface="Consolas" pitchFamily="34" charset="-122"/>
                          <a:cs typeface="Consolas" pitchFamily="34" charset="-120"/>
                        </a:rPr>
                        <a:t>3fe6a09e667f3bcd</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402336">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11</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B2722"/>
                          </a:solidFill>
                          <a:latin typeface="Cambria" pitchFamily="34" charset="0"/>
                          <a:ea typeface="Cambria" pitchFamily="34" charset="-122"/>
                          <a:cs typeface="Cambria" pitchFamily="34" charset="-120"/>
                        </a:rPr>
                        <a:t>chop</a:t>
                      </a:r>
                      <a:endParaRPr lang="en-US" sz="130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B2722"/>
                          </a:solidFill>
                          <a:latin typeface="Consolas" pitchFamily="34" charset="0"/>
                          <a:ea typeface="Consolas" pitchFamily="34" charset="-122"/>
                          <a:cs typeface="Consolas" pitchFamily="34" charset="-120"/>
                        </a:rPr>
                        <a:t>0.70710678118654746</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lgn="l">
                        <a:buNone/>
                      </a:pPr>
                      <a:r>
                        <a:rPr lang="en-US" sz="1300" dirty="0">
                          <a:solidFill>
                            <a:srgbClr val="B5642A"/>
                          </a:solidFill>
                          <a:latin typeface="Consolas" pitchFamily="34" charset="0"/>
                          <a:ea typeface="Consolas" pitchFamily="34" charset="-122"/>
                          <a:cs typeface="Consolas" pitchFamily="34" charset="-120"/>
                        </a:rPr>
                        <a:t>3fe6a09e667f3bcc</a:t>
                      </a:r>
                      <a:endParaRPr lang="en-US" sz="130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6" name="Shape 13"/>
          <p:cNvSpPr/>
          <p:nvPr/>
        </p:nvSpPr>
        <p:spPr>
          <a:xfrm>
            <a:off x="914400" y="4114800"/>
            <a:ext cx="5486400" cy="182880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7" name="Shape 14"/>
          <p:cNvSpPr/>
          <p:nvPr/>
        </p:nvSpPr>
        <p:spPr>
          <a:xfrm>
            <a:off x="914400" y="4114800"/>
            <a:ext cx="82296" cy="1828800"/>
          </a:xfrm>
          <a:prstGeom prst="rect">
            <a:avLst/>
          </a:prstGeom>
          <a:solidFill>
            <a:srgbClr val="7F8A3A"/>
          </a:solidFill>
          <a:ln/>
        </p:spPr>
      </p:sp>
      <p:sp>
        <p:nvSpPr>
          <p:cNvPr id="18" name="Text 15"/>
          <p:cNvSpPr/>
          <p:nvPr/>
        </p:nvSpPr>
        <p:spPr>
          <a:xfrm>
            <a:off x="1115568" y="4206240"/>
            <a:ext cx="5157216" cy="1645920"/>
          </a:xfrm>
          <a:prstGeom prst="rect">
            <a:avLst/>
          </a:prstGeom>
          <a:noFill/>
          <a:ln/>
        </p:spPr>
        <p:txBody>
          <a:bodyPr wrap="square" lIns="0" tIns="0" rIns="0" bIns="0" rtlCol="0" anchor="t"/>
          <a:lstStyle/>
          <a:p>
            <a:pPr marL="0" indent="0">
              <a:lnSpc>
                <a:spcPct val="104000"/>
              </a:lnSpc>
              <a:buNone/>
            </a:pPr>
            <a:r>
              <a:rPr lang="en-US" sz="1050" dirty="0">
                <a:solidFill>
                  <a:srgbClr val="586127"/>
                </a:solidFill>
                <a:latin typeface="Consolas" pitchFamily="34" charset="0"/>
                <a:ea typeface="Consolas" pitchFamily="34" charset="-122"/>
                <a:cs typeface="Consolas" pitchFamily="34" charset="-120"/>
              </a:rPr>
              <a:t>; r = sqrt(1/2)</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fld  qword [half]</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fsqrt                 ; rounded per RC</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fstp qword [res]</a:t>
            </a:r>
            <a:endParaRPr lang="en-US" sz="1050" dirty="0"/>
          </a:p>
          <a:p>
            <a:pPr marL="0" indent="0">
              <a:lnSpc>
                <a:spcPct val="104000"/>
              </a:lnSpc>
              <a:buNone/>
            </a:pPr>
            <a:r>
              <a:rPr lang="en-US" sz="1050" dirty="0">
                <a:solidFill>
                  <a:srgbClr val="586127"/>
                </a:solidFill>
                <a:latin typeface="Consolas" pitchFamily="34" charset="0"/>
                <a:ea typeface="Consolas" pitchFamily="34" charset="-122"/>
                <a:cs typeface="Consolas" pitchFamily="34" charset="-120"/>
              </a:rPr>
              <a:t>; or  r = cos(pi/2d)</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fldpi</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fild dword [iden]</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fdivp st1,st0</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fcos                  ; rounded per RC</a:t>
            </a:r>
            <a:endParaRPr lang="en-US" sz="1050" dirty="0"/>
          </a:p>
          <a:p>
            <a:pPr marL="0" indent="0">
              <a:lnSpc>
                <a:spcPct val="104000"/>
              </a:lnSpc>
              <a:buNone/>
            </a:pPr>
            <a:r>
              <a:rPr lang="en-US" sz="1050" dirty="0">
                <a:solidFill>
                  <a:srgbClr val="2B2722"/>
                </a:solidFill>
                <a:latin typeface="Consolas" pitchFamily="34" charset="0"/>
                <a:ea typeface="Consolas" pitchFamily="34" charset="-122"/>
                <a:cs typeface="Consolas" pitchFamily="34" charset="-120"/>
              </a:rPr>
              <a:t>fstp qword [res]</a:t>
            </a:r>
            <a:endParaRPr lang="en-US" sz="1050" dirty="0"/>
          </a:p>
        </p:txBody>
      </p:sp>
      <p:sp>
        <p:nvSpPr>
          <p:cNvPr id="19" name="Shape 16"/>
          <p:cNvSpPr/>
          <p:nvPr/>
        </p:nvSpPr>
        <p:spPr>
          <a:xfrm>
            <a:off x="6263640" y="4114800"/>
            <a:ext cx="5074920" cy="182880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0" name="Shape 17"/>
          <p:cNvSpPr/>
          <p:nvPr/>
        </p:nvSpPr>
        <p:spPr>
          <a:xfrm>
            <a:off x="6263640" y="4114800"/>
            <a:ext cx="100584" cy="1828800"/>
          </a:xfrm>
          <a:prstGeom prst="rect">
            <a:avLst/>
          </a:prstGeom>
          <a:solidFill>
            <a:srgbClr val="B5642A"/>
          </a:solidFill>
          <a:ln/>
        </p:spPr>
      </p:sp>
      <p:sp>
        <p:nvSpPr>
          <p:cNvPr id="21" name="Text 18"/>
          <p:cNvSpPr/>
          <p:nvPr/>
        </p:nvSpPr>
        <p:spPr>
          <a:xfrm>
            <a:off x="6492240" y="4261104"/>
            <a:ext cx="4663440" cy="1600200"/>
          </a:xfrm>
          <a:prstGeom prst="rect">
            <a:avLst/>
          </a:prstGeom>
          <a:noFill/>
          <a:ln/>
        </p:spPr>
        <p:txBody>
          <a:bodyPr wrap="square" lIns="0" tIns="0" rIns="0" bIns="0" rtlCol="0" anchor="t"/>
          <a:lstStyle/>
          <a:p>
            <a:pPr marL="0" indent="0">
              <a:buNone/>
            </a:pPr>
            <a:r>
              <a:rPr lang="en-US" sz="1300" b="1" dirty="0">
                <a:solidFill>
                  <a:srgbClr val="586127"/>
                </a:solidFill>
                <a:latin typeface="Cambria" pitchFamily="34" charset="0"/>
                <a:ea typeface="Cambria" pitchFamily="34" charset="-122"/>
                <a:cs typeface="Cambria" pitchFamily="34" charset="-120"/>
              </a:rPr>
              <a:t>The truth is in the bits.  </a:t>
            </a:r>
            <a:endParaRPr lang="en-US" sz="1300" dirty="0"/>
          </a:p>
          <a:p>
            <a:pPr marL="0" indent="0">
              <a:buNone/>
            </a:pPr>
            <a:r>
              <a:rPr lang="en-US" sz="1300" dirty="0">
                <a:solidFill>
                  <a:srgbClr val="2B2722"/>
                </a:solidFill>
                <a:latin typeface="Cambria" pitchFamily="34" charset="0"/>
                <a:ea typeface="Cambria" pitchFamily="34" charset="-122"/>
                <a:cs typeface="Cambria" pitchFamily="34" charset="-120"/>
              </a:rPr>
              <a:t>down/chop pick …bcc, nearest/up pick …bcd.</a:t>
            </a:r>
            <a:endParaRPr lang="en-US" sz="1300" dirty="0"/>
          </a:p>
          <a:p>
            <a:pPr marL="0" indent="0">
              <a:buNone/>
            </a:pPr>
            <a:endParaRPr lang="en-US" sz="1300" dirty="0"/>
          </a:p>
          <a:p>
            <a:pPr marL="0" indent="0">
              <a:buNone/>
            </a:pPr>
            <a:r>
              <a:rPr lang="en-US" sz="1300" dirty="0">
                <a:solidFill>
                  <a:srgbClr val="6E6453"/>
                </a:solidFill>
                <a:latin typeface="Cambria" pitchFamily="34" charset="0"/>
                <a:ea typeface="Cambria" pitchFamily="34" charset="-122"/>
                <a:cs typeface="Cambria" pitchFamily="34" charset="-120"/>
              </a:rPr>
              <a:t>nearest &amp; up share bits, yet print …757 vs …758 — printf itself rounds its decimal output.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80">
                                          <p:stCondLst>
                                            <p:cond delay="0"/>
                                          </p:stCondLst>
                                        </p:cTn>
                                        <p:tgtEl>
                                          <p:spTgt spid="18"/>
                                        </p:tgtEl>
                                      </p:cBhvr>
                                    </p:animEffect>
                                    <p:anim calcmode="lin" valueType="num">
                                      <p:cBhvr>
                                        <p:cTn id="20"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5" dur="26">
                                          <p:stCondLst>
                                            <p:cond delay="650"/>
                                          </p:stCondLst>
                                        </p:cTn>
                                        <p:tgtEl>
                                          <p:spTgt spid="18"/>
                                        </p:tgtEl>
                                      </p:cBhvr>
                                      <p:to x="100000" y="60000"/>
                                    </p:animScale>
                                    <p:animScale>
                                      <p:cBhvr>
                                        <p:cTn id="26" dur="166" decel="50000">
                                          <p:stCondLst>
                                            <p:cond delay="676"/>
                                          </p:stCondLst>
                                        </p:cTn>
                                        <p:tgtEl>
                                          <p:spTgt spid="18"/>
                                        </p:tgtEl>
                                      </p:cBhvr>
                                      <p:to x="100000" y="100000"/>
                                    </p:animScale>
                                    <p:animScale>
                                      <p:cBhvr>
                                        <p:cTn id="27" dur="26">
                                          <p:stCondLst>
                                            <p:cond delay="1312"/>
                                          </p:stCondLst>
                                        </p:cTn>
                                        <p:tgtEl>
                                          <p:spTgt spid="18"/>
                                        </p:tgtEl>
                                      </p:cBhvr>
                                      <p:to x="100000" y="80000"/>
                                    </p:animScale>
                                    <p:animScale>
                                      <p:cBhvr>
                                        <p:cTn id="28" dur="166" decel="50000">
                                          <p:stCondLst>
                                            <p:cond delay="1338"/>
                                          </p:stCondLst>
                                        </p:cTn>
                                        <p:tgtEl>
                                          <p:spTgt spid="18"/>
                                        </p:tgtEl>
                                      </p:cBhvr>
                                      <p:to x="100000" y="100000"/>
                                    </p:animScale>
                                    <p:animScale>
                                      <p:cBhvr>
                                        <p:cTn id="29" dur="26">
                                          <p:stCondLst>
                                            <p:cond delay="1642"/>
                                          </p:stCondLst>
                                        </p:cTn>
                                        <p:tgtEl>
                                          <p:spTgt spid="18"/>
                                        </p:tgtEl>
                                      </p:cBhvr>
                                      <p:to x="100000" y="90000"/>
                                    </p:animScale>
                                    <p:animScale>
                                      <p:cBhvr>
                                        <p:cTn id="30" dur="166" decel="50000">
                                          <p:stCondLst>
                                            <p:cond delay="1668"/>
                                          </p:stCondLst>
                                        </p:cTn>
                                        <p:tgtEl>
                                          <p:spTgt spid="18"/>
                                        </p:tgtEl>
                                      </p:cBhvr>
                                      <p:to x="100000" y="100000"/>
                                    </p:animScale>
                                    <p:animScale>
                                      <p:cBhvr>
                                        <p:cTn id="31" dur="26">
                                          <p:stCondLst>
                                            <p:cond delay="1808"/>
                                          </p:stCondLst>
                                        </p:cTn>
                                        <p:tgtEl>
                                          <p:spTgt spid="18"/>
                                        </p:tgtEl>
                                      </p:cBhvr>
                                      <p:to x="100000" y="95000"/>
                                    </p:animScale>
                                    <p:animScale>
                                      <p:cBhvr>
                                        <p:cTn id="32" dur="166" decel="50000">
                                          <p:stCondLst>
                                            <p:cond delay="1834"/>
                                          </p:stCondLst>
                                        </p:cTn>
                                        <p:tgtEl>
                                          <p:spTgt spid="18"/>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1">
                                            <p:txEl>
                                              <p:pRg st="1" end="1"/>
                                            </p:txEl>
                                          </p:spTgt>
                                        </p:tgtEl>
                                        <p:attrNameLst>
                                          <p:attrName>style.visibility</p:attrName>
                                        </p:attrNameLst>
                                      </p:cBhvr>
                                      <p:to>
                                        <p:strVal val="visible"/>
                                      </p:to>
                                    </p:set>
                                    <p:anim calcmode="lin" valueType="num">
                                      <p:cBhvr additive="base">
                                        <p:cTn id="41"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1">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1">
                                            <p:txEl>
                                              <p:pRg st="3" end="3"/>
                                            </p:txEl>
                                          </p:spTgt>
                                        </p:tgtEl>
                                        <p:attrNameLst>
                                          <p:attrName>style.visibility</p:attrName>
                                        </p:attrNameLst>
                                      </p:cBhvr>
                                      <p:to>
                                        <p:strVal val="visible"/>
                                      </p:to>
                                    </p:set>
                                    <p:anim calcmode="lin" valueType="num">
                                      <p:cBhvr additive="base">
                                        <p:cTn id="45"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23</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Why accuracy fades as N grows</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Text 12"/>
          <p:cNvSpPr/>
          <p:nvPr/>
        </p:nvSpPr>
        <p:spPr>
          <a:xfrm>
            <a:off x="914400" y="1554480"/>
            <a:ext cx="5120640" cy="731520"/>
          </a:xfrm>
          <a:prstGeom prst="rect">
            <a:avLst/>
          </a:prstGeom>
          <a:noFill/>
          <a:ln/>
        </p:spPr>
        <p:txBody>
          <a:bodyPr wrap="square" lIns="0" tIns="0" rIns="0" bIns="0" rtlCol="0" anchor="ctr"/>
          <a:lstStyle/>
          <a:p>
            <a:pPr marL="0" indent="0">
              <a:buNone/>
            </a:pPr>
            <a:r>
              <a:rPr lang="en-US" sz="1500" b="1" dirty="0">
                <a:solidFill>
                  <a:srgbClr val="586127"/>
                </a:solidFill>
                <a:latin typeface="Cambria" pitchFamily="34" charset="0"/>
                <a:ea typeface="Cambria" pitchFamily="34" charset="-122"/>
                <a:cs typeface="Cambria" pitchFamily="34" charset="-120"/>
              </a:rPr>
              <a:t>Muller itself is not the bottleneck. </a:t>
            </a:r>
            <a:endParaRPr lang="en-US" sz="1500" dirty="0"/>
          </a:p>
          <a:p>
            <a:pPr marL="0" indent="0">
              <a:buNone/>
            </a:pPr>
            <a:r>
              <a:rPr lang="en-US" sz="1500" dirty="0">
                <a:solidFill>
                  <a:srgbClr val="2B2722"/>
                </a:solidFill>
                <a:latin typeface="Cambria" pitchFamily="34" charset="0"/>
                <a:ea typeface="Cambria" pitchFamily="34" charset="-122"/>
                <a:cs typeface="Cambria" pitchFamily="34" charset="-120"/>
              </a:rPr>
              <a:t>Two effects erode precision at high degree:</a:t>
            </a:r>
            <a:endParaRPr lang="en-US" sz="1500" dirty="0"/>
          </a:p>
        </p:txBody>
      </p:sp>
      <p:sp>
        <p:nvSpPr>
          <p:cNvPr id="15" name="Shape 13"/>
          <p:cNvSpPr/>
          <p:nvPr/>
        </p:nvSpPr>
        <p:spPr>
          <a:xfrm>
            <a:off x="914400" y="2331720"/>
            <a:ext cx="292608" cy="292608"/>
          </a:xfrm>
          <a:prstGeom prst="ellipse">
            <a:avLst/>
          </a:prstGeom>
          <a:solidFill>
            <a:srgbClr val="7F8A3A"/>
          </a:solidFill>
          <a:ln/>
        </p:spPr>
      </p:sp>
      <p:sp>
        <p:nvSpPr>
          <p:cNvPr id="16" name="Text 14"/>
          <p:cNvSpPr/>
          <p:nvPr/>
        </p:nvSpPr>
        <p:spPr>
          <a:xfrm>
            <a:off x="1371600" y="2276856"/>
            <a:ext cx="4663440" cy="384048"/>
          </a:xfrm>
          <a:prstGeom prst="rect">
            <a:avLst/>
          </a:prstGeom>
          <a:noFill/>
          <a:ln/>
        </p:spPr>
        <p:txBody>
          <a:bodyPr wrap="square" lIns="0" tIns="0" rIns="0" bIns="0" rtlCol="0" anchor="ctr"/>
          <a:lstStyle/>
          <a:p>
            <a:pPr marL="0" indent="0">
              <a:buNone/>
            </a:pPr>
            <a:r>
              <a:rPr lang="en-US" sz="1600" b="1" dirty="0">
                <a:solidFill>
                  <a:srgbClr val="586127"/>
                </a:solidFill>
                <a:latin typeface="Cambria" pitchFamily="34" charset="0"/>
                <a:ea typeface="Cambria" pitchFamily="34" charset="-122"/>
                <a:cs typeface="Cambria" pitchFamily="34" charset="-120"/>
              </a:rPr>
              <a:t>Ill-conditioned basis</a:t>
            </a:r>
            <a:endParaRPr lang="en-US" sz="1600" dirty="0"/>
          </a:p>
        </p:txBody>
      </p:sp>
      <p:sp>
        <p:nvSpPr>
          <p:cNvPr id="17" name="Text 15"/>
          <p:cNvSpPr/>
          <p:nvPr/>
        </p:nvSpPr>
        <p:spPr>
          <a:xfrm>
            <a:off x="1371600" y="2624328"/>
            <a:ext cx="4663440" cy="731520"/>
          </a:xfrm>
          <a:prstGeom prst="rect">
            <a:avLst/>
          </a:prstGeom>
          <a:noFill/>
          <a:ln/>
        </p:spPr>
        <p:txBody>
          <a:bodyPr wrap="square" lIns="0" tIns="0" rIns="0" bIns="0" rtlCol="0" anchor="ctr"/>
          <a:lstStyle/>
          <a:p>
            <a:pPr marL="0" indent="0">
              <a:buNone/>
            </a:pPr>
            <a:r>
              <a:rPr lang="en-US" sz="1350" dirty="0">
                <a:solidFill>
                  <a:srgbClr val="2B2722"/>
                </a:solidFill>
                <a:latin typeface="Cambria" pitchFamily="34" charset="0"/>
                <a:ea typeface="Cambria" pitchFamily="34" charset="-122"/>
                <a:cs typeface="Cambria" pitchFamily="34" charset="-120"/>
              </a:rPr>
              <a:t>Roots from monomial coefficients are sensitive; the leading term of T(2N) is 2^(2N−1).</a:t>
            </a:r>
            <a:endParaRPr lang="en-US" sz="1350" dirty="0"/>
          </a:p>
        </p:txBody>
      </p:sp>
      <p:sp>
        <p:nvSpPr>
          <p:cNvPr id="18" name="Shape 16"/>
          <p:cNvSpPr/>
          <p:nvPr/>
        </p:nvSpPr>
        <p:spPr>
          <a:xfrm>
            <a:off x="914400" y="3429000"/>
            <a:ext cx="292608" cy="292608"/>
          </a:xfrm>
          <a:prstGeom prst="ellipse">
            <a:avLst/>
          </a:prstGeom>
          <a:solidFill>
            <a:srgbClr val="3E2B1C"/>
          </a:solidFill>
          <a:ln/>
        </p:spPr>
      </p:sp>
      <p:sp>
        <p:nvSpPr>
          <p:cNvPr id="19" name="Text 17"/>
          <p:cNvSpPr/>
          <p:nvPr/>
        </p:nvSpPr>
        <p:spPr>
          <a:xfrm>
            <a:off x="1371600" y="3374136"/>
            <a:ext cx="4663440" cy="384048"/>
          </a:xfrm>
          <a:prstGeom prst="rect">
            <a:avLst/>
          </a:prstGeom>
          <a:noFill/>
          <a:ln/>
        </p:spPr>
        <p:txBody>
          <a:bodyPr wrap="square" lIns="0" tIns="0" rIns="0" bIns="0" rtlCol="0" anchor="ctr"/>
          <a:lstStyle/>
          <a:p>
            <a:pPr marL="0" indent="0">
              <a:buNone/>
            </a:pPr>
            <a:r>
              <a:rPr lang="en-US" sz="1600" b="1" dirty="0">
                <a:solidFill>
                  <a:srgbClr val="586127"/>
                </a:solidFill>
                <a:latin typeface="Cambria" pitchFamily="34" charset="0"/>
                <a:ea typeface="Cambria" pitchFamily="34" charset="-122"/>
                <a:cs typeface="Cambria" pitchFamily="34" charset="-120"/>
              </a:rPr>
              <a:t>Deflation drift</a:t>
            </a:r>
            <a:endParaRPr lang="en-US" sz="1600" dirty="0"/>
          </a:p>
        </p:txBody>
      </p:sp>
      <p:sp>
        <p:nvSpPr>
          <p:cNvPr id="20" name="Text 18"/>
          <p:cNvSpPr/>
          <p:nvPr/>
        </p:nvSpPr>
        <p:spPr>
          <a:xfrm>
            <a:off x="1371600" y="3721608"/>
            <a:ext cx="4663440" cy="731520"/>
          </a:xfrm>
          <a:prstGeom prst="rect">
            <a:avLst/>
          </a:prstGeom>
          <a:noFill/>
          <a:ln/>
        </p:spPr>
        <p:txBody>
          <a:bodyPr wrap="square" lIns="0" tIns="0" rIns="0" bIns="0" rtlCol="0" anchor="ctr"/>
          <a:lstStyle/>
          <a:p>
            <a:pPr marL="0" indent="0">
              <a:buNone/>
            </a:pPr>
            <a:r>
              <a:rPr lang="en-US" sz="1350" dirty="0">
                <a:solidFill>
                  <a:srgbClr val="2B2722"/>
                </a:solidFill>
                <a:latin typeface="Cambria" pitchFamily="34" charset="0"/>
                <a:ea typeface="Cambria" pitchFamily="34" charset="-122"/>
                <a:cs typeface="Cambria" pitchFamily="34" charset="-120"/>
              </a:rPr>
              <a:t>Each synthetic division injects a little error into the remaining polynomial.</a:t>
            </a:r>
            <a:endParaRPr lang="en-US" sz="1350" dirty="0"/>
          </a:p>
        </p:txBody>
      </p:sp>
      <p:sp>
        <p:nvSpPr>
          <p:cNvPr id="21" name="Text 19"/>
          <p:cNvSpPr/>
          <p:nvPr/>
        </p:nvSpPr>
        <p:spPr>
          <a:xfrm>
            <a:off x="914400" y="4846320"/>
            <a:ext cx="5212080" cy="914400"/>
          </a:xfrm>
          <a:prstGeom prst="rect">
            <a:avLst/>
          </a:prstGeom>
          <a:noFill/>
          <a:ln/>
        </p:spPr>
        <p:txBody>
          <a:bodyPr wrap="square" lIns="0" tIns="0" rIns="0" bIns="0" rtlCol="0" anchor="ctr"/>
          <a:lstStyle/>
          <a:p>
            <a:pPr marL="0" indent="0">
              <a:buNone/>
            </a:pPr>
            <a:r>
              <a:rPr lang="en-US" sz="1350" b="1" dirty="0">
                <a:solidFill>
                  <a:srgbClr val="586127"/>
                </a:solidFill>
                <a:latin typeface="Cambria" pitchFamily="34" charset="0"/>
                <a:ea typeface="Cambria" pitchFamily="34" charset="-122"/>
                <a:cs typeface="Cambria" pitchFamily="34" charset="-120"/>
              </a:rPr>
              <a:t>Practical fix: </a:t>
            </a:r>
            <a:r>
              <a:rPr lang="en-US" sz="1350" dirty="0">
                <a:solidFill>
                  <a:srgbClr val="6E6453"/>
                </a:solidFill>
                <a:latin typeface="Cambria" pitchFamily="34" charset="0"/>
                <a:ea typeface="Cambria" pitchFamily="34" charset="-122"/>
                <a:cs typeface="Cambria" pitchFamily="34" charset="-120"/>
              </a:rPr>
              <a:t>use the closed form, or find roots as eigenvalues of the companion matrix (no deflation).</a:t>
            </a:r>
            <a:endParaRPr lang="en-US" sz="1350" dirty="0"/>
          </a:p>
        </p:txBody>
      </p:sp>
      <p:sp>
        <p:nvSpPr>
          <p:cNvPr id="22" name="Text 20"/>
          <p:cNvSpPr/>
          <p:nvPr/>
        </p:nvSpPr>
        <p:spPr>
          <a:xfrm>
            <a:off x="6355080" y="1554480"/>
            <a:ext cx="5120640" cy="320040"/>
          </a:xfrm>
          <a:prstGeom prst="rect">
            <a:avLst/>
          </a:prstGeom>
          <a:noFill/>
          <a:ln/>
        </p:spPr>
        <p:txBody>
          <a:bodyPr wrap="square" lIns="0" tIns="0" rIns="0" bIns="0" rtlCol="0" anchor="ctr"/>
          <a:lstStyle/>
          <a:p>
            <a:pPr marL="0" indent="0">
              <a:buNone/>
            </a:pPr>
            <a:r>
              <a:rPr lang="en-US" sz="1400" b="1" dirty="0">
                <a:solidFill>
                  <a:srgbClr val="586127"/>
                </a:solidFill>
                <a:latin typeface="Cambria" pitchFamily="34" charset="0"/>
                <a:ea typeface="Cambria" pitchFamily="34" charset="-122"/>
                <a:cs typeface="Cambria" pitchFamily="34" charset="-120"/>
              </a:rPr>
              <a:t>Correct digits  ( −log₁₀ of max error )</a:t>
            </a:r>
            <a:endParaRPr lang="en-US" sz="1400" dirty="0"/>
          </a:p>
        </p:txBody>
      </p:sp>
      <p:graphicFrame>
        <p:nvGraphicFramePr>
          <p:cNvPr id="23" name="Chart 0"/>
          <p:cNvGraphicFramePr/>
          <p:nvPr/>
        </p:nvGraphicFramePr>
        <p:xfrm>
          <a:off x="6263640" y="1920240"/>
          <a:ext cx="5120640" cy="3703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anim calcmode="lin" valueType="num">
                                      <p:cBhvr>
                                        <p:cTn id="8" dur="2000" fill="hold"/>
                                        <p:tgtEl>
                                          <p:spTgt spid="16">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1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 calcmode="lin" valueType="num">
                                      <p:cBhvr additive="base">
                                        <p:cTn id="14"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2000"/>
                                        <p:tgtEl>
                                          <p:spTgt spid="19"/>
                                        </p:tgtEl>
                                      </p:cBhvr>
                                    </p:animEffect>
                                    <p:anim calcmode="lin" valueType="num">
                                      <p:cBhvr>
                                        <p:cTn id="21" dur="2000" fill="hold"/>
                                        <p:tgtEl>
                                          <p:spTgt spid="19"/>
                                        </p:tgtEl>
                                        <p:attrNameLst>
                                          <p:attrName>ppt_w</p:attrName>
                                        </p:attrNameLst>
                                      </p:cBhvr>
                                      <p:tavLst>
                                        <p:tav tm="0" fmla="#ppt_w*sin(2.5*pi*$)">
                                          <p:val>
                                            <p:fltVal val="0"/>
                                          </p:val>
                                        </p:tav>
                                        <p:tav tm="100000">
                                          <p:val>
                                            <p:fltVal val="1"/>
                                          </p:val>
                                        </p:tav>
                                      </p:tavLst>
                                    </p:anim>
                                    <p:anim calcmode="lin" valueType="num">
                                      <p:cBhvr>
                                        <p:cTn id="22"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 calcmode="lin" valueType="num">
                                      <p:cBhvr additive="base">
                                        <p:cTn id="27"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Graphic spid="23"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24</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Build &amp; program map</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914400" y="1508760"/>
            <a:ext cx="5349240" cy="2514600"/>
          </a:xfrm>
          <a:prstGeom prst="rect">
            <a:avLst/>
          </a:prstGeom>
          <a:solidFill>
            <a:srgbClr val="F2E8CF"/>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914400" y="1508760"/>
            <a:ext cx="82296" cy="2514600"/>
          </a:xfrm>
          <a:prstGeom prst="rect">
            <a:avLst/>
          </a:prstGeom>
          <a:solidFill>
            <a:srgbClr val="7F8A3A"/>
          </a:solidFill>
          <a:ln/>
        </p:spPr>
      </p:sp>
      <p:sp>
        <p:nvSpPr>
          <p:cNvPr id="16" name="Text 14"/>
          <p:cNvSpPr/>
          <p:nvPr/>
        </p:nvSpPr>
        <p:spPr>
          <a:xfrm>
            <a:off x="1115568" y="1600200"/>
            <a:ext cx="5020056" cy="2331720"/>
          </a:xfrm>
          <a:prstGeom prst="rect">
            <a:avLst/>
          </a:prstGeom>
          <a:noFill/>
          <a:ln/>
        </p:spPr>
        <p:txBody>
          <a:bodyPr wrap="square" lIns="0" tIns="0" rIns="0" bIns="0" rtlCol="0" anchor="t"/>
          <a:lstStyle/>
          <a:p>
            <a:pPr marL="0" indent="0">
              <a:lnSpc>
                <a:spcPct val="104000"/>
              </a:lnSpc>
              <a:buNone/>
            </a:pPr>
            <a:r>
              <a:rPr lang="en-US" sz="1150" dirty="0">
                <a:solidFill>
                  <a:srgbClr val="586127"/>
                </a:solidFill>
                <a:latin typeface="Consolas" pitchFamily="34" charset="0"/>
                <a:ea typeface="Consolas" pitchFamily="34" charset="-122"/>
                <a:cs typeface="Consolas" pitchFamily="34" charset="-120"/>
              </a:rPr>
              <a:t># assemble + link (Linux x86-64)</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nasm -f elf64 chebyshev.asm -o chebyshev.o</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gcc  -no-pie  chebyshev.o   -o chebyshev</a:t>
            </a:r>
            <a:endParaRPr lang="en-US" sz="1150" dirty="0"/>
          </a:p>
          <a:p>
            <a:pPr marL="0" indent="0">
              <a:lnSpc>
                <a:spcPct val="104000"/>
              </a:lnSpc>
              <a:buNone/>
            </a:pP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./chebyshev 4         # N ; degree = 2N</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./rounding            # the four RC modes</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./cheb_root_round 2   # round a root</a:t>
            </a:r>
            <a:endParaRPr lang="en-US" sz="1150" dirty="0"/>
          </a:p>
          <a:p>
            <a:pPr marL="0" indent="0">
              <a:lnSpc>
                <a:spcPct val="104000"/>
              </a:lnSpc>
              <a:buNone/>
            </a:pPr>
            <a:r>
              <a:rPr lang="en-US" sz="1150" dirty="0">
                <a:solidFill>
                  <a:srgbClr val="2B2722"/>
                </a:solidFill>
                <a:latin typeface="Consolas" pitchFamily="34" charset="0"/>
                <a:ea typeface="Consolas" pitchFamily="34" charset="-122"/>
                <a:cs typeface="Consolas" pitchFamily="34" charset="-120"/>
              </a:rPr>
              <a:t>./muller_demo         # trace the iteration</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914400" y="4206240"/>
          <a:ext cx="5349240" cy="1920240"/>
        </p:xfrm>
        <a:graphic>
          <a:graphicData uri="http://schemas.openxmlformats.org/drawingml/2006/table">
            <a:tbl>
              <a:tblPr/>
              <a:tblGrid>
                <a:gridCol w="2057400"/>
                <a:gridCol w="2331720"/>
                <a:gridCol w="960120"/>
              </a:tblGrid>
              <a:tr h="384048">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file</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key routines</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shown on</a:t>
                      </a:r>
                      <a:endParaRPr lang="en-US" sz="12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7F8A3A"/>
                    </a:solidFill>
                  </a:tcPr>
                </a:tc>
              </a:tr>
              <a:tr h="384048">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chebyshev.asm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.bk/.ik, ceval, muller, deflate</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6, 11, 14–16</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84048">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rounding.asm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set_round, FRNDINT, FDIV</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19, 20, 21</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r h="384048">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cheb_root_round.asm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set_prec_double, fsqrt/fcos</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22</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6EFDE"/>
                    </a:solidFill>
                  </a:tcPr>
                </a:tc>
              </a:tr>
              <a:tr h="384048">
                <a:tc>
                  <a:txBody>
                    <a:bodyPr/>
                    <a:lstStyle/>
                    <a:p>
                      <a:pPr marL="0" indent="0">
                        <a:buNone/>
                      </a:pPr>
                      <a:r>
                        <a:rPr lang="en-US" sz="1150" dirty="0">
                          <a:solidFill>
                            <a:srgbClr val="2B2722"/>
                          </a:solidFill>
                          <a:latin typeface="Consolas" pitchFamily="34" charset="0"/>
                          <a:ea typeface="Consolas" pitchFamily="34" charset="-122"/>
                          <a:cs typeface="Consolas" pitchFamily="34" charset="-120"/>
                        </a:rPr>
                        <a:t>muller_demo.asm</a:t>
                      </a:r>
                      <a:endParaRPr lang="en-US" sz="1150" dirty="0">
                        <a:latin typeface="Consolas" charset="0"/>
                        <a:ea typeface="Consolas" charset="0"/>
                        <a:cs typeface="Consolas"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muller trace (T3)</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c>
                  <a:txBody>
                    <a:bodyPr/>
                    <a:lstStyle/>
                    <a:p>
                      <a:pPr marL="0" indent="0">
                        <a:buNone/>
                      </a:pPr>
                      <a:r>
                        <a:rPr lang="en-US" sz="1150" dirty="0">
                          <a:solidFill>
                            <a:srgbClr val="2B2722"/>
                          </a:solidFill>
                          <a:latin typeface="Cambria" pitchFamily="34" charset="0"/>
                          <a:ea typeface="Cambria" pitchFamily="34" charset="-122"/>
                          <a:cs typeface="Cambria" pitchFamily="34" charset="-120"/>
                        </a:rPr>
                        <a:t>10</a:t>
                      </a:r>
                      <a:endParaRPr lang="en-US" sz="1150" dirty="0">
                        <a:latin typeface="Cambria" charset="0"/>
                        <a:ea typeface="Cambria" charset="0"/>
                        <a:cs typeface="Cambria" charset="0"/>
                      </a:endParaRPr>
                    </a:p>
                  </a:txBody>
                  <a:tcPr anchor="ctr">
                    <a:lnL w="6350" cap="flat" cmpd="sng" algn="ctr">
                      <a:solidFill>
                        <a:srgbClr val="D8C7A1"/>
                      </a:solidFill>
                      <a:prstDash val="solid"/>
                      <a:round/>
                      <a:headEnd type="none" w="med" len="med"/>
                      <a:tailEnd type="none" w="med" len="med"/>
                    </a:lnL>
                    <a:lnR w="6350" cap="flat" cmpd="sng" algn="ctr">
                      <a:solidFill>
                        <a:srgbClr val="D8C7A1"/>
                      </a:solidFill>
                      <a:prstDash val="solid"/>
                      <a:round/>
                      <a:headEnd type="none" w="med" len="med"/>
                      <a:tailEnd type="none" w="med" len="med"/>
                    </a:lnR>
                    <a:lnT w="6350" cap="flat" cmpd="sng" algn="ctr">
                      <a:solidFill>
                        <a:srgbClr val="D8C7A1"/>
                      </a:solidFill>
                      <a:prstDash val="solid"/>
                      <a:round/>
                      <a:headEnd type="none" w="med" len="med"/>
                      <a:tailEnd type="none" w="med" len="med"/>
                    </a:lnT>
                    <a:lnB w="6350" cap="flat" cmpd="sng" algn="ctr">
                      <a:solidFill>
                        <a:srgbClr val="D8C7A1"/>
                      </a:solidFill>
                      <a:prstDash val="solid"/>
                      <a:round/>
                      <a:headEnd type="none" w="med" len="med"/>
                      <a:tailEnd type="none" w="med" len="med"/>
                    </a:lnB>
                    <a:solidFill>
                      <a:srgbClr val="FFFFFF"/>
                    </a:solidFill>
                  </a:tcPr>
                </a:tc>
              </a:tr>
            </a:tbl>
          </a:graphicData>
        </a:graphic>
      </p:graphicFrame>
      <p:sp>
        <p:nvSpPr>
          <p:cNvPr id="18" name="Shape 15"/>
          <p:cNvSpPr/>
          <p:nvPr/>
        </p:nvSpPr>
        <p:spPr>
          <a:xfrm>
            <a:off x="6172200" y="1508760"/>
            <a:ext cx="5166360" cy="434340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9" name="Shape 16"/>
          <p:cNvSpPr/>
          <p:nvPr/>
        </p:nvSpPr>
        <p:spPr>
          <a:xfrm>
            <a:off x="6172200" y="1508760"/>
            <a:ext cx="91440" cy="4343400"/>
          </a:xfrm>
          <a:prstGeom prst="rect">
            <a:avLst/>
          </a:prstGeom>
          <a:solidFill>
            <a:srgbClr val="7F8A3A"/>
          </a:solidFill>
          <a:ln/>
        </p:spPr>
      </p:sp>
      <p:sp>
        <p:nvSpPr>
          <p:cNvPr id="20" name="Text 17"/>
          <p:cNvSpPr/>
          <p:nvPr/>
        </p:nvSpPr>
        <p:spPr>
          <a:xfrm>
            <a:off x="6428232" y="1636776"/>
            <a:ext cx="4709160" cy="365760"/>
          </a:xfrm>
          <a:prstGeom prst="rect">
            <a:avLst/>
          </a:prstGeom>
          <a:noFill/>
          <a:ln/>
        </p:spPr>
        <p:txBody>
          <a:bodyPr wrap="square" lIns="0" tIns="0" rIns="0" bIns="0" rtlCol="0" anchor="ctr"/>
          <a:lstStyle/>
          <a:p>
            <a:pPr marL="0" indent="0">
              <a:buNone/>
            </a:pPr>
            <a:r>
              <a:rPr lang="en-US" sz="1550" b="1" dirty="0">
                <a:solidFill>
                  <a:srgbClr val="586127"/>
                </a:solidFill>
                <a:latin typeface="Cambria" pitchFamily="34" charset="0"/>
                <a:ea typeface="Cambria" pitchFamily="34" charset="-122"/>
                <a:cs typeface="Cambria" pitchFamily="34" charset="-120"/>
              </a:rPr>
              <a:t>The five building blocks</a:t>
            </a:r>
            <a:endParaRPr lang="en-US" sz="1550" dirty="0"/>
          </a:p>
        </p:txBody>
      </p:sp>
      <p:sp>
        <p:nvSpPr>
          <p:cNvPr id="21" name="Text 18"/>
          <p:cNvSpPr/>
          <p:nvPr/>
        </p:nvSpPr>
        <p:spPr>
          <a:xfrm>
            <a:off x="6446520" y="2075688"/>
            <a:ext cx="4663440" cy="3630168"/>
          </a:xfrm>
          <a:prstGeom prst="rect">
            <a:avLst/>
          </a:prstGeom>
          <a:noFill/>
          <a:ln/>
        </p:spPr>
        <p:txBody>
          <a:bodyPr wrap="square" lIns="0" tIns="0" rIns="0" bIns="0" rtlCol="0" anchor="t"/>
          <a:lstStyle/>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Recurrence build — three rotating buffers, 2x·Tk − T(k−1).</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Complex helpers — cadd/csub/cmul/cdiv/csqrt on the x87 stack.</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ceval — complex Horner evaluation of the polynomial.</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muller — one quadratic step + the max-magnitude sign rule.</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deflate — synthetic division by (x − r).</a:t>
            </a:r>
            <a:endParaRPr lang="en-US" sz="1300" dirty="0"/>
          </a:p>
          <a:p>
            <a:pPr marL="165100" indent="-165100">
              <a:spcAft>
                <a:spcPts val="700"/>
              </a:spcAft>
              <a:buSzPct val="100000"/>
              <a:buChar char="•"/>
            </a:pPr>
            <a:r>
              <a:rPr lang="en-US" sz="1300" dirty="0">
                <a:solidFill>
                  <a:srgbClr val="2B2722"/>
                </a:solidFill>
                <a:latin typeface="Cambria" pitchFamily="34" charset="0"/>
                <a:ea typeface="Cambria" pitchFamily="34" charset="-122"/>
                <a:cs typeface="Cambria" pitchFamily="34" charset="-120"/>
              </a:rPr>
              <a:t>set_round / set_prec_double — the entire rounding mechanism (FSTCW/FLDCW).</a:t>
            </a:r>
            <a:endParaRPr lang="en-US" sz="1300" dirty="0"/>
          </a:p>
          <a:p>
            <a:pPr marL="165100" indent="-165100">
              <a:spcAft>
                <a:spcPts val="700"/>
              </a:spcAft>
              <a:buSzPct val="100000"/>
              <a:buChar char="•"/>
            </a:pPr>
            <a:r>
              <a:rPr lang="en-US" sz="1300" b="1" dirty="0">
                <a:solidFill>
                  <a:srgbClr val="2B2722"/>
                </a:solidFill>
                <a:latin typeface="Cambria" pitchFamily="34" charset="0"/>
                <a:ea typeface="Cambria" pitchFamily="34" charset="-122"/>
                <a:cs typeface="Cambria" pitchFamily="34" charset="-120"/>
              </a:rPr>
              <a:t>Deep, part-by-part walkthrough of all programs: Program_Walkthroughs.pdf.</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anim calcmode="lin" valueType="num">
                                      <p:cBhvr additive="base">
                                        <p:cTn id="13"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xEl>
                                              <p:pRg st="2" end="2"/>
                                            </p:txEl>
                                          </p:spTgt>
                                        </p:tgtEl>
                                        <p:attrNameLst>
                                          <p:attrName>style.visibility</p:attrName>
                                        </p:attrNameLst>
                                      </p:cBhvr>
                                      <p:to>
                                        <p:strVal val="visible"/>
                                      </p:to>
                                    </p:set>
                                    <p:anim calcmode="lin" valueType="num">
                                      <p:cBhvr additive="base">
                                        <p:cTn id="19"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
                                            <p:txEl>
                                              <p:pRg st="3" end="3"/>
                                            </p:txEl>
                                          </p:spTgt>
                                        </p:tgtEl>
                                        <p:attrNameLst>
                                          <p:attrName>style.visibility</p:attrName>
                                        </p:attrNameLst>
                                      </p:cBhvr>
                                      <p:to>
                                        <p:strVal val="visible"/>
                                      </p:to>
                                    </p:set>
                                    <p:anim calcmode="lin" valueType="num">
                                      <p:cBhvr additive="base">
                                        <p:cTn id="25"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
                                            <p:txEl>
                                              <p:pRg st="4" end="4"/>
                                            </p:txEl>
                                          </p:spTgt>
                                        </p:tgtEl>
                                        <p:attrNameLst>
                                          <p:attrName>style.visibility</p:attrName>
                                        </p:attrNameLst>
                                      </p:cBhvr>
                                      <p:to>
                                        <p:strVal val="visible"/>
                                      </p:to>
                                    </p:set>
                                    <p:anim calcmode="lin" valueType="num">
                                      <p:cBhvr additive="base">
                                        <p:cTn id="29" dur="500" fill="hold"/>
                                        <p:tgtEl>
                                          <p:spTgt spid="2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1">
                                            <p:txEl>
                                              <p:pRg st="5" end="5"/>
                                            </p:txEl>
                                          </p:spTgt>
                                        </p:tgtEl>
                                        <p:attrNameLst>
                                          <p:attrName>style.visibility</p:attrName>
                                        </p:attrNameLst>
                                      </p:cBhvr>
                                      <p:to>
                                        <p:strVal val="visible"/>
                                      </p:to>
                                    </p:set>
                                    <p:anim calcmode="lin" valueType="num">
                                      <p:cBhvr additive="base">
                                        <p:cTn id="35" dur="500" fill="hold"/>
                                        <p:tgtEl>
                                          <p:spTgt spid="2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1">
                                            <p:txEl>
                                              <p:pRg st="6" end="6"/>
                                            </p:txEl>
                                          </p:spTgt>
                                        </p:tgtEl>
                                        <p:attrNameLst>
                                          <p:attrName>style.visibility</p:attrName>
                                        </p:attrNameLst>
                                      </p:cBhvr>
                                      <p:to>
                                        <p:strVal val="visible"/>
                                      </p:to>
                                    </p:set>
                                    <p:anim calcmode="lin" valueType="num">
                                      <p:cBhvr additive="base">
                                        <p:cTn id="41" dur="500" fill="hold"/>
                                        <p:tgtEl>
                                          <p:spTgt spid="21">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prstGeom>
          <a:solidFill>
            <a:srgbClr val="FFFFFF"/>
          </a:solidFill>
          <a:ln w="22225">
            <a:solidFill>
              <a:srgbClr val="7F8A3A"/>
            </a:solidFill>
            <a:prstDash val="solid"/>
          </a:ln>
          <a:effectLst>
            <a:outerShdw blurRad="114300" dist="50800" dir="8100000" algn="bl" rotWithShape="0">
              <a:srgbClr val="5A4A30">
                <a:alpha val="30000"/>
              </a:srgbClr>
            </a:outerShdw>
          </a:effectLst>
        </p:spPr>
      </p:sp>
      <p:sp>
        <p:nvSpPr>
          <p:cNvPr id="3" name="Shape 1"/>
          <p:cNvSpPr/>
          <p:nvPr/>
        </p:nvSpPr>
        <p:spPr>
          <a:xfrm>
            <a:off x="502920" y="457200"/>
            <a:ext cx="11183112" cy="5943600"/>
          </a:xfrm>
          <a:prstGeom prst="rect">
            <a:avLst/>
          </a:prstGeom>
          <a:ln w="9525">
            <a:solidFill>
              <a:srgbClr val="7F8A3A"/>
            </a:solidFill>
            <a:prstDash val="solid"/>
          </a:ln>
        </p:spPr>
      </p:sp>
      <p:sp>
        <p:nvSpPr>
          <p:cNvPr id="4" name="Shape 2"/>
          <p:cNvSpPr/>
          <p:nvPr/>
        </p:nvSpPr>
        <p:spPr>
          <a:xfrm>
            <a:off x="82296"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5" name="Shape 3"/>
          <p:cNvSpPr/>
          <p:nvPr/>
        </p:nvSpPr>
        <p:spPr>
          <a:xfrm>
            <a:off x="82296" y="3154680"/>
            <a:ext cx="658368" cy="77724"/>
          </a:xfrm>
          <a:prstGeom prst="rect">
            <a:avLst/>
          </a:prstGeom>
          <a:solidFill>
            <a:srgbClr val="6B4E34"/>
          </a:solidFill>
          <a:ln/>
        </p:spPr>
      </p:sp>
      <p:sp>
        <p:nvSpPr>
          <p:cNvPr id="6" name="Shape 4"/>
          <p:cNvSpPr/>
          <p:nvPr/>
        </p:nvSpPr>
        <p:spPr>
          <a:xfrm>
            <a:off x="82296" y="3625596"/>
            <a:ext cx="658368" cy="77724"/>
          </a:xfrm>
          <a:prstGeom prst="rect">
            <a:avLst/>
          </a:prstGeom>
          <a:solidFill>
            <a:srgbClr val="2A1C11"/>
          </a:solidFill>
          <a:ln/>
        </p:spPr>
      </p:sp>
      <p:sp>
        <p:nvSpPr>
          <p:cNvPr id="7" name="Shape 5"/>
          <p:cNvSpPr/>
          <p:nvPr/>
        </p:nvSpPr>
        <p:spPr>
          <a:xfrm>
            <a:off x="11448288" y="3154680"/>
            <a:ext cx="658368" cy="548640"/>
          </a:xfrm>
          <a:prstGeom prst="rect">
            <a:avLst/>
          </a:prstGeom>
          <a:solidFill>
            <a:srgbClr val="3E2B1C"/>
          </a:solidFill>
          <a:ln/>
          <a:effectLst>
            <a:outerShdw blurRad="76200" dist="25400" dir="8100000" algn="bl" rotWithShape="0">
              <a:srgbClr val="7A6A4A">
                <a:alpha val="18000"/>
              </a:srgbClr>
            </a:outerShdw>
          </a:effectLst>
        </p:spPr>
      </p:sp>
      <p:sp>
        <p:nvSpPr>
          <p:cNvPr id="8" name="Shape 6"/>
          <p:cNvSpPr/>
          <p:nvPr/>
        </p:nvSpPr>
        <p:spPr>
          <a:xfrm>
            <a:off x="11448288" y="3154680"/>
            <a:ext cx="658368" cy="77724"/>
          </a:xfrm>
          <a:prstGeom prst="rect">
            <a:avLst/>
          </a:prstGeom>
          <a:solidFill>
            <a:srgbClr val="6B4E34"/>
          </a:solidFill>
          <a:ln/>
        </p:spPr>
      </p:sp>
      <p:sp>
        <p:nvSpPr>
          <p:cNvPr id="9" name="Shape 7"/>
          <p:cNvSpPr/>
          <p:nvPr/>
        </p:nvSpPr>
        <p:spPr>
          <a:xfrm>
            <a:off x="11448288" y="3625596"/>
            <a:ext cx="658368" cy="77724"/>
          </a:xfrm>
          <a:prstGeom prst="rect">
            <a:avLst/>
          </a:prstGeom>
          <a:solidFill>
            <a:srgbClr val="2A1C11"/>
          </a:solidFill>
          <a:ln/>
        </p:spPr>
      </p:sp>
      <p:sp>
        <p:nvSpPr>
          <p:cNvPr id="10" name="Text 8"/>
          <p:cNvSpPr/>
          <p:nvPr/>
        </p:nvSpPr>
        <p:spPr>
          <a:xfrm>
            <a:off x="914400" y="6108192"/>
            <a:ext cx="7772400" cy="274320"/>
          </a:xfrm>
          <a:prstGeom prst="rect">
            <a:avLst/>
          </a:prstGeom>
          <a:noFill/>
          <a:ln/>
        </p:spPr>
        <p:txBody>
          <a:bodyPr wrap="square" lIns="0" tIns="0" rIns="0" bIns="0" rtlCol="0" anchor="ctr"/>
          <a:lstStyle/>
          <a:p>
            <a:pPr marL="0" indent="0">
              <a:buNone/>
            </a:pPr>
            <a:r>
              <a:rPr lang="en-US" sz="1050" i="1" dirty="0">
                <a:solidFill>
                  <a:srgbClr val="6E6453"/>
                </a:solidFill>
                <a:latin typeface="Cambria" pitchFamily="34" charset="0"/>
                <a:ea typeface="Cambria" pitchFamily="34" charset="-122"/>
                <a:cs typeface="Cambria" pitchFamily="34" charset="-120"/>
              </a:rPr>
              <a:t>Chebyshev roots · x87 rounding — Numerical Methods</a:t>
            </a:r>
            <a:endParaRPr lang="en-US" sz="1050" dirty="0"/>
          </a:p>
        </p:txBody>
      </p:sp>
      <p:sp>
        <p:nvSpPr>
          <p:cNvPr id="11" name="Text 9"/>
          <p:cNvSpPr/>
          <p:nvPr/>
        </p:nvSpPr>
        <p:spPr>
          <a:xfrm>
            <a:off x="10680192" y="6108192"/>
            <a:ext cx="640080" cy="274320"/>
          </a:xfrm>
          <a:prstGeom prst="rect">
            <a:avLst/>
          </a:prstGeom>
          <a:noFill/>
          <a:ln/>
        </p:spPr>
        <p:txBody>
          <a:bodyPr wrap="square" lIns="0" tIns="0" rIns="0" bIns="0" rtlCol="0" anchor="ctr"/>
          <a:lstStyle/>
          <a:p>
            <a:pPr marL="0" indent="0" algn="r">
              <a:buNone/>
            </a:pPr>
            <a:r>
              <a:rPr lang="en-US" sz="1100" dirty="0">
                <a:solidFill>
                  <a:srgbClr val="6E6453"/>
                </a:solidFill>
                <a:latin typeface="Cambria" pitchFamily="34" charset="0"/>
                <a:ea typeface="Cambria" pitchFamily="34" charset="-122"/>
                <a:cs typeface="Cambria" pitchFamily="34" charset="-120"/>
              </a:rPr>
              <a:t>25</a:t>
            </a:r>
            <a:endParaRPr lang="en-US" sz="1100" dirty="0"/>
          </a:p>
        </p:txBody>
      </p:sp>
      <p:sp>
        <p:nvSpPr>
          <p:cNvPr id="12" name="Text 10"/>
          <p:cNvSpPr/>
          <p:nvPr/>
        </p:nvSpPr>
        <p:spPr>
          <a:xfrm>
            <a:off x="914400" y="640080"/>
            <a:ext cx="10360152" cy="640080"/>
          </a:xfrm>
          <a:prstGeom prst="rect">
            <a:avLst/>
          </a:prstGeom>
          <a:noFill/>
          <a:ln/>
        </p:spPr>
        <p:txBody>
          <a:bodyPr wrap="square" lIns="0" tIns="0" rIns="0" bIns="0" rtlCol="0" anchor="ctr"/>
          <a:lstStyle/>
          <a:p>
            <a:pPr marL="0" indent="0" algn="ctr">
              <a:buNone/>
            </a:pPr>
            <a:r>
              <a:rPr lang="en-US" sz="3000" dirty="0">
                <a:solidFill>
                  <a:srgbClr val="2A241D"/>
                </a:solidFill>
                <a:latin typeface="Cambria" pitchFamily="34" charset="0"/>
                <a:ea typeface="Cambria" pitchFamily="34" charset="-122"/>
                <a:cs typeface="Cambria" pitchFamily="34" charset="-120"/>
              </a:rPr>
              <a:t>Recap</a:t>
            </a:r>
            <a:endParaRPr lang="en-US" sz="3000" dirty="0"/>
          </a:p>
        </p:txBody>
      </p:sp>
      <p:sp>
        <p:nvSpPr>
          <p:cNvPr id="13" name="Shape 11"/>
          <p:cNvSpPr/>
          <p:nvPr/>
        </p:nvSpPr>
        <p:spPr>
          <a:xfrm>
            <a:off x="1051560" y="1371600"/>
            <a:ext cx="10085832" cy="0"/>
          </a:xfrm>
          <a:prstGeom prst="line">
            <a:avLst/>
          </a:prstGeom>
          <a:noFill/>
          <a:ln w="12700">
            <a:solidFill>
              <a:srgbClr val="7F8A3A"/>
            </a:solidFill>
            <a:prstDash val="solid"/>
          </a:ln>
        </p:spPr>
      </p:sp>
      <p:sp>
        <p:nvSpPr>
          <p:cNvPr id="14" name="Shape 12"/>
          <p:cNvSpPr/>
          <p:nvPr/>
        </p:nvSpPr>
        <p:spPr>
          <a:xfrm>
            <a:off x="1051560" y="1691640"/>
            <a:ext cx="10085832" cy="86868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5" name="Shape 13"/>
          <p:cNvSpPr/>
          <p:nvPr/>
        </p:nvSpPr>
        <p:spPr>
          <a:xfrm>
            <a:off x="1051560" y="1691640"/>
            <a:ext cx="100584" cy="868680"/>
          </a:xfrm>
          <a:prstGeom prst="rect">
            <a:avLst/>
          </a:prstGeom>
          <a:solidFill>
            <a:srgbClr val="7F8A3A"/>
          </a:solidFill>
          <a:ln/>
        </p:spPr>
      </p:sp>
      <p:sp>
        <p:nvSpPr>
          <p:cNvPr id="16" name="Text 14"/>
          <p:cNvSpPr/>
          <p:nvPr/>
        </p:nvSpPr>
        <p:spPr>
          <a:xfrm>
            <a:off x="1325880" y="1801368"/>
            <a:ext cx="2926080" cy="640080"/>
          </a:xfrm>
          <a:prstGeom prst="rect">
            <a:avLst/>
          </a:prstGeom>
          <a:noFill/>
          <a:ln/>
        </p:spPr>
        <p:txBody>
          <a:bodyPr wrap="square" lIns="0" tIns="0" rIns="0" bIns="0" rtlCol="0" anchor="ctr"/>
          <a:lstStyle/>
          <a:p>
            <a:pPr marL="0" indent="0">
              <a:buNone/>
            </a:pPr>
            <a:r>
              <a:rPr lang="en-US" sz="1700" b="1" dirty="0">
                <a:solidFill>
                  <a:srgbClr val="586127"/>
                </a:solidFill>
                <a:latin typeface="Cambria" pitchFamily="34" charset="0"/>
                <a:ea typeface="Cambria" pitchFamily="34" charset="-122"/>
                <a:cs typeface="Cambria" pitchFamily="34" charset="-120"/>
              </a:rPr>
              <a:t>Müller</a:t>
            </a:r>
            <a:endParaRPr lang="en-US" sz="1700" dirty="0"/>
          </a:p>
        </p:txBody>
      </p:sp>
      <p:sp>
        <p:nvSpPr>
          <p:cNvPr id="17" name="Text 15"/>
          <p:cNvSpPr/>
          <p:nvPr/>
        </p:nvSpPr>
        <p:spPr>
          <a:xfrm>
            <a:off x="4069080" y="1801368"/>
            <a:ext cx="6885432"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derivative-free, parabola through 3 points, order ≈ 1.84, complex-safe.</a:t>
            </a:r>
            <a:endParaRPr lang="en-US" sz="1400" dirty="0"/>
          </a:p>
        </p:txBody>
      </p:sp>
      <p:sp>
        <p:nvSpPr>
          <p:cNvPr id="18" name="Shape 16"/>
          <p:cNvSpPr/>
          <p:nvPr/>
        </p:nvSpPr>
        <p:spPr>
          <a:xfrm>
            <a:off x="1051560" y="2715768"/>
            <a:ext cx="10085832" cy="86868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19" name="Shape 17"/>
          <p:cNvSpPr/>
          <p:nvPr/>
        </p:nvSpPr>
        <p:spPr>
          <a:xfrm>
            <a:off x="1051560" y="2715768"/>
            <a:ext cx="100584" cy="868680"/>
          </a:xfrm>
          <a:prstGeom prst="rect">
            <a:avLst/>
          </a:prstGeom>
          <a:solidFill>
            <a:srgbClr val="3E2B1C"/>
          </a:solidFill>
          <a:ln/>
        </p:spPr>
      </p:sp>
      <p:sp>
        <p:nvSpPr>
          <p:cNvPr id="20" name="Text 18"/>
          <p:cNvSpPr/>
          <p:nvPr/>
        </p:nvSpPr>
        <p:spPr>
          <a:xfrm>
            <a:off x="1325880" y="2825496"/>
            <a:ext cx="2926080" cy="640080"/>
          </a:xfrm>
          <a:prstGeom prst="rect">
            <a:avLst/>
          </a:prstGeom>
          <a:noFill/>
          <a:ln/>
        </p:spPr>
        <p:txBody>
          <a:bodyPr wrap="square" lIns="0" tIns="0" rIns="0" bIns="0" rtlCol="0" anchor="ctr"/>
          <a:lstStyle/>
          <a:p>
            <a:pPr marL="0" indent="0">
              <a:buNone/>
            </a:pPr>
            <a:r>
              <a:rPr lang="en-US" sz="1700" b="1" dirty="0">
                <a:solidFill>
                  <a:srgbClr val="586127"/>
                </a:solidFill>
                <a:latin typeface="Cambria" pitchFamily="34" charset="0"/>
                <a:ea typeface="Cambria" pitchFamily="34" charset="-122"/>
                <a:cs typeface="Cambria" pitchFamily="34" charset="-120"/>
              </a:rPr>
              <a:t>Pipeline</a:t>
            </a:r>
            <a:endParaRPr lang="en-US" sz="1700" dirty="0"/>
          </a:p>
        </p:txBody>
      </p:sp>
      <p:sp>
        <p:nvSpPr>
          <p:cNvPr id="21" name="Text 19"/>
          <p:cNvSpPr/>
          <p:nvPr/>
        </p:nvSpPr>
        <p:spPr>
          <a:xfrm>
            <a:off x="4069080" y="2825496"/>
            <a:ext cx="6885432"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recurrence → Müller → deflation → verify against cos((2k−1)π/2d).</a:t>
            </a:r>
            <a:endParaRPr lang="en-US" sz="1400" dirty="0"/>
          </a:p>
        </p:txBody>
      </p:sp>
      <p:sp>
        <p:nvSpPr>
          <p:cNvPr id="22" name="Shape 20"/>
          <p:cNvSpPr/>
          <p:nvPr/>
        </p:nvSpPr>
        <p:spPr>
          <a:xfrm>
            <a:off x="1051560" y="3739896"/>
            <a:ext cx="10085832" cy="86868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3" name="Shape 21"/>
          <p:cNvSpPr/>
          <p:nvPr/>
        </p:nvSpPr>
        <p:spPr>
          <a:xfrm>
            <a:off x="1051560" y="3739896"/>
            <a:ext cx="100584" cy="868680"/>
          </a:xfrm>
          <a:prstGeom prst="rect">
            <a:avLst/>
          </a:prstGeom>
          <a:solidFill>
            <a:srgbClr val="7F8A3A"/>
          </a:solidFill>
          <a:ln/>
        </p:spPr>
      </p:sp>
      <p:sp>
        <p:nvSpPr>
          <p:cNvPr id="24" name="Text 22"/>
          <p:cNvSpPr/>
          <p:nvPr/>
        </p:nvSpPr>
        <p:spPr>
          <a:xfrm>
            <a:off x="1325880" y="3849624"/>
            <a:ext cx="2926080" cy="640080"/>
          </a:xfrm>
          <a:prstGeom prst="rect">
            <a:avLst/>
          </a:prstGeom>
          <a:noFill/>
          <a:ln/>
        </p:spPr>
        <p:txBody>
          <a:bodyPr wrap="square" lIns="0" tIns="0" rIns="0" bIns="0" rtlCol="0" anchor="ctr"/>
          <a:lstStyle/>
          <a:p>
            <a:pPr marL="0" indent="0">
              <a:buNone/>
            </a:pPr>
            <a:r>
              <a:rPr lang="en-US" sz="1700" b="1" dirty="0">
                <a:solidFill>
                  <a:srgbClr val="586127"/>
                </a:solidFill>
                <a:latin typeface="Cambria" pitchFamily="34" charset="0"/>
                <a:ea typeface="Cambria" pitchFamily="34" charset="-122"/>
                <a:cs typeface="Cambria" pitchFamily="34" charset="-120"/>
              </a:rPr>
              <a:t>x87 rounding</a:t>
            </a:r>
            <a:endParaRPr lang="en-US" sz="1700" dirty="0"/>
          </a:p>
        </p:txBody>
      </p:sp>
      <p:sp>
        <p:nvSpPr>
          <p:cNvPr id="25" name="Text 23"/>
          <p:cNvSpPr/>
          <p:nvPr/>
        </p:nvSpPr>
        <p:spPr>
          <a:xfrm>
            <a:off x="4069080" y="3849624"/>
            <a:ext cx="6885432"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control word RC field = 4 IEEE-754 directions; default ties-to-even.</a:t>
            </a:r>
            <a:endParaRPr lang="en-US" sz="1400" dirty="0"/>
          </a:p>
        </p:txBody>
      </p:sp>
      <p:sp>
        <p:nvSpPr>
          <p:cNvPr id="26" name="Shape 24"/>
          <p:cNvSpPr/>
          <p:nvPr/>
        </p:nvSpPr>
        <p:spPr>
          <a:xfrm>
            <a:off x="1051560" y="4764024"/>
            <a:ext cx="10085832" cy="868680"/>
          </a:xfrm>
          <a:prstGeom prst="rect">
            <a:avLst/>
          </a:prstGeom>
          <a:solidFill>
            <a:srgbClr val="F6EFDE"/>
          </a:solidFill>
          <a:ln w="12700">
            <a:solidFill>
              <a:srgbClr val="D8C7A1"/>
            </a:solidFill>
            <a:prstDash val="solid"/>
          </a:ln>
          <a:effectLst>
            <a:outerShdw blurRad="76200" dist="25400" dir="8100000" algn="bl" rotWithShape="0">
              <a:srgbClr val="7A6A4A">
                <a:alpha val="18000"/>
              </a:srgbClr>
            </a:outerShdw>
          </a:effectLst>
        </p:spPr>
      </p:sp>
      <p:sp>
        <p:nvSpPr>
          <p:cNvPr id="27" name="Shape 25"/>
          <p:cNvSpPr/>
          <p:nvPr/>
        </p:nvSpPr>
        <p:spPr>
          <a:xfrm>
            <a:off x="1051560" y="4764024"/>
            <a:ext cx="100584" cy="868680"/>
          </a:xfrm>
          <a:prstGeom prst="rect">
            <a:avLst/>
          </a:prstGeom>
          <a:solidFill>
            <a:srgbClr val="3E2B1C"/>
          </a:solidFill>
          <a:ln/>
        </p:spPr>
      </p:sp>
      <p:sp>
        <p:nvSpPr>
          <p:cNvPr id="28" name="Text 26"/>
          <p:cNvSpPr/>
          <p:nvPr/>
        </p:nvSpPr>
        <p:spPr>
          <a:xfrm>
            <a:off x="1325880" y="4873752"/>
            <a:ext cx="2926080" cy="640080"/>
          </a:xfrm>
          <a:prstGeom prst="rect">
            <a:avLst/>
          </a:prstGeom>
          <a:noFill/>
          <a:ln/>
        </p:spPr>
        <p:txBody>
          <a:bodyPr wrap="square" lIns="0" tIns="0" rIns="0" bIns="0" rtlCol="0" anchor="ctr"/>
          <a:lstStyle/>
          <a:p>
            <a:pPr marL="0" indent="0">
              <a:buNone/>
            </a:pPr>
            <a:r>
              <a:rPr lang="en-US" sz="1700" b="1" dirty="0">
                <a:solidFill>
                  <a:srgbClr val="586127"/>
                </a:solidFill>
                <a:latin typeface="Cambria" pitchFamily="34" charset="0"/>
                <a:ea typeface="Cambria" pitchFamily="34" charset="-122"/>
                <a:cs typeface="Cambria" pitchFamily="34" charset="-120"/>
              </a:rPr>
              <a:t>Lesson</a:t>
            </a:r>
            <a:endParaRPr lang="en-US" sz="1700" dirty="0"/>
          </a:p>
        </p:txBody>
      </p:sp>
      <p:sp>
        <p:nvSpPr>
          <p:cNvPr id="29" name="Text 27"/>
          <p:cNvSpPr/>
          <p:nvPr/>
        </p:nvSpPr>
        <p:spPr>
          <a:xfrm>
            <a:off x="4069080" y="4873752"/>
            <a:ext cx="6885432" cy="640080"/>
          </a:xfrm>
          <a:prstGeom prst="rect">
            <a:avLst/>
          </a:prstGeom>
          <a:noFill/>
          <a:ln/>
        </p:spPr>
        <p:txBody>
          <a:bodyPr wrap="square" lIns="0" tIns="0" rIns="0" bIns="0" rtlCol="0" anchor="ctr"/>
          <a:lstStyle/>
          <a:p>
            <a:pPr marL="0" indent="0">
              <a:buNone/>
            </a:pPr>
            <a:r>
              <a:rPr lang="en-US" sz="1400" dirty="0">
                <a:solidFill>
                  <a:srgbClr val="2B2722"/>
                </a:solidFill>
                <a:latin typeface="Cambria" pitchFamily="34" charset="0"/>
                <a:ea typeface="Cambria" pitchFamily="34" charset="-122"/>
                <a:cs typeface="Cambria" pitchFamily="34" charset="-120"/>
              </a:rPr>
              <a:t>rounding decides the last bit — of 1/3, and of a Chebyshev root alike.</a:t>
            </a:r>
            <a:endParaRPr lang="en-US" sz="1400" dirty="0"/>
          </a:p>
        </p:txBody>
      </p:sp>
      <p:sp>
        <p:nvSpPr>
          <p:cNvPr id="30" name="Text 28"/>
          <p:cNvSpPr/>
          <p:nvPr/>
        </p:nvSpPr>
        <p:spPr>
          <a:xfrm>
            <a:off x="914400" y="5897880"/>
            <a:ext cx="10360152" cy="365760"/>
          </a:xfrm>
          <a:prstGeom prst="rect">
            <a:avLst/>
          </a:prstGeom>
          <a:noFill/>
          <a:ln/>
        </p:spPr>
        <p:txBody>
          <a:bodyPr wrap="square" lIns="0" tIns="0" rIns="0" bIns="0" rtlCol="0" anchor="ctr"/>
          <a:lstStyle/>
          <a:p>
            <a:pPr marL="0" indent="0" algn="ctr">
              <a:buNone/>
            </a:pPr>
            <a:r>
              <a:rPr lang="en-US" sz="1350" i="1" dirty="0">
                <a:solidFill>
                  <a:srgbClr val="586127"/>
                </a:solidFill>
                <a:latin typeface="Cambria" pitchFamily="34" charset="0"/>
                <a:ea typeface="Cambria" pitchFamily="34" charset="-122"/>
                <a:cs typeface="Cambria" pitchFamily="34" charset="-120"/>
              </a:rPr>
              <a:t>Five small assembly programs · one shared FPU · the theory made concrete.</a:t>
            </a:r>
            <a:endParaRPr lang="en-US" sz="135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5999</Words>
  <Application>Microsoft Office PowerPoint</Application>
  <PresentationFormat>מסך רחב</PresentationFormat>
  <Paragraphs>700</Paragraphs>
  <Slides>25</Slides>
  <Notes>25</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25</vt:i4>
      </vt:variant>
    </vt:vector>
  </HeadingPairs>
  <TitlesOfParts>
    <vt:vector size="30" baseType="lpstr">
      <vt:lpstr>Arial</vt:lpstr>
      <vt:lpstr>Calibri</vt:lpstr>
      <vt:lpstr>Cambria</vt:lpstr>
      <vt:lpstr>Consolas</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Chebyshev Roots &amp; x87 Rounding</dc:title>
  <dc:subject>PptxGenJS Presentation</dc:subject>
  <dc:creator>Numerical Methods</dc:creator>
  <cp:lastModifiedBy>אורן אליעזר</cp:lastModifiedBy>
  <cp:revision>3</cp:revision>
  <dcterms:created xsi:type="dcterms:W3CDTF">2026-06-05T07:30:28Z</dcterms:created>
  <dcterms:modified xsi:type="dcterms:W3CDTF">2026-06-06T11:07:33Z</dcterms:modified>
</cp:coreProperties>
</file>