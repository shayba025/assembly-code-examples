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notesMasterIdLst>
    <p:notesMasterId r:id="rId30"/>
  </p:notesMasterIdLst>
  <p:sldIdLst>
    <p:sldId id="256" r:id="rId2"/>
    <p:sldId id="283" r:id="rId3"/>
    <p:sldId id="284" r:id="rId4"/>
    <p:sldId id="257" r:id="rId5"/>
    <p:sldId id="258" r:id="rId6"/>
    <p:sldId id="259" r:id="rId7"/>
    <p:sldId id="266" r:id="rId8"/>
    <p:sldId id="260" r:id="rId9"/>
    <p:sldId id="282" r:id="rId10"/>
    <p:sldId id="261" r:id="rId11"/>
    <p:sldId id="262" r:id="rId12"/>
    <p:sldId id="263" r:id="rId13"/>
    <p:sldId id="264" r:id="rId14"/>
    <p:sldId id="265" r:id="rId15"/>
    <p:sldId id="267" r:id="rId16"/>
    <p:sldId id="268" r:id="rId17"/>
    <p:sldId id="269" r:id="rId18"/>
    <p:sldId id="270" r:id="rId19"/>
    <p:sldId id="273" r:id="rId20"/>
    <p:sldId id="274" r:id="rId21"/>
    <p:sldId id="276" r:id="rId22"/>
    <p:sldId id="277" r:id="rId23"/>
    <p:sldId id="278" r:id="rId24"/>
    <p:sldId id="271" r:id="rId25"/>
    <p:sldId id="275" r:id="rId26"/>
    <p:sldId id="272" r:id="rId27"/>
    <p:sldId id="280" r:id="rId28"/>
    <p:sldId id="281" r:id="rId29"/>
  </p:sldIdLst>
  <p:sldSz cx="12192000" cy="6858000"/>
  <p:notesSz cx="7104063" cy="10234613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025636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645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l">
              <a:defRPr sz="1300"/>
            </a:lvl1pPr>
          </a:lstStyle>
          <a:p>
            <a:fld id="{CBB754F4-CB08-4F99-AFBE-2028CB2193D8}" type="datetimeFigureOut">
              <a:rPr lang="he-IL" smtClean="0"/>
              <a:t>ב'/אייר/תשפ"ו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4025636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645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l">
              <a:defRPr sz="1300"/>
            </a:lvl1pPr>
          </a:lstStyle>
          <a:p>
            <a:fld id="{81986041-9A52-4960-85A4-A91BE505A3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418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986041-9A52-4960-85A4-A91BE505A3E0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10982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4BDF9A9-D734-4825-8A94-7036C6D029D5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77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CE8D0-310D-4131-8CF2-7CD5A836F1D2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7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202F-188E-4082-A467-2D2130716546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510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95283-6E33-4732-BDF8-BE08F36356A9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8541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99562-9403-44D3-87EF-74A5F0AD5EAD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36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182B-486A-453C-9E15-6BCF4F6CAF87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336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674E-15B4-4487-8C0F-B5EA1CD084E1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5759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469D-AFB4-40E7-978B-FD78583491BC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926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D415E-4AE8-4123-9FEA-2723B4840F5A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0118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189F-814A-4D6C-9024-43C3778B45B5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87194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B1B83-BE6B-476C-858D-1B2ACE85E87E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069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DB80-9966-47E7-89F7-F67076DF2153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005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C2EA-88EE-489B-B3C4-B293789E69E4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7316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434F-2F54-4D0E-850C-95A93CC8467F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757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או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E3182-4B9E-43DE-9386-4D91D99F9651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83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64BA-BE29-4E49-9B51-49C059D331D7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287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DFCDD-6F34-49F6-8C75-812DBE339BC9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703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25F2BBD-AFB8-4A5A-B955-E67A006B24DC}" type="datetime8">
              <a:rPr lang="he-IL" smtClean="0"/>
              <a:t>19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802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תרגול שלישי  מערכי זיכרון 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86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חילוק ע"י כפל בהופכי (</a:t>
            </a:r>
            <a:r>
              <a:rPr lang="en-US" dirty="0"/>
              <a:t>divbymul.asm</a:t>
            </a:r>
            <a:r>
              <a:rPr lang="he-IL" dirty="0"/>
              <a:t>)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נניח רוצים לחלק </a:t>
            </a:r>
            <a:r>
              <a:rPr lang="en-US" dirty="0"/>
              <a:t>a/b</a:t>
            </a:r>
            <a:r>
              <a:rPr lang="he-IL" dirty="0"/>
              <a:t> הרבה פעמים בתוכנית, נעדיף לבצע זאת ע"י כפל של </a:t>
            </a:r>
            <a:r>
              <a:rPr lang="en-US" dirty="0"/>
              <a:t>a*1/b</a:t>
            </a:r>
            <a:endParaRPr lang="he-IL" dirty="0"/>
          </a:p>
          <a:p>
            <a:r>
              <a:rPr lang="he-IL" dirty="0"/>
              <a:t>לשם כך נצטרך לבצע הכנה כך שבאוגר ייעודי יימצא הערך ההופכי של </a:t>
            </a:r>
            <a:r>
              <a:rPr lang="en-US" dirty="0"/>
              <a:t>b</a:t>
            </a:r>
            <a:r>
              <a:rPr lang="he-IL" dirty="0"/>
              <a:t> .</a:t>
            </a:r>
          </a:p>
          <a:p>
            <a:r>
              <a:rPr lang="he-IL" dirty="0"/>
              <a:t>ניתן להראות כי </a:t>
            </a:r>
            <a:r>
              <a:rPr lang="en-US" dirty="0"/>
              <a:t>1/b</a:t>
            </a:r>
            <a:r>
              <a:rPr lang="he-IL" dirty="0"/>
              <a:t> שקול לביטוי :</a:t>
            </a:r>
            <a:r>
              <a:rPr lang="en-US" dirty="0"/>
              <a:t> 1/b  ≈  (2^64 / b) / 2^64</a:t>
            </a:r>
            <a:endParaRPr lang="he-IL" dirty="0"/>
          </a:p>
          <a:p>
            <a:r>
              <a:rPr lang="he-IL" dirty="0"/>
              <a:t>התכנית מבצעת חלוקה של 59 ב 7 תוך שימוש בכפל בהפכי אבל מאחסנת רק את החלק השלם ב</a:t>
            </a:r>
            <a:r>
              <a:rPr lang="en-US" dirty="0" err="1"/>
              <a:t>rax</a:t>
            </a:r>
            <a:r>
              <a:rPr lang="he-IL" dirty="0"/>
              <a:t> (וכך בעצם 'מכפילים' ב64^2) , כלומר את 8</a:t>
            </a:r>
            <a:endParaRPr lang="en-US" dirty="0"/>
          </a:p>
          <a:p>
            <a:endParaRPr lang="he-IL" dirty="0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E36BE184-CEFE-4E84-F5DE-4154D8554A56}"/>
              </a:ext>
            </a:extLst>
          </p:cNvPr>
          <p:cNvSpPr/>
          <p:nvPr/>
        </p:nvSpPr>
        <p:spPr>
          <a:xfrm>
            <a:off x="4390845" y="711199"/>
            <a:ext cx="3942272" cy="34633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chemeClr val="tx1"/>
                </a:solidFill>
              </a:rPr>
              <a:t>השלמה מתרגול קודם</a:t>
            </a:r>
          </a:p>
        </p:txBody>
      </p:sp>
    </p:spTree>
    <p:extLst>
      <p:ext uri="{BB962C8B-B14F-4D97-AF65-F5344CB8AC3E}">
        <p14:creationId xmlns:p14="http://schemas.microsoft.com/office/powerpoint/2010/main" val="1613806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F50C1-49EA-6BE5-64FF-DAA0E53D4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71C128-27FE-B7DF-F437-A826339E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התכנית</a:t>
            </a:r>
            <a:r>
              <a:rPr lang="he-IL" dirty="0"/>
              <a:t> - </a:t>
            </a:r>
            <a:r>
              <a:rPr lang="en-US" dirty="0" err="1"/>
              <a:t>divbymul</a:t>
            </a:r>
            <a:r>
              <a:rPr lang="he-IL" dirty="0"/>
              <a:t> 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798BFCA-51FA-0D42-78FC-27FB688F0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3</a:t>
            </a:fld>
            <a:endParaRPr lang="he-IL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62BD8A1-EE98-BE7D-E4D0-E4397580A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2" y="2475987"/>
            <a:ext cx="9568830" cy="349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27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מערכים מאותחלים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כדי להגדיר מערכים מאותחלים ומשתנים מאותחלים  בזיכרון יש להגדיר אותם באזור ה </a:t>
            </a:r>
            <a:r>
              <a:rPr lang="en-US" dirty="0"/>
              <a:t>data</a:t>
            </a:r>
            <a:r>
              <a:rPr lang="he-IL" dirty="0"/>
              <a:t>. </a:t>
            </a:r>
          </a:p>
          <a:p>
            <a:r>
              <a:rPr lang="he-IL" dirty="0"/>
              <a:t>דוגמא  למערך מאותחל שמכיל את הערכים 10,20,30,40: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dirty="0"/>
              <a:t>section .data</a:t>
            </a:r>
          </a:p>
          <a:p>
            <a:pPr algn="l" rtl="0"/>
            <a:r>
              <a:rPr lang="en-US" dirty="0" err="1"/>
              <a:t>arr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10, 20, 30, 40</a:t>
            </a:r>
          </a:p>
          <a:p>
            <a:pPr algn="r"/>
            <a:r>
              <a:rPr lang="he-IL" dirty="0"/>
              <a:t>שורה זו יוצרת : </a:t>
            </a:r>
          </a:p>
          <a:p>
            <a:pPr algn="l" rtl="0"/>
            <a:r>
              <a:rPr lang="sv-SE" dirty="0"/>
              <a:t>arr[0] = 10, arr[1] = 20, arr[2] = 30, arr[3] = 40</a:t>
            </a:r>
            <a:endParaRPr lang="en-US" dirty="0"/>
          </a:p>
          <a:p>
            <a:pPr algn="l" rtl="0"/>
            <a:endParaRPr lang="he-IL" dirty="0"/>
          </a:p>
          <a:p>
            <a:pPr algn="l" rtl="0"/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6977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מערכים מאותחלים המשך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דוגמא נוספת למערך מאותחל באפסים עם הגדרת גודל : </a:t>
            </a:r>
          </a:p>
          <a:p>
            <a:pPr algn="l" rtl="0"/>
            <a:r>
              <a:rPr lang="en-US" dirty="0" err="1"/>
              <a:t>arr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64 dup(0)</a:t>
            </a:r>
          </a:p>
          <a:p>
            <a:pPr algn="r"/>
            <a:r>
              <a:rPr lang="he-IL" dirty="0"/>
              <a:t>ניתן לקבוע מה יהא גודלו של כל תא במערך :</a:t>
            </a:r>
            <a:r>
              <a:rPr lang="en-US" dirty="0"/>
              <a:t> </a:t>
            </a:r>
            <a:endParaRPr lang="he-IL" dirty="0"/>
          </a:p>
          <a:p>
            <a:pPr marL="0" indent="0" algn="l" rtl="0">
              <a:buNone/>
            </a:pP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byte , </a:t>
            </a:r>
            <a:r>
              <a:rPr lang="en-US" dirty="0" err="1"/>
              <a:t>dw</a:t>
            </a:r>
            <a:r>
              <a:rPr lang="en-US" dirty="0"/>
              <a:t> = word, </a:t>
            </a:r>
            <a:r>
              <a:rPr lang="en-US" dirty="0" err="1"/>
              <a:t>dd</a:t>
            </a:r>
            <a:r>
              <a:rPr lang="en-US" dirty="0"/>
              <a:t> = double word (32 bits) , </a:t>
            </a:r>
            <a:r>
              <a:rPr lang="en-US" dirty="0" err="1"/>
              <a:t>dq</a:t>
            </a:r>
            <a:r>
              <a:rPr lang="en-US" dirty="0"/>
              <a:t> = quad word (64 bit)</a:t>
            </a:r>
          </a:p>
          <a:p>
            <a:pPr marL="0" indent="0" algn="r">
              <a:buNone/>
            </a:pPr>
            <a:r>
              <a:rPr lang="he-IL" b="1" dirty="0"/>
              <a:t>כלומר מערך מאותחל מוגדר באזור ה </a:t>
            </a:r>
            <a:r>
              <a:rPr lang="en-US" b="1" dirty="0"/>
              <a:t>data</a:t>
            </a:r>
            <a:r>
              <a:rPr lang="he-IL" b="1" dirty="0"/>
              <a:t> , כל תא בו הינו בעל גודל מוגדר מראש ותוכן מוגדר מראש. </a:t>
            </a:r>
            <a:endParaRPr lang="en-US" b="1" dirty="0"/>
          </a:p>
          <a:p>
            <a:pPr algn="l" rtl="0"/>
            <a:endParaRPr lang="en-US" dirty="0"/>
          </a:p>
          <a:p>
            <a:pPr algn="l" rtl="0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5781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דוגמא 1 - </a:t>
            </a:r>
            <a:r>
              <a:rPr lang="en-US" dirty="0"/>
              <a:t>array1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כתוב תכנית אשר מאתחלת מערך מטיפוס</a:t>
            </a:r>
            <a:r>
              <a:rPr lang="en-US" dirty="0"/>
              <a:t>  </a:t>
            </a:r>
            <a:r>
              <a:rPr lang="he-IL" dirty="0"/>
              <a:t> </a:t>
            </a:r>
            <a:r>
              <a:rPr lang="en-US" dirty="0"/>
              <a:t>byte</a:t>
            </a:r>
            <a:r>
              <a:rPr lang="he-IL" dirty="0"/>
              <a:t> אשר מכיל 12 ערכים של </a:t>
            </a:r>
            <a:r>
              <a:rPr lang="en-US" dirty="0"/>
              <a:t>55h</a:t>
            </a:r>
            <a:r>
              <a:rPr lang="he-IL" dirty="0"/>
              <a:t> כל אחד. התכנית תדרוס את המערך בערכים  עוקבים החל מ </a:t>
            </a:r>
            <a:r>
              <a:rPr lang="en-US" dirty="0"/>
              <a:t>17h</a:t>
            </a:r>
            <a:r>
              <a:rPr lang="he-IL" dirty="0"/>
              <a:t>. </a:t>
            </a:r>
          </a:p>
          <a:p>
            <a:r>
              <a:rPr lang="he-IL" dirty="0"/>
              <a:t>תכנית זו שונה מתכניות קודמות בכך שהיא  גורמת למשתמש לבצע מעקב אחר תכני זיכרון הנתונים. </a:t>
            </a:r>
          </a:p>
          <a:p>
            <a:r>
              <a:rPr lang="he-IL" dirty="0"/>
              <a:t>כדי לבצע את המעקב יש לבצע מספר הגדרות ב </a:t>
            </a:r>
            <a:r>
              <a:rPr lang="en-US" dirty="0" err="1"/>
              <a:t>Ubunto</a:t>
            </a:r>
            <a:r>
              <a:rPr lang="en-US" dirty="0"/>
              <a:t>   </a:t>
            </a:r>
            <a:r>
              <a:rPr lang="he-IL" dirty="0"/>
              <a:t>   אשר נפרט בשקף הבא 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69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שינוי קטנטן בהרצת התכנית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1. </a:t>
            </a:r>
            <a:r>
              <a:rPr lang="en-US" dirty="0" err="1"/>
              <a:t>nasm</a:t>
            </a:r>
            <a:r>
              <a:rPr lang="en-US" dirty="0"/>
              <a:t> –f elf64 filename.asm –o </a:t>
            </a:r>
            <a:r>
              <a:rPr lang="en-US" dirty="0" err="1"/>
              <a:t>filename.o</a:t>
            </a:r>
            <a:endParaRPr lang="en-US" dirty="0"/>
          </a:p>
          <a:p>
            <a:pPr algn="l" rtl="0"/>
            <a:r>
              <a:rPr lang="en-US" dirty="0"/>
              <a:t>2. </a:t>
            </a:r>
            <a:r>
              <a:rPr lang="pt-BR" b="1" dirty="0"/>
              <a:t>gcc –no-pie –o filename filename.o</a:t>
            </a:r>
          </a:p>
          <a:p>
            <a:pPr algn="l" rtl="0"/>
            <a:r>
              <a:rPr lang="pt-BR" dirty="0"/>
              <a:t>3. gdb ./filename</a:t>
            </a:r>
          </a:p>
          <a:p>
            <a:pPr algn="l" rtl="0"/>
            <a:r>
              <a:rPr lang="pt-BR" dirty="0"/>
              <a:t>4. break main</a:t>
            </a:r>
          </a:p>
          <a:p>
            <a:pPr algn="l" rtl="0"/>
            <a:r>
              <a:rPr lang="pt-BR" dirty="0"/>
              <a:t>5.run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781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הצגת תוכן הזיכרון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95401" y="2566263"/>
            <a:ext cx="9601196" cy="3318936"/>
          </a:xfrm>
        </p:spPr>
        <p:txBody>
          <a:bodyPr>
            <a:normAutofit lnSpcReduction="10000"/>
          </a:bodyPr>
          <a:lstStyle/>
          <a:p>
            <a:r>
              <a:rPr lang="he-IL" dirty="0"/>
              <a:t>יש לבצע את הפקודה הבאה טרם הרצת </a:t>
            </a:r>
            <a:r>
              <a:rPr lang="he-IL" dirty="0" err="1"/>
              <a:t>התכנית</a:t>
            </a:r>
            <a:r>
              <a:rPr lang="he-IL" dirty="0"/>
              <a:t>, וזאת על מנת לקבל את תוכן הזיכרון בכל הרצה של צעד אחר צעד  :</a:t>
            </a:r>
            <a:r>
              <a:rPr lang="en-US" dirty="0"/>
              <a:t> </a:t>
            </a:r>
            <a:endParaRPr lang="he-IL" dirty="0"/>
          </a:p>
          <a:p>
            <a:pPr marL="0" indent="0" algn="l" rtl="0">
              <a:buNone/>
            </a:pPr>
            <a:r>
              <a:rPr lang="en-US" dirty="0"/>
              <a:t>display/12xb &amp;array</a:t>
            </a:r>
          </a:p>
          <a:p>
            <a:pPr marL="0" indent="0">
              <a:buNone/>
            </a:pPr>
            <a:r>
              <a:rPr lang="he-IL" dirty="0"/>
              <a:t>אם רוצים לראות את הזיכרון בצורה חד-פעמית כותבים:</a:t>
            </a:r>
            <a:endParaRPr lang="en-US" dirty="0"/>
          </a:p>
          <a:p>
            <a:pPr marL="0" indent="0" algn="l" rtl="0">
              <a:buNone/>
            </a:pPr>
            <a:r>
              <a:rPr lang="en-US" dirty="0"/>
              <a:t>4. x/12xb &amp;array</a:t>
            </a:r>
          </a:p>
          <a:p>
            <a:pPr marL="0" indent="0" rtl="0">
              <a:buNone/>
            </a:pPr>
            <a:r>
              <a:rPr lang="he-IL" dirty="0"/>
              <a:t>אם רוצים לראות את כתובת המערך בזיכרון באופן חד-פעמי כותבים:</a:t>
            </a:r>
            <a:endParaRPr lang="en-US" dirty="0"/>
          </a:p>
          <a:p>
            <a:pPr marL="0" indent="0" algn="l" rtl="0">
              <a:buNone/>
            </a:pPr>
            <a:r>
              <a:rPr lang="en-US" dirty="0" err="1"/>
              <a:t>printf</a:t>
            </a:r>
            <a:r>
              <a:rPr lang="en-US" dirty="0"/>
              <a:t> "%p\n", &amp;array </a:t>
            </a:r>
            <a:r>
              <a:rPr lang="he-IL" dirty="0"/>
              <a:t>או</a:t>
            </a:r>
            <a:r>
              <a:rPr lang="en-US" dirty="0"/>
              <a:t> p &amp;array </a:t>
            </a:r>
          </a:p>
          <a:p>
            <a:pPr marL="0" indent="0" algn="l" rtl="0">
              <a:buNone/>
            </a:pP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79045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הערה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לגבי הפקודות :</a:t>
            </a:r>
            <a:r>
              <a:rPr lang="en-US" dirty="0"/>
              <a:t> x/ </a:t>
            </a:r>
            <a:r>
              <a:rPr lang="he-IL" dirty="0"/>
              <a:t>וכן </a:t>
            </a:r>
            <a:r>
              <a:rPr lang="en-US" dirty="0"/>
              <a:t>display </a:t>
            </a:r>
            <a:r>
              <a:rPr lang="he-IL" dirty="0"/>
              <a:t> : הערך 20 מציין את כמות הנתונים שרוצים לראות.</a:t>
            </a:r>
          </a:p>
          <a:p>
            <a:r>
              <a:rPr lang="he-IL" dirty="0"/>
              <a:t>לאחר ה </a:t>
            </a:r>
            <a:r>
              <a:rPr lang="en-US" dirty="0"/>
              <a:t>/</a:t>
            </a:r>
            <a:r>
              <a:rPr lang="he-IL" dirty="0"/>
              <a:t> מציינים את גודל כל נתון בזיכרון. </a:t>
            </a:r>
          </a:p>
          <a:p>
            <a:r>
              <a:rPr lang="he-IL" dirty="0"/>
              <a:t>סוגי הגדלים השונים והסימון שלהם: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9</a:t>
            </a:fld>
            <a:endParaRPr lang="he-IL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42FAB437-2D4D-F1F4-8DA1-16BDF2793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3588402"/>
            <a:ext cx="5557234" cy="181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7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קובץ </a:t>
            </a:r>
            <a:r>
              <a:rPr lang="he-IL" dirty="0" err="1"/>
              <a:t>התכנית</a:t>
            </a:r>
            <a:r>
              <a:rPr lang="he-IL" dirty="0"/>
              <a:t> - </a:t>
            </a:r>
            <a:r>
              <a:rPr lang="en-US" dirty="0"/>
              <a:t>array1</a:t>
            </a:r>
            <a:r>
              <a:rPr lang="he-IL" dirty="0"/>
              <a:t> </a:t>
            </a: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10</a:t>
            </a:fld>
            <a:endParaRPr lang="he-IL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1760" y="2557463"/>
            <a:ext cx="5879592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7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אופן ביצוע התכנית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בתחילה, יש להגדיר אזור בשם </a:t>
            </a:r>
            <a:r>
              <a:rPr lang="en-US" dirty="0"/>
              <a:t>section .data</a:t>
            </a:r>
            <a:r>
              <a:rPr lang="he-IL" dirty="0"/>
              <a:t> שבו מגדירים את המערך ואת הערך המספרי ההתחלתי שאותו נרצה להציב במערך. </a:t>
            </a:r>
          </a:p>
          <a:p>
            <a:r>
              <a:rPr lang="he-IL" dirty="0"/>
              <a:t>באזור זה הוגדר משתנה </a:t>
            </a:r>
            <a:r>
              <a:rPr lang="en-US" dirty="0"/>
              <a:t>start </a:t>
            </a:r>
            <a:r>
              <a:rPr lang="he-IL" dirty="0"/>
              <a:t> מטיפוס </a:t>
            </a:r>
            <a:r>
              <a:rPr lang="en-US" dirty="0"/>
              <a:t>byte</a:t>
            </a:r>
            <a:r>
              <a:rPr lang="he-IL" dirty="0"/>
              <a:t> וכן המערך עצמו אשר מאותחל ב 12 ערכים של </a:t>
            </a:r>
            <a:r>
              <a:rPr lang="en-US" dirty="0"/>
              <a:t>55h </a:t>
            </a:r>
            <a:r>
              <a:rPr lang="he-IL" dirty="0"/>
              <a:t> כולם מטיפוס </a:t>
            </a:r>
            <a:r>
              <a:rPr lang="en-US" dirty="0"/>
              <a:t>byte</a:t>
            </a:r>
            <a:r>
              <a:rPr lang="he-IL" dirty="0"/>
              <a:t> </a:t>
            </a:r>
          </a:p>
          <a:p>
            <a:r>
              <a:rPr lang="he-IL" dirty="0"/>
              <a:t>לאחר מכן , באזור התכנית </a:t>
            </a:r>
            <a:r>
              <a:rPr lang="en-US" dirty="0"/>
              <a:t>text</a:t>
            </a:r>
            <a:r>
              <a:rPr lang="he-IL" dirty="0"/>
              <a:t> מגדירים אוגר מצביע למערך ע"י הפקודה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dirty="0"/>
              <a:t>lea </a:t>
            </a:r>
            <a:r>
              <a:rPr lang="en-US" dirty="0" err="1"/>
              <a:t>rdi</a:t>
            </a:r>
            <a:r>
              <a:rPr lang="en-US" dirty="0"/>
              <a:t>, [array]  </a:t>
            </a:r>
          </a:p>
          <a:p>
            <a:pPr algn="r"/>
            <a:r>
              <a:rPr lang="he-IL" dirty="0"/>
              <a:t>פקודה זו מציבה באוגר </a:t>
            </a:r>
            <a:r>
              <a:rPr lang="en-US" dirty="0" err="1"/>
              <a:t>rdi</a:t>
            </a:r>
            <a:r>
              <a:rPr lang="he-IL" dirty="0"/>
              <a:t> את הכתובת של המערך ומאפשרת גישה לאברי המערך 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11</a:t>
            </a:fld>
            <a:endParaRPr lang="he-IL"/>
          </a:p>
        </p:txBody>
      </p:sp>
      <p:pic>
        <p:nvPicPr>
          <p:cNvPr id="5" name="מציין מיקום תוכן 5">
            <a:extLst>
              <a:ext uri="{FF2B5EF4-FFF2-40B4-BE49-F238E27FC236}">
                <a16:creationId xmlns:a16="http://schemas.microsoft.com/office/drawing/2014/main" id="{147C785E-3963-EA08-BF42-E1B30A46F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1" y="519114"/>
            <a:ext cx="1920240" cy="24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061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המשך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כמובן שברגע שעובדים עם מערך , יש לאתחל את אוגר </a:t>
            </a:r>
            <a:r>
              <a:rPr lang="en-US" dirty="0" err="1"/>
              <a:t>rcx</a:t>
            </a:r>
            <a:r>
              <a:rPr lang="en-US" dirty="0"/>
              <a:t> </a:t>
            </a:r>
            <a:r>
              <a:rPr lang="he-IL" dirty="0"/>
              <a:t> בגודלו של המערך. </a:t>
            </a:r>
          </a:p>
          <a:p>
            <a:r>
              <a:rPr lang="he-IL" dirty="0"/>
              <a:t>שתי השורות שבאות לאחר מכן, מנקות את אוגר </a:t>
            </a:r>
            <a:r>
              <a:rPr lang="en-US" dirty="0" err="1"/>
              <a:t>eax</a:t>
            </a:r>
            <a:r>
              <a:rPr lang="en-US" dirty="0"/>
              <a:t>  </a:t>
            </a:r>
            <a:r>
              <a:rPr lang="he-IL" dirty="0"/>
              <a:t> כדי שלא יצטבר בו זבל וכן מעבירות אל אוגר </a:t>
            </a:r>
            <a:r>
              <a:rPr lang="en-US" dirty="0"/>
              <a:t>al</a:t>
            </a:r>
            <a:r>
              <a:rPr lang="he-IL" dirty="0"/>
              <a:t> את תוכנו </a:t>
            </a:r>
            <a:r>
              <a:rPr lang="en-US" dirty="0"/>
              <a:t>start</a:t>
            </a:r>
            <a:r>
              <a:rPr lang="he-IL" dirty="0"/>
              <a:t>. העבודה עם </a:t>
            </a:r>
            <a:r>
              <a:rPr lang="en-US" dirty="0"/>
              <a:t>al</a:t>
            </a:r>
            <a:r>
              <a:rPr lang="he-IL" dirty="0"/>
              <a:t> נעשית מכיוון שמדובר בבתים. </a:t>
            </a:r>
          </a:p>
          <a:p>
            <a:pPr algn="l" rtl="0"/>
            <a:r>
              <a:rPr lang="en-US" dirty="0"/>
              <a:t> </a:t>
            </a:r>
            <a:r>
              <a:rPr lang="en-US" dirty="0" err="1"/>
              <a:t>xor</a:t>
            </a:r>
            <a:r>
              <a:rPr lang="en-US" dirty="0"/>
              <a:t> </a:t>
            </a:r>
            <a:r>
              <a:rPr lang="en-US" dirty="0" err="1"/>
              <a:t>eax</a:t>
            </a:r>
            <a:r>
              <a:rPr lang="en-US" dirty="0"/>
              <a:t>, </a:t>
            </a:r>
            <a:r>
              <a:rPr lang="en-US" dirty="0" err="1"/>
              <a:t>eax</a:t>
            </a:r>
            <a:r>
              <a:rPr lang="en-US" dirty="0"/>
              <a:t>    </a:t>
            </a:r>
          </a:p>
          <a:p>
            <a:pPr algn="l" rtl="0"/>
            <a:r>
              <a:rPr lang="en-US" dirty="0"/>
              <a:t>  </a:t>
            </a:r>
            <a:r>
              <a:rPr lang="en-US" dirty="0" err="1"/>
              <a:t>mov</a:t>
            </a:r>
            <a:r>
              <a:rPr lang="en-US" dirty="0"/>
              <a:t> al, [start]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12</a:t>
            </a:fld>
            <a:endParaRPr lang="he-IL"/>
          </a:p>
        </p:txBody>
      </p:sp>
      <p:pic>
        <p:nvPicPr>
          <p:cNvPr id="5" name="מציין מיקום תוכן 5">
            <a:extLst>
              <a:ext uri="{FF2B5EF4-FFF2-40B4-BE49-F238E27FC236}">
                <a16:creationId xmlns:a16="http://schemas.microsoft.com/office/drawing/2014/main" id="{E01817A2-6368-6BFE-547C-921DA1A1E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1" y="519114"/>
            <a:ext cx="1920240" cy="24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8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שלבי הלולאה העיקרית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בלולאה העיקרית של התכנית , מעבירים את תוכנו של </a:t>
            </a:r>
            <a:r>
              <a:rPr lang="en-US" dirty="0"/>
              <a:t>start </a:t>
            </a:r>
            <a:r>
              <a:rPr lang="he-IL" dirty="0"/>
              <a:t>  כך שידרוס את התוכן הקיים של המערך , מעלים את תוכנו של </a:t>
            </a:r>
            <a:r>
              <a:rPr lang="en-US" dirty="0"/>
              <a:t>al</a:t>
            </a:r>
            <a:r>
              <a:rPr lang="he-IL" dirty="0"/>
              <a:t> ב 1 , מקטינים את תוכנו של </a:t>
            </a:r>
            <a:r>
              <a:rPr lang="en-US" dirty="0" err="1"/>
              <a:t>rcx</a:t>
            </a:r>
            <a:r>
              <a:rPr lang="he-IL" dirty="0"/>
              <a:t> (מונה הלולאה) ב 1 ע"י ביצוע פקודת </a:t>
            </a:r>
            <a:r>
              <a:rPr lang="en-US" dirty="0"/>
              <a:t>LOOP</a:t>
            </a:r>
            <a:r>
              <a:rPr lang="he-IL" dirty="0"/>
              <a:t>. </a:t>
            </a:r>
          </a:p>
          <a:p>
            <a:r>
              <a:rPr lang="he-IL" dirty="0"/>
              <a:t>ע"י כך תוכן הזיכרון נדרס בכל </a:t>
            </a:r>
            <a:r>
              <a:rPr lang="he-IL" dirty="0" err="1"/>
              <a:t>איטרציה</a:t>
            </a:r>
            <a:r>
              <a:rPr lang="he-IL" dirty="0"/>
              <a:t> של הלולאה. 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13</a:t>
            </a:fld>
            <a:endParaRPr lang="he-IL"/>
          </a:p>
        </p:txBody>
      </p:sp>
      <p:pic>
        <p:nvPicPr>
          <p:cNvPr id="5" name="מציין מיקום תוכן 5">
            <a:extLst>
              <a:ext uri="{FF2B5EF4-FFF2-40B4-BE49-F238E27FC236}">
                <a16:creationId xmlns:a16="http://schemas.microsoft.com/office/drawing/2014/main" id="{56A4A786-5D52-3648-C117-E769D04C1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19" y="3516314"/>
            <a:ext cx="1920240" cy="24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01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דוגמא 2 – </a:t>
            </a:r>
            <a:r>
              <a:rPr lang="en-US" dirty="0"/>
              <a:t>array2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להלן תכנית אשר מגדירה משתנה </a:t>
            </a:r>
            <a:r>
              <a:rPr lang="en-US" dirty="0"/>
              <a:t>start</a:t>
            </a:r>
            <a:r>
              <a:rPr lang="he-IL" dirty="0"/>
              <a:t> בגודל </a:t>
            </a:r>
            <a:r>
              <a:rPr lang="en-US" dirty="0"/>
              <a:t>WORD </a:t>
            </a:r>
            <a:r>
              <a:rPr lang="he-IL" dirty="0"/>
              <a:t> (16 ביט)  שערכו 4 וכן מערך של 5  מילים  המאותחל בערכים </a:t>
            </a:r>
            <a:r>
              <a:rPr lang="en-US" dirty="0" err="1"/>
              <a:t>AAAAh</a:t>
            </a:r>
            <a:r>
              <a:rPr lang="he-IL" dirty="0"/>
              <a:t> כל אחת. </a:t>
            </a:r>
          </a:p>
          <a:p>
            <a:r>
              <a:rPr lang="he-IL" dirty="0"/>
              <a:t>התכנית תדרוס את המערך כך שהערך הראשון שלו יהיה </a:t>
            </a:r>
            <a:r>
              <a:rPr lang="en-US" dirty="0"/>
              <a:t>start </a:t>
            </a:r>
            <a:r>
              <a:rPr lang="he-IL" dirty="0"/>
              <a:t> (כלומר 4) , וכל איבר החל מהמקום השני ואילך יקיים את </a:t>
            </a:r>
            <a:r>
              <a:rPr lang="he-IL" dirty="0" err="1"/>
              <a:t>הנוסחא</a:t>
            </a:r>
            <a:r>
              <a:rPr lang="he-IL" dirty="0"/>
              <a:t> :</a:t>
            </a:r>
            <a:r>
              <a:rPr lang="en-US" dirty="0"/>
              <a:t> An=2An-</a:t>
            </a:r>
            <a:r>
              <a:rPr lang="en-US" sz="1800" dirty="0"/>
              <a:t>1</a:t>
            </a:r>
            <a:r>
              <a:rPr lang="en-US" dirty="0"/>
              <a:t>+1</a:t>
            </a:r>
            <a:r>
              <a:rPr lang="he-IL" dirty="0"/>
              <a:t>כך שתיווצר הסדרה הבאה:</a:t>
            </a:r>
          </a:p>
          <a:p>
            <a:pPr algn="l" rtl="0"/>
            <a:r>
              <a:rPr lang="en-US" dirty="0"/>
              <a:t>4, 9, 19, 39, 79                  (</a:t>
            </a:r>
            <a:r>
              <a:rPr lang="he-IL" dirty="0"/>
              <a:t>כל הערכים בבסיס עשרוני</a:t>
            </a:r>
            <a:r>
              <a:rPr lang="en-US" dirty="0"/>
              <a:t>)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12144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תיאור </a:t>
            </a:r>
            <a:r>
              <a:rPr lang="he-IL" dirty="0" err="1"/>
              <a:t>התכנית</a:t>
            </a:r>
            <a:r>
              <a:rPr lang="he-IL" dirty="0"/>
              <a:t> - </a:t>
            </a:r>
            <a:r>
              <a:rPr lang="en-US" dirty="0"/>
              <a:t>array2</a:t>
            </a:r>
            <a:r>
              <a:rPr lang="he-IL" dirty="0"/>
              <a:t> 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15</a:t>
            </a:fld>
            <a:endParaRPr lang="he-IL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7752" y="2557463"/>
            <a:ext cx="6336792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60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הסבר לתכנית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היות ותוכן כל תא במערך הוא </a:t>
            </a:r>
            <a:r>
              <a:rPr lang="en-US" dirty="0"/>
              <a:t>word</a:t>
            </a:r>
            <a:r>
              <a:rPr lang="he-IL" dirty="0"/>
              <a:t> אזי הקידום מתא לתא כרוך בקידום של שתי כתובות, וזאת משום שכל כתובת מכילה </a:t>
            </a:r>
            <a:r>
              <a:rPr lang="en-US" dirty="0"/>
              <a:t>byte</a:t>
            </a:r>
            <a:r>
              <a:rPr lang="he-IL" dirty="0"/>
              <a:t> אחד בעוד ש </a:t>
            </a:r>
            <a:r>
              <a:rPr lang="en-US" dirty="0"/>
              <a:t>word</a:t>
            </a:r>
            <a:r>
              <a:rPr lang="he-IL" dirty="0"/>
              <a:t> מכיל שני </a:t>
            </a:r>
            <a:r>
              <a:rPr lang="en-US" dirty="0"/>
              <a:t>bytes</a:t>
            </a:r>
            <a:r>
              <a:rPr lang="he-IL" dirty="0"/>
              <a:t> </a:t>
            </a:r>
          </a:p>
          <a:p>
            <a:r>
              <a:rPr lang="he-IL" dirty="0"/>
              <a:t>התכנית : מעבירים תחילה את כתובת המערך אל אוגר </a:t>
            </a:r>
            <a:r>
              <a:rPr lang="en-US" dirty="0" err="1"/>
              <a:t>rdi</a:t>
            </a:r>
            <a:r>
              <a:rPr lang="he-IL" dirty="0"/>
              <a:t>. לאחר מכן  מעבירים את תוכן הערך ההתחלתי  </a:t>
            </a:r>
            <a:r>
              <a:rPr lang="en-US" dirty="0"/>
              <a:t>start</a:t>
            </a:r>
            <a:r>
              <a:rPr lang="he-IL" dirty="0"/>
              <a:t> אל אוגר</a:t>
            </a:r>
            <a:r>
              <a:rPr lang="en-US" dirty="0"/>
              <a:t>ax  </a:t>
            </a:r>
            <a:r>
              <a:rPr lang="he-IL" dirty="0"/>
              <a:t>.</a:t>
            </a:r>
          </a:p>
          <a:p>
            <a:r>
              <a:rPr lang="he-IL" dirty="0"/>
              <a:t>בשלב הראשון של התכנית, תוכנו של </a:t>
            </a:r>
            <a:r>
              <a:rPr lang="en-US" dirty="0"/>
              <a:t>ax</a:t>
            </a:r>
            <a:r>
              <a:rPr lang="he-IL" dirty="0"/>
              <a:t> עובר אל המערך ודורס את התוכן הנוכחי של התא הראשון.</a:t>
            </a:r>
          </a:p>
          <a:p>
            <a:r>
              <a:rPr lang="he-IL" dirty="0"/>
              <a:t>בהמשך ,  כדי לבצע את הכפל פי 2 , מזיזים את תוכן אוגר </a:t>
            </a:r>
            <a:r>
              <a:rPr lang="en-US" dirty="0"/>
              <a:t>AX</a:t>
            </a:r>
            <a:r>
              <a:rPr lang="he-IL" dirty="0"/>
              <a:t> שמאלה פעם אחת, מוסיפים לתוכן 1 ע"י </a:t>
            </a:r>
            <a:r>
              <a:rPr lang="en-US" dirty="0" err="1"/>
              <a:t>inc</a:t>
            </a:r>
            <a:r>
              <a:rPr lang="he-IL" dirty="0"/>
              <a:t> ולאחר מכן שוב מבצעים דריסה של תוכן הזיכרון 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16</a:t>
            </a:fld>
            <a:endParaRPr lang="he-IL"/>
          </a:p>
        </p:txBody>
      </p:sp>
      <p:pic>
        <p:nvPicPr>
          <p:cNvPr id="5" name="מציין מיקום תוכן 5">
            <a:extLst>
              <a:ext uri="{FF2B5EF4-FFF2-40B4-BE49-F238E27FC236}">
                <a16:creationId xmlns:a16="http://schemas.microsoft.com/office/drawing/2014/main" id="{13A10BD0-C7B4-4D7D-BC2F-0CFE8A682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77" y="176214"/>
            <a:ext cx="1958875" cy="238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784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מערכים ומשתנים לא מאותחלים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כאשר עובדים עם מערכים  ומשתנים לא מאותחלים , יש להקצות עבורם </a:t>
            </a:r>
            <a:r>
              <a:rPr lang="en-US" dirty="0"/>
              <a:t>section</a:t>
            </a:r>
            <a:r>
              <a:rPr lang="he-IL" dirty="0"/>
              <a:t> מיוחד בשם </a:t>
            </a:r>
            <a:r>
              <a:rPr lang="en-US" dirty="0"/>
              <a:t>.</a:t>
            </a:r>
            <a:r>
              <a:rPr lang="en-US" dirty="0" err="1"/>
              <a:t>bss</a:t>
            </a:r>
            <a:r>
              <a:rPr lang="he-IL" dirty="0"/>
              <a:t>  או אז האסמבלר לא מקצה עבורם בתים במהלך ההרצה. </a:t>
            </a:r>
          </a:p>
          <a:p>
            <a:r>
              <a:rPr lang="he-IL" dirty="0"/>
              <a:t>עבור משתנים מאותחלים אסמבלר מקצה עבורם בתים ומשאבים במהלך ההרצה. </a:t>
            </a:r>
          </a:p>
          <a:p>
            <a:r>
              <a:rPr lang="he-IL" dirty="0"/>
              <a:t>במקום הקצאת בתים, אסמבלר שומרת מקום בזיכרון ומערכת ההפעלה מאפסת את התוכן. </a:t>
            </a:r>
          </a:p>
          <a:p>
            <a:r>
              <a:rPr lang="he-IL" dirty="0"/>
              <a:t>נהוג לעבוד באופן זה עם מערכים גדולים אשר מכילים כמויות גדולות של נתונים (חיסכון במקום בזיכרון) </a:t>
            </a:r>
          </a:p>
          <a:p>
            <a:r>
              <a:rPr lang="he-IL" dirty="0"/>
              <a:t>מסיבה זו גם הגדרת הטיפוסים משתנה 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3814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הגדרת טיפוסי נתונים במערכים לא מאותחלים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מאחר ואסמבלר שומרת רזרבה עבור כל משתנה אזי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dirty="0" err="1"/>
              <a:t>resb</a:t>
            </a:r>
            <a:r>
              <a:rPr lang="en-US" dirty="0"/>
              <a:t>  1 – </a:t>
            </a:r>
            <a:r>
              <a:rPr lang="en-US" dirty="0" err="1"/>
              <a:t>reseve</a:t>
            </a:r>
            <a:r>
              <a:rPr lang="en-US" dirty="0"/>
              <a:t> byte (8 bit) </a:t>
            </a:r>
          </a:p>
          <a:p>
            <a:pPr algn="l" rtl="0"/>
            <a:r>
              <a:rPr lang="en-US" dirty="0" err="1"/>
              <a:t>resb</a:t>
            </a:r>
            <a:r>
              <a:rPr lang="en-US" dirty="0"/>
              <a:t> 8   - reserve  8 bytes </a:t>
            </a:r>
          </a:p>
          <a:p>
            <a:pPr algn="l" rtl="0"/>
            <a:r>
              <a:rPr lang="en-US" dirty="0" err="1"/>
              <a:t>resb</a:t>
            </a:r>
            <a:r>
              <a:rPr lang="en-US" dirty="0"/>
              <a:t> 64 – reserve 64 bytes</a:t>
            </a:r>
          </a:p>
          <a:p>
            <a:pPr algn="r"/>
            <a:r>
              <a:rPr lang="he-IL" dirty="0"/>
              <a:t>דרך אחרת היא לרשום : </a:t>
            </a:r>
          </a:p>
          <a:p>
            <a:pPr marL="0" indent="0" algn="l" rtl="0">
              <a:buNone/>
            </a:pPr>
            <a:r>
              <a:rPr lang="en-US" dirty="0"/>
              <a:t> </a:t>
            </a:r>
            <a:r>
              <a:rPr lang="en-US" dirty="0" err="1"/>
              <a:t>resb</a:t>
            </a:r>
            <a:r>
              <a:rPr lang="en-US" dirty="0"/>
              <a:t> = byte , </a:t>
            </a:r>
            <a:r>
              <a:rPr lang="en-US" dirty="0" err="1"/>
              <a:t>resw</a:t>
            </a:r>
            <a:r>
              <a:rPr lang="en-US" dirty="0"/>
              <a:t>=word , </a:t>
            </a:r>
            <a:r>
              <a:rPr lang="en-US" dirty="0" err="1"/>
              <a:t>resd</a:t>
            </a:r>
            <a:r>
              <a:rPr lang="en-US" dirty="0"/>
              <a:t> =</a:t>
            </a:r>
            <a:r>
              <a:rPr lang="en-US" dirty="0" err="1"/>
              <a:t>dword</a:t>
            </a:r>
            <a:r>
              <a:rPr lang="en-US" dirty="0"/>
              <a:t> </a:t>
            </a:r>
            <a:r>
              <a:rPr lang="en-US" dirty="0" err="1"/>
              <a:t>resq</a:t>
            </a:r>
            <a:r>
              <a:rPr lang="en-US" dirty="0"/>
              <a:t> = quad word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4820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תוכנית </a:t>
            </a:r>
            <a:r>
              <a:rPr lang="en-US" dirty="0" err="1"/>
              <a:t>numneg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כתוב תכנית אשר מאתחלת מערך בתכנים שונים מטיפוס </a:t>
            </a:r>
            <a:r>
              <a:rPr lang="en-US" dirty="0"/>
              <a:t>word</a:t>
            </a:r>
            <a:r>
              <a:rPr lang="he-IL" dirty="0"/>
              <a:t> , מחשבת את כמות הערכים אשר עבורם ה </a:t>
            </a:r>
            <a:r>
              <a:rPr lang="en-US" dirty="0" err="1"/>
              <a:t>msb</a:t>
            </a:r>
            <a:r>
              <a:rPr lang="en-US" dirty="0"/>
              <a:t>=1 </a:t>
            </a:r>
            <a:r>
              <a:rPr lang="he-IL" dirty="0"/>
              <a:t> ומאחסנת את כמותם במשתנה </a:t>
            </a:r>
            <a:r>
              <a:rPr lang="en-US" dirty="0"/>
              <a:t>count</a:t>
            </a:r>
            <a:r>
              <a:rPr lang="he-IL" dirty="0"/>
              <a:t> המאותחל לאפס.</a:t>
            </a:r>
          </a:p>
          <a:p>
            <a:r>
              <a:rPr lang="he-IL" dirty="0"/>
              <a:t>התכנית מאתחלת מערך בן 10 ערכים בבסיס 16, ובודקת כל ערך במערך אם שלילי ע"י ביצוע </a:t>
            </a:r>
            <a:r>
              <a:rPr lang="en-US" dirty="0"/>
              <a:t>and </a:t>
            </a:r>
            <a:r>
              <a:rPr lang="he-IL" dirty="0"/>
              <a:t> עם </a:t>
            </a:r>
            <a:r>
              <a:rPr lang="en-US" dirty="0"/>
              <a:t>8000h</a:t>
            </a:r>
            <a:r>
              <a:rPr lang="he-IL" dirty="0"/>
              <a:t> וזאת כדי לבדוק אם </a:t>
            </a:r>
            <a:r>
              <a:rPr lang="en-US" dirty="0"/>
              <a:t>MSB=1</a:t>
            </a:r>
            <a:r>
              <a:rPr lang="he-IL" dirty="0"/>
              <a:t> </a:t>
            </a:r>
          </a:p>
          <a:p>
            <a:r>
              <a:rPr lang="he-IL" dirty="0"/>
              <a:t>תוך כדי לולאה מקדמים מונה </a:t>
            </a:r>
            <a:r>
              <a:rPr lang="en-US" dirty="0" err="1"/>
              <a:t>rbx</a:t>
            </a:r>
            <a:r>
              <a:rPr lang="he-IL" dirty="0"/>
              <a:t> ובסופו של תהליך מאחסנים את החלק התחתון שלו ב </a:t>
            </a:r>
            <a:r>
              <a:rPr lang="en-US" dirty="0"/>
              <a:t>count</a:t>
            </a:r>
            <a:r>
              <a:rPr lang="he-IL" dirty="0"/>
              <a:t> 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2261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התכנית 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20</a:t>
            </a:fld>
            <a:endParaRPr lang="he-IL"/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157BBF5-1E08-B9E5-4C9D-07018A2F3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74504F9F-60EE-FA52-7E88-67879B013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88" y="2380751"/>
            <a:ext cx="10523621" cy="372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30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הסבר לתכנית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בתחילה מגדירים משתנה גלובלי </a:t>
            </a:r>
            <a:r>
              <a:rPr lang="en-US" dirty="0"/>
              <a:t>n</a:t>
            </a:r>
            <a:r>
              <a:rPr lang="he-IL" dirty="0"/>
              <a:t> אשר מכיל את כמות הערכים במערך.</a:t>
            </a:r>
          </a:p>
          <a:p>
            <a:r>
              <a:rPr lang="he-IL" dirty="0"/>
              <a:t>לאחר ביצוע </a:t>
            </a:r>
            <a:r>
              <a:rPr lang="en-US" dirty="0"/>
              <a:t>lea</a:t>
            </a:r>
            <a:r>
              <a:rPr lang="he-IL" dirty="0"/>
              <a:t> לכתובת של המערך , כל ערך במערך נבדק ע"י מסיכה של -</a:t>
            </a:r>
          </a:p>
          <a:p>
            <a:r>
              <a:rPr lang="en-US" dirty="0"/>
              <a:t>and ax . 8000h</a:t>
            </a:r>
            <a:r>
              <a:rPr lang="he-IL" dirty="0"/>
              <a:t> וזאת על </a:t>
            </a:r>
            <a:r>
              <a:rPr lang="en-US" dirty="0"/>
              <a:t> </a:t>
            </a:r>
            <a:r>
              <a:rPr lang="he-IL" dirty="0"/>
              <a:t>מנת לבדוק אם ביט הסימן דולק :</a:t>
            </a:r>
          </a:p>
          <a:p>
            <a:r>
              <a:rPr lang="he-IL" dirty="0"/>
              <a:t> במידה ודולק – יש לקדם את </a:t>
            </a:r>
            <a:r>
              <a:rPr lang="en-US" dirty="0" err="1"/>
              <a:t>rbx</a:t>
            </a:r>
            <a:r>
              <a:rPr lang="he-IL" dirty="0"/>
              <a:t>: אוגר זה משמש כמונה שליליים במערך.</a:t>
            </a:r>
          </a:p>
          <a:p>
            <a:r>
              <a:rPr lang="he-IL" dirty="0"/>
              <a:t>בסיום התכנית , תוכן המונה מועבר אל כתובתו של המשתנה אשר מאחסן את מספר השליליים.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21</a:t>
            </a:fld>
            <a:endParaRPr lang="he-IL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80406970-46CB-BF54-D503-4B623D8DE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24" y="107369"/>
            <a:ext cx="2571277" cy="305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54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מעקב אחר תוכן משתנה לא מאותחל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במקרה שלנו , המשתנה </a:t>
            </a:r>
            <a:r>
              <a:rPr lang="en-US" dirty="0"/>
              <a:t>count   </a:t>
            </a:r>
            <a:r>
              <a:rPr lang="he-IL" dirty="0"/>
              <a:t>   אינו מאותחל ונרצה לוודא כי בסיום התכנית יקבל את הערך של מספר הערכים במערך אשר סיבית ה </a:t>
            </a:r>
            <a:r>
              <a:rPr lang="en-US" dirty="0"/>
              <a:t>MSB</a:t>
            </a:r>
            <a:r>
              <a:rPr lang="he-IL" dirty="0"/>
              <a:t> שלהם דלוקה. </a:t>
            </a:r>
          </a:p>
          <a:p>
            <a:r>
              <a:rPr lang="he-IL" dirty="0"/>
              <a:t>כמובן שברוב המכריע של הרצת התכנית תוכנו של </a:t>
            </a:r>
            <a:r>
              <a:rPr lang="en-US" dirty="0"/>
              <a:t>count</a:t>
            </a:r>
            <a:r>
              <a:rPr lang="he-IL" dirty="0"/>
              <a:t> לא יתעדכן </a:t>
            </a:r>
          </a:p>
          <a:p>
            <a:r>
              <a:rPr lang="he-IL" dirty="0"/>
              <a:t>לשם כך יש לבצע את הצעדים הבאים – הרצה + מעקב :</a:t>
            </a:r>
            <a:r>
              <a:rPr lang="en-US" dirty="0"/>
              <a:t>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75202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מעקב אחר תוכן משתנה לא מאותחל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834605" y="2650064"/>
            <a:ext cx="10522789" cy="3318936"/>
          </a:xfrm>
        </p:spPr>
        <p:txBody>
          <a:bodyPr>
            <a:normAutofit fontScale="92500" lnSpcReduction="10000"/>
          </a:bodyPr>
          <a:lstStyle/>
          <a:p>
            <a:pPr algn="l" rtl="0"/>
            <a:r>
              <a:rPr lang="en-US" dirty="0"/>
              <a:t>1. </a:t>
            </a:r>
            <a:r>
              <a:rPr lang="en-US" dirty="0" err="1"/>
              <a:t>nasm</a:t>
            </a:r>
            <a:r>
              <a:rPr lang="en-US" dirty="0"/>
              <a:t> –f elf64 –g –F  dwarf numneg.asm –o </a:t>
            </a:r>
            <a:r>
              <a:rPr lang="en-US" dirty="0" err="1"/>
              <a:t>numneg.o</a:t>
            </a:r>
            <a:r>
              <a:rPr lang="en-US" dirty="0"/>
              <a:t>        ; gives more Debug info</a:t>
            </a:r>
          </a:p>
          <a:p>
            <a:pPr algn="l" rtl="0"/>
            <a:r>
              <a:rPr lang="en-US" dirty="0"/>
              <a:t>2. </a:t>
            </a:r>
            <a:r>
              <a:rPr lang="en-US" dirty="0" err="1"/>
              <a:t>gcc</a:t>
            </a:r>
            <a:r>
              <a:rPr lang="en-US" dirty="0"/>
              <a:t> –no-pie –g  </a:t>
            </a:r>
            <a:r>
              <a:rPr lang="en-US" dirty="0" err="1"/>
              <a:t>numneg.o</a:t>
            </a:r>
            <a:r>
              <a:rPr lang="en-US" dirty="0"/>
              <a:t> –o </a:t>
            </a:r>
            <a:r>
              <a:rPr lang="en-US" dirty="0" err="1"/>
              <a:t>numneg</a:t>
            </a:r>
            <a:r>
              <a:rPr lang="en-US" dirty="0"/>
              <a:t>     ; -no-pie because we use memory, –g for Debug </a:t>
            </a:r>
          </a:p>
          <a:p>
            <a:pPr algn="l" rtl="0"/>
            <a:r>
              <a:rPr lang="en-US" dirty="0"/>
              <a:t>3. </a:t>
            </a:r>
            <a:r>
              <a:rPr lang="en-US" dirty="0" err="1"/>
              <a:t>gdb</a:t>
            </a:r>
            <a:r>
              <a:rPr lang="en-US" dirty="0"/>
              <a:t> ./</a:t>
            </a:r>
            <a:r>
              <a:rPr lang="en-US" dirty="0" err="1"/>
              <a:t>numneg</a:t>
            </a:r>
            <a:endParaRPr lang="en-US" dirty="0"/>
          </a:p>
          <a:p>
            <a:pPr algn="l" rtl="0"/>
            <a:r>
              <a:rPr lang="en-US" dirty="0"/>
              <a:t>4. break main + run</a:t>
            </a:r>
          </a:p>
          <a:p>
            <a:pPr algn="l" rtl="0"/>
            <a:r>
              <a:rPr lang="en-US" dirty="0"/>
              <a:t>5. display /x &amp;count   ; shows the address – but we need the content</a:t>
            </a:r>
          </a:p>
          <a:p>
            <a:pPr algn="l" rtl="0"/>
            <a:r>
              <a:rPr lang="en-US" dirty="0"/>
              <a:t>6. display /</a:t>
            </a:r>
            <a:r>
              <a:rPr lang="en-US" dirty="0" err="1"/>
              <a:t>xb</a:t>
            </a:r>
            <a:r>
              <a:rPr lang="en-US" dirty="0"/>
              <a:t> &amp;count ; shows the  value of count</a:t>
            </a:r>
          </a:p>
          <a:p>
            <a:pPr algn="l" rtl="0"/>
            <a:r>
              <a:rPr lang="en-US" dirty="0"/>
              <a:t>7. </a:t>
            </a:r>
            <a:r>
              <a:rPr lang="en-US" dirty="0" err="1"/>
              <a:t>si</a:t>
            </a:r>
            <a:endParaRPr lang="en-US" dirty="0"/>
          </a:p>
          <a:p>
            <a:pPr algn="l" rtl="0"/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2485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השערת </a:t>
            </a:r>
            <a:r>
              <a:rPr lang="en-US" dirty="0"/>
              <a:t>Collatz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השערת </a:t>
            </a:r>
            <a:r>
              <a:rPr lang="he-IL" dirty="0" err="1"/>
              <a:t>קולאץ</a:t>
            </a:r>
            <a:r>
              <a:rPr lang="he-IL" dirty="0"/>
              <a:t> מתחילה ממספר כלשהו: </a:t>
            </a:r>
          </a:p>
          <a:p>
            <a:r>
              <a:rPr lang="he-IL" dirty="0"/>
              <a:t>אם המספר זוגי – היא מחלקת אותו ב 2</a:t>
            </a:r>
          </a:p>
          <a:p>
            <a:r>
              <a:rPr lang="he-IL" dirty="0"/>
              <a:t>במידה ואי זוגי – כופלת אותו ב 3 ומוסיפה למכפלה 1. </a:t>
            </a:r>
          </a:p>
          <a:p>
            <a:r>
              <a:rPr lang="he-IL" dirty="0"/>
              <a:t>דוגמא – נתחיל מהערך 7</a:t>
            </a:r>
            <a:r>
              <a:rPr lang="en-US" dirty="0"/>
              <a:t> : </a:t>
            </a:r>
          </a:p>
          <a:p>
            <a:pPr algn="l" rtl="0"/>
            <a:r>
              <a:rPr lang="en-US" dirty="0"/>
              <a:t>7 </a:t>
            </a:r>
            <a:r>
              <a:rPr lang="en-US" dirty="0">
                <a:sym typeface="Wingdings" panose="05000000000000000000" pitchFamily="2" charset="2"/>
              </a:rPr>
              <a:t> 22  11 34 17 5226134020105  168421 </a:t>
            </a:r>
          </a:p>
          <a:p>
            <a:pPr algn="r"/>
            <a:r>
              <a:rPr lang="he-IL" dirty="0">
                <a:sym typeface="Wingdings" panose="05000000000000000000" pitchFamily="2" charset="2"/>
              </a:rPr>
              <a:t>ההשערה טוענת ללא הוכחה כי כל תהליך כזה אשר יחל מכל ערך טבעי יגיע לסיומו עם 1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9177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295401" y="646642"/>
            <a:ext cx="9601196" cy="1303867"/>
          </a:xfrm>
        </p:spPr>
        <p:txBody>
          <a:bodyPr/>
          <a:lstStyle/>
          <a:p>
            <a:r>
              <a:rPr lang="he-IL" dirty="0"/>
              <a:t>תכנית </a:t>
            </a:r>
            <a:r>
              <a:rPr lang="en-US" dirty="0"/>
              <a:t>Collatz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25</a:t>
            </a:fld>
            <a:endParaRPr lang="he-IL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58347A80-01B9-FB69-4620-586061FAC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786" y="1746121"/>
            <a:ext cx="7382426" cy="442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137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מהלך התכנית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1. מאתחלים משתנה התחלתי </a:t>
            </a:r>
            <a:r>
              <a:rPr lang="en-US" dirty="0" err="1"/>
              <a:t>start_value</a:t>
            </a:r>
            <a:r>
              <a:rPr lang="he-IL" dirty="0"/>
              <a:t> עם ערך של 7  </a:t>
            </a:r>
          </a:p>
          <a:p>
            <a:r>
              <a:rPr lang="he-IL" dirty="0"/>
              <a:t>2. באזור הלא מאותחל, מגדירים מערך </a:t>
            </a:r>
            <a:r>
              <a:rPr lang="en-US" dirty="0" err="1"/>
              <a:t>seq</a:t>
            </a:r>
            <a:r>
              <a:rPr lang="en-US" dirty="0"/>
              <a:t> </a:t>
            </a:r>
            <a:r>
              <a:rPr lang="he-IL" dirty="0"/>
              <a:t>  שבו יאוחסנו אברי הסדרה וכן משתנה </a:t>
            </a:r>
            <a:r>
              <a:rPr lang="en-US" dirty="0"/>
              <a:t>count</a:t>
            </a:r>
            <a:r>
              <a:rPr lang="he-IL" dirty="0"/>
              <a:t> על מנת לאחסן בתוכו את מספר אברי המערך העתידיים.</a:t>
            </a:r>
          </a:p>
          <a:p>
            <a:r>
              <a:rPr lang="he-IL" dirty="0"/>
              <a:t>3.  טרם הלולאה , מעבירים אל</a:t>
            </a:r>
            <a:r>
              <a:rPr lang="en-US" dirty="0" err="1"/>
              <a:t>rax</a:t>
            </a:r>
            <a:r>
              <a:rPr lang="en-US" dirty="0"/>
              <a:t> </a:t>
            </a:r>
            <a:r>
              <a:rPr lang="he-IL" dirty="0"/>
              <a:t> את הערך ההתחלתי – 7 וכן אל אוגר </a:t>
            </a:r>
            <a:r>
              <a:rPr lang="en-US" dirty="0" err="1"/>
              <a:t>rdi</a:t>
            </a:r>
            <a:r>
              <a:rPr lang="he-IL" dirty="0"/>
              <a:t> את הכתובת של המערך </a:t>
            </a:r>
            <a:r>
              <a:rPr lang="en-US" dirty="0" err="1"/>
              <a:t>seq</a:t>
            </a:r>
            <a:r>
              <a:rPr lang="he-IL" dirty="0"/>
              <a:t>.</a:t>
            </a:r>
          </a:p>
          <a:p>
            <a:r>
              <a:rPr lang="he-IL" dirty="0"/>
              <a:t>4. היות ומדובר במערך של </a:t>
            </a:r>
            <a:r>
              <a:rPr lang="en-US" dirty="0"/>
              <a:t>quad</a:t>
            </a:r>
            <a:r>
              <a:rPr lang="he-IL" dirty="0"/>
              <a:t> מעלים את ערך הכתובת ב 8 כדי להתקדם מכתובת לכתובת, ואם הגענו לסוף עוברים ל</a:t>
            </a:r>
            <a:r>
              <a:rPr lang="en-US" dirty="0"/>
              <a:t>done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26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BAC3775-04AA-B7F8-0A45-306BF02CF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64" y="190826"/>
            <a:ext cx="3372321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782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מהלך התכנית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dirty="0"/>
              <a:t>5.  בודקים זוגיות של הערך הנבדק ע"י פקודת </a:t>
            </a:r>
            <a:r>
              <a:rPr lang="en-US" dirty="0"/>
              <a:t>test</a:t>
            </a:r>
            <a:r>
              <a:rPr lang="he-IL" dirty="0"/>
              <a:t>, שהיא גרסה לא הרסנית של </a:t>
            </a:r>
            <a:r>
              <a:rPr lang="en-US" dirty="0"/>
              <a:t>and</a:t>
            </a:r>
            <a:endParaRPr lang="he-IL" dirty="0"/>
          </a:p>
          <a:p>
            <a:r>
              <a:rPr lang="he-IL" dirty="0"/>
              <a:t>6. אם זוגי עובר חלוקה ב 2 ע"י הזזה של מקום אחד ימינה</a:t>
            </a:r>
          </a:p>
          <a:p>
            <a:r>
              <a:rPr lang="he-IL" dirty="0"/>
              <a:t>7. אם אי זוגי  - משתמשים באוגר </a:t>
            </a:r>
            <a:r>
              <a:rPr lang="en-US" dirty="0" err="1"/>
              <a:t>rbx</a:t>
            </a:r>
            <a:r>
              <a:rPr lang="he-IL" dirty="0"/>
              <a:t> כאוגר עזר , מזיזים את הערך של </a:t>
            </a:r>
            <a:r>
              <a:rPr lang="en-US" dirty="0" err="1"/>
              <a:t>rax</a:t>
            </a:r>
            <a:r>
              <a:rPr lang="he-IL" dirty="0"/>
              <a:t> שמאלה (כופלים אותו פי 2) , לאחר מכן מחברים לו את </a:t>
            </a:r>
            <a:r>
              <a:rPr lang="en-US" dirty="0" err="1"/>
              <a:t>rbx</a:t>
            </a:r>
            <a:r>
              <a:rPr lang="he-IL" dirty="0"/>
              <a:t>. ע"י כך מבצעים כפל של תוכן הערך הנידון פי 3.  בשלב האחרון מוסיפים לתוצאה 1 </a:t>
            </a:r>
          </a:p>
          <a:p>
            <a:r>
              <a:rPr lang="he-IL" dirty="0"/>
              <a:t>8. לאורך כל התכנית , אוגר </a:t>
            </a:r>
            <a:r>
              <a:rPr lang="en-US" dirty="0" err="1"/>
              <a:t>rcx</a:t>
            </a:r>
            <a:r>
              <a:rPr lang="he-IL" dirty="0"/>
              <a:t> מקודם ב 1 בכל שלב בלולאה וזאת כדי למנות את מספר האיברים בסדרה. </a:t>
            </a:r>
          </a:p>
          <a:p>
            <a:r>
              <a:rPr lang="he-IL" dirty="0"/>
              <a:t>9. כמו כן , כל ערך מחושב חדש נשמר בכתובת של מערך </a:t>
            </a:r>
            <a:r>
              <a:rPr lang="en-US" dirty="0" err="1"/>
              <a:t>seq</a:t>
            </a:r>
            <a:r>
              <a:rPr lang="he-IL" dirty="0"/>
              <a:t> 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27</a:t>
            </a:fld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E9F9BFB-ACB6-1AE3-C337-C7A8ACF25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64" y="215703"/>
            <a:ext cx="2419350" cy="283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74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הרצה + מעקב אחר המערך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1. </a:t>
            </a:r>
            <a:r>
              <a:rPr lang="en-US" dirty="0" err="1"/>
              <a:t>nasm</a:t>
            </a:r>
            <a:r>
              <a:rPr lang="en-US" dirty="0"/>
              <a:t> –f elf64 –g –F dwarf collatz.asm –o </a:t>
            </a:r>
            <a:r>
              <a:rPr lang="en-US" dirty="0" err="1"/>
              <a:t>collatz.o</a:t>
            </a:r>
            <a:endParaRPr lang="en-US" dirty="0"/>
          </a:p>
          <a:p>
            <a:pPr algn="l" rtl="0"/>
            <a:r>
              <a:rPr lang="en-US" dirty="0"/>
              <a:t>2. </a:t>
            </a:r>
            <a:r>
              <a:rPr lang="en-US" dirty="0" err="1"/>
              <a:t>gcc</a:t>
            </a:r>
            <a:r>
              <a:rPr lang="en-US" dirty="0"/>
              <a:t> –no-pie –g </a:t>
            </a:r>
            <a:r>
              <a:rPr lang="en-US" dirty="0" err="1"/>
              <a:t>collatz.o</a:t>
            </a:r>
            <a:r>
              <a:rPr lang="en-US" dirty="0"/>
              <a:t> –o </a:t>
            </a:r>
            <a:r>
              <a:rPr lang="en-US" dirty="0" err="1"/>
              <a:t>collatz</a:t>
            </a:r>
            <a:endParaRPr lang="en-US" dirty="0"/>
          </a:p>
          <a:p>
            <a:pPr algn="l" rtl="0"/>
            <a:r>
              <a:rPr lang="en-US" dirty="0"/>
              <a:t>3. </a:t>
            </a:r>
            <a:r>
              <a:rPr lang="en-US" dirty="0" err="1"/>
              <a:t>gdb</a:t>
            </a:r>
            <a:r>
              <a:rPr lang="en-US" dirty="0"/>
              <a:t> ./</a:t>
            </a:r>
            <a:r>
              <a:rPr lang="en-US" dirty="0" err="1"/>
              <a:t>collatz</a:t>
            </a:r>
            <a:endParaRPr lang="en-US" dirty="0"/>
          </a:p>
          <a:p>
            <a:pPr algn="l" rtl="0"/>
            <a:r>
              <a:rPr lang="en-US" dirty="0"/>
              <a:t>4. display /20g &amp;seq </a:t>
            </a:r>
          </a:p>
          <a:p>
            <a:pPr algn="l" rtl="0"/>
            <a:r>
              <a:rPr lang="en-US" dirty="0"/>
              <a:t>5. </a:t>
            </a:r>
            <a:r>
              <a:rPr lang="en-US" dirty="0" err="1"/>
              <a:t>si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60521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ורגני">
  <a:themeElements>
    <a:clrScheme name="אורגני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אורגני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אורגני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2986</TotalTime>
  <Words>1642</Words>
  <Application>Microsoft Office PowerPoint</Application>
  <PresentationFormat>מסך רחב</PresentationFormat>
  <Paragraphs>156</Paragraphs>
  <Slides>28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28</vt:i4>
      </vt:variant>
    </vt:vector>
  </HeadingPairs>
  <TitlesOfParts>
    <vt:vector size="33" baseType="lpstr">
      <vt:lpstr>Arial</vt:lpstr>
      <vt:lpstr>Calibri</vt:lpstr>
      <vt:lpstr>Garamond</vt:lpstr>
      <vt:lpstr>Wingdings</vt:lpstr>
      <vt:lpstr>אורגני</vt:lpstr>
      <vt:lpstr>תרגול שלישי  מערכי זיכרון </vt:lpstr>
      <vt:lpstr>חילוק ע"י כפל בהופכי (divbymul.asm)</vt:lpstr>
      <vt:lpstr>התכנית - divbymul </vt:lpstr>
      <vt:lpstr>מערכים מאותחלים</vt:lpstr>
      <vt:lpstr>מערכים מאותחלים המשך </vt:lpstr>
      <vt:lpstr>דוגמא 1 - array1</vt:lpstr>
      <vt:lpstr>שינוי קטנטן בהרצת התכנית </vt:lpstr>
      <vt:lpstr>הצגת תוכן הזיכרון </vt:lpstr>
      <vt:lpstr>הערה</vt:lpstr>
      <vt:lpstr>קובץ התכנית - array1 </vt:lpstr>
      <vt:lpstr>אופן ביצוע התכנית</vt:lpstr>
      <vt:lpstr>המשך </vt:lpstr>
      <vt:lpstr>שלבי הלולאה העיקרית</vt:lpstr>
      <vt:lpstr>דוגמא 2 – array2 </vt:lpstr>
      <vt:lpstr>תיאור התכנית - array2 </vt:lpstr>
      <vt:lpstr>הסבר לתכנית</vt:lpstr>
      <vt:lpstr>מערכים ומשתנים לא מאותחלים </vt:lpstr>
      <vt:lpstr>הגדרת טיפוסי נתונים במערכים לא מאותחלים</vt:lpstr>
      <vt:lpstr>תוכנית numneg</vt:lpstr>
      <vt:lpstr>התכנית </vt:lpstr>
      <vt:lpstr>הסבר לתכנית</vt:lpstr>
      <vt:lpstr>מעקב אחר תוכן משתנה לא מאותחל</vt:lpstr>
      <vt:lpstr>מעקב אחר תוכן משתנה לא מאותחל</vt:lpstr>
      <vt:lpstr>השערת Collatz </vt:lpstr>
      <vt:lpstr>תכנית Collatz</vt:lpstr>
      <vt:lpstr>מהלך התכנית</vt:lpstr>
      <vt:lpstr>מהלך התכנית</vt:lpstr>
      <vt:lpstr>הרצה + מעקב אחר המערך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תרגול שלישי  מערכי זיכרון</dc:title>
  <dc:creator>אורן אליעזר</dc:creator>
  <cp:lastModifiedBy>אריאל ברוך ביתן</cp:lastModifiedBy>
  <cp:revision>40</cp:revision>
  <cp:lastPrinted>2026-03-06T09:59:14Z</cp:lastPrinted>
  <dcterms:created xsi:type="dcterms:W3CDTF">2026-03-03T18:02:47Z</dcterms:created>
  <dcterms:modified xsi:type="dcterms:W3CDTF">2026-04-19T06:35:39Z</dcterms:modified>
</cp:coreProperties>
</file>