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6" r:id="rId6"/>
    <p:sldId id="284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3" r:id="rId17"/>
    <p:sldId id="274" r:id="rId18"/>
    <p:sldId id="276" r:id="rId19"/>
    <p:sldId id="277" r:id="rId20"/>
    <p:sldId id="278" r:id="rId21"/>
    <p:sldId id="279" r:id="rId22"/>
    <p:sldId id="271" r:id="rId23"/>
    <p:sldId id="275" r:id="rId24"/>
    <p:sldId id="272" r:id="rId25"/>
    <p:sldId id="280" r:id="rId26"/>
    <p:sldId id="281" r:id="rId27"/>
    <p:sldId id="282" r:id="rId28"/>
    <p:sldId id="283" r:id="rId29"/>
  </p:sldIdLst>
  <p:sldSz cx="12192000" cy="6858000"/>
  <p:notesSz cx="7104063" cy="10234613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025636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645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l">
              <a:defRPr sz="1300"/>
            </a:lvl1pPr>
          </a:lstStyle>
          <a:p>
            <a:fld id="{CBB754F4-CB08-4F99-AFBE-2028CB2193D8}" type="datetimeFigureOut">
              <a:rPr lang="he-IL" smtClean="0"/>
              <a:t>כ"ב/ניסן/תשפ"ו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1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4025636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645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l">
              <a:defRPr sz="1300"/>
            </a:lvl1pPr>
          </a:lstStyle>
          <a:p>
            <a:fld id="{81986041-9A52-4960-85A4-A91BE505A3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418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986041-9A52-4960-85A4-A91BE505A3E0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1098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4BDF9A9-D734-4825-8A94-7036C6D029D5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77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CE8D0-310D-4131-8CF2-7CD5A836F1D2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7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202F-188E-4082-A467-2D2130716546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51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95283-6E33-4732-BDF8-BE08F36356A9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8541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99562-9403-44D3-87EF-74A5F0AD5EAD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36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D182B-486A-453C-9E15-6BCF4F6CAF87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33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674E-15B4-4487-8C0F-B5EA1CD084E1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5759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469D-AFB4-40E7-978B-FD78583491BC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926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D415E-4AE8-4123-9FEA-2723B4840F5A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0118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189F-814A-4D6C-9024-43C3778B45B5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87194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B1B83-BE6B-476C-858D-1B2ACE85E87E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069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0DB80-9966-47E7-89F7-F67076DF2153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005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C2EA-88EE-489B-B3C4-B293789E69E4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7316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E434F-2F54-4D0E-850C-95A93CC8467F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757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או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E3182-4B9E-43DE-9386-4D91D99F9651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83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64BA-BE29-4E49-9B51-49C059D331D7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287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DFCDD-6F34-49F6-8C75-812DBE339BC9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703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25F2BBD-AFB8-4A5A-B955-E67A006B24DC}" type="datetime8">
              <a:rPr lang="he-IL" smtClean="0"/>
              <a:t>09 אפריל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3B72AAF-92CC-404F-8696-FD15D1FD20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802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 smtClean="0"/>
              <a:t>תרגול שלישי  מערכי זיכרון 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8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מערכים מאותחלים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כדי להגדיר מערכים מאותחלים ומשתנים מאותחלים  בזיכרון יש להגדיר אותם באזור ה </a:t>
            </a:r>
            <a:r>
              <a:rPr lang="en-US" dirty="0" smtClean="0"/>
              <a:t>data</a:t>
            </a:r>
            <a:r>
              <a:rPr lang="he-IL" dirty="0" smtClean="0"/>
              <a:t>. </a:t>
            </a:r>
          </a:p>
          <a:p>
            <a:r>
              <a:rPr lang="he-IL" dirty="0" smtClean="0"/>
              <a:t>דוגמא  למערך מאותחל שמכיל את הערכים 10,20,30,40: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r>
              <a:rPr lang="en-US" dirty="0"/>
              <a:t>section .data</a:t>
            </a:r>
          </a:p>
          <a:p>
            <a:pPr algn="l" rtl="0"/>
            <a:r>
              <a:rPr lang="en-US" dirty="0" err="1"/>
              <a:t>arr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10, 20, 30, </a:t>
            </a:r>
            <a:r>
              <a:rPr lang="en-US" dirty="0" smtClean="0"/>
              <a:t>40</a:t>
            </a:r>
          </a:p>
          <a:p>
            <a:pPr algn="r"/>
            <a:r>
              <a:rPr lang="he-IL" dirty="0" smtClean="0"/>
              <a:t>שורה זו יוצרת : </a:t>
            </a:r>
          </a:p>
          <a:p>
            <a:pPr algn="l" rtl="0"/>
            <a:r>
              <a:rPr lang="sv-SE" dirty="0"/>
              <a:t>arr[0] = </a:t>
            </a:r>
            <a:r>
              <a:rPr lang="sv-SE" dirty="0" smtClean="0"/>
              <a:t>10, arr[1</a:t>
            </a:r>
            <a:r>
              <a:rPr lang="sv-SE" dirty="0"/>
              <a:t>] = </a:t>
            </a:r>
            <a:r>
              <a:rPr lang="sv-SE" dirty="0" smtClean="0"/>
              <a:t>20, arr[2</a:t>
            </a:r>
            <a:r>
              <a:rPr lang="sv-SE" dirty="0"/>
              <a:t>] = </a:t>
            </a:r>
            <a:r>
              <a:rPr lang="sv-SE" dirty="0" smtClean="0"/>
              <a:t>30, arr[3</a:t>
            </a:r>
            <a:r>
              <a:rPr lang="sv-SE" dirty="0"/>
              <a:t>] = 40</a:t>
            </a:r>
            <a:endParaRPr lang="en-US" dirty="0"/>
          </a:p>
          <a:p>
            <a:pPr algn="l" rtl="0"/>
            <a:endParaRPr lang="he-IL" dirty="0" smtClean="0"/>
          </a:p>
          <a:p>
            <a:pPr algn="l" rtl="0"/>
            <a:endParaRPr lang="en-US" dirty="0" smtClean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697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מערכים מאותחלים המשך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דוגמא נוספת למערך מאותחל באפסים עם הגדרת גודל : </a:t>
            </a:r>
          </a:p>
          <a:p>
            <a:pPr algn="l" rtl="0"/>
            <a:r>
              <a:rPr lang="en-US" dirty="0" err="1"/>
              <a:t>arr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64 dup(0</a:t>
            </a:r>
            <a:r>
              <a:rPr lang="en-US" dirty="0" smtClean="0"/>
              <a:t>)</a:t>
            </a:r>
          </a:p>
          <a:p>
            <a:pPr algn="r"/>
            <a:r>
              <a:rPr lang="he-IL" dirty="0" smtClean="0"/>
              <a:t>כמובן שברגע שעובדים עם מערכים מאותחלים, ניתן לקבוע מה יהא גודלו של כל תא במערך :</a:t>
            </a:r>
            <a:r>
              <a:rPr lang="en-US" dirty="0" smtClean="0"/>
              <a:t> </a:t>
            </a:r>
            <a:endParaRPr lang="he-IL" dirty="0" smtClean="0"/>
          </a:p>
          <a:p>
            <a:pPr marL="0" indent="0" algn="l" rtl="0">
              <a:buNone/>
            </a:pPr>
            <a:r>
              <a:rPr lang="en-US" dirty="0"/>
              <a:t> </a:t>
            </a:r>
            <a:r>
              <a:rPr lang="en-US" dirty="0" err="1" smtClean="0"/>
              <a:t>db</a:t>
            </a:r>
            <a:r>
              <a:rPr lang="en-US" dirty="0" smtClean="0"/>
              <a:t> = byte , </a:t>
            </a:r>
            <a:r>
              <a:rPr lang="en-US" dirty="0" err="1" smtClean="0"/>
              <a:t>dw</a:t>
            </a:r>
            <a:r>
              <a:rPr lang="en-US" dirty="0" smtClean="0"/>
              <a:t> = word, </a:t>
            </a:r>
            <a:r>
              <a:rPr lang="en-US" dirty="0" err="1" smtClean="0"/>
              <a:t>dd</a:t>
            </a:r>
            <a:r>
              <a:rPr lang="en-US" dirty="0" smtClean="0"/>
              <a:t> = double word (32 bits) , </a:t>
            </a:r>
            <a:r>
              <a:rPr lang="en-US" dirty="0" err="1" smtClean="0"/>
              <a:t>dq</a:t>
            </a:r>
            <a:r>
              <a:rPr lang="en-US" dirty="0" smtClean="0"/>
              <a:t> = quad word (64 bit)</a:t>
            </a:r>
          </a:p>
          <a:p>
            <a:pPr marL="0" indent="0" algn="r">
              <a:buNone/>
            </a:pPr>
            <a:r>
              <a:rPr lang="he-IL" b="1" dirty="0" smtClean="0"/>
              <a:t>כלומר מערך מאותחל מוגדר באזור ה </a:t>
            </a:r>
            <a:r>
              <a:rPr lang="en-US" b="1" dirty="0" smtClean="0"/>
              <a:t>data</a:t>
            </a:r>
            <a:r>
              <a:rPr lang="he-IL" b="1" dirty="0" smtClean="0"/>
              <a:t> , כל תא בו הינו בעל גודל מוגדר מראש ותוכן מוגדר מראש. </a:t>
            </a:r>
            <a:endParaRPr lang="en-US" b="1" dirty="0" smtClean="0"/>
          </a:p>
          <a:p>
            <a:pPr algn="l" rtl="0"/>
            <a:endParaRPr lang="en-US" dirty="0"/>
          </a:p>
          <a:p>
            <a:pPr algn="l" rtl="0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578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דוגמא 1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כתוב תכנית אשר מאתחלת מערך מטיפוס</a:t>
            </a:r>
            <a:r>
              <a:rPr lang="en-US" dirty="0" smtClean="0"/>
              <a:t>  </a:t>
            </a:r>
            <a:r>
              <a:rPr lang="he-IL" dirty="0" smtClean="0"/>
              <a:t> </a:t>
            </a:r>
            <a:r>
              <a:rPr lang="en-US" dirty="0" smtClean="0"/>
              <a:t>byte</a:t>
            </a:r>
            <a:r>
              <a:rPr lang="he-IL" dirty="0" smtClean="0"/>
              <a:t> אשר מכיל 12 ערכים של </a:t>
            </a:r>
            <a:r>
              <a:rPr lang="en-US" dirty="0" smtClean="0"/>
              <a:t>55h</a:t>
            </a:r>
            <a:r>
              <a:rPr lang="he-IL" dirty="0" smtClean="0"/>
              <a:t> כל אחד. התכנית תדרוס את המערך בערכים </a:t>
            </a:r>
            <a:r>
              <a:rPr lang="he-IL" dirty="0"/>
              <a:t> </a:t>
            </a:r>
            <a:r>
              <a:rPr lang="he-IL" dirty="0" smtClean="0"/>
              <a:t>עוקבים החל מ </a:t>
            </a:r>
            <a:r>
              <a:rPr lang="en-US" dirty="0" smtClean="0"/>
              <a:t>17h</a:t>
            </a:r>
            <a:r>
              <a:rPr lang="he-IL" dirty="0" smtClean="0"/>
              <a:t>. </a:t>
            </a:r>
          </a:p>
          <a:p>
            <a:r>
              <a:rPr lang="he-IL" dirty="0" smtClean="0"/>
              <a:t>תכנית זו שונה מתכניות קודמות בכך שהיא  גורמת למשתמש לבצע מעקב אחר תכני זיכרון הנתונים. </a:t>
            </a:r>
          </a:p>
          <a:p>
            <a:r>
              <a:rPr lang="he-IL" dirty="0" smtClean="0"/>
              <a:t>כדי לבצע את המעקב יש לבצע מספר הגדרות ב </a:t>
            </a:r>
            <a:r>
              <a:rPr lang="en-US" dirty="0" err="1" smtClean="0"/>
              <a:t>Ubunto</a:t>
            </a: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he-IL" dirty="0" smtClean="0"/>
              <a:t>   אשר נפרט בשקף הבא 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697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שינוי קטנטן בהרצת התכנית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1. </a:t>
            </a:r>
            <a:r>
              <a:rPr lang="pt-BR" dirty="0"/>
              <a:t>nasm -f elf64 </a:t>
            </a:r>
            <a:r>
              <a:rPr lang="pt-BR" b="1" dirty="0"/>
              <a:t>-g</a:t>
            </a:r>
            <a:r>
              <a:rPr lang="pt-BR" dirty="0"/>
              <a:t> file.asm -o file.o</a:t>
            </a:r>
            <a:endParaRPr lang="en-US" dirty="0" smtClean="0"/>
          </a:p>
          <a:p>
            <a:pPr algn="l" rtl="0"/>
            <a:r>
              <a:rPr lang="en-US" dirty="0" smtClean="0"/>
              <a:t>2. </a:t>
            </a:r>
            <a:r>
              <a:rPr lang="pt-BR" b="1" dirty="0"/>
              <a:t>gcc -no-pie -g file.o -o file</a:t>
            </a:r>
            <a:endParaRPr lang="pt-BR" b="1" dirty="0" smtClean="0"/>
          </a:p>
          <a:p>
            <a:pPr algn="l" rtl="0"/>
            <a:r>
              <a:rPr lang="pt-BR" dirty="0" smtClean="0"/>
              <a:t>3. gdb ./filename</a:t>
            </a:r>
          </a:p>
          <a:p>
            <a:pPr algn="l" rtl="0"/>
            <a:r>
              <a:rPr lang="pt-BR" dirty="0" smtClean="0"/>
              <a:t>4. break main</a:t>
            </a:r>
          </a:p>
          <a:p>
            <a:pPr algn="l" rtl="0"/>
            <a:r>
              <a:rPr lang="pt-BR" dirty="0" smtClean="0"/>
              <a:t>5.run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78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הצגת תוכן הזיכרון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he-IL" sz="5100" dirty="0" smtClean="0"/>
              <a:t>ישנן מספר אפשרויות לביצוע מעקב אחר התכנית לאחר קביעת נקודת העצירה עם </a:t>
            </a:r>
            <a:r>
              <a:rPr lang="en-US" sz="5100" dirty="0" smtClean="0"/>
              <a:t>break </a:t>
            </a:r>
            <a:r>
              <a:rPr lang="he-IL" sz="5100" dirty="0" smtClean="0"/>
              <a:t> ולאחר ההרצה עם </a:t>
            </a:r>
            <a:r>
              <a:rPr lang="en-US" sz="5100" dirty="0" smtClean="0"/>
              <a:t>run</a:t>
            </a:r>
            <a:r>
              <a:rPr lang="he-IL" sz="5100" dirty="0" smtClean="0"/>
              <a:t> : </a:t>
            </a:r>
          </a:p>
          <a:p>
            <a:r>
              <a:rPr lang="he-IL" sz="3800" dirty="0" smtClean="0"/>
              <a:t>1. </a:t>
            </a:r>
            <a:r>
              <a:rPr lang="he-IL" sz="5100" dirty="0" smtClean="0"/>
              <a:t>הדפסת כתובת מערך הנתונים :</a:t>
            </a:r>
            <a:r>
              <a:rPr lang="en-US" sz="5100" dirty="0"/>
              <a:t> </a:t>
            </a:r>
            <a:r>
              <a:rPr lang="en-US" sz="5100" dirty="0" smtClean="0"/>
              <a:t> (</a:t>
            </a:r>
            <a:r>
              <a:rPr lang="en-US" sz="5100" dirty="0" err="1" smtClean="0"/>
              <a:t>gdb</a:t>
            </a:r>
            <a:r>
              <a:rPr lang="en-US" sz="5100" dirty="0" smtClean="0"/>
              <a:t>)  printf  </a:t>
            </a:r>
            <a:r>
              <a:rPr lang="en-US" sz="5100" dirty="0"/>
              <a:t>“%p\n”, &amp;array </a:t>
            </a:r>
            <a:endParaRPr lang="en-US" sz="3800" dirty="0"/>
          </a:p>
          <a:p>
            <a:r>
              <a:rPr lang="he-IL" sz="3800" dirty="0" smtClean="0"/>
              <a:t>2. </a:t>
            </a:r>
            <a:r>
              <a:rPr lang="he-IL" sz="5100" dirty="0" smtClean="0"/>
              <a:t>מעקב אחר תכני המערך תוך כדי הרצת התכנית :</a:t>
            </a:r>
          </a:p>
          <a:p>
            <a:pPr algn="l" rtl="0"/>
            <a:r>
              <a:rPr lang="he-IL" sz="5100" dirty="0" smtClean="0"/>
              <a:t> </a:t>
            </a:r>
            <a:r>
              <a:rPr lang="en-US" sz="5100" dirty="0"/>
              <a:t>(</a:t>
            </a:r>
            <a:r>
              <a:rPr lang="en-US" sz="5100" dirty="0" err="1"/>
              <a:t>gdb</a:t>
            </a:r>
            <a:r>
              <a:rPr lang="en-US" sz="5100" dirty="0"/>
              <a:t>) display/12xb *(unsigned char(*)[12])&amp;array</a:t>
            </a:r>
          </a:p>
          <a:p>
            <a:pPr algn="l" rtl="0"/>
            <a:endParaRPr lang="en-US" sz="3800" dirty="0"/>
          </a:p>
          <a:p>
            <a:endParaRPr lang="he-IL" dirty="0" smtClean="0"/>
          </a:p>
          <a:p>
            <a:endParaRPr lang="he-IL" dirty="0" smtClean="0"/>
          </a:p>
          <a:p>
            <a:pPr algn="l" rtl="0"/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693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קובץ התכנית </a:t>
            </a:r>
            <a:endParaRPr lang="he-IL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7</a:t>
            </a:fld>
            <a:endParaRPr lang="he-IL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1760" y="2557463"/>
            <a:ext cx="5879592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אופן ביצוע התכנית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בתחילה, יש להגדיר אזור בשם </a:t>
            </a:r>
            <a:r>
              <a:rPr lang="en-US" dirty="0" smtClean="0"/>
              <a:t>section .data</a:t>
            </a:r>
            <a:r>
              <a:rPr lang="he-IL" dirty="0" smtClean="0"/>
              <a:t> שבו מגדירים את המערך ואת הערך המספרי ההתחלתי שאותו נרצה להציב במערך. </a:t>
            </a:r>
          </a:p>
          <a:p>
            <a:r>
              <a:rPr lang="he-IL" dirty="0" smtClean="0"/>
              <a:t>באזור זה הוגדר משתנה </a:t>
            </a:r>
            <a:r>
              <a:rPr lang="en-US" dirty="0" smtClean="0"/>
              <a:t>start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he-IL" dirty="0" smtClean="0"/>
              <a:t>מטיפוס </a:t>
            </a:r>
            <a:r>
              <a:rPr lang="en-US" dirty="0" smtClean="0"/>
              <a:t>byte</a:t>
            </a:r>
            <a:r>
              <a:rPr lang="he-IL" dirty="0" smtClean="0"/>
              <a:t> וכן המערך עצמו אשר מאותחל ב 12 ערכים של </a:t>
            </a:r>
            <a:r>
              <a:rPr lang="en-US" dirty="0" smtClean="0"/>
              <a:t>55h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he-IL" dirty="0" smtClean="0"/>
              <a:t>כולם מטיפוס </a:t>
            </a:r>
            <a:r>
              <a:rPr lang="en-US" dirty="0" smtClean="0"/>
              <a:t>byte</a:t>
            </a:r>
            <a:r>
              <a:rPr lang="he-IL" dirty="0" smtClean="0"/>
              <a:t> </a:t>
            </a:r>
          </a:p>
          <a:p>
            <a:r>
              <a:rPr lang="he-IL" dirty="0" smtClean="0"/>
              <a:t>לאחר מכן , באזור התכנית </a:t>
            </a:r>
            <a:r>
              <a:rPr lang="en-US" dirty="0" smtClean="0"/>
              <a:t>text</a:t>
            </a:r>
            <a:r>
              <a:rPr lang="he-IL" dirty="0" smtClean="0"/>
              <a:t> מגדירים אוגר מצביע למערך ע"י הפקודה 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r>
              <a:rPr lang="en-US" dirty="0"/>
              <a:t>lea </a:t>
            </a:r>
            <a:r>
              <a:rPr lang="en-US" dirty="0" err="1"/>
              <a:t>rdi</a:t>
            </a:r>
            <a:r>
              <a:rPr lang="en-US" dirty="0"/>
              <a:t>, [array</a:t>
            </a:r>
            <a:r>
              <a:rPr lang="en-US" dirty="0" smtClean="0"/>
              <a:t>]  </a:t>
            </a:r>
          </a:p>
          <a:p>
            <a:pPr algn="r"/>
            <a:r>
              <a:rPr lang="he-IL" dirty="0" smtClean="0"/>
              <a:t>פקודה זו מציבה באוגר </a:t>
            </a:r>
            <a:r>
              <a:rPr lang="en-US" dirty="0" err="1" smtClean="0"/>
              <a:t>rdi</a:t>
            </a:r>
            <a:r>
              <a:rPr lang="he-IL" dirty="0" smtClean="0"/>
              <a:t> את הכתובת של המערך ומאפשרת גישה לאברי המערך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506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תכנית המשך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כמובן שברגע שעובדים עם מערך , יש לאתחל את אוגר </a:t>
            </a:r>
            <a:r>
              <a:rPr lang="en-US" dirty="0" err="1" smtClean="0"/>
              <a:t>rcx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he-IL" dirty="0" smtClean="0"/>
              <a:t>בגודלו של המערך. </a:t>
            </a:r>
          </a:p>
          <a:p>
            <a:r>
              <a:rPr lang="he-IL" dirty="0" smtClean="0"/>
              <a:t>שתי השורות שבאות לאחר מכן, מנקות את אוגר </a:t>
            </a:r>
            <a:r>
              <a:rPr lang="en-US" dirty="0" err="1" smtClean="0"/>
              <a:t>eax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he-IL" dirty="0" smtClean="0"/>
              <a:t> כדי שלא יצטבר בו זבל וכן מעבירות אל אוגר </a:t>
            </a:r>
            <a:r>
              <a:rPr lang="en-US" dirty="0" smtClean="0"/>
              <a:t>al</a:t>
            </a:r>
            <a:r>
              <a:rPr lang="he-IL" dirty="0" smtClean="0"/>
              <a:t> את תוכנו </a:t>
            </a:r>
            <a:r>
              <a:rPr lang="en-US" dirty="0" smtClean="0"/>
              <a:t>start</a:t>
            </a:r>
            <a:r>
              <a:rPr lang="he-IL" dirty="0" smtClean="0"/>
              <a:t>. העבודה עם </a:t>
            </a:r>
            <a:r>
              <a:rPr lang="en-US" dirty="0" smtClean="0"/>
              <a:t>al</a:t>
            </a:r>
            <a:r>
              <a:rPr lang="he-IL" dirty="0" smtClean="0"/>
              <a:t> נעשית מכיוון שמדובר בבתים. </a:t>
            </a:r>
          </a:p>
          <a:p>
            <a:pPr algn="l" rtl="0"/>
            <a:r>
              <a:rPr lang="en-US" dirty="0" smtClean="0"/>
              <a:t> </a:t>
            </a:r>
            <a:r>
              <a:rPr lang="en-US" dirty="0" err="1" smtClean="0"/>
              <a:t>xor</a:t>
            </a:r>
            <a:r>
              <a:rPr lang="en-US" dirty="0" smtClean="0"/>
              <a:t> </a:t>
            </a:r>
            <a:r>
              <a:rPr lang="en-US" dirty="0" err="1" smtClean="0"/>
              <a:t>eax</a:t>
            </a:r>
            <a:r>
              <a:rPr lang="en-US" dirty="0" smtClean="0"/>
              <a:t>, </a:t>
            </a:r>
            <a:r>
              <a:rPr lang="en-US" dirty="0" err="1" smtClean="0"/>
              <a:t>eax</a:t>
            </a:r>
            <a:r>
              <a:rPr lang="en-US" dirty="0" smtClean="0"/>
              <a:t>    </a:t>
            </a:r>
          </a:p>
          <a:p>
            <a:pPr algn="l" rtl="0"/>
            <a:r>
              <a:rPr lang="en-US" dirty="0" smtClean="0"/>
              <a:t>  </a:t>
            </a:r>
            <a:r>
              <a:rPr lang="en-US" dirty="0" err="1"/>
              <a:t>mov</a:t>
            </a:r>
            <a:r>
              <a:rPr lang="en-US" dirty="0"/>
              <a:t> al, [start]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4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שלבי הלולאה העיקרית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בלולאה העיקרית של התכנית , מעבירים את תוכנו של </a:t>
            </a:r>
            <a:r>
              <a:rPr lang="en-US" dirty="0" smtClean="0"/>
              <a:t>start </a:t>
            </a:r>
            <a:r>
              <a:rPr lang="he-IL" dirty="0" smtClean="0"/>
              <a:t>  כך שידרוס את התוכן הקיים של המערך , מעלים את תוכנו של </a:t>
            </a:r>
            <a:r>
              <a:rPr lang="en-US" dirty="0" smtClean="0"/>
              <a:t>al</a:t>
            </a:r>
            <a:r>
              <a:rPr lang="he-IL" dirty="0" smtClean="0"/>
              <a:t> ב 1 , מקטינים את תוכנו של </a:t>
            </a:r>
            <a:r>
              <a:rPr lang="en-US" dirty="0" err="1" smtClean="0"/>
              <a:t>rcx</a:t>
            </a:r>
            <a:r>
              <a:rPr lang="he-IL" dirty="0" smtClean="0"/>
              <a:t> (מונה הלולאה) ב 1 ע"י ביצוע פקודת </a:t>
            </a:r>
            <a:r>
              <a:rPr lang="en-US" dirty="0" smtClean="0"/>
              <a:t>LOOP</a:t>
            </a:r>
            <a:r>
              <a:rPr lang="he-IL" dirty="0" smtClean="0"/>
              <a:t>. </a:t>
            </a:r>
          </a:p>
          <a:p>
            <a:r>
              <a:rPr lang="he-IL" dirty="0" smtClean="0"/>
              <a:t>ע"י כך תוכן הזיכרון נדרס בכל </a:t>
            </a:r>
            <a:r>
              <a:rPr lang="he-IL" dirty="0" err="1" smtClean="0"/>
              <a:t>איטרציה</a:t>
            </a:r>
            <a:r>
              <a:rPr lang="he-IL" dirty="0" smtClean="0"/>
              <a:t> של הלולאה.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130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דוגמא 2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להלן תכנית אשר מגדירה משתנה </a:t>
            </a:r>
            <a:r>
              <a:rPr lang="en-US" dirty="0" smtClean="0"/>
              <a:t>start</a:t>
            </a:r>
            <a:r>
              <a:rPr lang="he-IL" dirty="0" smtClean="0"/>
              <a:t> בגודל </a:t>
            </a:r>
            <a:r>
              <a:rPr lang="en-US" dirty="0" smtClean="0"/>
              <a:t>WORD </a:t>
            </a:r>
            <a:r>
              <a:rPr lang="he-IL" dirty="0" smtClean="0"/>
              <a:t> (16 ביט)  שערכו 4 וכן מערך של 5  מילים  המאותחל בערכים </a:t>
            </a:r>
            <a:r>
              <a:rPr lang="en-US" dirty="0" err="1" smtClean="0"/>
              <a:t>AAAAh</a:t>
            </a:r>
            <a:r>
              <a:rPr lang="he-IL" dirty="0" smtClean="0"/>
              <a:t> כל אחת. </a:t>
            </a:r>
          </a:p>
          <a:p>
            <a:r>
              <a:rPr lang="he-IL" dirty="0" smtClean="0"/>
              <a:t>התכנית תדרוס את המערך כך שהערך הראשון שלו יהיה </a:t>
            </a:r>
            <a:r>
              <a:rPr lang="en-US" dirty="0" smtClean="0"/>
              <a:t>start</a:t>
            </a:r>
            <a:r>
              <a:rPr lang="en-US" dirty="0"/>
              <a:t> </a:t>
            </a:r>
            <a:r>
              <a:rPr lang="he-IL" dirty="0" smtClean="0"/>
              <a:t> (כלומר 4) , וכל איבר החל מהמקום השני ואילך יקיים את </a:t>
            </a:r>
            <a:r>
              <a:rPr lang="he-IL" dirty="0" err="1" smtClean="0"/>
              <a:t>הנוסחא</a:t>
            </a:r>
            <a:r>
              <a:rPr lang="he-IL" dirty="0" smtClean="0"/>
              <a:t> :</a:t>
            </a:r>
            <a:r>
              <a:rPr lang="en-US" dirty="0" smtClean="0"/>
              <a:t> An=2An-1+1</a:t>
            </a:r>
            <a:r>
              <a:rPr lang="he-IL" dirty="0" smtClean="0"/>
              <a:t>כך שתיווצר הסדרה הבאה:</a:t>
            </a:r>
          </a:p>
          <a:p>
            <a:pPr algn="l" rtl="0"/>
            <a:r>
              <a:rPr lang="en-US" dirty="0" smtClean="0"/>
              <a:t>4, 9, 19, 39, 79                  (</a:t>
            </a:r>
            <a:r>
              <a:rPr lang="he-IL" dirty="0" smtClean="0"/>
              <a:t>כל הערכים בבסיס עשרוני</a:t>
            </a:r>
            <a:r>
              <a:rPr lang="en-US" dirty="0" smtClean="0"/>
              <a:t>) </a:t>
            </a:r>
            <a:endParaRPr lang="he-IL" dirty="0" smtClean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1214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תיאור התכנית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12</a:t>
            </a:fld>
            <a:endParaRPr lang="he-IL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7752" y="2557463"/>
            <a:ext cx="6336792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6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הסבר לתכנית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היות ותוכן כל תא במערך הוא </a:t>
            </a:r>
            <a:r>
              <a:rPr lang="en-US" dirty="0" smtClean="0"/>
              <a:t>word</a:t>
            </a:r>
            <a:r>
              <a:rPr lang="he-IL" dirty="0" smtClean="0"/>
              <a:t> אזי הקידום מתא לתא כרוך בקידום של שתי כתובות, וזאת משום שכל כתובת מכילה </a:t>
            </a:r>
            <a:r>
              <a:rPr lang="en-US" dirty="0" smtClean="0"/>
              <a:t>byte</a:t>
            </a:r>
            <a:r>
              <a:rPr lang="he-IL" dirty="0" smtClean="0"/>
              <a:t> אחד בעוד ש </a:t>
            </a:r>
            <a:r>
              <a:rPr lang="en-US" dirty="0" smtClean="0"/>
              <a:t>word</a:t>
            </a:r>
            <a:r>
              <a:rPr lang="he-IL" dirty="0" smtClean="0"/>
              <a:t> מכיל שני </a:t>
            </a:r>
            <a:r>
              <a:rPr lang="en-US" dirty="0" smtClean="0"/>
              <a:t>bytes</a:t>
            </a:r>
            <a:r>
              <a:rPr lang="he-IL" dirty="0" smtClean="0"/>
              <a:t> </a:t>
            </a:r>
          </a:p>
          <a:p>
            <a:r>
              <a:rPr lang="he-IL" dirty="0" smtClean="0"/>
              <a:t>התכנית : מעבירים תחילה את כתובת המערך אל אוגר </a:t>
            </a:r>
            <a:r>
              <a:rPr lang="en-US" dirty="0" err="1" smtClean="0"/>
              <a:t>rdi</a:t>
            </a:r>
            <a:r>
              <a:rPr lang="he-IL" dirty="0" smtClean="0"/>
              <a:t>. לאחר מכן  מעבירים את תוכן הערך ההתחלתי  </a:t>
            </a:r>
            <a:r>
              <a:rPr lang="en-US" dirty="0" smtClean="0"/>
              <a:t>start</a:t>
            </a:r>
            <a:r>
              <a:rPr lang="he-IL" dirty="0" smtClean="0"/>
              <a:t> אל אוגר</a:t>
            </a:r>
            <a:r>
              <a:rPr lang="en-US" dirty="0" smtClean="0"/>
              <a:t>ax  </a:t>
            </a:r>
            <a:r>
              <a:rPr lang="he-IL" dirty="0" smtClean="0"/>
              <a:t>.</a:t>
            </a:r>
          </a:p>
          <a:p>
            <a:r>
              <a:rPr lang="he-IL" dirty="0" smtClean="0"/>
              <a:t>בשלב הראשון של התכנית, תוכנו של </a:t>
            </a:r>
            <a:r>
              <a:rPr lang="en-US" dirty="0" smtClean="0"/>
              <a:t>ax</a:t>
            </a:r>
            <a:r>
              <a:rPr lang="he-IL" dirty="0" smtClean="0"/>
              <a:t> עובר אל המערך ודורס את התוכן הנוכחי של התא הראשון.</a:t>
            </a:r>
          </a:p>
          <a:p>
            <a:r>
              <a:rPr lang="he-IL" dirty="0" smtClean="0"/>
              <a:t>בהמשך ,  כדי לבצע את הכפל פי 2 , מזיזים את תוכן אוגר </a:t>
            </a:r>
            <a:r>
              <a:rPr lang="en-US" dirty="0" smtClean="0"/>
              <a:t>AX</a:t>
            </a:r>
            <a:r>
              <a:rPr lang="he-IL" dirty="0" smtClean="0"/>
              <a:t> שמאלה פעם אחת, מוסיפים לתוכן 1 ע"י </a:t>
            </a:r>
            <a:r>
              <a:rPr lang="en-US" dirty="0" err="1" smtClean="0"/>
              <a:t>inc</a:t>
            </a:r>
            <a:r>
              <a:rPr lang="he-IL" dirty="0" smtClean="0"/>
              <a:t> ולאחר מכן שוב מבצעים דריסה של תוכן הזיכרון </a:t>
            </a:r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578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מערכים ומשתנים לא מאותחלים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כאשר עובדים עם מערכים  ומשתנים לא מאותחלים , יש להקצות עבורם </a:t>
            </a:r>
            <a:r>
              <a:rPr lang="en-US" dirty="0" smtClean="0"/>
              <a:t>section</a:t>
            </a:r>
            <a:r>
              <a:rPr lang="he-IL" dirty="0" smtClean="0"/>
              <a:t> מיוחד בשם </a:t>
            </a:r>
            <a:r>
              <a:rPr lang="en-US" dirty="0" smtClean="0"/>
              <a:t>.</a:t>
            </a:r>
            <a:r>
              <a:rPr lang="en-US" dirty="0" err="1" smtClean="0"/>
              <a:t>bss</a:t>
            </a:r>
            <a:r>
              <a:rPr lang="he-IL" dirty="0" smtClean="0"/>
              <a:t>  או אז האסמבלר לא מקצה עבורם בתים במהלך ההרצה. </a:t>
            </a:r>
          </a:p>
          <a:p>
            <a:r>
              <a:rPr lang="he-IL" dirty="0" smtClean="0"/>
              <a:t>עבור משתנים מאותחלים אסמבלר מקצה עבורם בתים ומשאבים במהלך ההרצה. </a:t>
            </a:r>
          </a:p>
          <a:p>
            <a:r>
              <a:rPr lang="he-IL" dirty="0" smtClean="0"/>
              <a:t>במקום הקצאת בתים, אסמבלר שומרת מקום בזיכרון ומערכת ההפעלה מאפסת את התוכן. </a:t>
            </a:r>
          </a:p>
          <a:p>
            <a:r>
              <a:rPr lang="he-IL" dirty="0" smtClean="0"/>
              <a:t>נהוג לעבוד באופן זה עם מערכים גדולים אשר מכילים כמויות גדולות של נתונים (חיסכון במקום בזיכרון) </a:t>
            </a:r>
          </a:p>
          <a:p>
            <a:r>
              <a:rPr lang="he-IL" dirty="0" smtClean="0"/>
              <a:t>מסיבה זו גם הגדרת הטיפוסים משתנה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381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smtClean="0"/>
              <a:t>הגדרת טיפוסי נתונים במערכים לא מאותחלים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מאחר ואסמבלר שומרת רזרבה עבור כל משתנה אזי :</a:t>
            </a:r>
            <a:r>
              <a:rPr lang="en-US" dirty="0" smtClean="0"/>
              <a:t> </a:t>
            </a:r>
            <a:endParaRPr lang="he-IL" dirty="0" smtClean="0"/>
          </a:p>
          <a:p>
            <a:pPr algn="l" rtl="0"/>
            <a:r>
              <a:rPr lang="en-US" dirty="0" err="1" smtClean="0"/>
              <a:t>resb</a:t>
            </a:r>
            <a:r>
              <a:rPr lang="en-US" dirty="0" smtClean="0"/>
              <a:t>  1 – </a:t>
            </a:r>
            <a:r>
              <a:rPr lang="en-US" dirty="0" err="1" smtClean="0"/>
              <a:t>reseve</a:t>
            </a:r>
            <a:r>
              <a:rPr lang="en-US" dirty="0" smtClean="0"/>
              <a:t> byte (8 bit) </a:t>
            </a:r>
          </a:p>
          <a:p>
            <a:pPr algn="l" rtl="0"/>
            <a:r>
              <a:rPr lang="en-US" dirty="0" err="1" smtClean="0"/>
              <a:t>resb</a:t>
            </a:r>
            <a:r>
              <a:rPr lang="en-US" dirty="0" smtClean="0"/>
              <a:t> 8   - reserve  8 bytes </a:t>
            </a:r>
          </a:p>
          <a:p>
            <a:pPr algn="l" rtl="0"/>
            <a:r>
              <a:rPr lang="en-US" dirty="0" err="1" smtClean="0"/>
              <a:t>resb</a:t>
            </a:r>
            <a:r>
              <a:rPr lang="en-US" dirty="0" smtClean="0"/>
              <a:t> 64 – reserve 64 bytes</a:t>
            </a:r>
          </a:p>
          <a:p>
            <a:pPr algn="r"/>
            <a:r>
              <a:rPr lang="he-IL" dirty="0" smtClean="0"/>
              <a:t>דרך אחרת היא לרשום : </a:t>
            </a:r>
          </a:p>
          <a:p>
            <a:pPr marL="0" indent="0" algn="l" rtl="0">
              <a:buNone/>
            </a:pPr>
            <a:r>
              <a:rPr lang="en-US" dirty="0"/>
              <a:t> </a:t>
            </a:r>
            <a:r>
              <a:rPr lang="en-US" dirty="0" err="1" smtClean="0"/>
              <a:t>resb</a:t>
            </a:r>
            <a:r>
              <a:rPr lang="en-US" dirty="0" smtClean="0"/>
              <a:t> = byte , </a:t>
            </a:r>
            <a:r>
              <a:rPr lang="en-US" dirty="0" err="1" smtClean="0"/>
              <a:t>resw</a:t>
            </a:r>
            <a:r>
              <a:rPr lang="en-US" dirty="0" smtClean="0"/>
              <a:t>=word , </a:t>
            </a:r>
            <a:r>
              <a:rPr lang="en-US" dirty="0" err="1" smtClean="0"/>
              <a:t>resd</a:t>
            </a:r>
            <a:r>
              <a:rPr lang="en-US" dirty="0" smtClean="0"/>
              <a:t> =</a:t>
            </a:r>
            <a:r>
              <a:rPr lang="en-US" dirty="0" err="1" smtClean="0"/>
              <a:t>dword</a:t>
            </a:r>
            <a:r>
              <a:rPr lang="en-US" dirty="0" smtClean="0"/>
              <a:t> </a:t>
            </a:r>
            <a:r>
              <a:rPr lang="en-US" dirty="0" err="1" smtClean="0"/>
              <a:t>resq</a:t>
            </a:r>
            <a:r>
              <a:rPr lang="en-US" dirty="0" smtClean="0"/>
              <a:t> = quad word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482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דוגמא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כתוב תכנית אשר מאתחלת מערך בתכנים שונים מטיפוס </a:t>
            </a:r>
            <a:r>
              <a:rPr lang="en-US" dirty="0" smtClean="0"/>
              <a:t>word</a:t>
            </a:r>
            <a:r>
              <a:rPr lang="he-IL" dirty="0" smtClean="0"/>
              <a:t> , מחשבת את כמות הערכים אשר עבורם ה </a:t>
            </a:r>
            <a:r>
              <a:rPr lang="en-US" dirty="0" err="1" smtClean="0"/>
              <a:t>msb</a:t>
            </a:r>
            <a:r>
              <a:rPr lang="en-US" dirty="0" smtClean="0"/>
              <a:t>=1 </a:t>
            </a:r>
            <a:r>
              <a:rPr lang="he-IL" dirty="0" smtClean="0"/>
              <a:t> ומאחסנת את כמותם במשתנה </a:t>
            </a:r>
            <a:r>
              <a:rPr lang="en-US" dirty="0" smtClean="0"/>
              <a:t>count</a:t>
            </a:r>
            <a:r>
              <a:rPr lang="he-IL" dirty="0" smtClean="0"/>
              <a:t> </a:t>
            </a:r>
            <a:r>
              <a:rPr lang="he-IL" dirty="0" smtClean="0"/>
              <a:t>המאותחל לאפס.</a:t>
            </a:r>
          </a:p>
          <a:p>
            <a:r>
              <a:rPr lang="he-IL" dirty="0" smtClean="0"/>
              <a:t>התכנית מאתחלת מערך בן 10 ערכים בבסיס 16, ובודקת כל ערך במערך אם שלילי ע"י ביצוע </a:t>
            </a:r>
            <a:r>
              <a:rPr lang="en-US" dirty="0" smtClean="0"/>
              <a:t>and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he-IL" dirty="0" smtClean="0"/>
              <a:t>עם </a:t>
            </a:r>
            <a:r>
              <a:rPr lang="en-US" dirty="0" smtClean="0"/>
              <a:t>8000h</a:t>
            </a:r>
            <a:r>
              <a:rPr lang="he-IL" dirty="0" smtClean="0"/>
              <a:t> וזאת כדי לבדוק אם </a:t>
            </a:r>
            <a:r>
              <a:rPr lang="en-US" dirty="0" smtClean="0"/>
              <a:t>MSB=1</a:t>
            </a:r>
            <a:r>
              <a:rPr lang="he-IL" dirty="0" smtClean="0"/>
              <a:t> </a:t>
            </a:r>
          </a:p>
          <a:p>
            <a:r>
              <a:rPr lang="he-IL" dirty="0" smtClean="0"/>
              <a:t>תוך כדי לולאה מקדמים מונה </a:t>
            </a:r>
            <a:r>
              <a:rPr lang="en-US" dirty="0" err="1" smtClean="0"/>
              <a:t>rbx</a:t>
            </a:r>
            <a:r>
              <a:rPr lang="he-IL" dirty="0" smtClean="0"/>
              <a:t> ובסופו של תהליך מאחסנים את החלק התחתון שלו ב </a:t>
            </a:r>
            <a:r>
              <a:rPr lang="en-US" dirty="0" err="1" smtClean="0"/>
              <a:t>num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226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התכנית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17</a:t>
            </a:fld>
            <a:endParaRPr lang="he-IL"/>
          </a:p>
        </p:txBody>
      </p:sp>
      <p:pic>
        <p:nvPicPr>
          <p:cNvPr id="5" name="מציין מיקום תוכן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3352" y="2557463"/>
            <a:ext cx="84673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3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הסבר לתכנית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בתחילה מגדירים משתנה גלובלי </a:t>
            </a:r>
            <a:r>
              <a:rPr lang="en-US" dirty="0" smtClean="0"/>
              <a:t>n</a:t>
            </a:r>
            <a:r>
              <a:rPr lang="he-IL" dirty="0" smtClean="0"/>
              <a:t> אשר מכיל את כמות הערכים במערך.</a:t>
            </a:r>
          </a:p>
          <a:p>
            <a:r>
              <a:rPr lang="he-IL" dirty="0" smtClean="0"/>
              <a:t>לאחר ביצוע </a:t>
            </a:r>
            <a:r>
              <a:rPr lang="en-US" dirty="0" smtClean="0"/>
              <a:t>lea</a:t>
            </a:r>
            <a:r>
              <a:rPr lang="he-IL" dirty="0" smtClean="0"/>
              <a:t> לכתובת של המערך , כל ערך במערך נבדק ע"י מסיכה של :</a:t>
            </a:r>
            <a:r>
              <a:rPr lang="en-US" dirty="0" smtClean="0"/>
              <a:t> </a:t>
            </a:r>
            <a:endParaRPr lang="he-IL" dirty="0" smtClean="0"/>
          </a:p>
          <a:p>
            <a:r>
              <a:rPr lang="en-US" dirty="0" smtClean="0"/>
              <a:t>and ax . 8000h</a:t>
            </a:r>
            <a:r>
              <a:rPr lang="he-IL" dirty="0" smtClean="0"/>
              <a:t> וזאת על </a:t>
            </a:r>
            <a:r>
              <a:rPr lang="en-US" dirty="0" smtClean="0"/>
              <a:t> </a:t>
            </a:r>
            <a:r>
              <a:rPr lang="he-IL" dirty="0" smtClean="0"/>
              <a:t>מנת לבדוק אם ביט הסימן דולק :</a:t>
            </a:r>
          </a:p>
          <a:p>
            <a:r>
              <a:rPr lang="he-IL" dirty="0"/>
              <a:t> </a:t>
            </a:r>
            <a:r>
              <a:rPr lang="he-IL" dirty="0" smtClean="0"/>
              <a:t>במידה ודולק – יש לקדם את </a:t>
            </a:r>
            <a:r>
              <a:rPr lang="en-US" dirty="0" err="1" smtClean="0"/>
              <a:t>rbx</a:t>
            </a:r>
            <a:r>
              <a:rPr lang="he-IL" dirty="0" smtClean="0"/>
              <a:t>: אוגר זה משמש כמונה שליליים במערך.</a:t>
            </a:r>
          </a:p>
          <a:p>
            <a:r>
              <a:rPr lang="he-IL" dirty="0" smtClean="0"/>
              <a:t>בסיום התכנית , תוכן המונה מועבר אל כתובתו של המשתנה אשר מאחסן את מספר השליליים.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745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מעקב אחר תוכן משתנה לא מאותחל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במקרה שלנו , המשתנה </a:t>
            </a:r>
            <a:r>
              <a:rPr lang="en-US" dirty="0" smtClean="0"/>
              <a:t>count 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he-IL" dirty="0" smtClean="0"/>
              <a:t>   אינו מאותחל ונרצה לוודא כי בסיום התכנית יקבל את הערך של מספר הערכים במערך אשר סיבית ה </a:t>
            </a:r>
            <a:r>
              <a:rPr lang="en-US" dirty="0" smtClean="0"/>
              <a:t>MSB</a:t>
            </a:r>
            <a:r>
              <a:rPr lang="he-IL" dirty="0" smtClean="0"/>
              <a:t> שלהם דלוקה. </a:t>
            </a:r>
          </a:p>
          <a:p>
            <a:r>
              <a:rPr lang="he-IL" dirty="0" smtClean="0"/>
              <a:t>כמובן שברוב המכריע של הרצת התכנית תוכנו של </a:t>
            </a:r>
            <a:r>
              <a:rPr lang="en-US" dirty="0" smtClean="0"/>
              <a:t>count</a:t>
            </a:r>
            <a:r>
              <a:rPr lang="he-IL" dirty="0" smtClean="0"/>
              <a:t> לא יתעדכן </a:t>
            </a:r>
          </a:p>
          <a:p>
            <a:r>
              <a:rPr lang="he-IL" dirty="0" smtClean="0"/>
              <a:t>לשם כך יש לבצע את הצעדים הבאים – הרצה + מעקב :</a:t>
            </a:r>
            <a:r>
              <a:rPr lang="en-US" dirty="0" smtClean="0"/>
              <a:t>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7520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מעקב אחר תוכן משתנה לא מאותחל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1. nasm –f elf64 –g –F  dwarf numneg.asm –o </a:t>
            </a:r>
            <a:r>
              <a:rPr lang="en-US" dirty="0" err="1" smtClean="0"/>
              <a:t>numneg.o</a:t>
            </a:r>
            <a:endParaRPr lang="en-US" dirty="0" smtClean="0"/>
          </a:p>
          <a:p>
            <a:pPr algn="l" rtl="0"/>
            <a:r>
              <a:rPr lang="en-US" dirty="0" smtClean="0"/>
              <a:t>2. </a:t>
            </a:r>
            <a:r>
              <a:rPr lang="en-US" dirty="0" err="1" smtClean="0"/>
              <a:t>gcc</a:t>
            </a:r>
            <a:r>
              <a:rPr lang="en-US" dirty="0" smtClean="0"/>
              <a:t> –no-pie –g  </a:t>
            </a:r>
            <a:r>
              <a:rPr lang="en-US" dirty="0" err="1" smtClean="0"/>
              <a:t>numneg.o</a:t>
            </a:r>
            <a:r>
              <a:rPr lang="en-US" dirty="0" smtClean="0"/>
              <a:t> –o </a:t>
            </a:r>
            <a:r>
              <a:rPr lang="en-US" dirty="0" err="1" smtClean="0"/>
              <a:t>numneg</a:t>
            </a:r>
            <a:endParaRPr lang="en-US" dirty="0" smtClean="0"/>
          </a:p>
          <a:p>
            <a:pPr algn="l" rtl="0"/>
            <a:r>
              <a:rPr lang="en-US" dirty="0" smtClean="0"/>
              <a:t>3. </a:t>
            </a:r>
            <a:r>
              <a:rPr lang="en-US" dirty="0" err="1" smtClean="0"/>
              <a:t>gdb</a:t>
            </a:r>
            <a:r>
              <a:rPr lang="en-US" dirty="0" smtClean="0"/>
              <a:t> ./</a:t>
            </a:r>
            <a:r>
              <a:rPr lang="en-US" dirty="0" err="1" smtClean="0"/>
              <a:t>numneg</a:t>
            </a:r>
            <a:endParaRPr lang="en-US" dirty="0" smtClean="0"/>
          </a:p>
          <a:p>
            <a:pPr algn="l" rtl="0"/>
            <a:r>
              <a:rPr lang="en-US" dirty="0" smtClean="0"/>
              <a:t>4. </a:t>
            </a:r>
            <a:r>
              <a:rPr lang="en-US" dirty="0" smtClean="0"/>
              <a:t>break main + run</a:t>
            </a:r>
          </a:p>
          <a:p>
            <a:pPr algn="l" rtl="0"/>
            <a:r>
              <a:rPr lang="en-US" dirty="0"/>
              <a:t>5</a:t>
            </a:r>
            <a:r>
              <a:rPr lang="en-US" dirty="0" smtClean="0"/>
              <a:t>. (</a:t>
            </a:r>
            <a:r>
              <a:rPr lang="en-US" dirty="0" err="1" smtClean="0"/>
              <a:t>gdb</a:t>
            </a:r>
            <a:r>
              <a:rPr lang="en-US" dirty="0" smtClean="0"/>
              <a:t>) p </a:t>
            </a:r>
            <a:r>
              <a:rPr lang="en-US" dirty="0" smtClean="0"/>
              <a:t>&amp; count </a:t>
            </a:r>
            <a:r>
              <a:rPr lang="en-US" dirty="0"/>
              <a:t>; this  command present the address of </a:t>
            </a:r>
            <a:r>
              <a:rPr lang="en-US" dirty="0" smtClean="0"/>
              <a:t>count</a:t>
            </a:r>
          </a:p>
          <a:p>
            <a:pPr algn="l" rtl="0"/>
            <a:r>
              <a:rPr lang="en-US" dirty="0"/>
              <a:t>6. (</a:t>
            </a:r>
            <a:r>
              <a:rPr lang="en-US" dirty="0" err="1"/>
              <a:t>gdb</a:t>
            </a:r>
            <a:r>
              <a:rPr lang="en-US" dirty="0"/>
              <a:t>) x/b &amp;</a:t>
            </a:r>
            <a:r>
              <a:rPr lang="en-US" dirty="0" smtClean="0"/>
              <a:t>count ; this presents the content of this address</a:t>
            </a:r>
            <a:endParaRPr lang="en-US" dirty="0"/>
          </a:p>
          <a:p>
            <a:pPr algn="l" rtl="0"/>
            <a:endParaRPr lang="en-US" dirty="0" smtClean="0"/>
          </a:p>
          <a:p>
            <a:pPr algn="l" rtl="0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248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מעקב אחר תוכן משתנה לא מאותחל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smtClean="0"/>
              <a:t>7. x/b &amp; count</a:t>
            </a:r>
          </a:p>
          <a:p>
            <a:pPr algn="l" rtl="0"/>
            <a:r>
              <a:rPr lang="en-US" dirty="0" smtClean="0"/>
              <a:t>8 display /x &amp;count   ; shows the address – but we need the content</a:t>
            </a:r>
          </a:p>
          <a:p>
            <a:pPr algn="l" rtl="0"/>
            <a:r>
              <a:rPr lang="en-US" dirty="0" smtClean="0"/>
              <a:t>9. display /</a:t>
            </a:r>
            <a:r>
              <a:rPr lang="en-US" dirty="0" err="1" smtClean="0"/>
              <a:t>xb</a:t>
            </a:r>
            <a:r>
              <a:rPr lang="en-US" dirty="0" smtClean="0"/>
              <a:t> &amp;count ; shows the  value of count</a:t>
            </a:r>
          </a:p>
          <a:p>
            <a:pPr algn="l" rtl="0"/>
            <a:r>
              <a:rPr lang="en-US" dirty="0" smtClean="0"/>
              <a:t>10. </a:t>
            </a:r>
            <a:r>
              <a:rPr lang="en-US" dirty="0" err="1" smtClean="0"/>
              <a:t>si</a:t>
            </a:r>
            <a:r>
              <a:rPr lang="en-US" dirty="0" smtClean="0"/>
              <a:t> 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5434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השערת </a:t>
            </a:r>
            <a:r>
              <a:rPr lang="en-US" dirty="0" err="1" smtClean="0"/>
              <a:t>Collatz</a:t>
            </a:r>
            <a:r>
              <a:rPr lang="en-US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 smtClean="0"/>
              <a:t>השערת </a:t>
            </a:r>
            <a:r>
              <a:rPr lang="he-IL" dirty="0" err="1" smtClean="0"/>
              <a:t>קולאץ</a:t>
            </a:r>
            <a:r>
              <a:rPr lang="he-IL" dirty="0" smtClean="0"/>
              <a:t> מתחילה ממספר כלשהו: </a:t>
            </a:r>
          </a:p>
          <a:p>
            <a:r>
              <a:rPr lang="he-IL" dirty="0" smtClean="0"/>
              <a:t>אם המספר זוגי – היא מחלקת אותו ב 2</a:t>
            </a:r>
          </a:p>
          <a:p>
            <a:r>
              <a:rPr lang="he-IL" dirty="0" smtClean="0"/>
              <a:t>במידה ואי זוגי – כופלת אותו ב 3 ומוסיפה למכפלה 1. </a:t>
            </a:r>
          </a:p>
          <a:p>
            <a:r>
              <a:rPr lang="he-IL" dirty="0" smtClean="0"/>
              <a:t>דוגמא – נתחיל מהערך 7</a:t>
            </a:r>
            <a:r>
              <a:rPr lang="en-US" dirty="0" smtClean="0"/>
              <a:t> : </a:t>
            </a:r>
          </a:p>
          <a:p>
            <a:pPr algn="l" rtl="0"/>
            <a:r>
              <a:rPr lang="en-US" dirty="0" smtClean="0"/>
              <a:t>7 </a:t>
            </a:r>
            <a:r>
              <a:rPr lang="en-US" dirty="0" smtClean="0">
                <a:sym typeface="Wingdings" panose="05000000000000000000" pitchFamily="2" charset="2"/>
              </a:rPr>
              <a:t> 22  11 34 17 5226134020105  168421 </a:t>
            </a:r>
          </a:p>
          <a:p>
            <a:pPr algn="r"/>
            <a:r>
              <a:rPr lang="he-IL" dirty="0" smtClean="0">
                <a:sym typeface="Wingdings" panose="05000000000000000000" pitchFamily="2" charset="2"/>
              </a:rPr>
              <a:t>ההשערה טוענת ללא הוכחה כי כל תהליך כזה אשר יחל מכל ערך טבעי יגיע לסיומו עם 1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91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התכנית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23</a:t>
            </a:fld>
            <a:endParaRPr lang="he-IL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400" y="2557463"/>
            <a:ext cx="8074151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13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מהלך התכנית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1. מאתחלים משתנה התחלתי </a:t>
            </a:r>
            <a:r>
              <a:rPr lang="en-US" dirty="0" err="1" smtClean="0"/>
              <a:t>start_value</a:t>
            </a:r>
            <a:r>
              <a:rPr lang="he-IL" dirty="0" smtClean="0"/>
              <a:t>עם ערך של 7  </a:t>
            </a:r>
          </a:p>
          <a:p>
            <a:r>
              <a:rPr lang="he-IL" dirty="0" smtClean="0"/>
              <a:t>2. באזור הלא מאותחל, מגדירים מערך </a:t>
            </a:r>
            <a:r>
              <a:rPr lang="en-US" dirty="0" smtClean="0"/>
              <a:t>seq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he-IL" dirty="0" smtClean="0"/>
              <a:t> שבו יאוחסנו אברי הסדרה וכן משתנה </a:t>
            </a:r>
            <a:r>
              <a:rPr lang="en-US" dirty="0" smtClean="0"/>
              <a:t>count</a:t>
            </a:r>
            <a:r>
              <a:rPr lang="he-IL" dirty="0" smtClean="0"/>
              <a:t> על מנת לאחסן בתוכו את מספר אברי המערך העתידיים.</a:t>
            </a:r>
          </a:p>
          <a:p>
            <a:r>
              <a:rPr lang="he-IL" dirty="0" smtClean="0"/>
              <a:t>3.  טרם הלולאה , מעבירים אל </a:t>
            </a:r>
            <a:r>
              <a:rPr lang="en-US" dirty="0" err="1" smtClean="0"/>
              <a:t>rax</a:t>
            </a:r>
            <a:r>
              <a:rPr lang="en-US" dirty="0"/>
              <a:t>  </a:t>
            </a:r>
            <a:r>
              <a:rPr lang="he-IL" dirty="0"/>
              <a:t> </a:t>
            </a:r>
            <a:r>
              <a:rPr lang="he-IL" dirty="0" smtClean="0"/>
              <a:t>  את הערך ההתחלתי – 7 וכן אל אוגר </a:t>
            </a:r>
            <a:r>
              <a:rPr lang="en-US" dirty="0" err="1" smtClean="0"/>
              <a:t>rdi</a:t>
            </a:r>
            <a:r>
              <a:rPr lang="he-IL" dirty="0" smtClean="0"/>
              <a:t>   את הכתובת של המערך </a:t>
            </a:r>
            <a:r>
              <a:rPr lang="en-US" dirty="0" smtClean="0"/>
              <a:t>seq</a:t>
            </a:r>
            <a:r>
              <a:rPr lang="he-IL" dirty="0" smtClean="0"/>
              <a:t>.</a:t>
            </a:r>
          </a:p>
          <a:p>
            <a:r>
              <a:rPr lang="he-IL" dirty="0" smtClean="0"/>
              <a:t>4. היות ומדובר במערך של </a:t>
            </a:r>
            <a:r>
              <a:rPr lang="en-US" dirty="0" smtClean="0"/>
              <a:t>quad</a:t>
            </a:r>
            <a:r>
              <a:rPr lang="he-IL" dirty="0" smtClean="0"/>
              <a:t> מעלים את ערך הכתובת ב 8 כדי להתקדם מכתובת לכתובת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678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מהלך התכנית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 smtClean="0"/>
              <a:t>5.  בודקים זוגיות של הערך הנבדק ע"י פקודת </a:t>
            </a:r>
            <a:r>
              <a:rPr lang="en-US" dirty="0" smtClean="0"/>
              <a:t>test</a:t>
            </a:r>
            <a:r>
              <a:rPr lang="he-IL" dirty="0" smtClean="0"/>
              <a:t> שהיא גרסה לא הרסנית של </a:t>
            </a:r>
            <a:r>
              <a:rPr lang="en-US" dirty="0" smtClean="0"/>
              <a:t>and</a:t>
            </a:r>
            <a:endParaRPr lang="he-IL" dirty="0" smtClean="0"/>
          </a:p>
          <a:p>
            <a:r>
              <a:rPr lang="he-IL" dirty="0" smtClean="0"/>
              <a:t>6. אם זוגי עובר חלוקה ב 2 ע"י הזזה של מקום אחד ימינה</a:t>
            </a:r>
          </a:p>
          <a:p>
            <a:r>
              <a:rPr lang="he-IL" dirty="0" smtClean="0"/>
              <a:t>7. אם אי זוגי  - משתמשים באוגר </a:t>
            </a:r>
            <a:r>
              <a:rPr lang="en-US" dirty="0" err="1" smtClean="0"/>
              <a:t>rbx</a:t>
            </a:r>
            <a:r>
              <a:rPr lang="he-IL" dirty="0" smtClean="0"/>
              <a:t> כאוגר עזר , מזיזים את הערך של </a:t>
            </a:r>
            <a:r>
              <a:rPr lang="en-US" dirty="0" err="1" smtClean="0"/>
              <a:t>rax</a:t>
            </a:r>
            <a:r>
              <a:rPr lang="he-IL" dirty="0" smtClean="0"/>
              <a:t> שמאלה (כופלים אותו פי 2) , לאחר מכן מחברים לו את </a:t>
            </a:r>
            <a:r>
              <a:rPr lang="en-US" dirty="0" err="1" smtClean="0"/>
              <a:t>rbx</a:t>
            </a:r>
            <a:r>
              <a:rPr lang="he-IL" dirty="0" smtClean="0"/>
              <a:t>. ע"י כך מבצעים כפל של תוכן הערך הנידון פי 3.  בשלב האחרון מוסיפים לתוצאה 1 </a:t>
            </a:r>
          </a:p>
          <a:p>
            <a:r>
              <a:rPr lang="he-IL" dirty="0" smtClean="0"/>
              <a:t>8. לאורך כל התכנית , אוגר </a:t>
            </a:r>
            <a:r>
              <a:rPr lang="en-US" dirty="0" err="1" smtClean="0"/>
              <a:t>rcx</a:t>
            </a:r>
            <a:r>
              <a:rPr lang="he-IL" dirty="0" smtClean="0"/>
              <a:t> מקודם ב 1 בכל שלב בלולאה וזאת כדי למנות את מספר האיברים בסדרה. </a:t>
            </a:r>
          </a:p>
          <a:p>
            <a:r>
              <a:rPr lang="he-IL" dirty="0" smtClean="0"/>
              <a:t>9. כמו כן , כל ערך מחושב חדש נשמר בכתובת של מערך </a:t>
            </a:r>
            <a:r>
              <a:rPr lang="en-US" dirty="0" smtClean="0"/>
              <a:t>seq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82274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הרצה + מעקב אחר המערך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 smtClean="0"/>
              <a:t>1. nasm –f elf64 –g –F dwarf collatz.asm –o </a:t>
            </a:r>
            <a:r>
              <a:rPr lang="en-US" dirty="0" err="1" smtClean="0"/>
              <a:t>collatz.o</a:t>
            </a:r>
            <a:endParaRPr lang="en-US" dirty="0" smtClean="0"/>
          </a:p>
          <a:p>
            <a:pPr algn="l" rtl="0"/>
            <a:r>
              <a:rPr lang="en-US" dirty="0" smtClean="0"/>
              <a:t>2. </a:t>
            </a:r>
            <a:r>
              <a:rPr lang="en-US" dirty="0" err="1" smtClean="0"/>
              <a:t>gcc</a:t>
            </a:r>
            <a:r>
              <a:rPr lang="en-US" dirty="0" smtClean="0"/>
              <a:t> –no-pie –g </a:t>
            </a:r>
            <a:r>
              <a:rPr lang="en-US" dirty="0" err="1" smtClean="0"/>
              <a:t>collatz.o</a:t>
            </a:r>
            <a:r>
              <a:rPr lang="en-US" dirty="0" smtClean="0"/>
              <a:t> –o </a:t>
            </a:r>
            <a:r>
              <a:rPr lang="en-US" dirty="0" err="1" smtClean="0"/>
              <a:t>collatz</a:t>
            </a:r>
            <a:endParaRPr lang="en-US" dirty="0" smtClean="0"/>
          </a:p>
          <a:p>
            <a:pPr algn="l" rtl="0"/>
            <a:r>
              <a:rPr lang="en-US" dirty="0" smtClean="0"/>
              <a:t>3. </a:t>
            </a:r>
            <a:r>
              <a:rPr lang="en-US" dirty="0" err="1" smtClean="0"/>
              <a:t>gdb</a:t>
            </a:r>
            <a:r>
              <a:rPr lang="en-US" dirty="0" smtClean="0"/>
              <a:t> ./</a:t>
            </a:r>
            <a:r>
              <a:rPr lang="en-US" dirty="0" err="1" smtClean="0"/>
              <a:t>collatz</a:t>
            </a:r>
            <a:endParaRPr lang="en-US" dirty="0" smtClean="0"/>
          </a:p>
          <a:p>
            <a:pPr algn="l" rtl="0"/>
            <a:r>
              <a:rPr lang="en-US" dirty="0" smtClean="0"/>
              <a:t>4. p &amp;seq</a:t>
            </a:r>
          </a:p>
          <a:p>
            <a:pPr algn="l" rtl="0"/>
            <a:r>
              <a:rPr lang="en-US" dirty="0" smtClean="0"/>
              <a:t>5. </a:t>
            </a:r>
            <a:r>
              <a:rPr lang="en-US" dirty="0"/>
              <a:t>display /20g &amp;seq </a:t>
            </a:r>
            <a:r>
              <a:rPr lang="en-US" dirty="0"/>
              <a:t>(g = giant = 8bytes)</a:t>
            </a:r>
          </a:p>
          <a:p>
            <a:pPr algn="l" rtl="0"/>
            <a:r>
              <a:rPr lang="en-US" dirty="0" smtClean="0"/>
              <a:t>6.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6052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הערה לגבי </a:t>
            </a:r>
            <a:r>
              <a:rPr lang="en-US" dirty="0" smtClean="0"/>
              <a:t>display</a:t>
            </a:r>
            <a:r>
              <a:rPr lang="he-IL" dirty="0" smtClean="0"/>
              <a:t>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לגבי הפקודות :</a:t>
            </a:r>
            <a:r>
              <a:rPr lang="en-US" dirty="0" smtClean="0"/>
              <a:t> x/ </a:t>
            </a:r>
            <a:r>
              <a:rPr lang="he-IL" dirty="0" smtClean="0"/>
              <a:t>וכן </a:t>
            </a:r>
            <a:r>
              <a:rPr lang="en-US" dirty="0" smtClean="0"/>
              <a:t>display </a:t>
            </a:r>
            <a:r>
              <a:rPr lang="he-IL" dirty="0" smtClean="0"/>
              <a:t> : הערך 20 מציין את כמות הנתונים שרוצים לראות.</a:t>
            </a:r>
          </a:p>
          <a:p>
            <a:r>
              <a:rPr lang="he-IL" dirty="0" smtClean="0"/>
              <a:t>לאחר ה </a:t>
            </a:r>
            <a:r>
              <a:rPr lang="en-US" dirty="0" smtClean="0"/>
              <a:t>/</a:t>
            </a:r>
            <a:r>
              <a:rPr lang="he-IL" dirty="0" smtClean="0"/>
              <a:t> מציינים את גודל כל נתון בזיכרון. </a:t>
            </a:r>
          </a:p>
          <a:p>
            <a:r>
              <a:rPr lang="he-IL" dirty="0" smtClean="0"/>
              <a:t>להלן טבלה אשר ממחישה את הגדלים :</a:t>
            </a:r>
            <a:r>
              <a:rPr lang="en-US" dirty="0" smtClean="0"/>
              <a:t>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20902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טבלת גדלים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2AAF-92CC-404F-8696-FD15D1FD208C}" type="slidenum">
              <a:rPr lang="he-IL" smtClean="0"/>
              <a:t>28</a:t>
            </a:fld>
            <a:endParaRPr lang="he-IL"/>
          </a:p>
        </p:txBody>
      </p:sp>
      <p:pic>
        <p:nvPicPr>
          <p:cNvPr id="5" name="מציין מיקום תוכן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4283" y="2682661"/>
            <a:ext cx="9383434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010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אורגני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אורגני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אורגני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2969</TotalTime>
  <Words>1530</Words>
  <Application>Microsoft Office PowerPoint</Application>
  <PresentationFormat>מסך רחב</PresentationFormat>
  <Paragraphs>158</Paragraphs>
  <Slides>28</Slides>
  <Notes>1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4" baseType="lpstr">
      <vt:lpstr>Arial</vt:lpstr>
      <vt:lpstr>Calibri</vt:lpstr>
      <vt:lpstr>Garamond</vt:lpstr>
      <vt:lpstr>Times New Roman</vt:lpstr>
      <vt:lpstr>Wingdings</vt:lpstr>
      <vt:lpstr>אורגני</vt:lpstr>
      <vt:lpstr>תרגול שלישי  מערכי זיכרון </vt:lpstr>
      <vt:lpstr>מערכים מאותחלים</vt:lpstr>
      <vt:lpstr>מערכים מאותחלים המשך </vt:lpstr>
      <vt:lpstr>דוגמא 1 </vt:lpstr>
      <vt:lpstr>שינוי קטנטן בהרצת התכנית </vt:lpstr>
      <vt:lpstr>הצגת תוכן הזיכרון </vt:lpstr>
      <vt:lpstr>קובץ התכנית </vt:lpstr>
      <vt:lpstr>אופן ביצוע התכנית</vt:lpstr>
      <vt:lpstr>תכנית המשך </vt:lpstr>
      <vt:lpstr>שלבי הלולאה העיקרית</vt:lpstr>
      <vt:lpstr>דוגמא 2 </vt:lpstr>
      <vt:lpstr>תיאור התכנית </vt:lpstr>
      <vt:lpstr>הסבר לתכנית</vt:lpstr>
      <vt:lpstr>מערכים ומשתנים לא מאותחלים </vt:lpstr>
      <vt:lpstr>הגדרת טיפוסי נתונים במערכים לא מאותחלים</vt:lpstr>
      <vt:lpstr>דוגמא</vt:lpstr>
      <vt:lpstr>התכנית </vt:lpstr>
      <vt:lpstr>הסבר לתכנית</vt:lpstr>
      <vt:lpstr>מעקב אחר תוכן משתנה לא מאותחל</vt:lpstr>
      <vt:lpstr>מעקב אחר תוכן משתנה לא מאותחל</vt:lpstr>
      <vt:lpstr>מעקב אחר תוכן משתנה לא מאותחל</vt:lpstr>
      <vt:lpstr>השערת Collatz </vt:lpstr>
      <vt:lpstr>התכנית </vt:lpstr>
      <vt:lpstr>מהלך התכנית</vt:lpstr>
      <vt:lpstr>מהלך התכנית</vt:lpstr>
      <vt:lpstr>הרצה + מעקב אחר המערך </vt:lpstr>
      <vt:lpstr>הערה לגבי display </vt:lpstr>
      <vt:lpstr>טבלת גדלים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תרגול שלישי  מערכי זיכרון</dc:title>
  <dc:creator>אורן אליעזר</dc:creator>
  <cp:lastModifiedBy>אורן אליעזר</cp:lastModifiedBy>
  <cp:revision>40</cp:revision>
  <cp:lastPrinted>2026-03-06T09:59:14Z</cp:lastPrinted>
  <dcterms:created xsi:type="dcterms:W3CDTF">2026-03-03T18:02:47Z</dcterms:created>
  <dcterms:modified xsi:type="dcterms:W3CDTF">2026-04-09T17:08:58Z</dcterms:modified>
</cp:coreProperties>
</file>