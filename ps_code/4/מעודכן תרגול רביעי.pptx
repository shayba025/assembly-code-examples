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66"/>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317" r:id="rId15"/>
    <p:sldId id="318" r:id="rId16"/>
    <p:sldId id="269" r:id="rId17"/>
    <p:sldId id="270" r:id="rId18"/>
    <p:sldId id="271" r:id="rId19"/>
    <p:sldId id="279" r:id="rId20"/>
    <p:sldId id="280" r:id="rId21"/>
    <p:sldId id="281" r:id="rId22"/>
    <p:sldId id="282" r:id="rId23"/>
    <p:sldId id="283" r:id="rId24"/>
    <p:sldId id="300" r:id="rId25"/>
    <p:sldId id="301" r:id="rId26"/>
    <p:sldId id="302" r:id="rId27"/>
    <p:sldId id="319" r:id="rId28"/>
    <p:sldId id="320" r:id="rId29"/>
    <p:sldId id="321" r:id="rId30"/>
    <p:sldId id="322" r:id="rId31"/>
    <p:sldId id="324" r:id="rId32"/>
    <p:sldId id="325" r:id="rId33"/>
    <p:sldId id="326" r:id="rId34"/>
    <p:sldId id="327" r:id="rId35"/>
    <p:sldId id="323" r:id="rId36"/>
    <p:sldId id="285" r:id="rId37"/>
    <p:sldId id="328" r:id="rId38"/>
    <p:sldId id="329" r:id="rId39"/>
    <p:sldId id="330" r:id="rId40"/>
    <p:sldId id="331" r:id="rId41"/>
    <p:sldId id="289" r:id="rId42"/>
    <p:sldId id="313" r:id="rId43"/>
    <p:sldId id="314" r:id="rId44"/>
    <p:sldId id="315" r:id="rId45"/>
    <p:sldId id="316" r:id="rId46"/>
    <p:sldId id="290" r:id="rId47"/>
    <p:sldId id="291" r:id="rId48"/>
    <p:sldId id="292" r:id="rId49"/>
    <p:sldId id="293" r:id="rId50"/>
    <p:sldId id="294" r:id="rId51"/>
    <p:sldId id="295" r:id="rId52"/>
    <p:sldId id="296" r:id="rId53"/>
    <p:sldId id="297" r:id="rId54"/>
    <p:sldId id="298" r:id="rId55"/>
    <p:sldId id="303" r:id="rId56"/>
    <p:sldId id="304" r:id="rId57"/>
    <p:sldId id="305" r:id="rId58"/>
    <p:sldId id="306" r:id="rId59"/>
    <p:sldId id="307" r:id="rId60"/>
    <p:sldId id="308" r:id="rId61"/>
    <p:sldId id="309" r:id="rId62"/>
    <p:sldId id="310" r:id="rId63"/>
    <p:sldId id="312" r:id="rId64"/>
    <p:sldId id="311" r:id="rId65"/>
  </p:sldIdLst>
  <p:sldSz cx="12192000" cy="6858000"/>
  <p:notesSz cx="7104063" cy="1023461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70" d="100"/>
          <a:sy n="70" d="100"/>
        </p:scale>
        <p:origin x="53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4025636" y="0"/>
            <a:ext cx="3078427" cy="513508"/>
          </a:xfrm>
          <a:prstGeom prst="rect">
            <a:avLst/>
          </a:prstGeom>
        </p:spPr>
        <p:txBody>
          <a:bodyPr vert="horz" lIns="99075" tIns="49538" rIns="99075" bIns="49538" rtlCol="1"/>
          <a:lstStyle>
            <a:lvl1pPr algn="r">
              <a:defRPr sz="1300"/>
            </a:lvl1pPr>
          </a:lstStyle>
          <a:p>
            <a:endParaRPr lang="he-IL"/>
          </a:p>
        </p:txBody>
      </p:sp>
      <p:sp>
        <p:nvSpPr>
          <p:cNvPr id="3" name="מציין מיקום של תאריך 2"/>
          <p:cNvSpPr>
            <a:spLocks noGrp="1"/>
          </p:cNvSpPr>
          <p:nvPr>
            <p:ph type="dt" idx="1"/>
          </p:nvPr>
        </p:nvSpPr>
        <p:spPr>
          <a:xfrm>
            <a:off x="1645" y="0"/>
            <a:ext cx="3078427" cy="513508"/>
          </a:xfrm>
          <a:prstGeom prst="rect">
            <a:avLst/>
          </a:prstGeom>
        </p:spPr>
        <p:txBody>
          <a:bodyPr vert="horz" lIns="99075" tIns="49538" rIns="99075" bIns="49538" rtlCol="1"/>
          <a:lstStyle>
            <a:lvl1pPr algn="l">
              <a:defRPr sz="1300"/>
            </a:lvl1pPr>
          </a:lstStyle>
          <a:p>
            <a:fld id="{2DB8D94D-C934-4E2E-989A-4FCB3E2FF017}" type="datetimeFigureOut">
              <a:rPr lang="he-IL" smtClean="0"/>
              <a:t>י"ד/אייר/תשפ"ו</a:t>
            </a:fld>
            <a:endParaRPr lang="he-IL"/>
          </a:p>
        </p:txBody>
      </p:sp>
      <p:sp>
        <p:nvSpPr>
          <p:cNvPr id="4" name="מציין מיקום של תמונת שקופית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1" anchor="ctr"/>
          <a:lstStyle/>
          <a:p>
            <a:endParaRPr lang="he-IL"/>
          </a:p>
        </p:txBody>
      </p:sp>
      <p:sp>
        <p:nvSpPr>
          <p:cNvPr id="5" name="מציין מיקום של הערות 4"/>
          <p:cNvSpPr>
            <a:spLocks noGrp="1"/>
          </p:cNvSpPr>
          <p:nvPr>
            <p:ph type="body" sz="quarter" idx="3"/>
          </p:nvPr>
        </p:nvSpPr>
        <p:spPr>
          <a:xfrm>
            <a:off x="710407" y="4925407"/>
            <a:ext cx="5683250" cy="4029879"/>
          </a:xfrm>
          <a:prstGeom prst="rect">
            <a:avLst/>
          </a:prstGeom>
        </p:spPr>
        <p:txBody>
          <a:bodyPr vert="horz" lIns="99075" tIns="49538" rIns="99075" bIns="49538" rtlCol="1"/>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4025636" y="9721107"/>
            <a:ext cx="3078427" cy="513507"/>
          </a:xfrm>
          <a:prstGeom prst="rect">
            <a:avLst/>
          </a:prstGeom>
        </p:spPr>
        <p:txBody>
          <a:bodyPr vert="horz" lIns="99075" tIns="49538" rIns="99075" bIns="49538"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645" y="9721107"/>
            <a:ext cx="3078427" cy="513507"/>
          </a:xfrm>
          <a:prstGeom prst="rect">
            <a:avLst/>
          </a:prstGeom>
        </p:spPr>
        <p:txBody>
          <a:bodyPr vert="horz" lIns="99075" tIns="49538" rIns="99075" bIns="49538" rtlCol="1" anchor="b"/>
          <a:lstStyle>
            <a:lvl1pPr algn="l">
              <a:defRPr sz="1300"/>
            </a:lvl1pPr>
          </a:lstStyle>
          <a:p>
            <a:fld id="{75E516C7-F52A-4595-B6AE-0C09449B3150}" type="slidenum">
              <a:rPr lang="he-IL" smtClean="0"/>
              <a:t>‹#›</a:t>
            </a:fld>
            <a:endParaRPr lang="he-IL"/>
          </a:p>
        </p:txBody>
      </p:sp>
    </p:spTree>
    <p:extLst>
      <p:ext uri="{BB962C8B-B14F-4D97-AF65-F5344CB8AC3E}">
        <p14:creationId xmlns:p14="http://schemas.microsoft.com/office/powerpoint/2010/main" val="205315420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75E516C7-F52A-4595-B6AE-0C09449B3150}" type="slidenum">
              <a:rPr lang="he-IL" smtClean="0"/>
              <a:t>1</a:t>
            </a:fld>
            <a:endParaRPr lang="he-IL"/>
          </a:p>
        </p:txBody>
      </p:sp>
    </p:spTree>
    <p:extLst>
      <p:ext uri="{BB962C8B-B14F-4D97-AF65-F5344CB8AC3E}">
        <p14:creationId xmlns:p14="http://schemas.microsoft.com/office/powerpoint/2010/main" val="32200007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he-IL" smtClean="0"/>
              <a:t>לחץ כדי לערוך סגנון כותרת של תבנית בסיס</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9F0D22D-7F13-4334-954E-4C8553E99685}" type="datetime8">
              <a:rPr lang="he-IL" smtClean="0"/>
              <a:t>01 מאי 26</a:t>
            </a:fld>
            <a:endParaRPr lang="he-IL"/>
          </a:p>
        </p:txBody>
      </p:sp>
      <p:sp>
        <p:nvSpPr>
          <p:cNvPr id="5" name="Footer Placeholder 4"/>
          <p:cNvSpPr>
            <a:spLocks noGrp="1"/>
          </p:cNvSpPr>
          <p:nvPr>
            <p:ph type="ftr" sz="quarter" idx="11"/>
          </p:nvPr>
        </p:nvSpPr>
        <p:spPr>
          <a:xfrm>
            <a:off x="2692397" y="5037663"/>
            <a:ext cx="5214635" cy="279400"/>
          </a:xfrm>
        </p:spPr>
        <p:txBody>
          <a:bodyPr/>
          <a:lstStyle/>
          <a:p>
            <a:endParaRPr lang="he-IL"/>
          </a:p>
        </p:txBody>
      </p:sp>
      <p:sp>
        <p:nvSpPr>
          <p:cNvPr id="6" name="Slide Number Placeholder 5"/>
          <p:cNvSpPr>
            <a:spLocks noGrp="1"/>
          </p:cNvSpPr>
          <p:nvPr>
            <p:ph type="sldNum" sz="quarter" idx="12"/>
          </p:nvPr>
        </p:nvSpPr>
        <p:spPr>
          <a:xfrm>
            <a:off x="8956900" y="5037663"/>
            <a:ext cx="551167" cy="279400"/>
          </a:xfrm>
        </p:spPr>
        <p:txBody>
          <a:bodyPr/>
          <a:lstStyle/>
          <a:p>
            <a:fld id="{0BB5907D-BD0F-43E0-A690-15B32A6F70AF}" type="slidenum">
              <a:rPr lang="he-IL" smtClean="0"/>
              <a:t>‹#›</a:t>
            </a:fld>
            <a:endParaRPr lang="he-IL"/>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8349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D22EEECC-0AEE-4AC1-AFAE-3DC0F2314C17}"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3135756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0AC6BE2E-9055-4F65-AA49-BF7C6E0F6C4A}"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0423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Date Placeholder 4"/>
          <p:cNvSpPr>
            <a:spLocks noGrp="1"/>
          </p:cNvSpPr>
          <p:nvPr>
            <p:ph type="dt" sz="half" idx="10"/>
          </p:nvPr>
        </p:nvSpPr>
        <p:spPr/>
        <p:txBody>
          <a:bodyPr/>
          <a:lstStyle/>
          <a:p>
            <a:fld id="{8CB4B380-96AD-431B-B7B1-6227DBAE311B}" type="datetime8">
              <a:rPr lang="he-IL" smtClean="0"/>
              <a:t>01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2816126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7" name="Date Placeholder 6"/>
          <p:cNvSpPr>
            <a:spLocks noGrp="1"/>
          </p:cNvSpPr>
          <p:nvPr>
            <p:ph type="dt" sz="half" idx="10"/>
          </p:nvPr>
        </p:nvSpPr>
        <p:spPr/>
        <p:txBody>
          <a:bodyPr/>
          <a:lstStyle/>
          <a:p>
            <a:fld id="{E7AAE2B3-DD6E-4A90-AE7C-2AA0FF37DBA6}" type="datetime8">
              <a:rPr lang="he-IL" smtClean="0"/>
              <a:t>01 מאי 26</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0BB5907D-BD0F-43E0-A690-15B32A6F70AF}" type="slidenum">
              <a:rPr lang="he-IL" smtClean="0"/>
              <a:t>‹#›</a:t>
            </a:fld>
            <a:endParaRPr lang="he-IL"/>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8108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762461C-0CA4-4F9A-BA78-751B3571CF61}" type="datetime8">
              <a:rPr lang="he-IL" smtClean="0"/>
              <a:t>01 מאי 26</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0BB5907D-BD0F-43E0-A690-15B32A6F70AF}"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4261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4A8DA5-3437-48DD-96B0-FCFBD0E1574C}" type="datetime8">
              <a:rPr lang="he-IL" smtClean="0"/>
              <a:t>01 מאי 26</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137146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he-IL" smtClean="0"/>
              <a:t>לחץ כדי לערוך סגנון כותרת של תבנית בסיס</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fld id="{245C0BFA-BEC0-4BC9-8B0E-DB22E02B73E7}" type="datetime8">
              <a:rPr lang="he-IL" smtClean="0"/>
              <a:t>01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984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he-IL" smtClean="0"/>
              <a:t>לחץ כדי לערוך סגנון כותרת של תבנית בסיס</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fld id="{4A67DE5E-8075-4D4A-BD9C-EA6A514E9685}" type="datetime8">
              <a:rPr lang="he-IL" smtClean="0"/>
              <a:t>01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344071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he-IL" smtClean="0"/>
              <a:t>לחץ כדי לערוך סגנון כותרת של תבנית בסיס</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smtClean="0"/>
              <a:t>לחץ על הסמל כדי להוסיף תמונה</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Date Placeholder 4"/>
          <p:cNvSpPr>
            <a:spLocks noGrp="1"/>
          </p:cNvSpPr>
          <p:nvPr>
            <p:ph type="dt" sz="half" idx="10"/>
          </p:nvPr>
        </p:nvSpPr>
        <p:spPr/>
        <p:txBody>
          <a:bodyPr/>
          <a:lstStyle/>
          <a:p>
            <a:fld id="{D5F64E93-DE67-49BD-A506-E8CFB0EEA40D}" type="datetime8">
              <a:rPr lang="he-IL" smtClean="0"/>
              <a:t>01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1542694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98216D35-F519-4266-BF52-992511543A3E}"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6015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he-IL" smtClean="0"/>
              <a:t>לחץ כדי לערוך סגנון כותרת של תבנית בסיס</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smtClean="0"/>
              <a:t>לחץ כדי לערוך סגנונות טקסט של תבנית בסיס</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927E80CD-D48E-47F1-9FA8-BB406A92E2DC}"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5689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71C20518-C18F-4C8E-AF3D-E195D38B8796}"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1225037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he-IL" smtClean="0"/>
              <a:t>לחץ כדי לערוך סגנון כותרת של תבנית בסיס</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EDBA2118-C19B-4284-BAB9-8ECFCD39099F}"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785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או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he-IL" smtClean="0"/>
              <a:t>לחץ כדי לערוך סגנון כותרת של תבנית בסיס</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Date Placeholder 3"/>
          <p:cNvSpPr>
            <a:spLocks noGrp="1"/>
          </p:cNvSpPr>
          <p:nvPr>
            <p:ph type="dt" sz="half" idx="10"/>
          </p:nvPr>
        </p:nvSpPr>
        <p:spPr/>
        <p:txBody>
          <a:bodyPr/>
          <a:lstStyle/>
          <a:p>
            <a:fld id="{E42AE284-E494-4963-B56F-C943101CA807}"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5974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632CDAE8-F68B-4F92-A263-F6B54E557C73}"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174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10"/>
          </p:nvPr>
        </p:nvSpPr>
        <p:spPr/>
        <p:txBody>
          <a:bodyPr/>
          <a:lstStyle/>
          <a:p>
            <a:fld id="{79B7B716-2AC3-4BFA-9D6A-3EB555FC2D4A}" type="datetime8">
              <a:rPr lang="he-IL" smtClean="0"/>
              <a:t>01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522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B692B64-18DA-44AB-875C-2FA4E9ACC70A}" type="datetime8">
              <a:rPr lang="he-IL" smtClean="0"/>
              <a:t>01 מאי 26</a:t>
            </a:fld>
            <a:endParaRPr lang="he-IL"/>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he-IL"/>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BB5907D-BD0F-43E0-A690-15B32A6F70AF}" type="slidenum">
              <a:rPr lang="he-IL" smtClean="0"/>
              <a:t>‹#›</a:t>
            </a:fld>
            <a:endParaRPr lang="he-IL"/>
          </a:p>
        </p:txBody>
      </p:sp>
    </p:spTree>
    <p:extLst>
      <p:ext uri="{BB962C8B-B14F-4D97-AF65-F5344CB8AC3E}">
        <p14:creationId xmlns:p14="http://schemas.microsoft.com/office/powerpoint/2010/main" val="11948385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he-IL" dirty="0" smtClean="0"/>
              <a:t>תרגול רביעי </a:t>
            </a:r>
            <a:endParaRPr lang="he-IL" dirty="0"/>
          </a:p>
        </p:txBody>
      </p:sp>
      <p:sp>
        <p:nvSpPr>
          <p:cNvPr id="3" name="כותרת משנה 2"/>
          <p:cNvSpPr>
            <a:spLocks noGrp="1"/>
          </p:cNvSpPr>
          <p:nvPr>
            <p:ph type="subTitle" idx="1"/>
          </p:nvPr>
        </p:nvSpPr>
        <p:spPr/>
        <p:txBody>
          <a:bodyPr/>
          <a:lstStyle/>
          <a:p>
            <a:r>
              <a:rPr lang="he-IL" dirty="0" smtClean="0"/>
              <a:t>מחסנית , מאקרו , רקורסיה , זיכרון מחסנית </a:t>
            </a:r>
            <a:endParaRPr lang="he-IL" dirty="0"/>
          </a:p>
        </p:txBody>
      </p:sp>
      <p:sp>
        <p:nvSpPr>
          <p:cNvPr id="4" name="מציין מיקום של תאריך 3"/>
          <p:cNvSpPr>
            <a:spLocks noGrp="1"/>
          </p:cNvSpPr>
          <p:nvPr>
            <p:ph type="dt" sz="half" idx="10"/>
          </p:nvPr>
        </p:nvSpPr>
        <p:spPr/>
        <p:txBody>
          <a:bodyPr/>
          <a:lstStyle/>
          <a:p>
            <a:fld id="{69F4FD66-1734-43E9-8575-6E14ADFAE0CA}"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a:t>
            </a:fld>
            <a:endParaRPr lang="he-IL"/>
          </a:p>
        </p:txBody>
      </p:sp>
    </p:spTree>
    <p:extLst>
      <p:ext uri="{BB962C8B-B14F-4D97-AF65-F5344CB8AC3E}">
        <p14:creationId xmlns:p14="http://schemas.microsoft.com/office/powerpoint/2010/main" val="1631324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מחסנית הגדרה </a:t>
            </a:r>
            <a:endParaRPr lang="he-IL" dirty="0"/>
          </a:p>
        </p:txBody>
      </p:sp>
      <p:sp>
        <p:nvSpPr>
          <p:cNvPr id="3" name="מציין מיקום תוכן 2"/>
          <p:cNvSpPr>
            <a:spLocks noGrp="1"/>
          </p:cNvSpPr>
          <p:nvPr>
            <p:ph idx="1"/>
          </p:nvPr>
        </p:nvSpPr>
        <p:spPr/>
        <p:txBody>
          <a:bodyPr/>
          <a:lstStyle/>
          <a:p>
            <a:r>
              <a:rPr lang="he-IL" dirty="0" smtClean="0"/>
              <a:t>מחסנית מהווה אזור בזיכרון אשר משמש כזיכרון זמני. </a:t>
            </a:r>
          </a:p>
          <a:p>
            <a:r>
              <a:rPr lang="he-IL" dirty="0" smtClean="0"/>
              <a:t>המחסנית גדלה באופן הפוך: מתחילה מכתובות גבוהות ויורדת כלפי מטה בכל דחיפה. </a:t>
            </a:r>
          </a:p>
          <a:p>
            <a:r>
              <a:rPr lang="he-IL" dirty="0" smtClean="0"/>
              <a:t>כדי לגשת למחסנית קיים אוגר מיוחד </a:t>
            </a:r>
            <a:r>
              <a:rPr lang="en-US" dirty="0" err="1" smtClean="0"/>
              <a:t>rsp</a:t>
            </a:r>
            <a:r>
              <a:rPr lang="en-US" dirty="0" smtClean="0"/>
              <a:t>=stack pointer</a:t>
            </a:r>
            <a:r>
              <a:rPr lang="he-IL" dirty="0" smtClean="0"/>
              <a:t> אשר מצביע על הכתובת  של הערך אשר נכנס אחרון אל המחסנית.</a:t>
            </a:r>
          </a:p>
          <a:p>
            <a:r>
              <a:rPr lang="he-IL" dirty="0" smtClean="0"/>
              <a:t>במחסנית של 64 ביטים, בכל קידום הכתובת יורדת ב 8 בתים (אשר מהווים 8 כתובות).</a:t>
            </a:r>
            <a:endParaRPr lang="he-IL" dirty="0"/>
          </a:p>
        </p:txBody>
      </p:sp>
      <p:sp>
        <p:nvSpPr>
          <p:cNvPr id="4" name="מציין מיקום של תאריך 3"/>
          <p:cNvSpPr>
            <a:spLocks noGrp="1"/>
          </p:cNvSpPr>
          <p:nvPr>
            <p:ph type="dt" sz="half" idx="10"/>
          </p:nvPr>
        </p:nvSpPr>
        <p:spPr/>
        <p:txBody>
          <a:bodyPr/>
          <a:lstStyle/>
          <a:p>
            <a:fld id="{BB4CC7C6-2AF2-4154-85B2-407B4BE0D5F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a:t>
            </a:fld>
            <a:endParaRPr lang="he-IL"/>
          </a:p>
        </p:txBody>
      </p:sp>
    </p:spTree>
    <p:extLst>
      <p:ext uri="{BB962C8B-B14F-4D97-AF65-F5344CB8AC3E}">
        <p14:creationId xmlns:p14="http://schemas.microsoft.com/office/powerpoint/2010/main" val="3641705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פעולות יסודיות במחסנית </a:t>
            </a:r>
            <a:endParaRPr lang="he-IL" dirty="0"/>
          </a:p>
        </p:txBody>
      </p:sp>
      <p:sp>
        <p:nvSpPr>
          <p:cNvPr id="3" name="מציין מיקום תוכן 2"/>
          <p:cNvSpPr>
            <a:spLocks noGrp="1"/>
          </p:cNvSpPr>
          <p:nvPr>
            <p:ph idx="1"/>
          </p:nvPr>
        </p:nvSpPr>
        <p:spPr/>
        <p:txBody>
          <a:bodyPr/>
          <a:lstStyle/>
          <a:p>
            <a:r>
              <a:rPr lang="he-IL" dirty="0" smtClean="0"/>
              <a:t>במחסנית קיימות שתי פעולות יסודיות :</a:t>
            </a:r>
            <a:r>
              <a:rPr lang="en-US" dirty="0" smtClean="0"/>
              <a:t> </a:t>
            </a:r>
            <a:endParaRPr lang="he-IL" dirty="0" smtClean="0"/>
          </a:p>
          <a:p>
            <a:r>
              <a:rPr lang="he-IL" dirty="0" smtClean="0"/>
              <a:t>1. דחיפה – </a:t>
            </a:r>
            <a:r>
              <a:rPr lang="en-US" dirty="0" smtClean="0"/>
              <a:t>PUSH</a:t>
            </a:r>
            <a:r>
              <a:rPr lang="he-IL" dirty="0" smtClean="0"/>
              <a:t> - הכנסת איבר חדש אל ראש המחסנית </a:t>
            </a:r>
            <a:r>
              <a:rPr lang="en-US" dirty="0" smtClean="0"/>
              <a:t>	</a:t>
            </a:r>
          </a:p>
          <a:p>
            <a:r>
              <a:rPr lang="en-US" dirty="0" smtClean="0"/>
              <a:t>2</a:t>
            </a:r>
            <a:r>
              <a:rPr lang="he-IL" dirty="0" smtClean="0"/>
              <a:t>. שליפה – </a:t>
            </a:r>
            <a:r>
              <a:rPr lang="en-US" dirty="0" smtClean="0"/>
              <a:t>POP</a:t>
            </a:r>
            <a:r>
              <a:rPr lang="he-IL" dirty="0" smtClean="0"/>
              <a:t>  - הוצאת איבר מראש המחסנית </a:t>
            </a:r>
          </a:p>
          <a:p>
            <a:r>
              <a:rPr lang="he-IL" dirty="0" smtClean="0"/>
              <a:t>המחסנית עובדת לפי שיטה של נכנס אחרון יוצא ראשון – </a:t>
            </a:r>
            <a:r>
              <a:rPr lang="en-US" dirty="0" smtClean="0"/>
              <a:t>LIFO</a:t>
            </a:r>
            <a:r>
              <a:rPr lang="he-IL" dirty="0" smtClean="0"/>
              <a:t>  </a:t>
            </a:r>
          </a:p>
          <a:p>
            <a:r>
              <a:rPr lang="he-IL" dirty="0" smtClean="0"/>
              <a:t>בשקפים הבאים  נראה פירוט של כל אחת מן הפעולות </a:t>
            </a:r>
            <a:endParaRPr lang="he-IL" dirty="0"/>
          </a:p>
        </p:txBody>
      </p:sp>
      <p:sp>
        <p:nvSpPr>
          <p:cNvPr id="4" name="מציין מיקום של תאריך 3"/>
          <p:cNvSpPr>
            <a:spLocks noGrp="1"/>
          </p:cNvSpPr>
          <p:nvPr>
            <p:ph type="dt" sz="half" idx="10"/>
          </p:nvPr>
        </p:nvSpPr>
        <p:spPr/>
        <p:txBody>
          <a:bodyPr/>
          <a:lstStyle/>
          <a:p>
            <a:fld id="{F17E7D88-087E-42AB-A5F8-78EB229E1F0E}"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a:t>
            </a:fld>
            <a:endParaRPr lang="he-IL"/>
          </a:p>
        </p:txBody>
      </p:sp>
    </p:spTree>
    <p:extLst>
      <p:ext uri="{BB962C8B-B14F-4D97-AF65-F5344CB8AC3E}">
        <p14:creationId xmlns:p14="http://schemas.microsoft.com/office/powerpoint/2010/main" val="355858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דחיפה למחסנית </a:t>
            </a:r>
            <a:endParaRPr lang="he-IL" dirty="0"/>
          </a:p>
        </p:txBody>
      </p:sp>
      <p:sp>
        <p:nvSpPr>
          <p:cNvPr id="3" name="מציין מיקום תוכן 2"/>
          <p:cNvSpPr>
            <a:spLocks noGrp="1"/>
          </p:cNvSpPr>
          <p:nvPr>
            <p:ph idx="1"/>
          </p:nvPr>
        </p:nvSpPr>
        <p:spPr/>
        <p:txBody>
          <a:bodyPr>
            <a:normAutofit/>
          </a:bodyPr>
          <a:lstStyle/>
          <a:p>
            <a:r>
              <a:rPr lang="he-IL" dirty="0" smtClean="0"/>
              <a:t>  </a:t>
            </a:r>
            <a:r>
              <a:rPr lang="en-US" dirty="0" smtClean="0"/>
              <a:t>push</a:t>
            </a:r>
            <a:r>
              <a:rPr lang="he-IL" dirty="0" smtClean="0"/>
              <a:t> - בכל פעולת דחיפה </a:t>
            </a:r>
            <a:r>
              <a:rPr lang="en-US" dirty="0" err="1" smtClean="0"/>
              <a:t>rsp</a:t>
            </a:r>
            <a:r>
              <a:rPr lang="he-IL" dirty="0" smtClean="0"/>
              <a:t>  יורד ב 8 ואז התוכן נדחף אל הכתובת. </a:t>
            </a:r>
          </a:p>
          <a:p>
            <a:r>
              <a:rPr lang="he-IL" dirty="0" smtClean="0"/>
              <a:t>דוגמא :</a:t>
            </a:r>
            <a:r>
              <a:rPr lang="en-US" dirty="0" smtClean="0"/>
              <a:t> </a:t>
            </a:r>
            <a:r>
              <a:rPr lang="he-IL" dirty="0" smtClean="0"/>
              <a:t> </a:t>
            </a:r>
            <a:r>
              <a:rPr lang="en-US" dirty="0" smtClean="0"/>
              <a:t>push </a:t>
            </a:r>
            <a:r>
              <a:rPr lang="en-US" dirty="0" err="1" smtClean="0"/>
              <a:t>rax</a:t>
            </a:r>
            <a:r>
              <a:rPr lang="he-IL" dirty="0" smtClean="0"/>
              <a:t> שקולה לצמד הפעולות הבאות :</a:t>
            </a:r>
            <a:r>
              <a:rPr lang="en-US" dirty="0" smtClean="0"/>
              <a:t> </a:t>
            </a:r>
            <a:endParaRPr lang="he-IL" dirty="0" smtClean="0"/>
          </a:p>
          <a:p>
            <a:pPr algn="l" rtl="0"/>
            <a:r>
              <a:rPr lang="en-US" b="1" dirty="0" err="1"/>
              <a:t>rsp</a:t>
            </a:r>
            <a:r>
              <a:rPr lang="en-US" b="1" dirty="0"/>
              <a:t> = </a:t>
            </a:r>
            <a:r>
              <a:rPr lang="en-US" b="1" dirty="0" err="1"/>
              <a:t>rsp</a:t>
            </a:r>
            <a:r>
              <a:rPr lang="en-US" b="1" dirty="0"/>
              <a:t> </a:t>
            </a:r>
            <a:r>
              <a:rPr lang="en-US" b="1" dirty="0" smtClean="0"/>
              <a:t>– 8</a:t>
            </a:r>
          </a:p>
          <a:p>
            <a:pPr algn="l" rtl="0"/>
            <a:r>
              <a:rPr lang="en-US" b="1" dirty="0" smtClean="0"/>
              <a:t>[</a:t>
            </a:r>
            <a:r>
              <a:rPr lang="en-US" b="1" dirty="0" err="1"/>
              <a:t>rsp</a:t>
            </a:r>
            <a:r>
              <a:rPr lang="en-US" b="1" dirty="0"/>
              <a:t>] = </a:t>
            </a:r>
            <a:r>
              <a:rPr lang="en-US" b="1" dirty="0" err="1" smtClean="0"/>
              <a:t>rax</a:t>
            </a:r>
            <a:endParaRPr lang="he-IL" b="1" dirty="0" smtClean="0"/>
          </a:p>
          <a:p>
            <a:endParaRPr lang="he-IL" dirty="0"/>
          </a:p>
        </p:txBody>
      </p:sp>
      <p:sp>
        <p:nvSpPr>
          <p:cNvPr id="4" name="מציין מיקום של תאריך 3"/>
          <p:cNvSpPr>
            <a:spLocks noGrp="1"/>
          </p:cNvSpPr>
          <p:nvPr>
            <p:ph type="dt" sz="half" idx="10"/>
          </p:nvPr>
        </p:nvSpPr>
        <p:spPr/>
        <p:txBody>
          <a:bodyPr/>
          <a:lstStyle/>
          <a:p>
            <a:fld id="{1C66583C-60D3-4CF3-8F2E-6F947DFA7C28}"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a:t>
            </a:fld>
            <a:endParaRPr lang="he-IL"/>
          </a:p>
        </p:txBody>
      </p:sp>
    </p:spTree>
    <p:extLst>
      <p:ext uri="{BB962C8B-B14F-4D97-AF65-F5344CB8AC3E}">
        <p14:creationId xmlns:p14="http://schemas.microsoft.com/office/powerpoint/2010/main" val="415192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80">
                                          <p:stCondLst>
                                            <p:cond delay="0"/>
                                          </p:stCondLst>
                                        </p:cTn>
                                        <p:tgtEl>
                                          <p:spTgt spid="3">
                                            <p:txEl>
                                              <p:pRg st="2" end="2"/>
                                            </p:txEl>
                                          </p:spTgt>
                                        </p:tgtEl>
                                      </p:cBhvr>
                                    </p:animEffect>
                                    <p:anim calcmode="lin" valueType="num">
                                      <p:cBhvr>
                                        <p:cTn id="2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5" dur="26">
                                          <p:stCondLst>
                                            <p:cond delay="650"/>
                                          </p:stCondLst>
                                        </p:cTn>
                                        <p:tgtEl>
                                          <p:spTgt spid="3">
                                            <p:txEl>
                                              <p:pRg st="2" end="2"/>
                                            </p:txEl>
                                          </p:spTgt>
                                        </p:tgtEl>
                                      </p:cBhvr>
                                      <p:to x="100000" y="60000"/>
                                    </p:animScale>
                                    <p:animScale>
                                      <p:cBhvr>
                                        <p:cTn id="26" dur="166" decel="50000">
                                          <p:stCondLst>
                                            <p:cond delay="676"/>
                                          </p:stCondLst>
                                        </p:cTn>
                                        <p:tgtEl>
                                          <p:spTgt spid="3">
                                            <p:txEl>
                                              <p:pRg st="2" end="2"/>
                                            </p:txEl>
                                          </p:spTgt>
                                        </p:tgtEl>
                                      </p:cBhvr>
                                      <p:to x="100000" y="100000"/>
                                    </p:animScale>
                                    <p:animScale>
                                      <p:cBhvr>
                                        <p:cTn id="27" dur="26">
                                          <p:stCondLst>
                                            <p:cond delay="1312"/>
                                          </p:stCondLst>
                                        </p:cTn>
                                        <p:tgtEl>
                                          <p:spTgt spid="3">
                                            <p:txEl>
                                              <p:pRg st="2" end="2"/>
                                            </p:txEl>
                                          </p:spTgt>
                                        </p:tgtEl>
                                      </p:cBhvr>
                                      <p:to x="100000" y="80000"/>
                                    </p:animScale>
                                    <p:animScale>
                                      <p:cBhvr>
                                        <p:cTn id="28" dur="166" decel="50000">
                                          <p:stCondLst>
                                            <p:cond delay="1338"/>
                                          </p:stCondLst>
                                        </p:cTn>
                                        <p:tgtEl>
                                          <p:spTgt spid="3">
                                            <p:txEl>
                                              <p:pRg st="2" end="2"/>
                                            </p:txEl>
                                          </p:spTgt>
                                        </p:tgtEl>
                                      </p:cBhvr>
                                      <p:to x="100000" y="100000"/>
                                    </p:animScale>
                                    <p:animScale>
                                      <p:cBhvr>
                                        <p:cTn id="29" dur="26">
                                          <p:stCondLst>
                                            <p:cond delay="1642"/>
                                          </p:stCondLst>
                                        </p:cTn>
                                        <p:tgtEl>
                                          <p:spTgt spid="3">
                                            <p:txEl>
                                              <p:pRg st="2" end="2"/>
                                            </p:txEl>
                                          </p:spTgt>
                                        </p:tgtEl>
                                      </p:cBhvr>
                                      <p:to x="100000" y="90000"/>
                                    </p:animScale>
                                    <p:animScale>
                                      <p:cBhvr>
                                        <p:cTn id="30" dur="166" decel="50000">
                                          <p:stCondLst>
                                            <p:cond delay="1668"/>
                                          </p:stCondLst>
                                        </p:cTn>
                                        <p:tgtEl>
                                          <p:spTgt spid="3">
                                            <p:txEl>
                                              <p:pRg st="2" end="2"/>
                                            </p:txEl>
                                          </p:spTgt>
                                        </p:tgtEl>
                                      </p:cBhvr>
                                      <p:to x="100000" y="100000"/>
                                    </p:animScale>
                                    <p:animScale>
                                      <p:cBhvr>
                                        <p:cTn id="31" dur="26">
                                          <p:stCondLst>
                                            <p:cond delay="1808"/>
                                          </p:stCondLst>
                                        </p:cTn>
                                        <p:tgtEl>
                                          <p:spTgt spid="3">
                                            <p:txEl>
                                              <p:pRg st="2" end="2"/>
                                            </p:txEl>
                                          </p:spTgt>
                                        </p:tgtEl>
                                      </p:cBhvr>
                                      <p:to x="100000" y="95000"/>
                                    </p:animScale>
                                    <p:animScale>
                                      <p:cBhvr>
                                        <p:cTn id="32" dur="166" decel="50000">
                                          <p:stCondLst>
                                            <p:cond delay="1834"/>
                                          </p:stCondLst>
                                        </p:cTn>
                                        <p:tgtEl>
                                          <p:spTgt spid="3">
                                            <p:txEl>
                                              <p:pRg st="2" end="2"/>
                                            </p:txEl>
                                          </p:spTgt>
                                        </p:tgtEl>
                                      </p:cBhvr>
                                      <p:to x="100000" y="100000"/>
                                    </p:animScale>
                                  </p:childTnLst>
                                </p:cTn>
                              </p:par>
                              <p:par>
                                <p:cTn id="33" presetID="26" presetClass="entr" presetSubtype="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wipe(down)">
                                      <p:cBhvr>
                                        <p:cTn id="35" dur="580">
                                          <p:stCondLst>
                                            <p:cond delay="0"/>
                                          </p:stCondLst>
                                        </p:cTn>
                                        <p:tgtEl>
                                          <p:spTgt spid="3">
                                            <p:txEl>
                                              <p:pRg st="3" end="3"/>
                                            </p:txEl>
                                          </p:spTgt>
                                        </p:tgtEl>
                                      </p:cBhvr>
                                    </p:animEffect>
                                    <p:anim calcmode="lin" valueType="num">
                                      <p:cBhvr>
                                        <p:cTn id="3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3">
                                            <p:txEl>
                                              <p:pRg st="3" end="3"/>
                                            </p:txEl>
                                          </p:spTgt>
                                        </p:tgtEl>
                                      </p:cBhvr>
                                      <p:to x="100000" y="60000"/>
                                    </p:animScale>
                                    <p:animScale>
                                      <p:cBhvr>
                                        <p:cTn id="42" dur="166" decel="50000">
                                          <p:stCondLst>
                                            <p:cond delay="676"/>
                                          </p:stCondLst>
                                        </p:cTn>
                                        <p:tgtEl>
                                          <p:spTgt spid="3">
                                            <p:txEl>
                                              <p:pRg st="3" end="3"/>
                                            </p:txEl>
                                          </p:spTgt>
                                        </p:tgtEl>
                                      </p:cBhvr>
                                      <p:to x="100000" y="100000"/>
                                    </p:animScale>
                                    <p:animScale>
                                      <p:cBhvr>
                                        <p:cTn id="43" dur="26">
                                          <p:stCondLst>
                                            <p:cond delay="1312"/>
                                          </p:stCondLst>
                                        </p:cTn>
                                        <p:tgtEl>
                                          <p:spTgt spid="3">
                                            <p:txEl>
                                              <p:pRg st="3" end="3"/>
                                            </p:txEl>
                                          </p:spTgt>
                                        </p:tgtEl>
                                      </p:cBhvr>
                                      <p:to x="100000" y="80000"/>
                                    </p:animScale>
                                    <p:animScale>
                                      <p:cBhvr>
                                        <p:cTn id="44" dur="166" decel="50000">
                                          <p:stCondLst>
                                            <p:cond delay="1338"/>
                                          </p:stCondLst>
                                        </p:cTn>
                                        <p:tgtEl>
                                          <p:spTgt spid="3">
                                            <p:txEl>
                                              <p:pRg st="3" end="3"/>
                                            </p:txEl>
                                          </p:spTgt>
                                        </p:tgtEl>
                                      </p:cBhvr>
                                      <p:to x="100000" y="100000"/>
                                    </p:animScale>
                                    <p:animScale>
                                      <p:cBhvr>
                                        <p:cTn id="45" dur="26">
                                          <p:stCondLst>
                                            <p:cond delay="1642"/>
                                          </p:stCondLst>
                                        </p:cTn>
                                        <p:tgtEl>
                                          <p:spTgt spid="3">
                                            <p:txEl>
                                              <p:pRg st="3" end="3"/>
                                            </p:txEl>
                                          </p:spTgt>
                                        </p:tgtEl>
                                      </p:cBhvr>
                                      <p:to x="100000" y="90000"/>
                                    </p:animScale>
                                    <p:animScale>
                                      <p:cBhvr>
                                        <p:cTn id="46" dur="166" decel="50000">
                                          <p:stCondLst>
                                            <p:cond delay="1668"/>
                                          </p:stCondLst>
                                        </p:cTn>
                                        <p:tgtEl>
                                          <p:spTgt spid="3">
                                            <p:txEl>
                                              <p:pRg st="3" end="3"/>
                                            </p:txEl>
                                          </p:spTgt>
                                        </p:tgtEl>
                                      </p:cBhvr>
                                      <p:to x="100000" y="100000"/>
                                    </p:animScale>
                                    <p:animScale>
                                      <p:cBhvr>
                                        <p:cTn id="47" dur="26">
                                          <p:stCondLst>
                                            <p:cond delay="1808"/>
                                          </p:stCondLst>
                                        </p:cTn>
                                        <p:tgtEl>
                                          <p:spTgt spid="3">
                                            <p:txEl>
                                              <p:pRg st="3" end="3"/>
                                            </p:txEl>
                                          </p:spTgt>
                                        </p:tgtEl>
                                      </p:cBhvr>
                                      <p:to x="100000" y="95000"/>
                                    </p:animScale>
                                    <p:animScale>
                                      <p:cBhvr>
                                        <p:cTn id="48"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שליפה מהמחסנית </a:t>
            </a:r>
            <a:endParaRPr lang="he-IL" dirty="0"/>
          </a:p>
        </p:txBody>
      </p:sp>
      <p:sp>
        <p:nvSpPr>
          <p:cNvPr id="3" name="מציין מיקום תוכן 2"/>
          <p:cNvSpPr>
            <a:spLocks noGrp="1"/>
          </p:cNvSpPr>
          <p:nvPr>
            <p:ph idx="1"/>
          </p:nvPr>
        </p:nvSpPr>
        <p:spPr/>
        <p:txBody>
          <a:bodyPr/>
          <a:lstStyle/>
          <a:p>
            <a:r>
              <a:rPr lang="he-IL" dirty="0"/>
              <a:t>. שליפה  -  </a:t>
            </a:r>
            <a:r>
              <a:rPr lang="en-US" dirty="0"/>
              <a:t>pop</a:t>
            </a:r>
            <a:r>
              <a:rPr lang="he-IL" dirty="0"/>
              <a:t>  - בכל פעולת שליפה תוכן הכתובת ש </a:t>
            </a:r>
            <a:r>
              <a:rPr lang="en-US" dirty="0" err="1"/>
              <a:t>rsp</a:t>
            </a:r>
            <a:r>
              <a:rPr lang="he-IL" dirty="0"/>
              <a:t> מצביע עליה עובר אל </a:t>
            </a:r>
            <a:r>
              <a:rPr lang="he-IL" dirty="0" smtClean="0"/>
              <a:t>האוגר שבו נרצה לאחסן את התוכן, וכן הכתובת ש </a:t>
            </a:r>
            <a:r>
              <a:rPr lang="en-US" dirty="0" smtClean="0"/>
              <a:t>RSP</a:t>
            </a:r>
            <a:r>
              <a:rPr lang="he-IL" dirty="0" smtClean="0"/>
              <a:t> מצביע עליה עולה ב 8 :</a:t>
            </a:r>
            <a:r>
              <a:rPr lang="en-US" dirty="0" smtClean="0"/>
              <a:t> </a:t>
            </a:r>
            <a:endParaRPr lang="he-IL" dirty="0"/>
          </a:p>
          <a:p>
            <a:r>
              <a:rPr lang="he-IL" dirty="0" smtClean="0"/>
              <a:t>לדוגמא </a:t>
            </a:r>
            <a:r>
              <a:rPr lang="en-US" dirty="0" smtClean="0"/>
              <a:t>pop </a:t>
            </a:r>
            <a:r>
              <a:rPr lang="en-US" dirty="0" err="1" smtClean="0"/>
              <a:t>rax</a:t>
            </a:r>
            <a:r>
              <a:rPr lang="he-IL" dirty="0" smtClean="0"/>
              <a:t> שקולה לצמד הפעולות הבא :</a:t>
            </a:r>
            <a:r>
              <a:rPr lang="en-US" dirty="0" smtClean="0"/>
              <a:t> </a:t>
            </a:r>
            <a:endParaRPr lang="he-IL" dirty="0" smtClean="0"/>
          </a:p>
          <a:p>
            <a:pPr algn="l" rtl="0"/>
            <a:r>
              <a:rPr lang="en-US" dirty="0" err="1"/>
              <a:t>r</a:t>
            </a:r>
            <a:r>
              <a:rPr lang="en-US" dirty="0" err="1" smtClean="0"/>
              <a:t>ax</a:t>
            </a:r>
            <a:r>
              <a:rPr lang="en-US" dirty="0" smtClean="0"/>
              <a:t> </a:t>
            </a:r>
            <a:r>
              <a:rPr lang="en-US" dirty="0" smtClean="0">
                <a:sym typeface="Wingdings" panose="05000000000000000000" pitchFamily="2" charset="2"/>
              </a:rPr>
              <a:t> [</a:t>
            </a:r>
            <a:r>
              <a:rPr lang="en-US" dirty="0" err="1" smtClean="0">
                <a:sym typeface="Wingdings" panose="05000000000000000000" pitchFamily="2" charset="2"/>
              </a:rPr>
              <a:t>rsp</a:t>
            </a:r>
            <a:r>
              <a:rPr lang="en-US" dirty="0" smtClean="0">
                <a:sym typeface="Wingdings" panose="05000000000000000000" pitchFamily="2" charset="2"/>
              </a:rPr>
              <a:t>]</a:t>
            </a:r>
          </a:p>
          <a:p>
            <a:pPr algn="l" rtl="0"/>
            <a:r>
              <a:rPr lang="en-US" dirty="0" err="1" smtClean="0"/>
              <a:t>Rsp</a:t>
            </a:r>
            <a:r>
              <a:rPr lang="en-US" dirty="0" smtClean="0"/>
              <a:t> </a:t>
            </a:r>
            <a:r>
              <a:rPr lang="en-US" dirty="0" smtClean="0">
                <a:sym typeface="Wingdings" panose="05000000000000000000" pitchFamily="2" charset="2"/>
              </a:rPr>
              <a:t> rsp+8</a:t>
            </a:r>
            <a:endParaRPr lang="he-IL" dirty="0"/>
          </a:p>
          <a:p>
            <a:endParaRPr lang="he-IL" dirty="0"/>
          </a:p>
        </p:txBody>
      </p:sp>
      <p:sp>
        <p:nvSpPr>
          <p:cNvPr id="4" name="מציין מיקום של תאריך 3"/>
          <p:cNvSpPr>
            <a:spLocks noGrp="1"/>
          </p:cNvSpPr>
          <p:nvPr>
            <p:ph type="dt" sz="half" idx="10"/>
          </p:nvPr>
        </p:nvSpPr>
        <p:spPr/>
        <p:txBody>
          <a:bodyPr/>
          <a:lstStyle/>
          <a:p>
            <a:fld id="{2CE29C8F-A565-4ACF-A6D8-44B0A2224EEC}"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a:t>
            </a:fld>
            <a:endParaRPr lang="he-IL"/>
          </a:p>
        </p:txBody>
      </p:sp>
    </p:spTree>
    <p:extLst>
      <p:ext uri="{BB962C8B-B14F-4D97-AF65-F5344CB8AC3E}">
        <p14:creationId xmlns:p14="http://schemas.microsoft.com/office/powerpoint/2010/main" val="196710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80">
                                          <p:stCondLst>
                                            <p:cond delay="0"/>
                                          </p:stCondLst>
                                        </p:cTn>
                                        <p:tgtEl>
                                          <p:spTgt spid="3">
                                            <p:txEl>
                                              <p:pRg st="2" end="2"/>
                                            </p:txEl>
                                          </p:spTgt>
                                        </p:tgtEl>
                                      </p:cBhvr>
                                    </p:animEffect>
                                    <p:anim calcmode="lin" valueType="num">
                                      <p:cBhvr>
                                        <p:cTn id="2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5" dur="26">
                                          <p:stCondLst>
                                            <p:cond delay="650"/>
                                          </p:stCondLst>
                                        </p:cTn>
                                        <p:tgtEl>
                                          <p:spTgt spid="3">
                                            <p:txEl>
                                              <p:pRg st="2" end="2"/>
                                            </p:txEl>
                                          </p:spTgt>
                                        </p:tgtEl>
                                      </p:cBhvr>
                                      <p:to x="100000" y="60000"/>
                                    </p:animScale>
                                    <p:animScale>
                                      <p:cBhvr>
                                        <p:cTn id="26" dur="166" decel="50000">
                                          <p:stCondLst>
                                            <p:cond delay="676"/>
                                          </p:stCondLst>
                                        </p:cTn>
                                        <p:tgtEl>
                                          <p:spTgt spid="3">
                                            <p:txEl>
                                              <p:pRg st="2" end="2"/>
                                            </p:txEl>
                                          </p:spTgt>
                                        </p:tgtEl>
                                      </p:cBhvr>
                                      <p:to x="100000" y="100000"/>
                                    </p:animScale>
                                    <p:animScale>
                                      <p:cBhvr>
                                        <p:cTn id="27" dur="26">
                                          <p:stCondLst>
                                            <p:cond delay="1312"/>
                                          </p:stCondLst>
                                        </p:cTn>
                                        <p:tgtEl>
                                          <p:spTgt spid="3">
                                            <p:txEl>
                                              <p:pRg st="2" end="2"/>
                                            </p:txEl>
                                          </p:spTgt>
                                        </p:tgtEl>
                                      </p:cBhvr>
                                      <p:to x="100000" y="80000"/>
                                    </p:animScale>
                                    <p:animScale>
                                      <p:cBhvr>
                                        <p:cTn id="28" dur="166" decel="50000">
                                          <p:stCondLst>
                                            <p:cond delay="1338"/>
                                          </p:stCondLst>
                                        </p:cTn>
                                        <p:tgtEl>
                                          <p:spTgt spid="3">
                                            <p:txEl>
                                              <p:pRg st="2" end="2"/>
                                            </p:txEl>
                                          </p:spTgt>
                                        </p:tgtEl>
                                      </p:cBhvr>
                                      <p:to x="100000" y="100000"/>
                                    </p:animScale>
                                    <p:animScale>
                                      <p:cBhvr>
                                        <p:cTn id="29" dur="26">
                                          <p:stCondLst>
                                            <p:cond delay="1642"/>
                                          </p:stCondLst>
                                        </p:cTn>
                                        <p:tgtEl>
                                          <p:spTgt spid="3">
                                            <p:txEl>
                                              <p:pRg st="2" end="2"/>
                                            </p:txEl>
                                          </p:spTgt>
                                        </p:tgtEl>
                                      </p:cBhvr>
                                      <p:to x="100000" y="90000"/>
                                    </p:animScale>
                                    <p:animScale>
                                      <p:cBhvr>
                                        <p:cTn id="30" dur="166" decel="50000">
                                          <p:stCondLst>
                                            <p:cond delay="1668"/>
                                          </p:stCondLst>
                                        </p:cTn>
                                        <p:tgtEl>
                                          <p:spTgt spid="3">
                                            <p:txEl>
                                              <p:pRg st="2" end="2"/>
                                            </p:txEl>
                                          </p:spTgt>
                                        </p:tgtEl>
                                      </p:cBhvr>
                                      <p:to x="100000" y="100000"/>
                                    </p:animScale>
                                    <p:animScale>
                                      <p:cBhvr>
                                        <p:cTn id="31" dur="26">
                                          <p:stCondLst>
                                            <p:cond delay="1808"/>
                                          </p:stCondLst>
                                        </p:cTn>
                                        <p:tgtEl>
                                          <p:spTgt spid="3">
                                            <p:txEl>
                                              <p:pRg st="2" end="2"/>
                                            </p:txEl>
                                          </p:spTgt>
                                        </p:tgtEl>
                                      </p:cBhvr>
                                      <p:to x="100000" y="95000"/>
                                    </p:animScale>
                                    <p:animScale>
                                      <p:cBhvr>
                                        <p:cTn id="32" dur="166" decel="50000">
                                          <p:stCondLst>
                                            <p:cond delay="1834"/>
                                          </p:stCondLst>
                                        </p:cTn>
                                        <p:tgtEl>
                                          <p:spTgt spid="3">
                                            <p:txEl>
                                              <p:pRg st="2" end="2"/>
                                            </p:txEl>
                                          </p:spTgt>
                                        </p:tgtEl>
                                      </p:cBhvr>
                                      <p:to x="100000" y="100000"/>
                                    </p:animScale>
                                  </p:childTnLst>
                                </p:cTn>
                              </p:par>
                              <p:par>
                                <p:cTn id="33" presetID="26" presetClass="entr" presetSubtype="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wipe(down)">
                                      <p:cBhvr>
                                        <p:cTn id="35" dur="580">
                                          <p:stCondLst>
                                            <p:cond delay="0"/>
                                          </p:stCondLst>
                                        </p:cTn>
                                        <p:tgtEl>
                                          <p:spTgt spid="3">
                                            <p:txEl>
                                              <p:pRg st="3" end="3"/>
                                            </p:txEl>
                                          </p:spTgt>
                                        </p:tgtEl>
                                      </p:cBhvr>
                                    </p:animEffect>
                                    <p:anim calcmode="lin" valueType="num">
                                      <p:cBhvr>
                                        <p:cTn id="3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3">
                                            <p:txEl>
                                              <p:pRg st="3" end="3"/>
                                            </p:txEl>
                                          </p:spTgt>
                                        </p:tgtEl>
                                      </p:cBhvr>
                                      <p:to x="100000" y="60000"/>
                                    </p:animScale>
                                    <p:animScale>
                                      <p:cBhvr>
                                        <p:cTn id="42" dur="166" decel="50000">
                                          <p:stCondLst>
                                            <p:cond delay="676"/>
                                          </p:stCondLst>
                                        </p:cTn>
                                        <p:tgtEl>
                                          <p:spTgt spid="3">
                                            <p:txEl>
                                              <p:pRg st="3" end="3"/>
                                            </p:txEl>
                                          </p:spTgt>
                                        </p:tgtEl>
                                      </p:cBhvr>
                                      <p:to x="100000" y="100000"/>
                                    </p:animScale>
                                    <p:animScale>
                                      <p:cBhvr>
                                        <p:cTn id="43" dur="26">
                                          <p:stCondLst>
                                            <p:cond delay="1312"/>
                                          </p:stCondLst>
                                        </p:cTn>
                                        <p:tgtEl>
                                          <p:spTgt spid="3">
                                            <p:txEl>
                                              <p:pRg st="3" end="3"/>
                                            </p:txEl>
                                          </p:spTgt>
                                        </p:tgtEl>
                                      </p:cBhvr>
                                      <p:to x="100000" y="80000"/>
                                    </p:animScale>
                                    <p:animScale>
                                      <p:cBhvr>
                                        <p:cTn id="44" dur="166" decel="50000">
                                          <p:stCondLst>
                                            <p:cond delay="1338"/>
                                          </p:stCondLst>
                                        </p:cTn>
                                        <p:tgtEl>
                                          <p:spTgt spid="3">
                                            <p:txEl>
                                              <p:pRg st="3" end="3"/>
                                            </p:txEl>
                                          </p:spTgt>
                                        </p:tgtEl>
                                      </p:cBhvr>
                                      <p:to x="100000" y="100000"/>
                                    </p:animScale>
                                    <p:animScale>
                                      <p:cBhvr>
                                        <p:cTn id="45" dur="26">
                                          <p:stCondLst>
                                            <p:cond delay="1642"/>
                                          </p:stCondLst>
                                        </p:cTn>
                                        <p:tgtEl>
                                          <p:spTgt spid="3">
                                            <p:txEl>
                                              <p:pRg st="3" end="3"/>
                                            </p:txEl>
                                          </p:spTgt>
                                        </p:tgtEl>
                                      </p:cBhvr>
                                      <p:to x="100000" y="90000"/>
                                    </p:animScale>
                                    <p:animScale>
                                      <p:cBhvr>
                                        <p:cTn id="46" dur="166" decel="50000">
                                          <p:stCondLst>
                                            <p:cond delay="1668"/>
                                          </p:stCondLst>
                                        </p:cTn>
                                        <p:tgtEl>
                                          <p:spTgt spid="3">
                                            <p:txEl>
                                              <p:pRg st="3" end="3"/>
                                            </p:txEl>
                                          </p:spTgt>
                                        </p:tgtEl>
                                      </p:cBhvr>
                                      <p:to x="100000" y="100000"/>
                                    </p:animScale>
                                    <p:animScale>
                                      <p:cBhvr>
                                        <p:cTn id="47" dur="26">
                                          <p:stCondLst>
                                            <p:cond delay="1808"/>
                                          </p:stCondLst>
                                        </p:cTn>
                                        <p:tgtEl>
                                          <p:spTgt spid="3">
                                            <p:txEl>
                                              <p:pRg st="3" end="3"/>
                                            </p:txEl>
                                          </p:spTgt>
                                        </p:tgtEl>
                                      </p:cBhvr>
                                      <p:to x="100000" y="95000"/>
                                    </p:animScale>
                                    <p:animScale>
                                      <p:cBhvr>
                                        <p:cTn id="48"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מהו מאקרו ? </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dirty="0" smtClean="0"/>
              <a:t>מאקרו הוא קטע קוד באסמבלר: הוא מאפשר למתכנת להגדיר  קטע קוד באופן חד פעמי  ואז להשתמש בה שוב ושוב בתכנית. הוא כמעין העתק-הדבק עבור </a:t>
            </a:r>
            <a:r>
              <a:rPr lang="en-US" dirty="0" smtClean="0"/>
              <a:t>NASM</a:t>
            </a:r>
            <a:r>
              <a:rPr lang="he-IL" dirty="0" smtClean="0"/>
              <a:t> </a:t>
            </a:r>
            <a:endParaRPr lang="en-US" dirty="0" smtClean="0"/>
          </a:p>
          <a:p>
            <a:r>
              <a:rPr lang="he-IL" dirty="0"/>
              <a:t>מאפיינים עיקריים</a:t>
            </a:r>
            <a:r>
              <a:rPr lang="he-IL" dirty="0" smtClean="0"/>
              <a:t>: </a:t>
            </a:r>
          </a:p>
          <a:p>
            <a:r>
              <a:rPr lang="he-IL" dirty="0" smtClean="0"/>
              <a:t>החלפת </a:t>
            </a:r>
            <a:r>
              <a:rPr lang="he-IL" dirty="0"/>
              <a:t>טקסט </a:t>
            </a:r>
            <a:r>
              <a:rPr lang="he-IL" dirty="0" smtClean="0"/>
              <a:t>: כאשר </a:t>
            </a:r>
            <a:r>
              <a:rPr lang="he-IL" dirty="0"/>
              <a:t>האסמבלר </a:t>
            </a:r>
            <a:r>
              <a:rPr lang="he-IL" dirty="0" smtClean="0"/>
              <a:t> נתקל </a:t>
            </a:r>
            <a:r>
              <a:rPr lang="he-IL" dirty="0"/>
              <a:t>בשם המאקרו, הוא מחליף אותו בזמן ההידור ברצף הפקודות המקורי</a:t>
            </a:r>
            <a:r>
              <a:rPr lang="he-IL" dirty="0" smtClean="0"/>
              <a:t>.</a:t>
            </a:r>
          </a:p>
          <a:p>
            <a:r>
              <a:rPr lang="he-IL" dirty="0" smtClean="0"/>
              <a:t> </a:t>
            </a:r>
            <a:r>
              <a:rPr lang="he-IL" dirty="0"/>
              <a:t>בקובץ הריצה </a:t>
            </a:r>
            <a:r>
              <a:rPr lang="he-IL" dirty="0" smtClean="0"/>
              <a:t>הסופי</a:t>
            </a:r>
            <a:r>
              <a:rPr lang="en-US" dirty="0" smtClean="0"/>
              <a:t>, </a:t>
            </a:r>
            <a:r>
              <a:rPr lang="he-IL" dirty="0"/>
              <a:t>הקוד יופיע במלואו בכל מקום שבו נקרא המאקרו</a:t>
            </a:r>
            <a:r>
              <a:rPr lang="he-IL" dirty="0" smtClean="0"/>
              <a:t>.</a:t>
            </a:r>
          </a:p>
          <a:p>
            <a:r>
              <a:rPr lang="he-IL" dirty="0" smtClean="0"/>
              <a:t>פרמטרים</a:t>
            </a:r>
            <a:r>
              <a:rPr lang="he-IL" dirty="0"/>
              <a:t>: ניתן להעביר למאקרו ארגומנטים (כמו שמות של אוגרים או ערכים מספריים), מה שהופך אותו לגמיש</a:t>
            </a:r>
            <a:r>
              <a:rPr lang="he-IL" dirty="0" smtClean="0"/>
              <a:t>.</a:t>
            </a:r>
          </a:p>
        </p:txBody>
      </p:sp>
      <p:sp>
        <p:nvSpPr>
          <p:cNvPr id="4" name="מציין מיקום של תאריך 3"/>
          <p:cNvSpPr>
            <a:spLocks noGrp="1"/>
          </p:cNvSpPr>
          <p:nvPr>
            <p:ph type="dt" sz="half" idx="10"/>
          </p:nvPr>
        </p:nvSpPr>
        <p:spPr/>
        <p:txBody>
          <a:bodyPr/>
          <a:lstStyle/>
          <a:p>
            <a:fld id="{27DBC233-206B-41C7-85FB-7DA6EC4628B5}"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a:t>
            </a:fld>
            <a:endParaRPr lang="he-IL"/>
          </a:p>
        </p:txBody>
      </p:sp>
    </p:spTree>
    <p:extLst>
      <p:ext uri="{BB962C8B-B14F-4D97-AF65-F5344CB8AC3E}">
        <p14:creationId xmlns:p14="http://schemas.microsoft.com/office/powerpoint/2010/main" val="149549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NASM macro syntax</a:t>
            </a:r>
            <a:endParaRPr lang="he-IL" dirty="0"/>
          </a:p>
        </p:txBody>
      </p:sp>
      <p:sp>
        <p:nvSpPr>
          <p:cNvPr id="3" name="מציין מיקום תוכן 2"/>
          <p:cNvSpPr>
            <a:spLocks noGrp="1"/>
          </p:cNvSpPr>
          <p:nvPr>
            <p:ph idx="1"/>
          </p:nvPr>
        </p:nvSpPr>
        <p:spPr/>
        <p:txBody>
          <a:bodyPr>
            <a:normAutofit/>
          </a:bodyPr>
          <a:lstStyle/>
          <a:p>
            <a:pPr algn="l" rtl="0"/>
            <a:r>
              <a:rPr lang="en-US" dirty="0"/>
              <a:t>Define:   </a:t>
            </a:r>
            <a:r>
              <a:rPr lang="en-US" b="1" dirty="0"/>
              <a:t>%macro NAME  </a:t>
            </a:r>
            <a:r>
              <a:rPr lang="en-US" b="1" dirty="0" err="1"/>
              <a:t>number_of_arguments</a:t>
            </a:r>
            <a:endParaRPr lang="en-US" b="1" dirty="0"/>
          </a:p>
          <a:p>
            <a:pPr algn="l" rtl="0"/>
            <a:r>
              <a:rPr lang="en-US" b="1" dirty="0"/>
              <a:t>   </a:t>
            </a:r>
            <a:r>
              <a:rPr lang="en-US" b="1" dirty="0" smtClean="0"/>
              <a:t>                      </a:t>
            </a:r>
            <a:r>
              <a:rPr lang="en-US" b="1" dirty="0"/>
              <a:t>; body using %1, %2, ...</a:t>
            </a:r>
          </a:p>
          <a:p>
            <a:pPr algn="l" rtl="0"/>
            <a:r>
              <a:rPr lang="en-US" b="1" dirty="0" smtClean="0"/>
              <a:t>                   %</a:t>
            </a:r>
            <a:r>
              <a:rPr lang="en-US" b="1" dirty="0" err="1"/>
              <a:t>endmacro</a:t>
            </a:r>
            <a:endParaRPr lang="en-US" b="1" dirty="0"/>
          </a:p>
          <a:p>
            <a:pPr algn="l" rtl="0"/>
            <a:r>
              <a:rPr lang="en-US" dirty="0"/>
              <a:t>Use : </a:t>
            </a:r>
            <a:r>
              <a:rPr lang="en-US" b="1" dirty="0" smtClean="0"/>
              <a:t>NAME </a:t>
            </a:r>
            <a:r>
              <a:rPr lang="en-US" b="1" dirty="0"/>
              <a:t>arg1, </a:t>
            </a:r>
            <a:r>
              <a:rPr lang="en-US" b="1" dirty="0" smtClean="0"/>
              <a:t>arg2</a:t>
            </a:r>
          </a:p>
          <a:p>
            <a:pPr algn="l" rtl="0"/>
            <a:endParaRPr lang="he-IL" dirty="0"/>
          </a:p>
        </p:txBody>
      </p:sp>
      <p:sp>
        <p:nvSpPr>
          <p:cNvPr id="4" name="מציין מיקום של תאריך 3"/>
          <p:cNvSpPr>
            <a:spLocks noGrp="1"/>
          </p:cNvSpPr>
          <p:nvPr>
            <p:ph type="dt" sz="half" idx="10"/>
          </p:nvPr>
        </p:nvSpPr>
        <p:spPr/>
        <p:txBody>
          <a:bodyPr/>
          <a:lstStyle/>
          <a:p>
            <a:fld id="{48CC28D4-0EE5-477C-8073-FDAA6AF4D7F3}"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7</a:t>
            </a:fld>
            <a:endParaRPr lang="he-IL"/>
          </a:p>
        </p:txBody>
      </p:sp>
    </p:spTree>
    <p:extLst>
      <p:ext uri="{BB962C8B-B14F-4D97-AF65-F5344CB8AC3E}">
        <p14:creationId xmlns:p14="http://schemas.microsoft.com/office/powerpoint/2010/main" val="353882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anim calcmode="lin" valueType="num">
                                      <p:cBhvr>
                                        <p:cTn id="1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2" end="2"/>
                                            </p:txEl>
                                          </p:spTgt>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anim calcmode="lin" valueType="num">
                                      <p:cBhvr>
                                        <p:cTn id="23"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דוגמא למאקרו </a:t>
            </a:r>
            <a:endParaRPr lang="he-IL" dirty="0"/>
          </a:p>
        </p:txBody>
      </p:sp>
      <p:sp>
        <p:nvSpPr>
          <p:cNvPr id="3" name="מציין מיקום תוכן 2"/>
          <p:cNvSpPr>
            <a:spLocks noGrp="1"/>
          </p:cNvSpPr>
          <p:nvPr>
            <p:ph idx="1"/>
          </p:nvPr>
        </p:nvSpPr>
        <p:spPr/>
        <p:txBody>
          <a:bodyPr/>
          <a:lstStyle/>
          <a:p>
            <a:pPr algn="l" rtl="0"/>
            <a:r>
              <a:rPr lang="en-US" dirty="0"/>
              <a:t>Eample:           </a:t>
            </a:r>
            <a:r>
              <a:rPr lang="en-US" b="1" dirty="0"/>
              <a:t>%macro PUSH64 1</a:t>
            </a:r>
          </a:p>
          <a:p>
            <a:pPr algn="l" rtl="0"/>
            <a:r>
              <a:rPr lang="en-US" b="1" dirty="0"/>
              <a:t>                             sub </a:t>
            </a:r>
            <a:r>
              <a:rPr lang="en-US" b="1" dirty="0" err="1"/>
              <a:t>rsp</a:t>
            </a:r>
            <a:r>
              <a:rPr lang="en-US" b="1" dirty="0"/>
              <a:t>, 8</a:t>
            </a:r>
          </a:p>
          <a:p>
            <a:pPr algn="l" rtl="0"/>
            <a:r>
              <a:rPr lang="en-US" b="1" dirty="0"/>
              <a:t>                            mov </a:t>
            </a:r>
            <a:r>
              <a:rPr lang="en-US" b="1" dirty="0" smtClean="0"/>
              <a:t>qword [</a:t>
            </a:r>
            <a:r>
              <a:rPr lang="en-US" b="1" dirty="0" err="1" smtClean="0"/>
              <a:t>rsp</a:t>
            </a:r>
            <a:r>
              <a:rPr lang="en-US" b="1" dirty="0"/>
              <a:t>], %1</a:t>
            </a:r>
          </a:p>
          <a:p>
            <a:pPr algn="l" rtl="0"/>
            <a:r>
              <a:rPr lang="en-US" b="1" dirty="0"/>
              <a:t>                            %</a:t>
            </a:r>
            <a:r>
              <a:rPr lang="en-US" b="1" dirty="0" err="1" smtClean="0"/>
              <a:t>endmacro</a:t>
            </a:r>
            <a:endParaRPr lang="en-US" b="1" dirty="0" smtClean="0"/>
          </a:p>
          <a:p>
            <a:pPr algn="r"/>
            <a:r>
              <a:rPr lang="he-IL" dirty="0" smtClean="0"/>
              <a:t>הדוגמא אומרת לאסמבלר :</a:t>
            </a:r>
            <a:r>
              <a:rPr lang="en-US" dirty="0" smtClean="0"/>
              <a:t> </a:t>
            </a:r>
            <a:r>
              <a:rPr lang="he-IL" dirty="0" smtClean="0"/>
              <a:t>"קח נתון אחד (זו הסיבה שרשום 1 בכותרת של המאקרו)  ודחוף אותו אל המחסנית " . </a:t>
            </a: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F411DD42-9991-4A73-A09A-FBAAB7997A6D}"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8</a:t>
            </a:fld>
            <a:endParaRPr lang="he-IL"/>
          </a:p>
        </p:txBody>
      </p:sp>
    </p:spTree>
    <p:extLst>
      <p:ext uri="{BB962C8B-B14F-4D97-AF65-F5344CB8AC3E}">
        <p14:creationId xmlns:p14="http://schemas.microsoft.com/office/powerpoint/2010/main" val="396224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anim calcmode="lin" valueType="num">
                                      <p:cBhvr>
                                        <p:cTn id="1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2" end="2"/>
                                            </p:txEl>
                                          </p:spTgt>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anim calcmode="lin" valueType="num">
                                      <p:cBhvr>
                                        <p:cTn id="23"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המשך דוגמא </a:t>
            </a:r>
            <a:endParaRPr lang="he-IL" dirty="0"/>
          </a:p>
        </p:txBody>
      </p:sp>
      <p:sp>
        <p:nvSpPr>
          <p:cNvPr id="3" name="מציין מיקום תוכן 2"/>
          <p:cNvSpPr>
            <a:spLocks noGrp="1"/>
          </p:cNvSpPr>
          <p:nvPr>
            <p:ph idx="1"/>
          </p:nvPr>
        </p:nvSpPr>
        <p:spPr/>
        <p:txBody>
          <a:bodyPr/>
          <a:lstStyle/>
          <a:p>
            <a:r>
              <a:rPr lang="he-IL" dirty="0" smtClean="0"/>
              <a:t>אם במהלך התכנית תופיע השורה :</a:t>
            </a:r>
            <a:r>
              <a:rPr lang="en-US" dirty="0" smtClean="0"/>
              <a:t> PUSH64 </a:t>
            </a:r>
            <a:r>
              <a:rPr lang="en-US" dirty="0" err="1" smtClean="0"/>
              <a:t>rax</a:t>
            </a:r>
            <a:r>
              <a:rPr lang="en-US" dirty="0" smtClean="0"/>
              <a:t>     </a:t>
            </a:r>
            <a:r>
              <a:rPr lang="he-IL" dirty="0" smtClean="0"/>
              <a:t>אזי </a:t>
            </a:r>
            <a:r>
              <a:rPr lang="en-US" dirty="0" smtClean="0"/>
              <a:t>NASM</a:t>
            </a:r>
            <a:r>
              <a:rPr lang="he-IL" dirty="0" smtClean="0"/>
              <a:t> יפרש את הפקודה כך :</a:t>
            </a:r>
            <a:r>
              <a:rPr lang="en-US" dirty="0" smtClean="0"/>
              <a:t> </a:t>
            </a:r>
            <a:endParaRPr lang="he-IL" dirty="0" smtClean="0"/>
          </a:p>
          <a:p>
            <a:pPr algn="l" rtl="0"/>
            <a:r>
              <a:rPr lang="en-US" b="1" dirty="0"/>
              <a:t>sub </a:t>
            </a:r>
            <a:r>
              <a:rPr lang="en-US" b="1" dirty="0" err="1"/>
              <a:t>rsp</a:t>
            </a:r>
            <a:r>
              <a:rPr lang="en-US" b="1" dirty="0"/>
              <a:t>, 8</a:t>
            </a:r>
          </a:p>
          <a:p>
            <a:pPr algn="l" rtl="0"/>
            <a:r>
              <a:rPr lang="en-US" b="1" dirty="0"/>
              <a:t>mov </a:t>
            </a:r>
            <a:r>
              <a:rPr lang="en-US" b="1" dirty="0" smtClean="0"/>
              <a:t>qword [</a:t>
            </a:r>
            <a:r>
              <a:rPr lang="en-US" b="1" dirty="0" err="1" smtClean="0"/>
              <a:t>rsp</a:t>
            </a:r>
            <a:r>
              <a:rPr lang="en-US" b="1" dirty="0"/>
              <a:t>], </a:t>
            </a:r>
            <a:r>
              <a:rPr lang="en-US" b="1" dirty="0" err="1" smtClean="0"/>
              <a:t>rax</a:t>
            </a:r>
            <a:endParaRPr lang="en-US" b="1" dirty="0" smtClean="0"/>
          </a:p>
          <a:p>
            <a:pPr algn="r"/>
            <a:r>
              <a:rPr lang="he-IL" dirty="0" smtClean="0"/>
              <a:t>כמובן שפעולה זו שקולה ל </a:t>
            </a:r>
            <a:r>
              <a:rPr lang="en-US" dirty="0" smtClean="0"/>
              <a:t>push </a:t>
            </a:r>
            <a:r>
              <a:rPr lang="en-US" dirty="0" err="1" smtClean="0"/>
              <a:t>rax</a:t>
            </a:r>
            <a:endParaRPr lang="he-IL" dirty="0" smtClean="0"/>
          </a:p>
          <a:p>
            <a:pPr algn="r"/>
            <a:r>
              <a:rPr lang="he-IL" dirty="0" smtClean="0"/>
              <a:t>כמובן שאפשר לדחוף למחסנית באמצעות מאקרו זה גם ערכים </a:t>
            </a:r>
            <a:r>
              <a:rPr lang="he-IL" dirty="0" err="1" smtClean="0"/>
              <a:t>מיידיים</a:t>
            </a:r>
            <a:r>
              <a:rPr lang="he-IL" dirty="0" smtClean="0"/>
              <a:t> כגון :</a:t>
            </a:r>
            <a:endParaRPr lang="en-US" dirty="0" smtClean="0"/>
          </a:p>
          <a:p>
            <a:pPr algn="r"/>
            <a:r>
              <a:rPr lang="en-US" dirty="0" smtClean="0"/>
              <a:t>PUSH64 999 </a:t>
            </a:r>
            <a:r>
              <a:rPr lang="he-IL" dirty="0" smtClean="0"/>
              <a:t> אשר דוחפת למחסנית ערך 999</a:t>
            </a:r>
            <a:endParaRPr lang="he-IL" dirty="0"/>
          </a:p>
        </p:txBody>
      </p:sp>
      <p:sp>
        <p:nvSpPr>
          <p:cNvPr id="4" name="מציין מיקום של תאריך 3"/>
          <p:cNvSpPr>
            <a:spLocks noGrp="1"/>
          </p:cNvSpPr>
          <p:nvPr>
            <p:ph type="dt" sz="half" idx="10"/>
          </p:nvPr>
        </p:nvSpPr>
        <p:spPr/>
        <p:txBody>
          <a:bodyPr/>
          <a:lstStyle/>
          <a:p>
            <a:fld id="{75694771-DBD6-4DA0-BC97-54AAD2C34DA5}"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9</a:t>
            </a:fld>
            <a:endParaRPr lang="he-IL"/>
          </a:p>
        </p:txBody>
      </p:sp>
    </p:spTree>
    <p:extLst>
      <p:ext uri="{BB962C8B-B14F-4D97-AF65-F5344CB8AC3E}">
        <p14:creationId xmlns:p14="http://schemas.microsoft.com/office/powerpoint/2010/main" val="89962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 calcmode="lin" valueType="num">
                                      <p:cBhvr additive="base">
                                        <p:cTn id="4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additive="base">
                                        <p:cTn id="4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additive="base">
                                        <p:cTn id="5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en-US" dirty="0"/>
              <a:t>Program 1 – Implementing PUSH/POP with macros</a:t>
            </a:r>
            <a:endParaRPr lang="he-IL" dirty="0"/>
          </a:p>
        </p:txBody>
      </p:sp>
      <p:sp>
        <p:nvSpPr>
          <p:cNvPr id="3" name="מציין מיקום תוכן 2"/>
          <p:cNvSpPr>
            <a:spLocks noGrp="1"/>
          </p:cNvSpPr>
          <p:nvPr>
            <p:ph idx="1"/>
          </p:nvPr>
        </p:nvSpPr>
        <p:spPr/>
        <p:txBody>
          <a:bodyPr/>
          <a:lstStyle/>
          <a:p>
            <a:r>
              <a:rPr lang="he-IL" dirty="0" smtClean="0"/>
              <a:t>נגדיר להלן שני מאקרו :</a:t>
            </a:r>
            <a:r>
              <a:rPr lang="en-US" dirty="0" smtClean="0"/>
              <a:t> </a:t>
            </a:r>
            <a:r>
              <a:rPr lang="he-IL" dirty="0" smtClean="0"/>
              <a:t> אחד עבור </a:t>
            </a:r>
            <a:r>
              <a:rPr lang="en-US" dirty="0" smtClean="0"/>
              <a:t>PUSH</a:t>
            </a:r>
            <a:r>
              <a:rPr lang="he-IL" dirty="0" smtClean="0"/>
              <a:t> והשני עבור </a:t>
            </a:r>
            <a:r>
              <a:rPr lang="en-US" dirty="0" smtClean="0"/>
              <a:t>POP</a:t>
            </a:r>
            <a:r>
              <a:rPr lang="he-IL" dirty="0" smtClean="0"/>
              <a:t> : </a:t>
            </a:r>
          </a:p>
          <a:p>
            <a:pPr algn="l" rtl="0"/>
            <a:r>
              <a:rPr lang="en-US" b="1" dirty="0"/>
              <a:t>%macro PUSH64 </a:t>
            </a:r>
            <a:r>
              <a:rPr lang="en-US" b="1" dirty="0" smtClean="0"/>
              <a:t>1                           %macro POP64 1  </a:t>
            </a:r>
            <a:endParaRPr lang="en-US" b="1" dirty="0"/>
          </a:p>
          <a:p>
            <a:pPr algn="l" rtl="0"/>
            <a:r>
              <a:rPr lang="en-US" b="1" dirty="0"/>
              <a:t>    sub </a:t>
            </a:r>
            <a:r>
              <a:rPr lang="en-US" b="1" dirty="0" err="1"/>
              <a:t>rsp</a:t>
            </a:r>
            <a:r>
              <a:rPr lang="en-US" b="1" dirty="0"/>
              <a:t>, </a:t>
            </a:r>
            <a:r>
              <a:rPr lang="en-US" b="1" dirty="0" smtClean="0"/>
              <a:t>8                                            mov %1,  qword [</a:t>
            </a:r>
            <a:r>
              <a:rPr lang="en-US" b="1" dirty="0" err="1" smtClean="0"/>
              <a:t>rsp</a:t>
            </a:r>
            <a:r>
              <a:rPr lang="en-US" b="1" dirty="0" smtClean="0"/>
              <a:t>]</a:t>
            </a:r>
            <a:endParaRPr lang="en-US" b="1" dirty="0"/>
          </a:p>
          <a:p>
            <a:pPr algn="l" rtl="0"/>
            <a:r>
              <a:rPr lang="en-US" b="1" dirty="0"/>
              <a:t>    mov </a:t>
            </a:r>
            <a:r>
              <a:rPr lang="en-US" b="1" dirty="0" smtClean="0"/>
              <a:t>qword [</a:t>
            </a:r>
            <a:r>
              <a:rPr lang="en-US" b="1" dirty="0" err="1" smtClean="0"/>
              <a:t>rsp</a:t>
            </a:r>
            <a:r>
              <a:rPr lang="en-US" b="1" dirty="0"/>
              <a:t>], %</a:t>
            </a:r>
            <a:r>
              <a:rPr lang="en-US" b="1" dirty="0" smtClean="0"/>
              <a:t>1                         add </a:t>
            </a:r>
            <a:r>
              <a:rPr lang="en-US" b="1" dirty="0" err="1" smtClean="0"/>
              <a:t>rsp</a:t>
            </a:r>
            <a:r>
              <a:rPr lang="en-US" b="1" dirty="0" smtClean="0"/>
              <a:t>, 8</a:t>
            </a:r>
            <a:endParaRPr lang="en-US" b="1" dirty="0"/>
          </a:p>
          <a:p>
            <a:pPr algn="l" rtl="0"/>
            <a:r>
              <a:rPr lang="en-US" b="1" dirty="0"/>
              <a:t>%</a:t>
            </a:r>
            <a:r>
              <a:rPr lang="en-US" b="1" dirty="0" err="1" smtClean="0"/>
              <a:t>endmacro</a:t>
            </a:r>
            <a:r>
              <a:rPr lang="en-US" b="1" dirty="0" smtClean="0"/>
              <a:t>                                         %</a:t>
            </a:r>
            <a:r>
              <a:rPr lang="en-US" b="1" dirty="0" err="1" smtClean="0"/>
              <a:t>endmacro</a:t>
            </a:r>
            <a:endParaRPr lang="en-US" b="1" dirty="0"/>
          </a:p>
          <a:p>
            <a:pPr algn="l" rtl="0"/>
            <a:endParaRPr lang="he-IL" dirty="0" smtClean="0"/>
          </a:p>
          <a:p>
            <a:endParaRPr lang="he-IL" dirty="0"/>
          </a:p>
        </p:txBody>
      </p:sp>
      <p:sp>
        <p:nvSpPr>
          <p:cNvPr id="4" name="מציין מיקום של תאריך 3"/>
          <p:cNvSpPr>
            <a:spLocks noGrp="1"/>
          </p:cNvSpPr>
          <p:nvPr>
            <p:ph type="dt" sz="half" idx="10"/>
          </p:nvPr>
        </p:nvSpPr>
        <p:spPr/>
        <p:txBody>
          <a:bodyPr/>
          <a:lstStyle/>
          <a:p>
            <a:fld id="{0FE4BFCE-BCC6-438C-9A07-5A59763B33E1}"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10</a:t>
            </a:fld>
            <a:endParaRPr lang="he-IL"/>
          </a:p>
        </p:txBody>
      </p:sp>
    </p:spTree>
    <p:extLst>
      <p:ext uri="{BB962C8B-B14F-4D97-AF65-F5344CB8AC3E}">
        <p14:creationId xmlns:p14="http://schemas.microsoft.com/office/powerpoint/2010/main" val="171668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דוגמא לתכנית שמשתמשת במאקרו </a:t>
            </a:r>
            <a:endParaRPr lang="he-IL" dirty="0"/>
          </a:p>
        </p:txBody>
      </p:sp>
      <p:pic>
        <p:nvPicPr>
          <p:cNvPr id="4" name="מציין מיקום תוכן 3"/>
          <p:cNvPicPr>
            <a:picLocks noGrp="1" noChangeAspect="1"/>
          </p:cNvPicPr>
          <p:nvPr>
            <p:ph idx="1"/>
          </p:nvPr>
        </p:nvPicPr>
        <p:blipFill>
          <a:blip r:embed="rId2"/>
          <a:stretch>
            <a:fillRect/>
          </a:stretch>
        </p:blipFill>
        <p:spPr>
          <a:xfrm>
            <a:off x="1911096" y="2630615"/>
            <a:ext cx="6464807" cy="3317875"/>
          </a:xfrm>
          <a:prstGeom prst="rect">
            <a:avLst/>
          </a:prstGeom>
        </p:spPr>
      </p:pic>
      <p:sp>
        <p:nvSpPr>
          <p:cNvPr id="3" name="מציין מיקום של תאריך 2"/>
          <p:cNvSpPr>
            <a:spLocks noGrp="1"/>
          </p:cNvSpPr>
          <p:nvPr>
            <p:ph type="dt" sz="half" idx="10"/>
          </p:nvPr>
        </p:nvSpPr>
        <p:spPr/>
        <p:txBody>
          <a:bodyPr/>
          <a:lstStyle/>
          <a:p>
            <a:fld id="{EC8B3AE7-62EC-4C62-A539-72F9CF0B6DC5}"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11</a:t>
            </a:fld>
            <a:endParaRPr lang="he-IL"/>
          </a:p>
        </p:txBody>
      </p:sp>
    </p:spTree>
    <p:extLst>
      <p:ext uri="{BB962C8B-B14F-4D97-AF65-F5344CB8AC3E}">
        <p14:creationId xmlns:p14="http://schemas.microsoft.com/office/powerpoint/2010/main" val="341670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דוגמא המשך</a:t>
            </a:r>
            <a:endParaRPr lang="he-IL" dirty="0"/>
          </a:p>
        </p:txBody>
      </p:sp>
      <p:sp>
        <p:nvSpPr>
          <p:cNvPr id="3" name="מציין מיקום תוכן 2"/>
          <p:cNvSpPr>
            <a:spLocks noGrp="1"/>
          </p:cNvSpPr>
          <p:nvPr>
            <p:ph idx="1"/>
          </p:nvPr>
        </p:nvSpPr>
        <p:spPr/>
        <p:txBody>
          <a:bodyPr/>
          <a:lstStyle/>
          <a:p>
            <a:r>
              <a:rPr lang="he-IL" dirty="0" smtClean="0"/>
              <a:t>התכנית משתמשת בשני המאקרו שהוגדרו קודם לכן וזאת כדי לדחוף ערך של 42 למחסנית באמצעות </a:t>
            </a:r>
            <a:r>
              <a:rPr lang="en-US" dirty="0" err="1" smtClean="0"/>
              <a:t>rax</a:t>
            </a:r>
            <a:r>
              <a:rPr lang="en-US" dirty="0"/>
              <a:t> </a:t>
            </a:r>
            <a:r>
              <a:rPr lang="he-IL" dirty="0"/>
              <a:t> </a:t>
            </a:r>
            <a:r>
              <a:rPr lang="he-IL" dirty="0" smtClean="0"/>
              <a:t>ולאחר מכן לשלוף את הערך האחרון שנדחף – דהיינו 42 חזרה אל </a:t>
            </a:r>
            <a:r>
              <a:rPr lang="en-US" dirty="0" err="1" smtClean="0"/>
              <a:t>rax</a:t>
            </a:r>
            <a:r>
              <a:rPr lang="he-IL" dirty="0" smtClean="0"/>
              <a:t> </a:t>
            </a:r>
            <a:endParaRPr lang="he-IL" dirty="0"/>
          </a:p>
        </p:txBody>
      </p:sp>
      <p:sp>
        <p:nvSpPr>
          <p:cNvPr id="4" name="מציין מיקום של תאריך 3"/>
          <p:cNvSpPr>
            <a:spLocks noGrp="1"/>
          </p:cNvSpPr>
          <p:nvPr>
            <p:ph type="dt" sz="half" idx="10"/>
          </p:nvPr>
        </p:nvSpPr>
        <p:spPr/>
        <p:txBody>
          <a:bodyPr/>
          <a:lstStyle/>
          <a:p>
            <a:fld id="{A4BDCD3D-F4E3-4424-8EB5-AF8621B200CF}"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12</a:t>
            </a:fld>
            <a:endParaRPr lang="he-IL"/>
          </a:p>
        </p:txBody>
      </p:sp>
    </p:spTree>
    <p:extLst>
      <p:ext uri="{BB962C8B-B14F-4D97-AF65-F5344CB8AC3E}">
        <p14:creationId xmlns:p14="http://schemas.microsoft.com/office/powerpoint/2010/main" val="2954554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הרצה </a:t>
            </a:r>
            <a:r>
              <a:rPr lang="he-IL" dirty="0" err="1" smtClean="0"/>
              <a:t>ודיבוג</a:t>
            </a:r>
            <a:r>
              <a:rPr lang="he-IL" dirty="0" smtClean="0"/>
              <a:t> של התכנית </a:t>
            </a:r>
            <a:endParaRPr lang="he-IL" dirty="0"/>
          </a:p>
        </p:txBody>
      </p:sp>
      <p:sp>
        <p:nvSpPr>
          <p:cNvPr id="3" name="מציין מיקום תוכן 2"/>
          <p:cNvSpPr>
            <a:spLocks noGrp="1"/>
          </p:cNvSpPr>
          <p:nvPr>
            <p:ph idx="1"/>
          </p:nvPr>
        </p:nvSpPr>
        <p:spPr/>
        <p:txBody>
          <a:bodyPr>
            <a:normAutofit fontScale="92500" lnSpcReduction="20000"/>
          </a:bodyPr>
          <a:lstStyle/>
          <a:p>
            <a:r>
              <a:rPr lang="he-IL" dirty="0" smtClean="0"/>
              <a:t>כדי להריץ את התכנית יש לרשום את הרצף הבא:</a:t>
            </a:r>
          </a:p>
          <a:p>
            <a:pPr algn="l" rtl="0"/>
            <a:r>
              <a:rPr lang="he-IL" dirty="0" smtClean="0"/>
              <a:t> </a:t>
            </a:r>
            <a:r>
              <a:rPr lang="en-US" b="1" dirty="0"/>
              <a:t>nasm -f elf64 -g -F dwarf push_pop_demo.asm -o </a:t>
            </a:r>
            <a:r>
              <a:rPr lang="en-US" b="1" dirty="0" err="1" smtClean="0"/>
              <a:t>push_pop_demo.o</a:t>
            </a:r>
            <a:endParaRPr lang="en-US" b="1" dirty="0" smtClean="0"/>
          </a:p>
          <a:p>
            <a:pPr algn="l" rtl="0"/>
            <a:r>
              <a:rPr lang="en-US" b="1" dirty="0" smtClean="0"/>
              <a:t>(remark : the version of nasm above is true only for debugging. Otherwise, </a:t>
            </a:r>
            <a:r>
              <a:rPr lang="en-US" b="1" dirty="0"/>
              <a:t> </a:t>
            </a:r>
            <a:r>
              <a:rPr lang="en-US" b="1" dirty="0" smtClean="0"/>
              <a:t>use</a:t>
            </a:r>
            <a:r>
              <a:rPr lang="en-US" b="1" dirty="0"/>
              <a:t>: nasm -f elf64 push_pop_demo.asm -o </a:t>
            </a:r>
            <a:r>
              <a:rPr lang="en-US" b="1" dirty="0" err="1" smtClean="0"/>
              <a:t>push_pop_demo.o</a:t>
            </a:r>
            <a:r>
              <a:rPr lang="en-US" b="1" dirty="0" smtClean="0"/>
              <a:t>)</a:t>
            </a:r>
            <a:endParaRPr lang="en-US" b="1" dirty="0"/>
          </a:p>
          <a:p>
            <a:pPr algn="l" rtl="0"/>
            <a:r>
              <a:rPr lang="pl-PL" b="1" dirty="0"/>
              <a:t>gcc -no-pie push_pop_demo.o -o </a:t>
            </a:r>
            <a:r>
              <a:rPr lang="pl-PL" b="1" dirty="0" smtClean="0"/>
              <a:t>push_pop_demo</a:t>
            </a:r>
            <a:endParaRPr lang="en-US" b="1" dirty="0" smtClean="0"/>
          </a:p>
          <a:p>
            <a:pPr algn="l" rtl="0"/>
            <a:r>
              <a:rPr lang="en-US" b="1" dirty="0" smtClean="0"/>
              <a:t>./</a:t>
            </a:r>
            <a:r>
              <a:rPr lang="en-US" b="1" dirty="0" err="1"/>
              <a:t>push_pop_demo</a:t>
            </a:r>
            <a:endParaRPr lang="en-US" b="1" dirty="0"/>
          </a:p>
          <a:p>
            <a:pPr algn="l" rtl="0"/>
            <a:r>
              <a:rPr lang="en-US" b="1" dirty="0"/>
              <a:t>echo </a:t>
            </a:r>
            <a:r>
              <a:rPr lang="en-US" b="1" dirty="0" smtClean="0"/>
              <a:t>$?</a:t>
            </a:r>
          </a:p>
          <a:p>
            <a:pPr algn="r"/>
            <a:r>
              <a:rPr lang="he-IL" b="1" dirty="0" smtClean="0"/>
              <a:t>הפלט שיתקבל הוא כמובן 42.  כמובן ש </a:t>
            </a:r>
            <a:r>
              <a:rPr lang="en-US" b="1" dirty="0" err="1" smtClean="0"/>
              <a:t>rsp</a:t>
            </a:r>
            <a:r>
              <a:rPr lang="en-US" b="1" dirty="0"/>
              <a:t> </a:t>
            </a:r>
            <a:r>
              <a:rPr lang="en-US" b="1" dirty="0" smtClean="0"/>
              <a:t> </a:t>
            </a:r>
            <a:r>
              <a:rPr lang="he-IL" b="1" dirty="0" smtClean="0"/>
              <a:t>  חוזר לתוכנו המקורי </a:t>
            </a:r>
            <a:endParaRPr lang="en-US" b="1" dirty="0"/>
          </a:p>
          <a:p>
            <a:pPr algn="l" rtl="0"/>
            <a:endParaRPr lang="he-IL" dirty="0"/>
          </a:p>
        </p:txBody>
      </p:sp>
      <p:sp>
        <p:nvSpPr>
          <p:cNvPr id="4" name="מציין מיקום של תאריך 3"/>
          <p:cNvSpPr>
            <a:spLocks noGrp="1"/>
          </p:cNvSpPr>
          <p:nvPr>
            <p:ph type="dt" sz="half" idx="10"/>
          </p:nvPr>
        </p:nvSpPr>
        <p:spPr/>
        <p:txBody>
          <a:bodyPr/>
          <a:lstStyle/>
          <a:p>
            <a:fld id="{C943588F-541F-4FB1-8BEA-E2E728464CF1}"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13</a:t>
            </a:fld>
            <a:endParaRPr lang="he-IL"/>
          </a:p>
        </p:txBody>
      </p:sp>
    </p:spTree>
    <p:extLst>
      <p:ext uri="{BB962C8B-B14F-4D97-AF65-F5344CB8AC3E}">
        <p14:creationId xmlns:p14="http://schemas.microsoft.com/office/powerpoint/2010/main" val="1256962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anim calcmode="lin" valueType="num">
                                      <p:cBhvr>
                                        <p:cTn id="14"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5"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הפקודה</a:t>
            </a:r>
            <a:r>
              <a:rPr lang="he-IL" dirty="0"/>
              <a:t> </a:t>
            </a:r>
            <a:r>
              <a:rPr lang="en-US" dirty="0" smtClean="0"/>
              <a:t>echo $? </a:t>
            </a:r>
            <a:endParaRPr lang="he-IL" dirty="0"/>
          </a:p>
        </p:txBody>
      </p:sp>
      <p:sp>
        <p:nvSpPr>
          <p:cNvPr id="3" name="מציין מיקום תוכן 2"/>
          <p:cNvSpPr>
            <a:spLocks noGrp="1"/>
          </p:cNvSpPr>
          <p:nvPr>
            <p:ph idx="1"/>
          </p:nvPr>
        </p:nvSpPr>
        <p:spPr/>
        <p:txBody>
          <a:bodyPr/>
          <a:lstStyle/>
          <a:p>
            <a:r>
              <a:rPr lang="he-IL" dirty="0" smtClean="0"/>
              <a:t>כשעובדים בלינוקס, ערך היציאה האחרון של התכנית אשר מורצת מאוחסן במשתנה מיוחד בשם </a:t>
            </a:r>
            <a:r>
              <a:rPr lang="en-US" dirty="0" smtClean="0"/>
              <a:t>$? </a:t>
            </a:r>
            <a:r>
              <a:rPr lang="he-IL" dirty="0" smtClean="0"/>
              <a:t>   </a:t>
            </a:r>
          </a:p>
          <a:p>
            <a:r>
              <a:rPr lang="he-IL" dirty="0" smtClean="0"/>
              <a:t>כמו כן , </a:t>
            </a:r>
            <a:r>
              <a:rPr lang="he-IL" dirty="0" err="1" smtClean="0"/>
              <a:t>באסמבלי</a:t>
            </a:r>
            <a:r>
              <a:rPr lang="he-IL" dirty="0" smtClean="0"/>
              <a:t> , כל ערך אשר מאוחסן באוגר </a:t>
            </a:r>
            <a:r>
              <a:rPr lang="en-US" dirty="0" smtClean="0"/>
              <a:t>RAX</a:t>
            </a:r>
            <a:r>
              <a:rPr lang="he-IL" dirty="0" smtClean="0"/>
              <a:t> ברגע ביצוע הפקודה </a:t>
            </a:r>
            <a:r>
              <a:rPr lang="en-US" dirty="0" smtClean="0"/>
              <a:t>RET</a:t>
            </a:r>
            <a:r>
              <a:rPr lang="he-IL" dirty="0" smtClean="0"/>
              <a:t> הופך לקוד יציאה, אלא אם כן המתכנת קבע ערך אחר כלשהו ליציאה מהתכנית. </a:t>
            </a:r>
          </a:p>
          <a:p>
            <a:r>
              <a:rPr lang="he-IL" dirty="0" smtClean="0"/>
              <a:t>במקרה שלנו,  התכנית מסתיימת באופן הבא :</a:t>
            </a:r>
            <a:r>
              <a:rPr lang="en-US" dirty="0" smtClean="0"/>
              <a:t>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14</a:t>
            </a:fld>
            <a:endParaRPr lang="he-IL"/>
          </a:p>
        </p:txBody>
      </p:sp>
      <p:pic>
        <p:nvPicPr>
          <p:cNvPr id="6" name="תמונה 5"/>
          <p:cNvPicPr>
            <a:picLocks noChangeAspect="1"/>
          </p:cNvPicPr>
          <p:nvPr/>
        </p:nvPicPr>
        <p:blipFill>
          <a:blip r:embed="rId2"/>
          <a:stretch>
            <a:fillRect/>
          </a:stretch>
        </p:blipFill>
        <p:spPr>
          <a:xfrm>
            <a:off x="2075125" y="4355851"/>
            <a:ext cx="2610214" cy="1790950"/>
          </a:xfrm>
          <a:prstGeom prst="rect">
            <a:avLst/>
          </a:prstGeom>
        </p:spPr>
      </p:pic>
    </p:spTree>
    <p:extLst>
      <p:ext uri="{BB962C8B-B14F-4D97-AF65-F5344CB8AC3E}">
        <p14:creationId xmlns:p14="http://schemas.microsoft.com/office/powerpoint/2010/main" val="72208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הפקודה </a:t>
            </a:r>
            <a:r>
              <a:rPr lang="en-US" dirty="0"/>
              <a:t>echo $? </a:t>
            </a:r>
            <a:endParaRPr lang="he-IL" dirty="0"/>
          </a:p>
        </p:txBody>
      </p:sp>
      <p:sp>
        <p:nvSpPr>
          <p:cNvPr id="3" name="מציין מיקום תוכן 2"/>
          <p:cNvSpPr>
            <a:spLocks noGrp="1"/>
          </p:cNvSpPr>
          <p:nvPr>
            <p:ph idx="1"/>
          </p:nvPr>
        </p:nvSpPr>
        <p:spPr/>
        <p:txBody>
          <a:bodyPr/>
          <a:lstStyle/>
          <a:p>
            <a:r>
              <a:rPr lang="he-IL" dirty="0" smtClean="0"/>
              <a:t>לכן לאחר הפעלת המאקרו </a:t>
            </a:r>
            <a:r>
              <a:rPr lang="en-US" dirty="0" err="1" smtClean="0"/>
              <a:t>rax</a:t>
            </a:r>
            <a:r>
              <a:rPr lang="en-US" dirty="0" smtClean="0"/>
              <a:t> </a:t>
            </a:r>
            <a:r>
              <a:rPr lang="he-IL" dirty="0" smtClean="0"/>
              <a:t>  </a:t>
            </a:r>
            <a:r>
              <a:rPr lang="en-US" dirty="0" smtClean="0"/>
              <a:t>POP64</a:t>
            </a:r>
            <a:r>
              <a:rPr lang="he-IL" dirty="0" smtClean="0"/>
              <a:t>  , אז </a:t>
            </a:r>
            <a:r>
              <a:rPr lang="en-US" dirty="0" err="1" smtClean="0"/>
              <a:t>rax</a:t>
            </a:r>
            <a:r>
              <a:rPr lang="en-US" dirty="0"/>
              <a:t> </a:t>
            </a:r>
            <a:r>
              <a:rPr lang="he-IL" dirty="0" smtClean="0"/>
              <a:t>  מאחסן בתוכו את הערך האחרון שנדחף למחסנית , כלומר את 42 ואז התכנית מגיעה לפקודה </a:t>
            </a:r>
            <a:r>
              <a:rPr lang="en-US" dirty="0" smtClean="0"/>
              <a:t>RET</a:t>
            </a:r>
            <a:r>
              <a:rPr lang="he-IL" dirty="0" smtClean="0"/>
              <a:t> </a:t>
            </a:r>
          </a:p>
          <a:p>
            <a:r>
              <a:rPr lang="he-IL" dirty="0" smtClean="0"/>
              <a:t>על כן , המעבד מחזיר את הערך הנ"ל למערכת ההפעלה לינוקס וזו הסיבה שרואים על המסך את הערך 42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15</a:t>
            </a:fld>
            <a:endParaRPr lang="he-IL"/>
          </a:p>
        </p:txBody>
      </p:sp>
    </p:spTree>
    <p:extLst>
      <p:ext uri="{BB962C8B-B14F-4D97-AF65-F5344CB8AC3E}">
        <p14:creationId xmlns:p14="http://schemas.microsoft.com/office/powerpoint/2010/main" val="411490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הרצה </a:t>
            </a:r>
            <a:r>
              <a:rPr lang="he-IL" dirty="0" err="1" smtClean="0"/>
              <a:t>ודיבוג</a:t>
            </a:r>
            <a:r>
              <a:rPr lang="he-IL" dirty="0" smtClean="0"/>
              <a:t> המשך </a:t>
            </a:r>
            <a:endParaRPr lang="he-IL" dirty="0"/>
          </a:p>
        </p:txBody>
      </p:sp>
      <p:sp>
        <p:nvSpPr>
          <p:cNvPr id="3" name="מציין מיקום תוכן 2"/>
          <p:cNvSpPr>
            <a:spLocks noGrp="1"/>
          </p:cNvSpPr>
          <p:nvPr>
            <p:ph idx="1"/>
          </p:nvPr>
        </p:nvSpPr>
        <p:spPr/>
        <p:txBody>
          <a:bodyPr>
            <a:normAutofit fontScale="92500" lnSpcReduction="20000"/>
          </a:bodyPr>
          <a:lstStyle/>
          <a:p>
            <a:r>
              <a:rPr lang="he-IL" dirty="0" smtClean="0"/>
              <a:t>כעת , על מנת לדבג את התכנית ולעקוב אחר המחסנית יש לבצע את הפקודות הבאות : </a:t>
            </a:r>
          </a:p>
          <a:p>
            <a:pPr algn="l" rtl="0"/>
            <a:r>
              <a:rPr lang="en-US" b="1" dirty="0" err="1"/>
              <a:t>gdb</a:t>
            </a:r>
            <a:r>
              <a:rPr lang="en-US" b="1" dirty="0"/>
              <a:t> ./</a:t>
            </a:r>
            <a:r>
              <a:rPr lang="en-US" b="1" dirty="0" err="1" smtClean="0"/>
              <a:t>push_pop_demo</a:t>
            </a:r>
            <a:endParaRPr lang="en-US" b="1" dirty="0" smtClean="0"/>
          </a:p>
          <a:p>
            <a:pPr algn="l" rtl="0"/>
            <a:r>
              <a:rPr lang="en-US" b="1" dirty="0"/>
              <a:t>break </a:t>
            </a:r>
            <a:r>
              <a:rPr lang="en-US" b="1" dirty="0" smtClean="0"/>
              <a:t>main </a:t>
            </a:r>
          </a:p>
          <a:p>
            <a:pPr algn="l" rtl="0"/>
            <a:r>
              <a:rPr lang="en-US" b="1" dirty="0" smtClean="0"/>
              <a:t>Run</a:t>
            </a:r>
          </a:p>
          <a:p>
            <a:pPr algn="l" rtl="0"/>
            <a:r>
              <a:rPr lang="en-US" b="1" dirty="0" smtClean="0"/>
              <a:t># </a:t>
            </a:r>
            <a:r>
              <a:rPr lang="en-US" b="1" dirty="0"/>
              <a:t>Watch </a:t>
            </a:r>
            <a:r>
              <a:rPr lang="en-US" b="1" dirty="0" err="1"/>
              <a:t>rsp</a:t>
            </a:r>
            <a:r>
              <a:rPr lang="en-US" b="1" dirty="0"/>
              <a:t> and top of </a:t>
            </a:r>
            <a:r>
              <a:rPr lang="en-US" b="1" dirty="0" smtClean="0"/>
              <a:t>stack</a:t>
            </a:r>
          </a:p>
          <a:p>
            <a:pPr algn="l" rtl="0"/>
            <a:r>
              <a:rPr lang="en-US" b="1" dirty="0" smtClean="0"/>
              <a:t>display </a:t>
            </a:r>
            <a:r>
              <a:rPr lang="en-US" b="1" dirty="0"/>
              <a:t>/</a:t>
            </a:r>
            <a:r>
              <a:rPr lang="en-US" b="1" dirty="0" err="1"/>
              <a:t>gx</a:t>
            </a:r>
            <a:r>
              <a:rPr lang="en-US" b="1" dirty="0"/>
              <a:t> $</a:t>
            </a:r>
            <a:r>
              <a:rPr lang="en-US" b="1" dirty="0" err="1" smtClean="0"/>
              <a:t>rsp</a:t>
            </a:r>
            <a:endParaRPr lang="en-US" b="1" dirty="0" smtClean="0"/>
          </a:p>
          <a:p>
            <a:pPr algn="l" rtl="0"/>
            <a:r>
              <a:rPr lang="en-US" b="1" dirty="0" smtClean="0"/>
              <a:t>x/</a:t>
            </a:r>
            <a:r>
              <a:rPr lang="en-US" b="1" dirty="0" err="1" smtClean="0"/>
              <a:t>gx</a:t>
            </a:r>
            <a:r>
              <a:rPr lang="en-US" b="1" dirty="0" smtClean="0"/>
              <a:t> </a:t>
            </a:r>
            <a:r>
              <a:rPr lang="en-US" b="1" dirty="0"/>
              <a:t>$</a:t>
            </a:r>
            <a:r>
              <a:rPr lang="en-US" b="1" dirty="0" err="1" smtClean="0"/>
              <a:t>rsp</a:t>
            </a:r>
            <a:r>
              <a:rPr lang="en-US" b="1" dirty="0" smtClean="0"/>
              <a:t>                           </a:t>
            </a:r>
          </a:p>
          <a:p>
            <a:pPr algn="l" rtl="0"/>
            <a:r>
              <a:rPr lang="en-US" b="1" dirty="0"/>
              <a:t>Si                # Step instruction by instruction</a:t>
            </a:r>
          </a:p>
          <a:p>
            <a:pPr algn="l" rtl="0"/>
            <a:endParaRPr lang="he-IL" b="1" dirty="0"/>
          </a:p>
        </p:txBody>
      </p:sp>
      <p:sp>
        <p:nvSpPr>
          <p:cNvPr id="4" name="מציין מיקום של תאריך 3"/>
          <p:cNvSpPr>
            <a:spLocks noGrp="1"/>
          </p:cNvSpPr>
          <p:nvPr>
            <p:ph type="dt" sz="half" idx="10"/>
          </p:nvPr>
        </p:nvSpPr>
        <p:spPr/>
        <p:txBody>
          <a:bodyPr/>
          <a:lstStyle/>
          <a:p>
            <a:fld id="{47304355-6C00-4475-BB7C-3C5DCE9DCFEA}"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16</a:t>
            </a:fld>
            <a:endParaRPr lang="he-IL"/>
          </a:p>
        </p:txBody>
      </p:sp>
    </p:spTree>
    <p:extLst>
      <p:ext uri="{BB962C8B-B14F-4D97-AF65-F5344CB8AC3E}">
        <p14:creationId xmlns:p14="http://schemas.microsoft.com/office/powerpoint/2010/main" val="254041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פקודות </a:t>
            </a:r>
            <a:r>
              <a:rPr lang="en-US" dirty="0" smtClean="0"/>
              <a:t>call and return</a:t>
            </a:r>
            <a:r>
              <a:rPr lang="he-IL" dirty="0" smtClean="0"/>
              <a:t> </a:t>
            </a:r>
            <a:endParaRPr lang="he-IL" dirty="0"/>
          </a:p>
        </p:txBody>
      </p:sp>
      <p:sp>
        <p:nvSpPr>
          <p:cNvPr id="3" name="מציין מיקום תוכן 2"/>
          <p:cNvSpPr>
            <a:spLocks noGrp="1"/>
          </p:cNvSpPr>
          <p:nvPr>
            <p:ph idx="1"/>
          </p:nvPr>
        </p:nvSpPr>
        <p:spPr/>
        <p:txBody>
          <a:bodyPr/>
          <a:lstStyle/>
          <a:p>
            <a:pPr algn="l" rtl="0"/>
            <a:r>
              <a:rPr lang="en-US" dirty="0"/>
              <a:t>What call and ret </a:t>
            </a:r>
            <a:r>
              <a:rPr lang="en-US" dirty="0" smtClean="0"/>
              <a:t>do?</a:t>
            </a:r>
          </a:p>
          <a:p>
            <a:pPr algn="l" rtl="0"/>
            <a:r>
              <a:rPr lang="en-US" dirty="0" smtClean="0"/>
              <a:t>call </a:t>
            </a:r>
            <a:r>
              <a:rPr lang="en-US" dirty="0"/>
              <a:t>label</a:t>
            </a:r>
            <a:r>
              <a:rPr lang="en-US" dirty="0" smtClean="0"/>
              <a:t>: Pushes </a:t>
            </a:r>
            <a:r>
              <a:rPr lang="en-US" dirty="0"/>
              <a:t>return address on the </a:t>
            </a:r>
            <a:r>
              <a:rPr lang="en-US" dirty="0" smtClean="0"/>
              <a:t>stack</a:t>
            </a:r>
          </a:p>
          <a:p>
            <a:pPr algn="l" rtl="0"/>
            <a:r>
              <a:rPr lang="en-US" dirty="0"/>
              <a:t> </a:t>
            </a:r>
            <a:r>
              <a:rPr lang="en-US" dirty="0" smtClean="0"/>
              <a:t>  Jumps </a:t>
            </a:r>
            <a:r>
              <a:rPr lang="en-US" dirty="0"/>
              <a:t>to </a:t>
            </a:r>
            <a:r>
              <a:rPr lang="en-US" dirty="0" smtClean="0"/>
              <a:t>label</a:t>
            </a:r>
          </a:p>
          <a:p>
            <a:pPr algn="l" rtl="0"/>
            <a:r>
              <a:rPr lang="en-US" dirty="0"/>
              <a:t> </a:t>
            </a:r>
            <a:r>
              <a:rPr lang="en-US" dirty="0" smtClean="0"/>
              <a:t> ret:   Pops </a:t>
            </a:r>
            <a:r>
              <a:rPr lang="en-US" dirty="0"/>
              <a:t>return address from </a:t>
            </a:r>
            <a:r>
              <a:rPr lang="en-US" dirty="0" smtClean="0"/>
              <a:t>stack</a:t>
            </a:r>
          </a:p>
          <a:p>
            <a:pPr algn="l" rtl="0"/>
            <a:r>
              <a:rPr lang="en-US" dirty="0"/>
              <a:t> </a:t>
            </a:r>
            <a:r>
              <a:rPr lang="en-US" dirty="0" smtClean="0"/>
              <a:t>    Jumps </a:t>
            </a:r>
            <a:r>
              <a:rPr lang="en-US" dirty="0"/>
              <a:t>to that address</a:t>
            </a:r>
            <a:endParaRPr lang="he-IL" dirty="0"/>
          </a:p>
        </p:txBody>
      </p:sp>
      <p:sp>
        <p:nvSpPr>
          <p:cNvPr id="5" name="מציין מיקום של תאריך 4"/>
          <p:cNvSpPr>
            <a:spLocks noGrp="1"/>
          </p:cNvSpPr>
          <p:nvPr>
            <p:ph type="dt" sz="half" idx="10"/>
          </p:nvPr>
        </p:nvSpPr>
        <p:spPr/>
        <p:txBody>
          <a:bodyPr/>
          <a:lstStyle/>
          <a:p>
            <a:fld id="{C1665452-2E62-432D-9560-3FF1B6037452}" type="datetime8">
              <a:rPr lang="he-IL" smtClean="0"/>
              <a:t>01 מאי 26</a:t>
            </a:fld>
            <a:endParaRPr lang="he-IL"/>
          </a:p>
        </p:txBody>
      </p:sp>
      <p:sp>
        <p:nvSpPr>
          <p:cNvPr id="6" name="מציין מיקום של מספר שקופית 5"/>
          <p:cNvSpPr>
            <a:spLocks noGrp="1"/>
          </p:cNvSpPr>
          <p:nvPr>
            <p:ph type="sldNum" sz="quarter" idx="12"/>
          </p:nvPr>
        </p:nvSpPr>
        <p:spPr/>
        <p:txBody>
          <a:bodyPr/>
          <a:lstStyle/>
          <a:p>
            <a:fld id="{0BB5907D-BD0F-43E0-A690-15B32A6F70AF}" type="slidenum">
              <a:rPr lang="he-IL" smtClean="0"/>
              <a:t>17</a:t>
            </a:fld>
            <a:endParaRPr lang="he-IL"/>
          </a:p>
        </p:txBody>
      </p:sp>
    </p:spTree>
    <p:extLst>
      <p:ext uri="{BB962C8B-B14F-4D97-AF65-F5344CB8AC3E}">
        <p14:creationId xmlns:p14="http://schemas.microsoft.com/office/powerpoint/2010/main" val="136069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he-IL" dirty="0" smtClean="0"/>
              <a:t>שימוש במאקרו לצורך </a:t>
            </a:r>
            <a:r>
              <a:rPr lang="en-US" dirty="0" smtClean="0"/>
              <a:t>call/return</a:t>
            </a:r>
            <a:r>
              <a:rPr lang="he-IL" dirty="0" smtClean="0"/>
              <a:t> </a:t>
            </a:r>
            <a:endParaRPr lang="he-IL" dirty="0"/>
          </a:p>
        </p:txBody>
      </p:sp>
      <p:sp>
        <p:nvSpPr>
          <p:cNvPr id="3" name="מציין מיקום תוכן 2"/>
          <p:cNvSpPr>
            <a:spLocks noGrp="1"/>
          </p:cNvSpPr>
          <p:nvPr>
            <p:ph idx="1"/>
          </p:nvPr>
        </p:nvSpPr>
        <p:spPr/>
        <p:txBody>
          <a:bodyPr>
            <a:normAutofit fontScale="92500"/>
          </a:bodyPr>
          <a:lstStyle/>
          <a:p>
            <a:pPr algn="r"/>
            <a:r>
              <a:rPr lang="he-IL" dirty="0" smtClean="0"/>
              <a:t>שתי הפעולות שנראה מסתמכות על </a:t>
            </a:r>
            <a:r>
              <a:rPr lang="he-IL" dirty="0" err="1" smtClean="0"/>
              <a:t>המאקרוס</a:t>
            </a:r>
            <a:r>
              <a:rPr lang="he-IL" dirty="0"/>
              <a:t> </a:t>
            </a:r>
            <a:r>
              <a:rPr lang="he-IL" dirty="0" smtClean="0"/>
              <a:t>שהגדרנו קודם לכן, דהיינו על </a:t>
            </a:r>
            <a:r>
              <a:rPr lang="en-US" dirty="0" smtClean="0"/>
              <a:t>PUSH</a:t>
            </a:r>
            <a:r>
              <a:rPr lang="he-IL" dirty="0" smtClean="0"/>
              <a:t> ועל </a:t>
            </a:r>
            <a:r>
              <a:rPr lang="en-US" dirty="0" smtClean="0"/>
              <a:t>POP</a:t>
            </a:r>
            <a:r>
              <a:rPr lang="he-IL" dirty="0" smtClean="0"/>
              <a:t> : </a:t>
            </a:r>
          </a:p>
          <a:p>
            <a:pPr algn="l" rtl="0"/>
            <a:r>
              <a:rPr lang="en-US" dirty="0"/>
              <a:t>%macro CALL 1                             %macro RETURN 0      </a:t>
            </a:r>
            <a:endParaRPr lang="en-US" dirty="0" smtClean="0"/>
          </a:p>
          <a:p>
            <a:pPr algn="l" rtl="0"/>
            <a:r>
              <a:rPr lang="en-US" dirty="0"/>
              <a:t> </a:t>
            </a:r>
            <a:r>
              <a:rPr lang="en-US" dirty="0" smtClean="0"/>
              <a:t>     </a:t>
            </a:r>
            <a:r>
              <a:rPr lang="en-US" dirty="0"/>
              <a:t>mov </a:t>
            </a:r>
            <a:r>
              <a:rPr lang="en-US" dirty="0" err="1"/>
              <a:t>rax</a:t>
            </a:r>
            <a:r>
              <a:rPr lang="en-US" dirty="0"/>
              <a:t>, %%L   </a:t>
            </a:r>
            <a:r>
              <a:rPr lang="en-US" dirty="0" smtClean="0"/>
              <a:t>                               POP </a:t>
            </a:r>
            <a:r>
              <a:rPr lang="en-US" dirty="0" err="1" smtClean="0"/>
              <a:t>rax</a:t>
            </a:r>
            <a:endParaRPr lang="en-US" dirty="0" smtClean="0"/>
          </a:p>
          <a:p>
            <a:pPr algn="l" rtl="0"/>
            <a:r>
              <a:rPr lang="en-US" dirty="0"/>
              <a:t> </a:t>
            </a:r>
            <a:r>
              <a:rPr lang="en-US" dirty="0" smtClean="0"/>
              <a:t>     PUSH </a:t>
            </a:r>
            <a:r>
              <a:rPr lang="en-US" dirty="0" err="1"/>
              <a:t>rax</a:t>
            </a:r>
            <a:r>
              <a:rPr lang="en-US" dirty="0"/>
              <a:t>  </a:t>
            </a:r>
            <a:r>
              <a:rPr lang="en-US" dirty="0" smtClean="0"/>
              <a:t>                                        </a:t>
            </a:r>
            <a:r>
              <a:rPr lang="en-US" dirty="0" err="1" smtClean="0"/>
              <a:t>jmp</a:t>
            </a:r>
            <a:r>
              <a:rPr lang="en-US" dirty="0" smtClean="0"/>
              <a:t> </a:t>
            </a:r>
            <a:r>
              <a:rPr lang="en-US" dirty="0" err="1" smtClean="0"/>
              <a:t>rax</a:t>
            </a:r>
            <a:endParaRPr lang="en-US" dirty="0" smtClean="0"/>
          </a:p>
          <a:p>
            <a:pPr algn="l" rtl="0"/>
            <a:r>
              <a:rPr lang="en-US" dirty="0"/>
              <a:t> </a:t>
            </a:r>
            <a:r>
              <a:rPr lang="en-US" dirty="0" smtClean="0"/>
              <a:t>       </a:t>
            </a:r>
            <a:r>
              <a:rPr lang="en-US" dirty="0" err="1"/>
              <a:t>jmp</a:t>
            </a:r>
            <a:r>
              <a:rPr lang="en-US" dirty="0"/>
              <a:t> %1  </a:t>
            </a:r>
            <a:r>
              <a:rPr lang="en-US" dirty="0" smtClean="0"/>
              <a:t>                                    %</a:t>
            </a:r>
            <a:r>
              <a:rPr lang="en-US" dirty="0" err="1" smtClean="0"/>
              <a:t>endmacro</a:t>
            </a:r>
            <a:r>
              <a:rPr lang="en-US" dirty="0" smtClean="0"/>
              <a:t>      </a:t>
            </a:r>
          </a:p>
          <a:p>
            <a:pPr algn="l" rtl="0"/>
            <a:r>
              <a:rPr lang="en-US" dirty="0" smtClean="0"/>
              <a:t>       %%L:</a:t>
            </a:r>
          </a:p>
          <a:p>
            <a:pPr algn="l" rtl="0"/>
            <a:r>
              <a:rPr lang="en-US" dirty="0"/>
              <a:t> </a:t>
            </a:r>
            <a:r>
              <a:rPr lang="en-US" dirty="0" smtClean="0"/>
              <a:t>%</a:t>
            </a:r>
            <a:r>
              <a:rPr lang="en-US" dirty="0" err="1" smtClean="0"/>
              <a:t>endmacro</a:t>
            </a:r>
            <a:r>
              <a:rPr lang="en-US" dirty="0" smtClean="0"/>
              <a:t> </a:t>
            </a:r>
            <a:endParaRPr lang="he-IL" dirty="0"/>
          </a:p>
        </p:txBody>
      </p:sp>
      <p:sp>
        <p:nvSpPr>
          <p:cNvPr id="4" name="מציין מיקום של תאריך 3"/>
          <p:cNvSpPr>
            <a:spLocks noGrp="1"/>
          </p:cNvSpPr>
          <p:nvPr>
            <p:ph type="dt" sz="half" idx="10"/>
          </p:nvPr>
        </p:nvSpPr>
        <p:spPr/>
        <p:txBody>
          <a:bodyPr/>
          <a:lstStyle/>
          <a:p>
            <a:fld id="{3B93AC2D-7BE0-4CFC-BF1B-3A0CF6C99C40}"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18</a:t>
            </a:fld>
            <a:endParaRPr lang="he-IL"/>
          </a:p>
        </p:txBody>
      </p:sp>
    </p:spTree>
    <p:extLst>
      <p:ext uri="{BB962C8B-B14F-4D97-AF65-F5344CB8AC3E}">
        <p14:creationId xmlns:p14="http://schemas.microsoft.com/office/powerpoint/2010/main" val="308908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wipe(down)">
                                      <p:cBhvr>
                                        <p:cTn id="71" dur="580">
                                          <p:stCondLst>
                                            <p:cond delay="0"/>
                                          </p:stCondLst>
                                        </p:cTn>
                                        <p:tgtEl>
                                          <p:spTgt spid="3">
                                            <p:txEl>
                                              <p:pRg st="5" end="5"/>
                                            </p:txEl>
                                          </p:spTgt>
                                        </p:tgtEl>
                                      </p:cBhvr>
                                    </p:animEffect>
                                    <p:anim calcmode="lin" valueType="num">
                                      <p:cBhvr>
                                        <p:cTn id="72"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5" end="5"/>
                                            </p:txEl>
                                          </p:spTgt>
                                        </p:tgtEl>
                                      </p:cBhvr>
                                      <p:to x="100000" y="60000"/>
                                    </p:animScale>
                                    <p:animScale>
                                      <p:cBhvr>
                                        <p:cTn id="78" dur="166" decel="50000">
                                          <p:stCondLst>
                                            <p:cond delay="676"/>
                                          </p:stCondLst>
                                        </p:cTn>
                                        <p:tgtEl>
                                          <p:spTgt spid="3">
                                            <p:txEl>
                                              <p:pRg st="5" end="5"/>
                                            </p:txEl>
                                          </p:spTgt>
                                        </p:tgtEl>
                                      </p:cBhvr>
                                      <p:to x="100000" y="100000"/>
                                    </p:animScale>
                                    <p:animScale>
                                      <p:cBhvr>
                                        <p:cTn id="79" dur="26">
                                          <p:stCondLst>
                                            <p:cond delay="1312"/>
                                          </p:stCondLst>
                                        </p:cTn>
                                        <p:tgtEl>
                                          <p:spTgt spid="3">
                                            <p:txEl>
                                              <p:pRg st="5" end="5"/>
                                            </p:txEl>
                                          </p:spTgt>
                                        </p:tgtEl>
                                      </p:cBhvr>
                                      <p:to x="100000" y="80000"/>
                                    </p:animScale>
                                    <p:animScale>
                                      <p:cBhvr>
                                        <p:cTn id="80" dur="166" decel="50000">
                                          <p:stCondLst>
                                            <p:cond delay="1338"/>
                                          </p:stCondLst>
                                        </p:cTn>
                                        <p:tgtEl>
                                          <p:spTgt spid="3">
                                            <p:txEl>
                                              <p:pRg st="5" end="5"/>
                                            </p:txEl>
                                          </p:spTgt>
                                        </p:tgtEl>
                                      </p:cBhvr>
                                      <p:to x="100000" y="100000"/>
                                    </p:animScale>
                                    <p:animScale>
                                      <p:cBhvr>
                                        <p:cTn id="81" dur="26">
                                          <p:stCondLst>
                                            <p:cond delay="1642"/>
                                          </p:stCondLst>
                                        </p:cTn>
                                        <p:tgtEl>
                                          <p:spTgt spid="3">
                                            <p:txEl>
                                              <p:pRg st="5" end="5"/>
                                            </p:txEl>
                                          </p:spTgt>
                                        </p:tgtEl>
                                      </p:cBhvr>
                                      <p:to x="100000" y="90000"/>
                                    </p:animScale>
                                    <p:animScale>
                                      <p:cBhvr>
                                        <p:cTn id="82" dur="166" decel="50000">
                                          <p:stCondLst>
                                            <p:cond delay="1668"/>
                                          </p:stCondLst>
                                        </p:cTn>
                                        <p:tgtEl>
                                          <p:spTgt spid="3">
                                            <p:txEl>
                                              <p:pRg st="5" end="5"/>
                                            </p:txEl>
                                          </p:spTgt>
                                        </p:tgtEl>
                                      </p:cBhvr>
                                      <p:to x="100000" y="100000"/>
                                    </p:animScale>
                                    <p:animScale>
                                      <p:cBhvr>
                                        <p:cTn id="83" dur="26">
                                          <p:stCondLst>
                                            <p:cond delay="1808"/>
                                          </p:stCondLst>
                                        </p:cTn>
                                        <p:tgtEl>
                                          <p:spTgt spid="3">
                                            <p:txEl>
                                              <p:pRg st="5" end="5"/>
                                            </p:txEl>
                                          </p:spTgt>
                                        </p:tgtEl>
                                      </p:cBhvr>
                                      <p:to x="100000" y="95000"/>
                                    </p:animScale>
                                    <p:animScale>
                                      <p:cBhvr>
                                        <p:cTn id="84" dur="166" decel="50000">
                                          <p:stCondLst>
                                            <p:cond delay="1834"/>
                                          </p:stCondLst>
                                        </p:cTn>
                                        <p:tgtEl>
                                          <p:spTgt spid="3">
                                            <p:txEl>
                                              <p:pRg st="5" end="5"/>
                                            </p:txEl>
                                          </p:spTgt>
                                        </p:tgtEl>
                                      </p:cBhvr>
                                      <p:to x="100000" y="100000"/>
                                    </p:animScale>
                                  </p:childTnLst>
                                </p:cTn>
                              </p:par>
                              <p:par>
                                <p:cTn id="85" presetID="26" presetClass="entr" presetSubtype="0" fill="hold" nodeType="withEffect">
                                  <p:stCondLst>
                                    <p:cond delay="0"/>
                                  </p:stCondLst>
                                  <p:childTnLst>
                                    <p:set>
                                      <p:cBhvr>
                                        <p:cTn id="86" dur="1" fill="hold">
                                          <p:stCondLst>
                                            <p:cond delay="0"/>
                                          </p:stCondLst>
                                        </p:cTn>
                                        <p:tgtEl>
                                          <p:spTgt spid="3">
                                            <p:txEl>
                                              <p:pRg st="6" end="6"/>
                                            </p:txEl>
                                          </p:spTgt>
                                        </p:tgtEl>
                                        <p:attrNameLst>
                                          <p:attrName>style.visibility</p:attrName>
                                        </p:attrNameLst>
                                      </p:cBhvr>
                                      <p:to>
                                        <p:strVal val="visible"/>
                                      </p:to>
                                    </p:set>
                                    <p:animEffect transition="in" filter="wipe(down)">
                                      <p:cBhvr>
                                        <p:cTn id="87" dur="580">
                                          <p:stCondLst>
                                            <p:cond delay="0"/>
                                          </p:stCondLst>
                                        </p:cTn>
                                        <p:tgtEl>
                                          <p:spTgt spid="3">
                                            <p:txEl>
                                              <p:pRg st="6" end="6"/>
                                            </p:txEl>
                                          </p:spTgt>
                                        </p:tgtEl>
                                      </p:cBhvr>
                                    </p:animEffect>
                                    <p:anim calcmode="lin" valueType="num">
                                      <p:cBhvr>
                                        <p:cTn id="8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
                                            <p:txEl>
                                              <p:pRg st="6" end="6"/>
                                            </p:txEl>
                                          </p:spTgt>
                                        </p:tgtEl>
                                      </p:cBhvr>
                                      <p:to x="100000" y="60000"/>
                                    </p:animScale>
                                    <p:animScale>
                                      <p:cBhvr>
                                        <p:cTn id="94" dur="166" decel="50000">
                                          <p:stCondLst>
                                            <p:cond delay="676"/>
                                          </p:stCondLst>
                                        </p:cTn>
                                        <p:tgtEl>
                                          <p:spTgt spid="3">
                                            <p:txEl>
                                              <p:pRg st="6" end="6"/>
                                            </p:txEl>
                                          </p:spTgt>
                                        </p:tgtEl>
                                      </p:cBhvr>
                                      <p:to x="100000" y="100000"/>
                                    </p:animScale>
                                    <p:animScale>
                                      <p:cBhvr>
                                        <p:cTn id="95" dur="26">
                                          <p:stCondLst>
                                            <p:cond delay="1312"/>
                                          </p:stCondLst>
                                        </p:cTn>
                                        <p:tgtEl>
                                          <p:spTgt spid="3">
                                            <p:txEl>
                                              <p:pRg st="6" end="6"/>
                                            </p:txEl>
                                          </p:spTgt>
                                        </p:tgtEl>
                                      </p:cBhvr>
                                      <p:to x="100000" y="80000"/>
                                    </p:animScale>
                                    <p:animScale>
                                      <p:cBhvr>
                                        <p:cTn id="96" dur="166" decel="50000">
                                          <p:stCondLst>
                                            <p:cond delay="1338"/>
                                          </p:stCondLst>
                                        </p:cTn>
                                        <p:tgtEl>
                                          <p:spTgt spid="3">
                                            <p:txEl>
                                              <p:pRg st="6" end="6"/>
                                            </p:txEl>
                                          </p:spTgt>
                                        </p:tgtEl>
                                      </p:cBhvr>
                                      <p:to x="100000" y="100000"/>
                                    </p:animScale>
                                    <p:animScale>
                                      <p:cBhvr>
                                        <p:cTn id="97" dur="26">
                                          <p:stCondLst>
                                            <p:cond delay="1642"/>
                                          </p:stCondLst>
                                        </p:cTn>
                                        <p:tgtEl>
                                          <p:spTgt spid="3">
                                            <p:txEl>
                                              <p:pRg st="6" end="6"/>
                                            </p:txEl>
                                          </p:spTgt>
                                        </p:tgtEl>
                                      </p:cBhvr>
                                      <p:to x="100000" y="90000"/>
                                    </p:animScale>
                                    <p:animScale>
                                      <p:cBhvr>
                                        <p:cTn id="98" dur="166" decel="50000">
                                          <p:stCondLst>
                                            <p:cond delay="1668"/>
                                          </p:stCondLst>
                                        </p:cTn>
                                        <p:tgtEl>
                                          <p:spTgt spid="3">
                                            <p:txEl>
                                              <p:pRg st="6" end="6"/>
                                            </p:txEl>
                                          </p:spTgt>
                                        </p:tgtEl>
                                      </p:cBhvr>
                                      <p:to x="100000" y="100000"/>
                                    </p:animScale>
                                    <p:animScale>
                                      <p:cBhvr>
                                        <p:cTn id="99" dur="26">
                                          <p:stCondLst>
                                            <p:cond delay="1808"/>
                                          </p:stCondLst>
                                        </p:cTn>
                                        <p:tgtEl>
                                          <p:spTgt spid="3">
                                            <p:txEl>
                                              <p:pRg st="6" end="6"/>
                                            </p:txEl>
                                          </p:spTgt>
                                        </p:tgtEl>
                                      </p:cBhvr>
                                      <p:to x="100000" y="95000"/>
                                    </p:animScale>
                                    <p:animScale>
                                      <p:cBhvr>
                                        <p:cTn id="100"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שימוש במאקרו לצורך </a:t>
            </a:r>
            <a:r>
              <a:rPr lang="en-US" dirty="0"/>
              <a:t>call/return</a:t>
            </a:r>
            <a:endParaRPr lang="he-IL" dirty="0"/>
          </a:p>
        </p:txBody>
      </p:sp>
      <p:sp>
        <p:nvSpPr>
          <p:cNvPr id="3" name="מציין מיקום תוכן 2"/>
          <p:cNvSpPr>
            <a:spLocks noGrp="1"/>
          </p:cNvSpPr>
          <p:nvPr>
            <p:ph idx="1"/>
          </p:nvPr>
        </p:nvSpPr>
        <p:spPr/>
        <p:txBody>
          <a:bodyPr/>
          <a:lstStyle/>
          <a:p>
            <a:r>
              <a:rPr lang="he-IL" dirty="0" smtClean="0"/>
              <a:t>תפקיד המאקרו בשם </a:t>
            </a:r>
            <a:r>
              <a:rPr lang="en-US" dirty="0" smtClean="0"/>
              <a:t>CALL</a:t>
            </a:r>
            <a:r>
              <a:rPr lang="he-IL" dirty="0" smtClean="0"/>
              <a:t> שהגדרנו בשקף הקודם  הוא לבצע קריאה  לפונקציה.</a:t>
            </a:r>
          </a:p>
          <a:p>
            <a:pPr marL="0" indent="0">
              <a:buNone/>
            </a:pPr>
            <a:r>
              <a:rPr lang="he-IL" dirty="0" smtClean="0"/>
              <a:t>כלומר להפסיק את פעולת התכנית הראשית ולעבור לבצע רצף פקודות במקום אחר בזיכרון. </a:t>
            </a:r>
          </a:p>
          <a:p>
            <a:pPr marL="0" indent="0">
              <a:buNone/>
            </a:pPr>
            <a:r>
              <a:rPr lang="he-IL" dirty="0" smtClean="0"/>
              <a:t>לשם כך יש לשמור את כתובת החזרה במחסנית – לאחר סיומה של הפונקציה. </a:t>
            </a:r>
          </a:p>
          <a:p>
            <a:pPr marL="0" indent="0">
              <a:buNone/>
            </a:pPr>
            <a:r>
              <a:rPr lang="he-IL" dirty="0" smtClean="0"/>
              <a:t>מסיבה זו במאקרו של </a:t>
            </a:r>
            <a:r>
              <a:rPr lang="en-US" dirty="0" smtClean="0"/>
              <a:t>CALL   </a:t>
            </a:r>
            <a:r>
              <a:rPr lang="he-IL" dirty="0" smtClean="0"/>
              <a:t> הושמה פקודה בשם </a:t>
            </a:r>
            <a:r>
              <a:rPr lang="en-US" dirty="0" smtClean="0"/>
              <a:t>PUSH </a:t>
            </a:r>
            <a:r>
              <a:rPr lang="en-US" dirty="0" err="1" smtClean="0"/>
              <a:t>rax</a:t>
            </a:r>
            <a:r>
              <a:rPr lang="en-US" dirty="0" smtClean="0"/>
              <a:t> </a:t>
            </a:r>
            <a:r>
              <a:rPr lang="he-IL" dirty="0" smtClean="0"/>
              <a:t>  אשר שומרת במחסנית את כתובת החזרה. (על תהליך ההשמה של כתובת החזרה ב </a:t>
            </a:r>
            <a:r>
              <a:rPr lang="en-US" dirty="0" err="1" smtClean="0"/>
              <a:t>rax</a:t>
            </a:r>
            <a:r>
              <a:rPr lang="en-US" dirty="0"/>
              <a:t> </a:t>
            </a:r>
            <a:r>
              <a:rPr lang="he-IL" dirty="0"/>
              <a:t> </a:t>
            </a:r>
            <a:r>
              <a:rPr lang="he-IL" dirty="0" smtClean="0"/>
              <a:t>נדון מאוחר יותר)</a:t>
            </a:r>
          </a:p>
          <a:p>
            <a:pPr marL="0" indent="0">
              <a:buNone/>
            </a:pPr>
            <a:r>
              <a:rPr lang="he-IL" dirty="0" smtClean="0"/>
              <a:t>לכן , במאקרו של </a:t>
            </a:r>
            <a:r>
              <a:rPr lang="en-US" dirty="0" smtClean="0"/>
              <a:t>RETURN</a:t>
            </a:r>
            <a:r>
              <a:rPr lang="he-IL" dirty="0" smtClean="0"/>
              <a:t> יש לשלוף את כתובת החזרה בסיום הפונקציה ישירות אל</a:t>
            </a:r>
            <a:r>
              <a:rPr lang="en-US" dirty="0" err="1" smtClean="0"/>
              <a:t>rax</a:t>
            </a:r>
            <a:r>
              <a:rPr lang="en-US" dirty="0" smtClean="0"/>
              <a:t> </a:t>
            </a:r>
            <a:r>
              <a:rPr lang="he-IL" dirty="0" smtClean="0"/>
              <a:t>ולאחר מכן לבצע קפיצה אל כתובת זו כדי להמשיך את רצף התכנית.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19</a:t>
            </a:fld>
            <a:endParaRPr lang="he-IL"/>
          </a:p>
        </p:txBody>
      </p:sp>
    </p:spTree>
    <p:extLst>
      <p:ext uri="{BB962C8B-B14F-4D97-AF65-F5344CB8AC3E}">
        <p14:creationId xmlns:p14="http://schemas.microsoft.com/office/powerpoint/2010/main" val="134704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תפקידו של </a:t>
            </a:r>
            <a:r>
              <a:rPr lang="en-US" dirty="0" smtClean="0"/>
              <a:t>%%L</a:t>
            </a:r>
            <a:r>
              <a:rPr lang="he-IL" dirty="0" smtClean="0"/>
              <a:t> </a:t>
            </a:r>
            <a:endParaRPr lang="he-IL" dirty="0"/>
          </a:p>
        </p:txBody>
      </p:sp>
      <p:sp>
        <p:nvSpPr>
          <p:cNvPr id="3" name="מציין מיקום תוכן 2"/>
          <p:cNvSpPr>
            <a:spLocks noGrp="1"/>
          </p:cNvSpPr>
          <p:nvPr>
            <p:ph idx="1"/>
          </p:nvPr>
        </p:nvSpPr>
        <p:spPr/>
        <p:txBody>
          <a:bodyPr/>
          <a:lstStyle/>
          <a:p>
            <a:r>
              <a:rPr lang="he-IL" dirty="0" smtClean="0"/>
              <a:t>במאקרו של </a:t>
            </a:r>
            <a:r>
              <a:rPr lang="en-US" dirty="0" smtClean="0"/>
              <a:t>CALL</a:t>
            </a:r>
            <a:r>
              <a:rPr lang="he-IL" dirty="0" smtClean="0"/>
              <a:t> קיימת שורה</a:t>
            </a:r>
            <a:r>
              <a:rPr lang="en-US" dirty="0" smtClean="0"/>
              <a:t>  </a:t>
            </a:r>
            <a:r>
              <a:rPr lang="he-IL" dirty="0" smtClean="0"/>
              <a:t> </a:t>
            </a:r>
            <a:r>
              <a:rPr lang="en-US" dirty="0" smtClean="0"/>
              <a:t> %%L: </a:t>
            </a:r>
          </a:p>
          <a:p>
            <a:r>
              <a:rPr lang="he-IL" dirty="0" smtClean="0"/>
              <a:t>זוהי תווית אשר קיימת אך ורק בתוך המאקרו.</a:t>
            </a:r>
          </a:p>
          <a:p>
            <a:r>
              <a:rPr lang="he-IL" dirty="0" smtClean="0"/>
              <a:t>בכל קריאה למאקרו אשר תווית זו נמצאת בתוכו </a:t>
            </a:r>
            <a:r>
              <a:rPr lang="en-US" dirty="0" smtClean="0"/>
              <a:t>NASM </a:t>
            </a:r>
            <a:r>
              <a:rPr lang="he-IL" dirty="0" smtClean="0"/>
              <a:t>  יוצר תווית חדשה עם מספר אקראי כלשהו וזאת על מנת לבדל את הקריאה הנוכחית מהקודמות לה (ומהעתידיות לבוא).</a:t>
            </a:r>
          </a:p>
          <a:p>
            <a:r>
              <a:rPr lang="he-IL" dirty="0" smtClean="0"/>
              <a:t>הרעיון הוא  ש </a:t>
            </a:r>
            <a:r>
              <a:rPr lang="en-US" dirty="0" smtClean="0"/>
              <a:t>%%L</a:t>
            </a:r>
            <a:r>
              <a:rPr lang="he-IL" dirty="0" smtClean="0"/>
              <a:t> תסמן בכל פעם </a:t>
            </a:r>
            <a:r>
              <a:rPr lang="he-IL" b="1" dirty="0" smtClean="0"/>
              <a:t>תווית מקורית </a:t>
            </a:r>
            <a:r>
              <a:rPr lang="he-IL" dirty="0" smtClean="0"/>
              <a:t>של מאקרו כך שאפילו אם מריצים את המאקרו מספר פעמים, בכל הרצה אותו</a:t>
            </a:r>
            <a:r>
              <a:rPr lang="en-US" dirty="0" smtClean="0"/>
              <a:t>     </a:t>
            </a:r>
            <a:r>
              <a:rPr lang="en-US" dirty="0"/>
              <a:t> </a:t>
            </a:r>
            <a:r>
              <a:rPr lang="he-IL" dirty="0" smtClean="0"/>
              <a:t> </a:t>
            </a:r>
            <a:r>
              <a:rPr lang="en-US" dirty="0" smtClean="0"/>
              <a:t>NASM</a:t>
            </a:r>
            <a:r>
              <a:rPr lang="he-IL" dirty="0" smtClean="0"/>
              <a:t> יתייחס אליו כאל מאקרו </a:t>
            </a:r>
            <a:r>
              <a:rPr lang="he-IL" dirty="0" err="1" smtClean="0"/>
              <a:t>יחודי</a:t>
            </a:r>
            <a:r>
              <a:rPr lang="he-IL" dirty="0" smtClean="0"/>
              <a:t>. </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20</a:t>
            </a:fld>
            <a:endParaRPr lang="he-IL"/>
          </a:p>
        </p:txBody>
      </p:sp>
    </p:spTree>
    <p:extLst>
      <p:ext uri="{BB962C8B-B14F-4D97-AF65-F5344CB8AC3E}">
        <p14:creationId xmlns:p14="http://schemas.microsoft.com/office/powerpoint/2010/main" val="79931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תפקידו </a:t>
            </a:r>
            <a:r>
              <a:rPr lang="he-IL" dirty="0" smtClean="0"/>
              <a:t>של</a:t>
            </a:r>
            <a:r>
              <a:rPr lang="en-US" dirty="0" smtClean="0"/>
              <a:t>%%L </a:t>
            </a:r>
            <a:endParaRPr lang="he-IL" dirty="0"/>
          </a:p>
        </p:txBody>
      </p:sp>
      <p:sp>
        <p:nvSpPr>
          <p:cNvPr id="3" name="מציין מיקום תוכן 2"/>
          <p:cNvSpPr>
            <a:spLocks noGrp="1"/>
          </p:cNvSpPr>
          <p:nvPr>
            <p:ph idx="1"/>
          </p:nvPr>
        </p:nvSpPr>
        <p:spPr/>
        <p:txBody>
          <a:bodyPr/>
          <a:lstStyle/>
          <a:p>
            <a:r>
              <a:rPr lang="he-IL" dirty="0" smtClean="0"/>
              <a:t> דוגמא – אם נבצע לראשונה קריאה ל </a:t>
            </a:r>
            <a:r>
              <a:rPr lang="en-US" dirty="0" smtClean="0"/>
              <a:t> </a:t>
            </a:r>
            <a:r>
              <a:rPr lang="he-IL" dirty="0" smtClean="0"/>
              <a:t> </a:t>
            </a:r>
            <a:r>
              <a:rPr lang="en-US" dirty="0" smtClean="0"/>
              <a:t>CALL  </a:t>
            </a:r>
            <a:r>
              <a:rPr lang="en-US" dirty="0" err="1" smtClean="0"/>
              <a:t>printf</a:t>
            </a:r>
            <a:r>
              <a:rPr lang="he-IL" dirty="0" smtClean="0"/>
              <a:t> אזי </a:t>
            </a:r>
            <a:r>
              <a:rPr lang="en-US" dirty="0" smtClean="0"/>
              <a:t>NASM</a:t>
            </a:r>
            <a:r>
              <a:rPr lang="he-IL" dirty="0" smtClean="0"/>
              <a:t> יפרש אותו באופן הבא :</a:t>
            </a:r>
            <a:r>
              <a:rPr lang="en-US" dirty="0" smtClean="0"/>
              <a:t> </a:t>
            </a:r>
            <a:endParaRPr lang="he-IL" dirty="0" smtClean="0"/>
          </a:p>
          <a:p>
            <a:pPr algn="l" rtl="0"/>
            <a:r>
              <a:rPr lang="en-US" b="1" dirty="0"/>
              <a:t>lea </a:t>
            </a:r>
            <a:r>
              <a:rPr lang="en-US" b="1" dirty="0" err="1"/>
              <a:t>rax</a:t>
            </a:r>
            <a:r>
              <a:rPr lang="en-US" b="1" dirty="0"/>
              <a:t>, [</a:t>
            </a:r>
            <a:r>
              <a:rPr lang="en-US" b="1" dirty="0" err="1"/>
              <a:t>rel</a:t>
            </a:r>
            <a:r>
              <a:rPr lang="en-US" b="1" dirty="0"/>
              <a:t> ..@L.1]   ; compute address of return point</a:t>
            </a:r>
          </a:p>
          <a:p>
            <a:pPr algn="l" rtl="0"/>
            <a:r>
              <a:rPr lang="en-US" b="1" dirty="0"/>
              <a:t>push </a:t>
            </a:r>
            <a:r>
              <a:rPr lang="en-US" b="1" dirty="0" err="1"/>
              <a:t>rax</a:t>
            </a:r>
            <a:r>
              <a:rPr lang="en-US" b="1" dirty="0"/>
              <a:t>                ; save it on the stack</a:t>
            </a:r>
          </a:p>
          <a:p>
            <a:pPr algn="l" rtl="0"/>
            <a:r>
              <a:rPr lang="en-US" b="1" dirty="0" err="1"/>
              <a:t>jmp</a:t>
            </a:r>
            <a:r>
              <a:rPr lang="en-US" b="1" dirty="0"/>
              <a:t> </a:t>
            </a:r>
            <a:r>
              <a:rPr lang="en-US" b="1" dirty="0" err="1"/>
              <a:t>printf</a:t>
            </a:r>
            <a:r>
              <a:rPr lang="en-US" b="1" dirty="0"/>
              <a:t>              ; jump to </a:t>
            </a:r>
            <a:r>
              <a:rPr lang="en-US" b="1" dirty="0" err="1"/>
              <a:t>printf</a:t>
            </a:r>
            <a:endParaRPr lang="en-US" b="1" dirty="0"/>
          </a:p>
          <a:p>
            <a:pPr algn="l" rtl="0"/>
            <a:r>
              <a:rPr lang="en-US" b="1" dirty="0"/>
              <a:t>..@L.1:                 ; return point</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21</a:t>
            </a:fld>
            <a:endParaRPr lang="he-IL"/>
          </a:p>
        </p:txBody>
      </p:sp>
    </p:spTree>
    <p:extLst>
      <p:ext uri="{BB962C8B-B14F-4D97-AF65-F5344CB8AC3E}">
        <p14:creationId xmlns:p14="http://schemas.microsoft.com/office/powerpoint/2010/main" val="334625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תפקידו של </a:t>
            </a:r>
            <a:r>
              <a:rPr lang="en-US" dirty="0" smtClean="0"/>
              <a:t>%%L</a:t>
            </a:r>
            <a:endParaRPr lang="he-IL" dirty="0"/>
          </a:p>
        </p:txBody>
      </p:sp>
      <p:sp>
        <p:nvSpPr>
          <p:cNvPr id="3" name="מציין מיקום תוכן 2"/>
          <p:cNvSpPr>
            <a:spLocks noGrp="1"/>
          </p:cNvSpPr>
          <p:nvPr>
            <p:ph idx="1"/>
          </p:nvPr>
        </p:nvSpPr>
        <p:spPr/>
        <p:txBody>
          <a:bodyPr>
            <a:normAutofit lnSpcReduction="10000"/>
          </a:bodyPr>
          <a:lstStyle/>
          <a:p>
            <a:r>
              <a:rPr lang="he-IL" dirty="0" smtClean="0"/>
              <a:t> ואילו אם נבצע </a:t>
            </a:r>
            <a:r>
              <a:rPr lang="en-US" dirty="0" smtClean="0"/>
              <a:t>CALL </a:t>
            </a:r>
            <a:r>
              <a:rPr lang="en-US" dirty="0" err="1" smtClean="0"/>
              <a:t>printf</a:t>
            </a:r>
            <a:r>
              <a:rPr lang="he-IL" dirty="0" smtClean="0"/>
              <a:t> בפעם </a:t>
            </a:r>
            <a:r>
              <a:rPr lang="he-IL" dirty="0" err="1" smtClean="0"/>
              <a:t>השניה</a:t>
            </a:r>
            <a:r>
              <a:rPr lang="he-IL" dirty="0" smtClean="0"/>
              <a:t>  אזי </a:t>
            </a:r>
            <a:r>
              <a:rPr lang="en-US" dirty="0" smtClean="0"/>
              <a:t>NASM</a:t>
            </a:r>
            <a:r>
              <a:rPr lang="he-IL" dirty="0" smtClean="0"/>
              <a:t> יפרש אותו כך :</a:t>
            </a:r>
            <a:r>
              <a:rPr lang="en-US" dirty="0" smtClean="0"/>
              <a:t> </a:t>
            </a:r>
            <a:endParaRPr lang="he-IL" dirty="0" smtClean="0"/>
          </a:p>
          <a:p>
            <a:pPr algn="l" rtl="0"/>
            <a:r>
              <a:rPr lang="it-IT" b="1" dirty="0"/>
              <a:t>lea rax, [rel ..@L.2]</a:t>
            </a:r>
          </a:p>
          <a:p>
            <a:pPr algn="l" rtl="0"/>
            <a:r>
              <a:rPr lang="it-IT" b="1" dirty="0"/>
              <a:t>push rax</a:t>
            </a:r>
          </a:p>
          <a:p>
            <a:pPr algn="l" rtl="0"/>
            <a:r>
              <a:rPr lang="it-IT" b="1" dirty="0"/>
              <a:t>jmp printf</a:t>
            </a:r>
          </a:p>
          <a:p>
            <a:pPr algn="l" rtl="0"/>
            <a:r>
              <a:rPr lang="it-IT" b="1" dirty="0"/>
              <a:t>..@L.2:</a:t>
            </a:r>
          </a:p>
          <a:p>
            <a:pPr algn="r"/>
            <a:r>
              <a:rPr lang="he-IL" dirty="0" smtClean="0"/>
              <a:t>כלומר כל קריאה מקבלת נקודת חזרה משל עצמה </a:t>
            </a:r>
            <a:r>
              <a:rPr lang="he-IL" dirty="0" err="1" smtClean="0"/>
              <a:t>שיחודית</a:t>
            </a:r>
            <a:r>
              <a:rPr lang="he-IL" dirty="0" smtClean="0"/>
              <a:t> רק לה. </a:t>
            </a:r>
          </a:p>
          <a:p>
            <a:pPr algn="r"/>
            <a:r>
              <a:rPr lang="he-IL" dirty="0" smtClean="0"/>
              <a:t>מסיבה זו </a:t>
            </a:r>
            <a:r>
              <a:rPr lang="en-US" dirty="0" smtClean="0"/>
              <a:t>%%L</a:t>
            </a:r>
            <a:r>
              <a:rPr lang="he-IL" dirty="0" smtClean="0"/>
              <a:t> קיים כדי לומר </a:t>
            </a:r>
            <a:r>
              <a:rPr lang="en-US" dirty="0" smtClean="0"/>
              <a:t>“come back here” </a:t>
            </a:r>
            <a:r>
              <a:rPr lang="he-IL" dirty="0" smtClean="0"/>
              <a:t> לכל קריאת </a:t>
            </a:r>
            <a:r>
              <a:rPr lang="en-US" dirty="0" smtClean="0"/>
              <a:t>CALL</a:t>
            </a:r>
            <a:r>
              <a:rPr lang="he-IL" dirty="0" smtClean="0"/>
              <a:t>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22</a:t>
            </a:fld>
            <a:endParaRPr lang="he-IL"/>
          </a:p>
        </p:txBody>
      </p:sp>
    </p:spTree>
    <p:extLst>
      <p:ext uri="{BB962C8B-B14F-4D97-AF65-F5344CB8AC3E}">
        <p14:creationId xmlns:p14="http://schemas.microsoft.com/office/powerpoint/2010/main" val="698446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5" end="5"/>
                                            </p:txEl>
                                          </p:spTgt>
                                        </p:tgtEl>
                                        <p:attrNameLst>
                                          <p:attrName>style.visibility</p:attrName>
                                        </p:attrNameLst>
                                      </p:cBhvr>
                                      <p:to>
                                        <p:strVal val="visible"/>
                                      </p:to>
                                    </p:set>
                                    <p:anim calcmode="lin" valueType="num">
                                      <p:cBhvr additive="base">
                                        <p:cTn id="7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6" end="6"/>
                                            </p:txEl>
                                          </p:spTgt>
                                        </p:tgtEl>
                                        <p:attrNameLst>
                                          <p:attrName>style.visibility</p:attrName>
                                        </p:attrNameLst>
                                      </p:cBhvr>
                                      <p:to>
                                        <p:strVal val="visible"/>
                                      </p:to>
                                    </p:set>
                                    <p:anim calcmode="lin" valueType="num">
                                      <p:cBhvr additive="base">
                                        <p:cTn id="7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smtClean="0"/>
              <a:t>extern </a:t>
            </a:r>
            <a:r>
              <a:rPr lang="en-US" dirty="0" err="1" smtClean="0"/>
              <a:t>printf</a:t>
            </a:r>
            <a:endParaRPr lang="he-IL" dirty="0"/>
          </a:p>
        </p:txBody>
      </p:sp>
      <p:sp>
        <p:nvSpPr>
          <p:cNvPr id="3" name="מציין מיקום תוכן 2"/>
          <p:cNvSpPr>
            <a:spLocks noGrp="1"/>
          </p:cNvSpPr>
          <p:nvPr>
            <p:ph idx="1"/>
          </p:nvPr>
        </p:nvSpPr>
        <p:spPr/>
        <p:txBody>
          <a:bodyPr/>
          <a:lstStyle/>
          <a:p>
            <a:r>
              <a:rPr lang="he-IL" dirty="0" smtClean="0"/>
              <a:t>הפקודה </a:t>
            </a:r>
            <a:r>
              <a:rPr lang="en-US" dirty="0" err="1" smtClean="0"/>
              <a:t>printf</a:t>
            </a:r>
            <a:r>
              <a:rPr lang="he-IL" dirty="0" smtClean="0"/>
              <a:t> היא פקודה בשפת </a:t>
            </a:r>
            <a:r>
              <a:rPr lang="en-US" dirty="0" smtClean="0"/>
              <a:t>C</a:t>
            </a:r>
            <a:r>
              <a:rPr lang="he-IL" dirty="0" smtClean="0"/>
              <a:t> שמטרתה הדפסת מחרוזות  או תכנים מספריים על המסך. היות ואסמבלר לא מכיר פקודות של </a:t>
            </a:r>
            <a:r>
              <a:rPr lang="en-US" dirty="0" smtClean="0"/>
              <a:t>C</a:t>
            </a:r>
            <a:r>
              <a:rPr lang="he-IL" dirty="0" smtClean="0"/>
              <a:t> כלל וכלל , אזי הפקודה </a:t>
            </a:r>
            <a:r>
              <a:rPr lang="en-US" dirty="0" smtClean="0"/>
              <a:t>extern </a:t>
            </a:r>
            <a:r>
              <a:rPr lang="en-US" dirty="0" err="1" smtClean="0"/>
              <a:t>printf</a:t>
            </a:r>
            <a:r>
              <a:rPr lang="he-IL" dirty="0" smtClean="0"/>
              <a:t>  מציינת  ל </a:t>
            </a:r>
            <a:r>
              <a:rPr lang="en-US" dirty="0" smtClean="0"/>
              <a:t>NASM</a:t>
            </a:r>
            <a:r>
              <a:rPr lang="he-IL" dirty="0" smtClean="0"/>
              <a:t> כי קיים סימן בשם </a:t>
            </a:r>
            <a:r>
              <a:rPr lang="en-US" dirty="0" err="1" smtClean="0"/>
              <a:t>printf</a:t>
            </a:r>
            <a:r>
              <a:rPr lang="en-US" dirty="0"/>
              <a:t> </a:t>
            </a:r>
            <a:r>
              <a:rPr lang="he-IL" dirty="0"/>
              <a:t> </a:t>
            </a:r>
            <a:r>
              <a:rPr lang="he-IL" dirty="0" smtClean="0"/>
              <a:t>אשר קיים במקום אחר ועל הקומפיילר להתייחס אליה כאל סימן לא מוכר. </a:t>
            </a:r>
          </a:p>
          <a:p>
            <a:r>
              <a:rPr lang="en-US" dirty="0" smtClean="0"/>
              <a:t>NASM</a:t>
            </a:r>
            <a:r>
              <a:rPr lang="he-IL" dirty="0" smtClean="0"/>
              <a:t> ממתין לקבל את הכתובת של הדף שבו </a:t>
            </a:r>
            <a:r>
              <a:rPr lang="en-US" dirty="0" err="1" smtClean="0"/>
              <a:t>printf</a:t>
            </a:r>
            <a:r>
              <a:rPr lang="en-US" dirty="0"/>
              <a:t> </a:t>
            </a:r>
            <a:r>
              <a:rPr lang="he-IL" dirty="0" smtClean="0"/>
              <a:t> נמצאת ומוגדרת. הנקודה נשארת בלתי פתורה עד ליצירת קובץ ה </a:t>
            </a:r>
            <a:r>
              <a:rPr lang="en-US" dirty="0" smtClean="0"/>
              <a:t>o</a:t>
            </a:r>
            <a:endParaRPr lang="he-IL" dirty="0" smtClean="0"/>
          </a:p>
          <a:p>
            <a:r>
              <a:rPr lang="he-IL" dirty="0" smtClean="0"/>
              <a:t>בשלב ה </a:t>
            </a:r>
            <a:r>
              <a:rPr lang="en-US" dirty="0" smtClean="0"/>
              <a:t>gcc</a:t>
            </a:r>
            <a:r>
              <a:rPr lang="he-IL" dirty="0" smtClean="0"/>
              <a:t>  נעשה חיפוש של </a:t>
            </a:r>
            <a:r>
              <a:rPr lang="en-US" dirty="0" err="1" smtClean="0"/>
              <a:t>printf</a:t>
            </a:r>
            <a:r>
              <a:rPr lang="he-IL" dirty="0" smtClean="0"/>
              <a:t>, והדבקתה אל התכנית באסמבלר כך שניתן יהיה לבצע אותה.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23</a:t>
            </a:fld>
            <a:endParaRPr lang="he-IL"/>
          </a:p>
        </p:txBody>
      </p:sp>
    </p:spTree>
    <p:extLst>
      <p:ext uri="{BB962C8B-B14F-4D97-AF65-F5344CB8AC3E}">
        <p14:creationId xmlns:p14="http://schemas.microsoft.com/office/powerpoint/2010/main" val="346010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פקודת </a:t>
            </a:r>
            <a:r>
              <a:rPr lang="en-US" dirty="0" smtClean="0"/>
              <a:t>enter 0,0</a:t>
            </a:r>
            <a:r>
              <a:rPr lang="he-IL" dirty="0" smtClean="0"/>
              <a:t> </a:t>
            </a:r>
            <a:endParaRPr lang="he-IL" dirty="0"/>
          </a:p>
        </p:txBody>
      </p:sp>
      <p:sp>
        <p:nvSpPr>
          <p:cNvPr id="3" name="מציין מיקום תוכן 2"/>
          <p:cNvSpPr>
            <a:spLocks noGrp="1"/>
          </p:cNvSpPr>
          <p:nvPr>
            <p:ph idx="1"/>
          </p:nvPr>
        </p:nvSpPr>
        <p:spPr/>
        <p:txBody>
          <a:bodyPr/>
          <a:lstStyle/>
          <a:p>
            <a:r>
              <a:rPr lang="he-IL" dirty="0" smtClean="0"/>
              <a:t>פקודה זו שקולה לזוג הפקודות הבא :</a:t>
            </a:r>
            <a:r>
              <a:rPr lang="en-US" dirty="0" smtClean="0"/>
              <a:t> </a:t>
            </a:r>
            <a:endParaRPr lang="he-IL" dirty="0" smtClean="0"/>
          </a:p>
          <a:p>
            <a:pPr algn="l" rtl="0"/>
            <a:r>
              <a:rPr lang="en-US" b="1" dirty="0"/>
              <a:t>push </a:t>
            </a:r>
            <a:r>
              <a:rPr lang="en-US" b="1" dirty="0" err="1"/>
              <a:t>rbp</a:t>
            </a:r>
            <a:endParaRPr lang="en-US" b="1" dirty="0"/>
          </a:p>
          <a:p>
            <a:pPr algn="l" rtl="0"/>
            <a:r>
              <a:rPr lang="en-US" b="1" dirty="0"/>
              <a:t>mov </a:t>
            </a:r>
            <a:r>
              <a:rPr lang="en-US" b="1" dirty="0" err="1"/>
              <a:t>rbp</a:t>
            </a:r>
            <a:r>
              <a:rPr lang="en-US" b="1" dirty="0"/>
              <a:t>, </a:t>
            </a:r>
            <a:r>
              <a:rPr lang="en-US" b="1" dirty="0" err="1" smtClean="0"/>
              <a:t>rsp</a:t>
            </a:r>
            <a:endParaRPr lang="en-US" b="1" dirty="0" smtClean="0"/>
          </a:p>
          <a:p>
            <a:pPr algn="r"/>
            <a:r>
              <a:rPr lang="he-IL" dirty="0" smtClean="0"/>
              <a:t>כתוצאה מכך המחסנית נבנית באופן הבא : </a:t>
            </a:r>
          </a:p>
          <a:p>
            <a:pPr algn="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24</a:t>
            </a:fld>
            <a:endParaRPr lang="he-IL"/>
          </a:p>
        </p:txBody>
      </p:sp>
      <p:pic>
        <p:nvPicPr>
          <p:cNvPr id="6" name="תמונה 5"/>
          <p:cNvPicPr>
            <a:picLocks noChangeAspect="1"/>
          </p:cNvPicPr>
          <p:nvPr/>
        </p:nvPicPr>
        <p:blipFill>
          <a:blip r:embed="rId2"/>
          <a:stretch>
            <a:fillRect/>
          </a:stretch>
        </p:blipFill>
        <p:spPr>
          <a:xfrm>
            <a:off x="1295401" y="4565229"/>
            <a:ext cx="6363588" cy="1476581"/>
          </a:xfrm>
          <a:prstGeom prst="rect">
            <a:avLst/>
          </a:prstGeom>
        </p:spPr>
      </p:pic>
    </p:spTree>
    <p:extLst>
      <p:ext uri="{BB962C8B-B14F-4D97-AF65-F5344CB8AC3E}">
        <p14:creationId xmlns:p14="http://schemas.microsoft.com/office/powerpoint/2010/main" val="328951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80">
                                          <p:stCondLst>
                                            <p:cond delay="0"/>
                                          </p:stCondLst>
                                        </p:cTn>
                                        <p:tgtEl>
                                          <p:spTgt spid="6"/>
                                        </p:tgtEl>
                                      </p:cBhvr>
                                    </p:animEffect>
                                    <p:anim calcmode="lin" valueType="num">
                                      <p:cBhvr>
                                        <p:cTn id="2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7" dur="26">
                                          <p:stCondLst>
                                            <p:cond delay="650"/>
                                          </p:stCondLst>
                                        </p:cTn>
                                        <p:tgtEl>
                                          <p:spTgt spid="6"/>
                                        </p:tgtEl>
                                      </p:cBhvr>
                                      <p:to x="100000" y="60000"/>
                                    </p:animScale>
                                    <p:animScale>
                                      <p:cBhvr>
                                        <p:cTn id="28" dur="166" decel="50000">
                                          <p:stCondLst>
                                            <p:cond delay="676"/>
                                          </p:stCondLst>
                                        </p:cTn>
                                        <p:tgtEl>
                                          <p:spTgt spid="6"/>
                                        </p:tgtEl>
                                      </p:cBhvr>
                                      <p:to x="100000" y="100000"/>
                                    </p:animScale>
                                    <p:animScale>
                                      <p:cBhvr>
                                        <p:cTn id="29" dur="26">
                                          <p:stCondLst>
                                            <p:cond delay="1312"/>
                                          </p:stCondLst>
                                        </p:cTn>
                                        <p:tgtEl>
                                          <p:spTgt spid="6"/>
                                        </p:tgtEl>
                                      </p:cBhvr>
                                      <p:to x="100000" y="80000"/>
                                    </p:animScale>
                                    <p:animScale>
                                      <p:cBhvr>
                                        <p:cTn id="30" dur="166" decel="50000">
                                          <p:stCondLst>
                                            <p:cond delay="1338"/>
                                          </p:stCondLst>
                                        </p:cTn>
                                        <p:tgtEl>
                                          <p:spTgt spid="6"/>
                                        </p:tgtEl>
                                      </p:cBhvr>
                                      <p:to x="100000" y="100000"/>
                                    </p:animScale>
                                    <p:animScale>
                                      <p:cBhvr>
                                        <p:cTn id="31" dur="26">
                                          <p:stCondLst>
                                            <p:cond delay="1642"/>
                                          </p:stCondLst>
                                        </p:cTn>
                                        <p:tgtEl>
                                          <p:spTgt spid="6"/>
                                        </p:tgtEl>
                                      </p:cBhvr>
                                      <p:to x="100000" y="90000"/>
                                    </p:animScale>
                                    <p:animScale>
                                      <p:cBhvr>
                                        <p:cTn id="32" dur="166" decel="50000">
                                          <p:stCondLst>
                                            <p:cond delay="1668"/>
                                          </p:stCondLst>
                                        </p:cTn>
                                        <p:tgtEl>
                                          <p:spTgt spid="6"/>
                                        </p:tgtEl>
                                      </p:cBhvr>
                                      <p:to x="100000" y="100000"/>
                                    </p:animScale>
                                    <p:animScale>
                                      <p:cBhvr>
                                        <p:cTn id="33" dur="26">
                                          <p:stCondLst>
                                            <p:cond delay="1808"/>
                                          </p:stCondLst>
                                        </p:cTn>
                                        <p:tgtEl>
                                          <p:spTgt spid="6"/>
                                        </p:tgtEl>
                                      </p:cBhvr>
                                      <p:to x="100000" y="95000"/>
                                    </p:animScale>
                                    <p:animScale>
                                      <p:cBhvr>
                                        <p:cTn id="34"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המשך </a:t>
            </a:r>
            <a:endParaRPr lang="he-IL" dirty="0"/>
          </a:p>
        </p:txBody>
      </p:sp>
      <p:sp>
        <p:nvSpPr>
          <p:cNvPr id="3" name="מציין מיקום תוכן 2"/>
          <p:cNvSpPr>
            <a:spLocks noGrp="1"/>
          </p:cNvSpPr>
          <p:nvPr>
            <p:ph idx="1"/>
          </p:nvPr>
        </p:nvSpPr>
        <p:spPr/>
        <p:txBody>
          <a:bodyPr>
            <a:normAutofit fontScale="85000" lnSpcReduction="20000"/>
          </a:bodyPr>
          <a:lstStyle/>
          <a:p>
            <a:r>
              <a:rPr lang="he-IL" dirty="0" smtClean="0"/>
              <a:t>פקודת </a:t>
            </a:r>
            <a:r>
              <a:rPr lang="en-US" dirty="0" smtClean="0"/>
              <a:t>enter 0,0</a:t>
            </a:r>
            <a:r>
              <a:rPr lang="he-IL" dirty="0" smtClean="0"/>
              <a:t> קובעת נעץ במחסנית (ע"י ביצוע של </a:t>
            </a:r>
            <a:r>
              <a:rPr lang="en-US" dirty="0" smtClean="0"/>
              <a:t>push </a:t>
            </a:r>
            <a:r>
              <a:rPr lang="en-US" dirty="0" err="1" smtClean="0"/>
              <a:t>rbp</a:t>
            </a:r>
            <a:r>
              <a:rPr lang="he-IL" dirty="0" smtClean="0"/>
              <a:t> ולאחר מכן </a:t>
            </a:r>
            <a:r>
              <a:rPr lang="en-US" dirty="0" err="1" smtClean="0"/>
              <a:t>mov</a:t>
            </a:r>
            <a:r>
              <a:rPr lang="en-US" dirty="0" smtClean="0"/>
              <a:t> </a:t>
            </a:r>
            <a:r>
              <a:rPr lang="en-US" dirty="0" err="1" smtClean="0"/>
              <a:t>rbp</a:t>
            </a:r>
            <a:r>
              <a:rPr lang="en-US" dirty="0" smtClean="0"/>
              <a:t>, </a:t>
            </a:r>
            <a:r>
              <a:rPr lang="en-US" dirty="0" err="1" smtClean="0"/>
              <a:t>rsp</a:t>
            </a:r>
            <a:r>
              <a:rPr lang="he-IL" dirty="0" smtClean="0"/>
              <a:t>) </a:t>
            </a:r>
          </a:p>
          <a:p>
            <a:r>
              <a:rPr lang="he-IL" dirty="0" smtClean="0"/>
              <a:t>נעיצת נעץ במחסנית נעשית כאשר מלבד כתובת החזרה מפונקציה אשר מאוחסנת במחסנית, דוחפים תוך כדי הרצת הפונקציה תכנים נוספים אל המחסנית, וזאת על מנת לסמן במחסנית את נקודת החזרה אל הפונקציה הקוראת.</a:t>
            </a:r>
          </a:p>
          <a:p>
            <a:r>
              <a:rPr lang="he-IL" dirty="0" smtClean="0"/>
              <a:t>פקודת </a:t>
            </a:r>
            <a:r>
              <a:rPr lang="en-US" dirty="0" smtClean="0"/>
              <a:t>leave</a:t>
            </a:r>
            <a:r>
              <a:rPr lang="he-IL" dirty="0" smtClean="0"/>
              <a:t>  משחזרת את התוכן הקודם  של המחסנית (כלומר מבצעת את צמד הפקודות : </a:t>
            </a:r>
            <a:r>
              <a:rPr lang="en-US" dirty="0">
                <a:solidFill>
                  <a:prstClr val="black">
                    <a:lumMod val="85000"/>
                    <a:lumOff val="15000"/>
                  </a:prstClr>
                </a:solidFill>
              </a:rPr>
              <a:t>mov </a:t>
            </a:r>
            <a:r>
              <a:rPr lang="en-US" dirty="0" err="1">
                <a:solidFill>
                  <a:prstClr val="black">
                    <a:lumMod val="85000"/>
                    <a:lumOff val="15000"/>
                  </a:prstClr>
                </a:solidFill>
              </a:rPr>
              <a:t>rbp</a:t>
            </a:r>
            <a:r>
              <a:rPr lang="en-US" dirty="0">
                <a:solidFill>
                  <a:prstClr val="black">
                    <a:lumMod val="85000"/>
                    <a:lumOff val="15000"/>
                  </a:prstClr>
                </a:solidFill>
              </a:rPr>
              <a:t>, </a:t>
            </a:r>
            <a:r>
              <a:rPr lang="en-US" dirty="0" err="1" smtClean="0">
                <a:solidFill>
                  <a:prstClr val="black">
                    <a:lumMod val="85000"/>
                    <a:lumOff val="15000"/>
                  </a:prstClr>
                </a:solidFill>
              </a:rPr>
              <a:t>rsp</a:t>
            </a:r>
            <a:r>
              <a:rPr lang="he-IL" dirty="0" smtClean="0">
                <a:solidFill>
                  <a:prstClr val="black">
                    <a:lumMod val="85000"/>
                    <a:lumOff val="15000"/>
                  </a:prstClr>
                </a:solidFill>
              </a:rPr>
              <a:t>  ולאחר מכן את </a:t>
            </a:r>
            <a:r>
              <a:rPr lang="en-US" dirty="0" smtClean="0">
                <a:solidFill>
                  <a:prstClr val="black">
                    <a:lumMod val="85000"/>
                    <a:lumOff val="15000"/>
                  </a:prstClr>
                </a:solidFill>
              </a:rPr>
              <a:t>pop </a:t>
            </a:r>
            <a:r>
              <a:rPr lang="en-US" dirty="0" err="1" smtClean="0">
                <a:solidFill>
                  <a:prstClr val="black">
                    <a:lumMod val="85000"/>
                    <a:lumOff val="15000"/>
                  </a:prstClr>
                </a:solidFill>
              </a:rPr>
              <a:t>rbp</a:t>
            </a:r>
            <a:r>
              <a:rPr lang="he-IL" dirty="0" smtClean="0">
                <a:solidFill>
                  <a:prstClr val="black">
                    <a:lumMod val="85000"/>
                    <a:lumOff val="15000"/>
                  </a:prstClr>
                </a:solidFill>
              </a:rPr>
              <a:t>) </a:t>
            </a:r>
          </a:p>
          <a:p>
            <a:pPr lvl="0">
              <a:buClr>
                <a:srgbClr val="83992A"/>
              </a:buClr>
            </a:pPr>
            <a:r>
              <a:rPr lang="he-IL" sz="2200" b="1" dirty="0">
                <a:solidFill>
                  <a:prstClr val="black">
                    <a:lumMod val="85000"/>
                    <a:lumOff val="15000"/>
                  </a:prstClr>
                </a:solidFill>
              </a:rPr>
              <a:t>לכן ,  אם תוך כדי ביצוע הפונקציה נעשו מספר פעולות של </a:t>
            </a:r>
            <a:r>
              <a:rPr lang="en-US" sz="2200" b="1" dirty="0">
                <a:solidFill>
                  <a:prstClr val="black">
                    <a:lumMod val="85000"/>
                    <a:lumOff val="15000"/>
                  </a:prstClr>
                </a:solidFill>
              </a:rPr>
              <a:t>PUSH</a:t>
            </a:r>
            <a:r>
              <a:rPr lang="he-IL" sz="2200" b="1" dirty="0">
                <a:solidFill>
                  <a:prstClr val="black">
                    <a:lumMod val="85000"/>
                    <a:lumOff val="15000"/>
                  </a:prstClr>
                </a:solidFill>
              </a:rPr>
              <a:t> למחסנית,  כדי לנקות את המחסנית ולאפשר </a:t>
            </a:r>
            <a:r>
              <a:rPr lang="he-IL" sz="2200" b="1" dirty="0" smtClean="0">
                <a:solidFill>
                  <a:prstClr val="black">
                    <a:lumMod val="85000"/>
                    <a:lumOff val="15000"/>
                  </a:prstClr>
                </a:solidFill>
              </a:rPr>
              <a:t>לפקודת </a:t>
            </a:r>
            <a:r>
              <a:rPr lang="en-US" sz="2200" b="1" dirty="0" smtClean="0">
                <a:solidFill>
                  <a:prstClr val="black">
                    <a:lumMod val="85000"/>
                    <a:lumOff val="15000"/>
                  </a:prstClr>
                </a:solidFill>
              </a:rPr>
              <a:t>leave</a:t>
            </a:r>
            <a:r>
              <a:rPr lang="en-US" sz="2200" b="1" dirty="0">
                <a:solidFill>
                  <a:prstClr val="black">
                    <a:lumMod val="85000"/>
                    <a:lumOff val="15000"/>
                  </a:prstClr>
                </a:solidFill>
              </a:rPr>
              <a:t> </a:t>
            </a:r>
            <a:r>
              <a:rPr lang="he-IL" sz="2200" b="1" dirty="0" smtClean="0">
                <a:solidFill>
                  <a:prstClr val="black">
                    <a:lumMod val="85000"/>
                    <a:lumOff val="15000"/>
                  </a:prstClr>
                </a:solidFill>
              </a:rPr>
              <a:t>לשחרר את הנעץ מהמחסנית ולשחזר את כתובת החזרה , יש לבצע פעולות של </a:t>
            </a:r>
            <a:r>
              <a:rPr lang="en-US" sz="2200" b="1" dirty="0" smtClean="0">
                <a:solidFill>
                  <a:prstClr val="black">
                    <a:lumMod val="85000"/>
                    <a:lumOff val="15000"/>
                  </a:prstClr>
                </a:solidFill>
              </a:rPr>
              <a:t>POP</a:t>
            </a:r>
            <a:r>
              <a:rPr lang="he-IL" sz="2200" b="1" dirty="0" smtClean="0">
                <a:solidFill>
                  <a:prstClr val="black">
                    <a:lumMod val="85000"/>
                    <a:lumOff val="15000"/>
                  </a:prstClr>
                </a:solidFill>
              </a:rPr>
              <a:t> לפי סדר הפוך של</a:t>
            </a:r>
            <a:r>
              <a:rPr lang="en-US" sz="2200" b="1" dirty="0">
                <a:solidFill>
                  <a:prstClr val="black">
                    <a:lumMod val="85000"/>
                    <a:lumOff val="15000"/>
                  </a:prstClr>
                </a:solidFill>
              </a:rPr>
              <a:t>  </a:t>
            </a:r>
            <a:r>
              <a:rPr lang="en-US" sz="2200" b="1" dirty="0" smtClean="0">
                <a:solidFill>
                  <a:prstClr val="black">
                    <a:lumMod val="85000"/>
                    <a:lumOff val="15000"/>
                  </a:prstClr>
                </a:solidFill>
              </a:rPr>
              <a:t>  </a:t>
            </a:r>
            <a:r>
              <a:rPr lang="he-IL" sz="2200" b="1" dirty="0" smtClean="0">
                <a:solidFill>
                  <a:prstClr val="black">
                    <a:lumMod val="85000"/>
                    <a:lumOff val="15000"/>
                  </a:prstClr>
                </a:solidFill>
              </a:rPr>
              <a:t>הדחיפה. אחרת החזרה לא תהיה אל הכתובת הנכונה. </a:t>
            </a:r>
            <a:endParaRPr lang="he-IL" sz="2200" b="1" dirty="0">
              <a:solidFill>
                <a:prstClr val="black">
                  <a:lumMod val="85000"/>
                  <a:lumOff val="15000"/>
                </a:prstClr>
              </a:solidFill>
            </a:endParaRPr>
          </a:p>
          <a:p>
            <a:r>
              <a:rPr lang="he-IL" dirty="0" smtClean="0">
                <a:solidFill>
                  <a:prstClr val="black">
                    <a:lumMod val="85000"/>
                    <a:lumOff val="15000"/>
                  </a:prstClr>
                </a:solidFill>
              </a:rPr>
              <a:t>פקודת </a:t>
            </a:r>
            <a:r>
              <a:rPr lang="en-US" dirty="0" smtClean="0">
                <a:solidFill>
                  <a:prstClr val="black">
                    <a:lumMod val="85000"/>
                    <a:lumOff val="15000"/>
                  </a:prstClr>
                </a:solidFill>
              </a:rPr>
              <a:t>ret</a:t>
            </a:r>
            <a:r>
              <a:rPr lang="he-IL" dirty="0" smtClean="0">
                <a:solidFill>
                  <a:prstClr val="black">
                    <a:lumMod val="85000"/>
                    <a:lumOff val="15000"/>
                  </a:prstClr>
                </a:solidFill>
              </a:rPr>
              <a:t> מחזירה את השליטה לפונקציה הראשית </a:t>
            </a:r>
            <a:r>
              <a:rPr lang="en-US" dirty="0" smtClean="0">
                <a:solidFill>
                  <a:prstClr val="black">
                    <a:lumMod val="85000"/>
                    <a:lumOff val="15000"/>
                  </a:prstClr>
                </a:solidFill>
              </a:rPr>
              <a:t>main</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25</a:t>
            </a:fld>
            <a:endParaRPr lang="he-IL"/>
          </a:p>
        </p:txBody>
      </p:sp>
    </p:spTree>
    <p:extLst>
      <p:ext uri="{BB962C8B-B14F-4D97-AF65-F5344CB8AC3E}">
        <p14:creationId xmlns:p14="http://schemas.microsoft.com/office/powerpoint/2010/main" val="198348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דוגמא </a:t>
            </a:r>
            <a:endParaRPr lang="he-IL" dirty="0"/>
          </a:p>
        </p:txBody>
      </p:sp>
      <p:sp>
        <p:nvSpPr>
          <p:cNvPr id="3" name="מציין מיקום תוכן 2"/>
          <p:cNvSpPr>
            <a:spLocks noGrp="1"/>
          </p:cNvSpPr>
          <p:nvPr>
            <p:ph idx="1"/>
          </p:nvPr>
        </p:nvSpPr>
        <p:spPr/>
        <p:txBody>
          <a:bodyPr>
            <a:normAutofit fontScale="92500" lnSpcReduction="20000"/>
          </a:bodyPr>
          <a:lstStyle/>
          <a:p>
            <a:pPr algn="l" rtl="0"/>
            <a:r>
              <a:rPr lang="en-US" dirty="0" smtClean="0"/>
              <a:t>func:  enter 0,0                          main:  </a:t>
            </a:r>
            <a:r>
              <a:rPr lang="en-US" dirty="0" err="1" smtClean="0"/>
              <a:t>mov</a:t>
            </a:r>
            <a:r>
              <a:rPr lang="en-US" dirty="0" smtClean="0"/>
              <a:t> </a:t>
            </a:r>
            <a:r>
              <a:rPr lang="en-US" dirty="0" err="1" smtClean="0"/>
              <a:t>rdi</a:t>
            </a:r>
            <a:r>
              <a:rPr lang="en-US" dirty="0" smtClean="0"/>
              <a:t>, 5</a:t>
            </a:r>
          </a:p>
          <a:p>
            <a:pPr algn="l" rtl="0"/>
            <a:r>
              <a:rPr lang="en-US" dirty="0"/>
              <a:t> </a:t>
            </a:r>
            <a:r>
              <a:rPr lang="en-US" dirty="0" smtClean="0"/>
              <a:t>        PUSH </a:t>
            </a:r>
            <a:r>
              <a:rPr lang="en-US" dirty="0" err="1" smtClean="0"/>
              <a:t>rax</a:t>
            </a:r>
            <a:r>
              <a:rPr lang="en-US" dirty="0" smtClean="0"/>
              <a:t>                                    </a:t>
            </a:r>
            <a:r>
              <a:rPr lang="en-US" dirty="0" err="1" smtClean="0"/>
              <a:t>mov</a:t>
            </a:r>
            <a:r>
              <a:rPr lang="en-US" dirty="0" smtClean="0"/>
              <a:t> </a:t>
            </a:r>
            <a:r>
              <a:rPr lang="en-US" dirty="0" err="1" smtClean="0"/>
              <a:t>rcx</a:t>
            </a:r>
            <a:r>
              <a:rPr lang="en-US" dirty="0" smtClean="0"/>
              <a:t>, 7</a:t>
            </a:r>
            <a:endParaRPr lang="en-US" dirty="0"/>
          </a:p>
          <a:p>
            <a:pPr algn="l" rtl="0"/>
            <a:r>
              <a:rPr lang="en-US" dirty="0" smtClean="0"/>
              <a:t>         PUSH r11                                   CALL func </a:t>
            </a:r>
          </a:p>
          <a:p>
            <a:pPr algn="l" rtl="0"/>
            <a:r>
              <a:rPr lang="en-US" dirty="0"/>
              <a:t> </a:t>
            </a:r>
            <a:r>
              <a:rPr lang="en-US" dirty="0" smtClean="0"/>
              <a:t>         ………                                     ………….</a:t>
            </a:r>
          </a:p>
          <a:p>
            <a:pPr algn="l" rtl="0"/>
            <a:r>
              <a:rPr lang="en-US" dirty="0"/>
              <a:t> </a:t>
            </a:r>
            <a:r>
              <a:rPr lang="en-US" dirty="0" smtClean="0"/>
              <a:t>        POP r11</a:t>
            </a:r>
          </a:p>
          <a:p>
            <a:pPr algn="l" rtl="0"/>
            <a:r>
              <a:rPr lang="en-US" dirty="0"/>
              <a:t> </a:t>
            </a:r>
            <a:r>
              <a:rPr lang="en-US" dirty="0" smtClean="0"/>
              <a:t>        POP </a:t>
            </a:r>
            <a:r>
              <a:rPr lang="en-US" dirty="0" err="1" smtClean="0"/>
              <a:t>rax</a:t>
            </a:r>
            <a:endParaRPr lang="en-US" dirty="0" smtClean="0"/>
          </a:p>
          <a:p>
            <a:pPr algn="l" rtl="0"/>
            <a:r>
              <a:rPr lang="en-US" dirty="0"/>
              <a:t> </a:t>
            </a:r>
            <a:r>
              <a:rPr lang="en-US" dirty="0" smtClean="0"/>
              <a:t>        leave</a:t>
            </a:r>
          </a:p>
          <a:p>
            <a:pPr algn="l" rtl="0"/>
            <a:r>
              <a:rPr lang="en-US" dirty="0"/>
              <a:t> </a:t>
            </a:r>
            <a:r>
              <a:rPr lang="en-US" dirty="0" smtClean="0"/>
              <a:t>         ret</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26</a:t>
            </a:fld>
            <a:endParaRPr lang="he-IL"/>
          </a:p>
        </p:txBody>
      </p:sp>
    </p:spTree>
    <p:extLst>
      <p:ext uri="{BB962C8B-B14F-4D97-AF65-F5344CB8AC3E}">
        <p14:creationId xmlns:p14="http://schemas.microsoft.com/office/powerpoint/2010/main" val="1166923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מבנה המחסנית ביחס לדוגמא </a:t>
            </a:r>
            <a:endParaRPr lang="he-IL" dirty="0"/>
          </a:p>
        </p:txBody>
      </p:sp>
      <p:sp>
        <p:nvSpPr>
          <p:cNvPr id="3" name="מציין מיקום תוכן 2"/>
          <p:cNvSpPr>
            <a:spLocks noGrp="1"/>
          </p:cNvSpPr>
          <p:nvPr>
            <p:ph idx="1"/>
          </p:nvPr>
        </p:nvSpPr>
        <p:spPr/>
        <p:txBody>
          <a:bodyPr/>
          <a:lstStyle/>
          <a:p>
            <a:r>
              <a:rPr lang="he-IL" dirty="0" smtClean="0"/>
              <a:t>נניח כי תוכנו של </a:t>
            </a:r>
            <a:r>
              <a:rPr lang="en-US" dirty="0" smtClean="0"/>
              <a:t>RSP</a:t>
            </a:r>
            <a:r>
              <a:rPr lang="he-IL" dirty="0" smtClean="0"/>
              <a:t> לפני הקריאה לפונקציה  היה </a:t>
            </a:r>
            <a:r>
              <a:rPr lang="en-US" dirty="0" smtClean="0"/>
              <a:t>0x1000</a:t>
            </a:r>
            <a:r>
              <a:rPr lang="he-IL" dirty="0" smtClean="0"/>
              <a:t> כלומר מצביע על כתובת 1000. על כן, לאחר ביצוע </a:t>
            </a:r>
            <a:r>
              <a:rPr lang="en-US" dirty="0" smtClean="0"/>
              <a:t>call </a:t>
            </a:r>
            <a:r>
              <a:rPr lang="en-US" dirty="0" err="1" smtClean="0"/>
              <a:t>func</a:t>
            </a:r>
            <a:r>
              <a:rPr lang="he-IL" dirty="0" smtClean="0"/>
              <a:t> נקבל את המחסנית הבאה: </a:t>
            </a:r>
          </a:p>
          <a:p>
            <a:r>
              <a:rPr lang="he-IL" dirty="0" smtClean="0"/>
              <a:t>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27</a:t>
            </a:fld>
            <a:endParaRPr lang="he-IL"/>
          </a:p>
        </p:txBody>
      </p:sp>
      <p:pic>
        <p:nvPicPr>
          <p:cNvPr id="6" name="תמונה 5"/>
          <p:cNvPicPr>
            <a:picLocks noChangeAspect="1"/>
          </p:cNvPicPr>
          <p:nvPr/>
        </p:nvPicPr>
        <p:blipFill>
          <a:blip r:embed="rId2"/>
          <a:stretch>
            <a:fillRect/>
          </a:stretch>
        </p:blipFill>
        <p:spPr>
          <a:xfrm>
            <a:off x="1759481" y="3458980"/>
            <a:ext cx="5125165" cy="1695687"/>
          </a:xfrm>
          <a:prstGeom prst="rect">
            <a:avLst/>
          </a:prstGeom>
        </p:spPr>
      </p:pic>
    </p:spTree>
    <p:extLst>
      <p:ext uri="{BB962C8B-B14F-4D97-AF65-F5344CB8AC3E}">
        <p14:creationId xmlns:p14="http://schemas.microsoft.com/office/powerpoint/2010/main" val="374149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לאחר ביצוע </a:t>
            </a:r>
            <a:r>
              <a:rPr lang="en-US" dirty="0" smtClean="0"/>
              <a:t>call </a:t>
            </a:r>
            <a:r>
              <a:rPr lang="en-US" dirty="0" err="1" smtClean="0"/>
              <a:t>func</a:t>
            </a:r>
            <a:r>
              <a:rPr lang="he-IL" dirty="0" smtClean="0"/>
              <a:t> , כתובת החזרה נדחפת למחסנית , מה שגורם לשינוי הבא במבנה שלה :</a:t>
            </a:r>
            <a:r>
              <a:rPr lang="en-US" dirty="0" smtClean="0"/>
              <a:t> </a:t>
            </a:r>
            <a:endParaRPr lang="he-IL" dirty="0" smtClean="0"/>
          </a:p>
          <a:p>
            <a:r>
              <a:rPr lang="he-IL" dirty="0" smtClean="0"/>
              <a:t>ניתן לראות כי ערך הכתובת ש </a:t>
            </a:r>
            <a:r>
              <a:rPr lang="en-US" dirty="0" smtClean="0"/>
              <a:t>RSP</a:t>
            </a:r>
            <a:r>
              <a:rPr lang="he-IL" dirty="0" smtClean="0"/>
              <a:t> מצביע עליה ירד ב 8.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28</a:t>
            </a:fld>
            <a:endParaRPr lang="he-IL"/>
          </a:p>
        </p:txBody>
      </p:sp>
      <p:pic>
        <p:nvPicPr>
          <p:cNvPr id="6" name="תמונה 5"/>
          <p:cNvPicPr>
            <a:picLocks noChangeAspect="1"/>
          </p:cNvPicPr>
          <p:nvPr/>
        </p:nvPicPr>
        <p:blipFill>
          <a:blip r:embed="rId2"/>
          <a:stretch>
            <a:fillRect/>
          </a:stretch>
        </p:blipFill>
        <p:spPr>
          <a:xfrm>
            <a:off x="2081687" y="4304086"/>
            <a:ext cx="6839905" cy="1409897"/>
          </a:xfrm>
          <a:prstGeom prst="rect">
            <a:avLst/>
          </a:prstGeom>
        </p:spPr>
      </p:pic>
    </p:spTree>
    <p:extLst>
      <p:ext uri="{BB962C8B-B14F-4D97-AF65-F5344CB8AC3E}">
        <p14:creationId xmlns:p14="http://schemas.microsoft.com/office/powerpoint/2010/main" val="35550199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לאחר הכניסה לפונקציה, הפקודה הראשונה שמופיעה היא </a:t>
            </a:r>
            <a:r>
              <a:rPr lang="en-US" dirty="0" smtClean="0"/>
              <a:t>enter 0,0</a:t>
            </a:r>
            <a:r>
              <a:rPr lang="he-IL" dirty="0" smtClean="0"/>
              <a:t> אשר פירושה הוא :</a:t>
            </a:r>
            <a:r>
              <a:rPr lang="en-US" dirty="0" smtClean="0"/>
              <a:t> </a:t>
            </a:r>
            <a:endParaRPr lang="he-IL" dirty="0" smtClean="0"/>
          </a:p>
          <a:p>
            <a:pPr algn="l" rtl="0"/>
            <a:r>
              <a:rPr lang="en-US" b="1" dirty="0"/>
              <a:t>push </a:t>
            </a:r>
            <a:r>
              <a:rPr lang="en-US" b="1" dirty="0" err="1" smtClean="0"/>
              <a:t>rbp</a:t>
            </a:r>
            <a:endParaRPr lang="en-US" b="1" dirty="0" smtClean="0"/>
          </a:p>
          <a:p>
            <a:pPr algn="l" rtl="0"/>
            <a:r>
              <a:rPr lang="en-US" b="1" dirty="0" err="1" smtClean="0"/>
              <a:t>mov</a:t>
            </a:r>
            <a:r>
              <a:rPr lang="en-US" b="1" dirty="0" smtClean="0"/>
              <a:t> </a:t>
            </a:r>
            <a:r>
              <a:rPr lang="en-US" b="1" dirty="0" err="1"/>
              <a:t>rbp</a:t>
            </a:r>
            <a:r>
              <a:rPr lang="en-US" b="1" dirty="0"/>
              <a:t>, </a:t>
            </a:r>
            <a:r>
              <a:rPr lang="en-US" b="1" dirty="0" err="1" smtClean="0"/>
              <a:t>rsp</a:t>
            </a:r>
            <a:endParaRPr lang="en-US" b="1" dirty="0" smtClean="0"/>
          </a:p>
          <a:p>
            <a:pPr algn="r"/>
            <a:r>
              <a:rPr lang="he-IL" dirty="0" smtClean="0"/>
              <a:t>לאחר</a:t>
            </a:r>
            <a:r>
              <a:rPr lang="en-US" dirty="0" smtClean="0"/>
              <a:t>  push </a:t>
            </a:r>
            <a:r>
              <a:rPr lang="en-US" dirty="0" err="1" smtClean="0"/>
              <a:t>rbp</a:t>
            </a:r>
            <a:r>
              <a:rPr lang="en-US" dirty="0" smtClean="0"/>
              <a:t> </a:t>
            </a:r>
            <a:r>
              <a:rPr lang="he-IL" dirty="0" smtClean="0"/>
              <a:t> מקבלים :  </a:t>
            </a:r>
            <a:endParaRPr lang="en-US" dirty="0" smtClean="0"/>
          </a:p>
          <a:p>
            <a:pPr algn="l" rtl="0"/>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29</a:t>
            </a:fld>
            <a:endParaRPr lang="he-IL"/>
          </a:p>
        </p:txBody>
      </p:sp>
      <p:pic>
        <p:nvPicPr>
          <p:cNvPr id="6" name="תמונה 5"/>
          <p:cNvPicPr>
            <a:picLocks noChangeAspect="1"/>
          </p:cNvPicPr>
          <p:nvPr/>
        </p:nvPicPr>
        <p:blipFill>
          <a:blip r:embed="rId2"/>
          <a:stretch>
            <a:fillRect/>
          </a:stretch>
        </p:blipFill>
        <p:spPr>
          <a:xfrm>
            <a:off x="1003110" y="4279640"/>
            <a:ext cx="6363588" cy="1867161"/>
          </a:xfrm>
          <a:prstGeom prst="rect">
            <a:avLst/>
          </a:prstGeom>
        </p:spPr>
      </p:pic>
    </p:spTree>
    <p:extLst>
      <p:ext uri="{BB962C8B-B14F-4D97-AF65-F5344CB8AC3E}">
        <p14:creationId xmlns:p14="http://schemas.microsoft.com/office/powerpoint/2010/main" val="275728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80">
                                          <p:stCondLst>
                                            <p:cond delay="0"/>
                                          </p:stCondLst>
                                        </p:cTn>
                                        <p:tgtEl>
                                          <p:spTgt spid="6"/>
                                        </p:tgtEl>
                                      </p:cBhvr>
                                    </p:animEffect>
                                    <p:anim calcmode="lin" valueType="num">
                                      <p:cBhvr>
                                        <p:cTn id="2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gtEl>
                                      </p:cBhvr>
                                      <p:to x="100000" y="60000"/>
                                    </p:animScale>
                                    <p:animScale>
                                      <p:cBhvr>
                                        <p:cTn id="30" dur="166" decel="50000">
                                          <p:stCondLst>
                                            <p:cond delay="676"/>
                                          </p:stCondLst>
                                        </p:cTn>
                                        <p:tgtEl>
                                          <p:spTgt spid="6"/>
                                        </p:tgtEl>
                                      </p:cBhvr>
                                      <p:to x="100000" y="100000"/>
                                    </p:animScale>
                                    <p:animScale>
                                      <p:cBhvr>
                                        <p:cTn id="31" dur="26">
                                          <p:stCondLst>
                                            <p:cond delay="1312"/>
                                          </p:stCondLst>
                                        </p:cTn>
                                        <p:tgtEl>
                                          <p:spTgt spid="6"/>
                                        </p:tgtEl>
                                      </p:cBhvr>
                                      <p:to x="100000" y="80000"/>
                                    </p:animScale>
                                    <p:animScale>
                                      <p:cBhvr>
                                        <p:cTn id="32" dur="166" decel="50000">
                                          <p:stCondLst>
                                            <p:cond delay="1338"/>
                                          </p:stCondLst>
                                        </p:cTn>
                                        <p:tgtEl>
                                          <p:spTgt spid="6"/>
                                        </p:tgtEl>
                                      </p:cBhvr>
                                      <p:to x="100000" y="100000"/>
                                    </p:animScale>
                                    <p:animScale>
                                      <p:cBhvr>
                                        <p:cTn id="33" dur="26">
                                          <p:stCondLst>
                                            <p:cond delay="1642"/>
                                          </p:stCondLst>
                                        </p:cTn>
                                        <p:tgtEl>
                                          <p:spTgt spid="6"/>
                                        </p:tgtEl>
                                      </p:cBhvr>
                                      <p:to x="100000" y="90000"/>
                                    </p:animScale>
                                    <p:animScale>
                                      <p:cBhvr>
                                        <p:cTn id="34" dur="166" decel="50000">
                                          <p:stCondLst>
                                            <p:cond delay="1668"/>
                                          </p:stCondLst>
                                        </p:cTn>
                                        <p:tgtEl>
                                          <p:spTgt spid="6"/>
                                        </p:tgtEl>
                                      </p:cBhvr>
                                      <p:to x="100000" y="100000"/>
                                    </p:animScale>
                                    <p:animScale>
                                      <p:cBhvr>
                                        <p:cTn id="35" dur="26">
                                          <p:stCondLst>
                                            <p:cond delay="1808"/>
                                          </p:stCondLst>
                                        </p:cTn>
                                        <p:tgtEl>
                                          <p:spTgt spid="6"/>
                                        </p:tgtEl>
                                      </p:cBhvr>
                                      <p:to x="100000" y="95000"/>
                                    </p:animScale>
                                    <p:animScale>
                                      <p:cBhvr>
                                        <p:cTn id="3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מה בעצם קרה כאן ? תשובה – הכתובת של </a:t>
            </a:r>
            <a:r>
              <a:rPr lang="en-US" dirty="0" smtClean="0"/>
              <a:t>RSP</a:t>
            </a:r>
            <a:r>
              <a:rPr lang="he-IL" dirty="0" smtClean="0"/>
              <a:t> ירדה בערך  של 8 פעם נוספת עקב הפקודה </a:t>
            </a:r>
            <a:r>
              <a:rPr lang="en-US" dirty="0" smtClean="0"/>
              <a:t>push </a:t>
            </a:r>
            <a:r>
              <a:rPr lang="en-US" dirty="0" err="1" smtClean="0"/>
              <a:t>rbp</a:t>
            </a:r>
            <a:r>
              <a:rPr lang="he-IL" dirty="0" smtClean="0"/>
              <a:t>  לערך של </a:t>
            </a:r>
            <a:r>
              <a:rPr lang="en-US" dirty="0" smtClean="0"/>
              <a:t>0xff0</a:t>
            </a:r>
            <a:r>
              <a:rPr lang="he-IL" dirty="0" smtClean="0"/>
              <a:t> ותוכן הכתובת הזו מקבל את הערך הישן של </a:t>
            </a:r>
            <a:r>
              <a:rPr lang="en-US" dirty="0" smtClean="0"/>
              <a:t>RBP</a:t>
            </a:r>
            <a:endParaRPr lang="he-IL" dirty="0" smtClean="0"/>
          </a:p>
          <a:p>
            <a:r>
              <a:rPr lang="he-IL" dirty="0" smtClean="0"/>
              <a:t>לאחר מכן מבוצעת הפקודה  </a:t>
            </a:r>
            <a:r>
              <a:rPr lang="en-US" dirty="0" err="1"/>
              <a:t>mov</a:t>
            </a:r>
            <a:r>
              <a:rPr lang="en-US" dirty="0"/>
              <a:t> </a:t>
            </a:r>
            <a:r>
              <a:rPr lang="en-US" dirty="0" err="1"/>
              <a:t>rbp</a:t>
            </a:r>
            <a:r>
              <a:rPr lang="en-US" dirty="0"/>
              <a:t>, </a:t>
            </a:r>
            <a:r>
              <a:rPr lang="en-US" dirty="0" err="1" smtClean="0"/>
              <a:t>rsp</a:t>
            </a:r>
            <a:r>
              <a:rPr lang="he-IL" dirty="0" smtClean="0"/>
              <a:t>  ואז המחסנית לא משתנה: </a:t>
            </a:r>
          </a:p>
          <a:p>
            <a:r>
              <a:rPr lang="en-US" dirty="0" smtClean="0"/>
              <a:t>RBP </a:t>
            </a:r>
            <a:r>
              <a:rPr lang="he-IL" dirty="0" smtClean="0"/>
              <a:t> מצביע על התוכן הנשמר  של </a:t>
            </a:r>
            <a:r>
              <a:rPr lang="en-US" dirty="0" smtClean="0"/>
              <a:t>RBP</a:t>
            </a:r>
            <a:r>
              <a:rPr lang="he-IL" dirty="0" smtClean="0"/>
              <a:t>  : </a:t>
            </a:r>
            <a:r>
              <a:rPr lang="en-US" dirty="0"/>
              <a:t>RBP = </a:t>
            </a:r>
            <a:r>
              <a:rPr lang="en-US" dirty="0" smtClean="0"/>
              <a:t>0x0FF0</a:t>
            </a:r>
            <a:r>
              <a:rPr lang="he-IL" dirty="0" smtClean="0"/>
              <a:t> והמחסנית נראית כך (ללא שינוי) : </a:t>
            </a:r>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30</a:t>
            </a:fld>
            <a:endParaRPr lang="he-IL"/>
          </a:p>
        </p:txBody>
      </p:sp>
      <p:pic>
        <p:nvPicPr>
          <p:cNvPr id="6" name="תמונה 5"/>
          <p:cNvPicPr>
            <a:picLocks noChangeAspect="1"/>
          </p:cNvPicPr>
          <p:nvPr/>
        </p:nvPicPr>
        <p:blipFill>
          <a:blip r:embed="rId2"/>
          <a:stretch>
            <a:fillRect/>
          </a:stretch>
        </p:blipFill>
        <p:spPr>
          <a:xfrm>
            <a:off x="2021184" y="4555153"/>
            <a:ext cx="5193431" cy="1553547"/>
          </a:xfrm>
          <a:prstGeom prst="rect">
            <a:avLst/>
          </a:prstGeom>
        </p:spPr>
      </p:pic>
    </p:spTree>
    <p:extLst>
      <p:ext uri="{BB962C8B-B14F-4D97-AF65-F5344CB8AC3E}">
        <p14:creationId xmlns:p14="http://schemas.microsoft.com/office/powerpoint/2010/main" val="96128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כעת מתבצעת הפקודה </a:t>
            </a:r>
            <a:r>
              <a:rPr lang="en-US" dirty="0"/>
              <a:t>PUSH </a:t>
            </a:r>
            <a:r>
              <a:rPr lang="en-US" dirty="0" err="1" smtClean="0"/>
              <a:t>rax</a:t>
            </a:r>
            <a:r>
              <a:rPr lang="he-IL" dirty="0" smtClean="0"/>
              <a:t> שמתורגמת לשתי הפקודות הבאות : </a:t>
            </a:r>
          </a:p>
          <a:p>
            <a:pPr algn="l" rtl="0"/>
            <a:r>
              <a:rPr lang="en-US" b="1" dirty="0"/>
              <a:t>sub </a:t>
            </a:r>
            <a:r>
              <a:rPr lang="en-US" b="1" dirty="0" err="1"/>
              <a:t>rsp</a:t>
            </a:r>
            <a:r>
              <a:rPr lang="en-US" b="1" dirty="0"/>
              <a:t>, </a:t>
            </a:r>
            <a:r>
              <a:rPr lang="en-US" b="1" dirty="0" smtClean="0"/>
              <a:t>8</a:t>
            </a:r>
          </a:p>
          <a:p>
            <a:pPr algn="l" rtl="0"/>
            <a:r>
              <a:rPr lang="en-US" b="1" dirty="0" err="1" smtClean="0"/>
              <a:t>mov</a:t>
            </a:r>
            <a:r>
              <a:rPr lang="en-US" b="1" dirty="0" smtClean="0"/>
              <a:t> </a:t>
            </a:r>
            <a:r>
              <a:rPr lang="en-US" b="1" dirty="0"/>
              <a:t>[</a:t>
            </a:r>
            <a:r>
              <a:rPr lang="en-US" b="1" dirty="0" err="1"/>
              <a:t>rsp</a:t>
            </a:r>
            <a:r>
              <a:rPr lang="en-US" b="1" dirty="0"/>
              <a:t>], </a:t>
            </a:r>
            <a:r>
              <a:rPr lang="en-US" b="1" dirty="0" err="1" smtClean="0"/>
              <a:t>rax</a:t>
            </a:r>
            <a:endParaRPr lang="en-US" b="1" dirty="0" smtClean="0"/>
          </a:p>
          <a:p>
            <a:pPr algn="r"/>
            <a:r>
              <a:rPr lang="he-IL" dirty="0" smtClean="0"/>
              <a:t>מבנה המחסנית יהיה כדלהלן:</a:t>
            </a:r>
          </a:p>
          <a:p>
            <a:pPr algn="l" rtl="0"/>
            <a:r>
              <a:rPr lang="he-IL" dirty="0" smtClean="0"/>
              <a:t>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31</a:t>
            </a:fld>
            <a:endParaRPr lang="he-IL"/>
          </a:p>
        </p:txBody>
      </p:sp>
      <p:pic>
        <p:nvPicPr>
          <p:cNvPr id="6" name="תמונה 5"/>
          <p:cNvPicPr>
            <a:picLocks noChangeAspect="1"/>
          </p:cNvPicPr>
          <p:nvPr/>
        </p:nvPicPr>
        <p:blipFill>
          <a:blip r:embed="rId2"/>
          <a:stretch>
            <a:fillRect/>
          </a:stretch>
        </p:blipFill>
        <p:spPr>
          <a:xfrm>
            <a:off x="1588918" y="4293765"/>
            <a:ext cx="4583282" cy="1954635"/>
          </a:xfrm>
          <a:prstGeom prst="rect">
            <a:avLst/>
          </a:prstGeom>
        </p:spPr>
      </p:pic>
    </p:spTree>
    <p:extLst>
      <p:ext uri="{BB962C8B-B14F-4D97-AF65-F5344CB8AC3E}">
        <p14:creationId xmlns:p14="http://schemas.microsoft.com/office/powerpoint/2010/main" val="105571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2000"/>
                                        <p:tgtEl>
                                          <p:spTgt spid="6"/>
                                        </p:tgtEl>
                                      </p:cBhvr>
                                    </p:animEffect>
                                    <p:anim calcmode="lin" valueType="num">
                                      <p:cBhvr>
                                        <p:cTn id="26" dur="2000" fill="hold"/>
                                        <p:tgtEl>
                                          <p:spTgt spid="6"/>
                                        </p:tgtEl>
                                        <p:attrNameLst>
                                          <p:attrName>ppt_w</p:attrName>
                                        </p:attrNameLst>
                                      </p:cBhvr>
                                      <p:tavLst>
                                        <p:tav tm="0" fmla="#ppt_w*sin(2.5*pi*$)">
                                          <p:val>
                                            <p:fltVal val="0"/>
                                          </p:val>
                                        </p:tav>
                                        <p:tav tm="100000">
                                          <p:val>
                                            <p:fltVal val="1"/>
                                          </p:val>
                                        </p:tav>
                                      </p:tavLst>
                                    </p:anim>
                                    <p:anim calcmode="lin" valueType="num">
                                      <p:cBhvr>
                                        <p:cTn id="27"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כעת נראה את מצב המחסנית לאחר </a:t>
            </a:r>
            <a:r>
              <a:rPr lang="en-US" dirty="0" smtClean="0"/>
              <a:t>push r11</a:t>
            </a:r>
            <a:r>
              <a:rPr lang="he-IL" dirty="0" smtClean="0"/>
              <a:t> :</a:t>
            </a:r>
            <a:r>
              <a:rPr lang="en-US" dirty="0" smtClean="0"/>
              <a:t> </a:t>
            </a:r>
            <a:r>
              <a:rPr lang="he-IL" dirty="0" smtClean="0"/>
              <a:t> </a:t>
            </a:r>
          </a:p>
          <a:p>
            <a:r>
              <a:rPr lang="he-IL" dirty="0" smtClean="0"/>
              <a:t>מהלך העניינים זהה : תוכן הכתובת ש </a:t>
            </a:r>
            <a:r>
              <a:rPr lang="en-US" dirty="0" smtClean="0"/>
              <a:t>RSP</a:t>
            </a:r>
            <a:r>
              <a:rPr lang="he-IL" dirty="0" smtClean="0"/>
              <a:t> מצביע עליה יורד ב 8, ותוכנו של </a:t>
            </a:r>
            <a:r>
              <a:rPr lang="en-US" dirty="0" smtClean="0"/>
              <a:t>R11</a:t>
            </a:r>
            <a:r>
              <a:rPr lang="he-IL" dirty="0" smtClean="0"/>
              <a:t> נכנס אל אותה כתובת :</a:t>
            </a:r>
            <a:r>
              <a:rPr lang="en-US" dirty="0" smtClean="0"/>
              <a:t> </a:t>
            </a:r>
            <a:endParaRPr lang="he-IL" dirty="0" smtClean="0"/>
          </a:p>
          <a:p>
            <a:pPr algn="l" rtl="0"/>
            <a:endParaRPr lang="he-IL" dirty="0" smtClean="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32</a:t>
            </a:fld>
            <a:endParaRPr lang="he-IL"/>
          </a:p>
        </p:txBody>
      </p:sp>
      <p:pic>
        <p:nvPicPr>
          <p:cNvPr id="6" name="תמונה 5"/>
          <p:cNvPicPr>
            <a:picLocks noChangeAspect="1"/>
          </p:cNvPicPr>
          <p:nvPr/>
        </p:nvPicPr>
        <p:blipFill>
          <a:blip r:embed="rId2"/>
          <a:stretch>
            <a:fillRect/>
          </a:stretch>
        </p:blipFill>
        <p:spPr>
          <a:xfrm>
            <a:off x="1033043" y="3775707"/>
            <a:ext cx="4800829" cy="2472693"/>
          </a:xfrm>
          <a:prstGeom prst="rect">
            <a:avLst/>
          </a:prstGeom>
        </p:spPr>
      </p:pic>
    </p:spTree>
    <p:extLst>
      <p:ext uri="{BB962C8B-B14F-4D97-AF65-F5344CB8AC3E}">
        <p14:creationId xmlns:p14="http://schemas.microsoft.com/office/powerpoint/2010/main" val="170375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80">
                                          <p:stCondLst>
                                            <p:cond delay="0"/>
                                          </p:stCondLst>
                                        </p:cTn>
                                        <p:tgtEl>
                                          <p:spTgt spid="6"/>
                                        </p:tgtEl>
                                      </p:cBhvr>
                                    </p:animEffect>
                                    <p:anim calcmode="lin" valueType="num">
                                      <p:cBhvr>
                                        <p:cTn id="2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5" dur="26">
                                          <p:stCondLst>
                                            <p:cond delay="650"/>
                                          </p:stCondLst>
                                        </p:cTn>
                                        <p:tgtEl>
                                          <p:spTgt spid="6"/>
                                        </p:tgtEl>
                                      </p:cBhvr>
                                      <p:to x="100000" y="60000"/>
                                    </p:animScale>
                                    <p:animScale>
                                      <p:cBhvr>
                                        <p:cTn id="26" dur="166" decel="50000">
                                          <p:stCondLst>
                                            <p:cond delay="676"/>
                                          </p:stCondLst>
                                        </p:cTn>
                                        <p:tgtEl>
                                          <p:spTgt spid="6"/>
                                        </p:tgtEl>
                                      </p:cBhvr>
                                      <p:to x="100000" y="100000"/>
                                    </p:animScale>
                                    <p:animScale>
                                      <p:cBhvr>
                                        <p:cTn id="27" dur="26">
                                          <p:stCondLst>
                                            <p:cond delay="1312"/>
                                          </p:stCondLst>
                                        </p:cTn>
                                        <p:tgtEl>
                                          <p:spTgt spid="6"/>
                                        </p:tgtEl>
                                      </p:cBhvr>
                                      <p:to x="100000" y="80000"/>
                                    </p:animScale>
                                    <p:animScale>
                                      <p:cBhvr>
                                        <p:cTn id="28" dur="166" decel="50000">
                                          <p:stCondLst>
                                            <p:cond delay="1338"/>
                                          </p:stCondLst>
                                        </p:cTn>
                                        <p:tgtEl>
                                          <p:spTgt spid="6"/>
                                        </p:tgtEl>
                                      </p:cBhvr>
                                      <p:to x="100000" y="100000"/>
                                    </p:animScale>
                                    <p:animScale>
                                      <p:cBhvr>
                                        <p:cTn id="29" dur="26">
                                          <p:stCondLst>
                                            <p:cond delay="1642"/>
                                          </p:stCondLst>
                                        </p:cTn>
                                        <p:tgtEl>
                                          <p:spTgt spid="6"/>
                                        </p:tgtEl>
                                      </p:cBhvr>
                                      <p:to x="100000" y="90000"/>
                                    </p:animScale>
                                    <p:animScale>
                                      <p:cBhvr>
                                        <p:cTn id="30" dur="166" decel="50000">
                                          <p:stCondLst>
                                            <p:cond delay="1668"/>
                                          </p:stCondLst>
                                        </p:cTn>
                                        <p:tgtEl>
                                          <p:spTgt spid="6"/>
                                        </p:tgtEl>
                                      </p:cBhvr>
                                      <p:to x="100000" y="100000"/>
                                    </p:animScale>
                                    <p:animScale>
                                      <p:cBhvr>
                                        <p:cTn id="31" dur="26">
                                          <p:stCondLst>
                                            <p:cond delay="1808"/>
                                          </p:stCondLst>
                                        </p:cTn>
                                        <p:tgtEl>
                                          <p:spTgt spid="6"/>
                                        </p:tgtEl>
                                      </p:cBhvr>
                                      <p:to x="100000" y="95000"/>
                                    </p:animScale>
                                    <p:animScale>
                                      <p:cBhvr>
                                        <p:cTn id="32"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הפקודה </a:t>
            </a:r>
            <a:r>
              <a:rPr lang="en-US" dirty="0" smtClean="0"/>
              <a:t>POP R11</a:t>
            </a:r>
            <a:r>
              <a:rPr lang="he-IL" dirty="0" smtClean="0"/>
              <a:t> , מפורשת כך :</a:t>
            </a:r>
            <a:r>
              <a:rPr lang="en-US" dirty="0" smtClean="0"/>
              <a:t> </a:t>
            </a:r>
            <a:endParaRPr lang="he-IL" dirty="0" smtClean="0"/>
          </a:p>
          <a:p>
            <a:pPr algn="l" rtl="0"/>
            <a:r>
              <a:rPr lang="pt-BR" b="1" dirty="0"/>
              <a:t>mov r11, [rsp</a:t>
            </a:r>
            <a:r>
              <a:rPr lang="pt-BR" b="1" dirty="0" smtClean="0"/>
              <a:t>]</a:t>
            </a:r>
          </a:p>
          <a:p>
            <a:pPr algn="l" rtl="0"/>
            <a:r>
              <a:rPr lang="pt-BR" b="1" dirty="0" smtClean="0"/>
              <a:t>add </a:t>
            </a:r>
            <a:r>
              <a:rPr lang="pt-BR" b="1" dirty="0"/>
              <a:t>rsp, </a:t>
            </a:r>
            <a:r>
              <a:rPr lang="pt-BR" b="1" dirty="0" smtClean="0"/>
              <a:t>8</a:t>
            </a:r>
            <a:endParaRPr lang="he-IL" b="1" dirty="0" smtClean="0"/>
          </a:p>
          <a:p>
            <a:pPr algn="r"/>
            <a:r>
              <a:rPr lang="he-IL" dirty="0" smtClean="0"/>
              <a:t>ולכן האוגר </a:t>
            </a:r>
            <a:r>
              <a:rPr lang="en-US" dirty="0" smtClean="0"/>
              <a:t>r11</a:t>
            </a:r>
            <a:r>
              <a:rPr lang="he-IL" dirty="0" smtClean="0"/>
              <a:t> מקבל את הערך שנדחף קודם לכן למחסנית , ולאחר הביצוע של הפקודה  נקבל מבנה מחסנית חדש : </a:t>
            </a:r>
            <a:endParaRPr lang="pt-BR" dirty="0" smtClean="0"/>
          </a:p>
          <a:p>
            <a:pPr algn="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33</a:t>
            </a:fld>
            <a:endParaRPr lang="he-IL"/>
          </a:p>
        </p:txBody>
      </p:sp>
      <p:pic>
        <p:nvPicPr>
          <p:cNvPr id="6" name="תמונה 5"/>
          <p:cNvPicPr>
            <a:picLocks noChangeAspect="1"/>
          </p:cNvPicPr>
          <p:nvPr/>
        </p:nvPicPr>
        <p:blipFill>
          <a:blip r:embed="rId2"/>
          <a:stretch>
            <a:fillRect/>
          </a:stretch>
        </p:blipFill>
        <p:spPr>
          <a:xfrm>
            <a:off x="1961005" y="4471974"/>
            <a:ext cx="3872868" cy="1776426"/>
          </a:xfrm>
          <a:prstGeom prst="rect">
            <a:avLst/>
          </a:prstGeom>
        </p:spPr>
      </p:pic>
    </p:spTree>
    <p:extLst>
      <p:ext uri="{BB962C8B-B14F-4D97-AF65-F5344CB8AC3E}">
        <p14:creationId xmlns:p14="http://schemas.microsoft.com/office/powerpoint/2010/main" val="2268588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smtClean="0"/>
              <a:t>לאחר </a:t>
            </a:r>
            <a:r>
              <a:rPr lang="en-US" dirty="0"/>
              <a:t>POP </a:t>
            </a:r>
            <a:r>
              <a:rPr lang="en-US" dirty="0" err="1" smtClean="0"/>
              <a:t>rax</a:t>
            </a:r>
            <a:r>
              <a:rPr lang="he-IL" dirty="0" smtClean="0"/>
              <a:t> נקבל מבנה מחסנית חדש :</a:t>
            </a:r>
            <a:r>
              <a:rPr lang="en-US" dirty="0" smtClean="0"/>
              <a:t> </a:t>
            </a:r>
            <a:endParaRPr lang="he-IL" dirty="0" smtClean="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34</a:t>
            </a:fld>
            <a:endParaRPr lang="he-IL"/>
          </a:p>
        </p:txBody>
      </p:sp>
      <p:pic>
        <p:nvPicPr>
          <p:cNvPr id="6" name="תמונה 5"/>
          <p:cNvPicPr>
            <a:picLocks noChangeAspect="1"/>
          </p:cNvPicPr>
          <p:nvPr/>
        </p:nvPicPr>
        <p:blipFill>
          <a:blip r:embed="rId2"/>
          <a:stretch>
            <a:fillRect/>
          </a:stretch>
        </p:blipFill>
        <p:spPr>
          <a:xfrm>
            <a:off x="1885228" y="3110130"/>
            <a:ext cx="6792273" cy="2105319"/>
          </a:xfrm>
          <a:prstGeom prst="rect">
            <a:avLst/>
          </a:prstGeom>
        </p:spPr>
      </p:pic>
      <p:sp>
        <p:nvSpPr>
          <p:cNvPr id="7" name="TextBox 6"/>
          <p:cNvSpPr txBox="1"/>
          <p:nvPr/>
        </p:nvSpPr>
        <p:spPr>
          <a:xfrm>
            <a:off x="3566160" y="5269059"/>
            <a:ext cx="6501384" cy="646331"/>
          </a:xfrm>
          <a:prstGeom prst="rect">
            <a:avLst/>
          </a:prstGeom>
          <a:noFill/>
        </p:spPr>
        <p:txBody>
          <a:bodyPr wrap="square" rtlCol="1">
            <a:spAutoFit/>
          </a:bodyPr>
          <a:lstStyle/>
          <a:p>
            <a:r>
              <a:rPr lang="he-IL" dirty="0" smtClean="0"/>
              <a:t>אוגר </a:t>
            </a:r>
            <a:r>
              <a:rPr lang="en-US" dirty="0" smtClean="0"/>
              <a:t>RAX</a:t>
            </a:r>
            <a:r>
              <a:rPr lang="he-IL" dirty="0" smtClean="0"/>
              <a:t> חוזר לקבל את התוכן שהיה בתוכו טרם הדחיפה למחסנית בעוד שהמחסנית קטנה</a:t>
            </a:r>
            <a:endParaRPr lang="he-IL" dirty="0"/>
          </a:p>
        </p:txBody>
      </p:sp>
    </p:spTree>
    <p:extLst>
      <p:ext uri="{BB962C8B-B14F-4D97-AF65-F5344CB8AC3E}">
        <p14:creationId xmlns:p14="http://schemas.microsoft.com/office/powerpoint/2010/main" val="217734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additive="base">
                                        <p:cTn id="2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פקודת </a:t>
            </a:r>
            <a:r>
              <a:rPr lang="en-US" dirty="0" smtClean="0"/>
              <a:t>leave</a:t>
            </a:r>
            <a:r>
              <a:rPr lang="he-IL" dirty="0" smtClean="0"/>
              <a:t> </a:t>
            </a:r>
            <a:endParaRPr lang="he-IL" dirty="0"/>
          </a:p>
        </p:txBody>
      </p:sp>
      <p:sp>
        <p:nvSpPr>
          <p:cNvPr id="3" name="מציין מיקום תוכן 2"/>
          <p:cNvSpPr>
            <a:spLocks noGrp="1"/>
          </p:cNvSpPr>
          <p:nvPr>
            <p:ph idx="1"/>
          </p:nvPr>
        </p:nvSpPr>
        <p:spPr/>
        <p:txBody>
          <a:bodyPr>
            <a:normAutofit/>
          </a:bodyPr>
          <a:lstStyle/>
          <a:p>
            <a:r>
              <a:rPr lang="he-IL" dirty="0" smtClean="0"/>
              <a:t>פקודה זו היא בעצם קיצור דרך לביצוען של שתי פקודות :</a:t>
            </a:r>
            <a:r>
              <a:rPr lang="en-US" dirty="0" smtClean="0"/>
              <a:t> </a:t>
            </a:r>
            <a:endParaRPr lang="he-IL" dirty="0" smtClean="0"/>
          </a:p>
          <a:p>
            <a:pPr algn="ctr" rtl="0"/>
            <a:r>
              <a:rPr lang="en-US" b="1" dirty="0"/>
              <a:t>mov </a:t>
            </a:r>
            <a:r>
              <a:rPr lang="en-US" b="1" dirty="0" err="1"/>
              <a:t>rsp</a:t>
            </a:r>
            <a:r>
              <a:rPr lang="en-US" b="1" dirty="0"/>
              <a:t>, </a:t>
            </a:r>
            <a:r>
              <a:rPr lang="en-US" b="1" dirty="0" err="1" smtClean="0"/>
              <a:t>rbp</a:t>
            </a:r>
            <a:endParaRPr lang="en-US" b="1" dirty="0" smtClean="0"/>
          </a:p>
          <a:p>
            <a:pPr algn="ctr" rtl="0"/>
            <a:r>
              <a:rPr lang="en-US" b="1" dirty="0" smtClean="0"/>
              <a:t>pop </a:t>
            </a:r>
            <a:r>
              <a:rPr lang="en-US" b="1" dirty="0" err="1" smtClean="0"/>
              <a:t>rbp</a:t>
            </a:r>
            <a:endParaRPr lang="en-US" b="1" dirty="0" smtClean="0"/>
          </a:p>
          <a:p>
            <a:r>
              <a:rPr lang="he-IL" dirty="0" smtClean="0"/>
              <a:t>היא משמשת לשחרור הנעץ מהמחסנית,  אשר בוצע ע"י </a:t>
            </a:r>
            <a:r>
              <a:rPr lang="en-US" dirty="0" smtClean="0"/>
              <a:t>enter 0,0 </a:t>
            </a:r>
            <a:r>
              <a:rPr lang="he-IL" dirty="0" smtClean="0"/>
              <a:t> כלומר לשחרר את האזור התפוס במחסנית לצורך שחזור כתובת  החזרה. </a:t>
            </a:r>
          </a:p>
          <a:p>
            <a:r>
              <a:rPr lang="he-IL" dirty="0" smtClean="0"/>
              <a:t>משתמשים בה בסיום פונקציה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solidFill>
                  <a:prstClr val="black"/>
                </a:solidFill>
              </a:rPr>
              <a:pPr/>
              <a:t>01 מאי 26</a:t>
            </a:fld>
            <a:endParaRPr lang="he-IL">
              <a:solidFill>
                <a:prstClr val="black"/>
              </a:solidFill>
            </a:endParaRPr>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solidFill>
                  <a:prstClr val="black"/>
                </a:solidFill>
              </a:rPr>
              <a:pPr/>
              <a:t>35</a:t>
            </a:fld>
            <a:endParaRPr lang="he-IL">
              <a:solidFill>
                <a:prstClr val="black"/>
              </a:solidFill>
            </a:endParaRPr>
          </a:p>
        </p:txBody>
      </p:sp>
    </p:spTree>
    <p:extLst>
      <p:ext uri="{BB962C8B-B14F-4D97-AF65-F5344CB8AC3E}">
        <p14:creationId xmlns:p14="http://schemas.microsoft.com/office/powerpoint/2010/main" val="333028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פקודת </a:t>
            </a:r>
            <a:r>
              <a:rPr lang="en-US" dirty="0" smtClean="0"/>
              <a:t>leave</a:t>
            </a:r>
            <a:r>
              <a:rPr lang="he-IL" dirty="0" smtClean="0"/>
              <a:t> המשך </a:t>
            </a:r>
            <a:endParaRPr lang="he-IL" dirty="0"/>
          </a:p>
        </p:txBody>
      </p:sp>
      <p:sp>
        <p:nvSpPr>
          <p:cNvPr id="3" name="מציין מיקום תוכן 2"/>
          <p:cNvSpPr>
            <a:spLocks noGrp="1"/>
          </p:cNvSpPr>
          <p:nvPr>
            <p:ph idx="1"/>
          </p:nvPr>
        </p:nvSpPr>
        <p:spPr/>
        <p:txBody>
          <a:bodyPr>
            <a:normAutofit fontScale="92500" lnSpcReduction="20000"/>
          </a:bodyPr>
          <a:lstStyle/>
          <a:p>
            <a:pPr algn="l" rtl="0"/>
            <a:r>
              <a:rPr lang="en-US" b="1" dirty="0"/>
              <a:t>; </a:t>
            </a:r>
            <a:r>
              <a:rPr lang="en-US" b="1" dirty="0" smtClean="0"/>
              <a:t>prologue</a:t>
            </a:r>
          </a:p>
          <a:p>
            <a:pPr algn="l" rtl="0"/>
            <a:r>
              <a:rPr lang="en-US" b="1" dirty="0" smtClean="0"/>
              <a:t>push </a:t>
            </a:r>
            <a:r>
              <a:rPr lang="en-US" b="1" dirty="0" err="1" smtClean="0"/>
              <a:t>rbp</a:t>
            </a:r>
            <a:endParaRPr lang="en-US" b="1" dirty="0" smtClean="0"/>
          </a:p>
          <a:p>
            <a:pPr algn="l" rtl="0"/>
            <a:r>
              <a:rPr lang="en-US" b="1" dirty="0" smtClean="0"/>
              <a:t>mov  </a:t>
            </a:r>
            <a:r>
              <a:rPr lang="en-US" b="1" dirty="0" err="1"/>
              <a:t>rbp</a:t>
            </a:r>
            <a:r>
              <a:rPr lang="en-US" b="1" dirty="0"/>
              <a:t>, </a:t>
            </a:r>
            <a:r>
              <a:rPr lang="en-US" b="1" dirty="0" err="1"/>
              <a:t>rsp</a:t>
            </a:r>
            <a:r>
              <a:rPr lang="en-US" b="1" dirty="0"/>
              <a:t>; </a:t>
            </a:r>
            <a:endParaRPr lang="en-US" b="1" dirty="0" smtClean="0"/>
          </a:p>
          <a:p>
            <a:pPr algn="l" rtl="0"/>
            <a:r>
              <a:rPr lang="en-US" b="1" dirty="0" smtClean="0"/>
              <a:t>... </a:t>
            </a:r>
            <a:r>
              <a:rPr lang="en-US" b="1" dirty="0"/>
              <a:t>function body ...; </a:t>
            </a:r>
            <a:endParaRPr lang="en-US" b="1" dirty="0" smtClean="0"/>
          </a:p>
          <a:p>
            <a:pPr algn="l" rtl="0"/>
            <a:r>
              <a:rPr lang="en-US" b="1" dirty="0" smtClean="0"/>
              <a:t>;epilogue</a:t>
            </a:r>
          </a:p>
          <a:p>
            <a:pPr algn="l" rtl="0"/>
            <a:r>
              <a:rPr lang="en-US" b="1" dirty="0" smtClean="0"/>
              <a:t>mov  </a:t>
            </a:r>
            <a:r>
              <a:rPr lang="en-US" b="1" dirty="0" err="1"/>
              <a:t>rsp</a:t>
            </a:r>
            <a:r>
              <a:rPr lang="en-US" b="1" dirty="0"/>
              <a:t>, </a:t>
            </a:r>
            <a:r>
              <a:rPr lang="en-US" b="1" dirty="0" err="1" smtClean="0"/>
              <a:t>rbp</a:t>
            </a:r>
            <a:endParaRPr lang="en-US" b="1" dirty="0" smtClean="0"/>
          </a:p>
          <a:p>
            <a:pPr algn="l" rtl="0"/>
            <a:r>
              <a:rPr lang="en-US" b="1" dirty="0" smtClean="0"/>
              <a:t>pop  </a:t>
            </a:r>
            <a:r>
              <a:rPr lang="en-US" b="1" dirty="0" err="1" smtClean="0"/>
              <a:t>rbp</a:t>
            </a:r>
            <a:endParaRPr lang="en-US" b="1" dirty="0" smtClean="0"/>
          </a:p>
          <a:p>
            <a:pPr algn="l" rtl="0"/>
            <a:r>
              <a:rPr lang="en-US" b="1" dirty="0" smtClean="0"/>
              <a:t>ret</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36</a:t>
            </a:fld>
            <a:endParaRPr lang="he-IL"/>
          </a:p>
        </p:txBody>
      </p:sp>
    </p:spTree>
    <p:extLst>
      <p:ext uri="{BB962C8B-B14F-4D97-AF65-F5344CB8AC3E}">
        <p14:creationId xmlns:p14="http://schemas.microsoft.com/office/powerpoint/2010/main" val="120353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פקודת </a:t>
            </a:r>
            <a:r>
              <a:rPr lang="en-US" dirty="0" smtClean="0"/>
              <a:t>Leave</a:t>
            </a:r>
            <a:r>
              <a:rPr lang="he-IL" dirty="0" smtClean="0"/>
              <a:t> המשך </a:t>
            </a:r>
            <a:endParaRPr lang="he-IL" dirty="0"/>
          </a:p>
        </p:txBody>
      </p:sp>
      <p:sp>
        <p:nvSpPr>
          <p:cNvPr id="3" name="מציין מיקום תוכן 2"/>
          <p:cNvSpPr>
            <a:spLocks noGrp="1"/>
          </p:cNvSpPr>
          <p:nvPr>
            <p:ph idx="1"/>
          </p:nvPr>
        </p:nvSpPr>
        <p:spPr/>
        <p:txBody>
          <a:bodyPr/>
          <a:lstStyle/>
          <a:p>
            <a:r>
              <a:rPr lang="he-IL" dirty="0" smtClean="0"/>
              <a:t>לכן , ביחס לדוגמא האחרונה,  מאחר והפקודה הראשונה  ב </a:t>
            </a:r>
            <a:r>
              <a:rPr lang="en-US" dirty="0" smtClean="0"/>
              <a:t>leave</a:t>
            </a:r>
            <a:r>
              <a:rPr lang="he-IL" dirty="0" smtClean="0"/>
              <a:t> היא </a:t>
            </a:r>
            <a:r>
              <a:rPr lang="en-US" dirty="0" err="1" smtClean="0"/>
              <a:t>mov</a:t>
            </a:r>
            <a:r>
              <a:rPr lang="en-US" dirty="0" smtClean="0"/>
              <a:t> </a:t>
            </a:r>
            <a:r>
              <a:rPr lang="en-US" dirty="0" err="1" smtClean="0"/>
              <a:t>rsp</a:t>
            </a:r>
            <a:r>
              <a:rPr lang="en-US" dirty="0" smtClean="0"/>
              <a:t>, </a:t>
            </a:r>
            <a:r>
              <a:rPr lang="en-US" dirty="0" err="1" smtClean="0"/>
              <a:t>rbp</a:t>
            </a:r>
            <a:r>
              <a:rPr lang="he-IL" dirty="0" smtClean="0"/>
              <a:t> , נקבל כי </a:t>
            </a:r>
            <a:r>
              <a:rPr lang="en-US" dirty="0"/>
              <a:t>RSP = RBP = </a:t>
            </a:r>
            <a:r>
              <a:rPr lang="en-US" dirty="0" smtClean="0"/>
              <a:t>0x0FF0</a:t>
            </a:r>
            <a:r>
              <a:rPr lang="he-IL" dirty="0" smtClean="0"/>
              <a:t> </a:t>
            </a:r>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37</a:t>
            </a:fld>
            <a:endParaRPr lang="he-IL"/>
          </a:p>
        </p:txBody>
      </p:sp>
      <p:pic>
        <p:nvPicPr>
          <p:cNvPr id="6" name="תמונה 5"/>
          <p:cNvPicPr>
            <a:picLocks noChangeAspect="1"/>
          </p:cNvPicPr>
          <p:nvPr/>
        </p:nvPicPr>
        <p:blipFill>
          <a:blip r:embed="rId2"/>
          <a:stretch>
            <a:fillRect/>
          </a:stretch>
        </p:blipFill>
        <p:spPr>
          <a:xfrm>
            <a:off x="2093572" y="3684812"/>
            <a:ext cx="5792008" cy="2191056"/>
          </a:xfrm>
          <a:prstGeom prst="rect">
            <a:avLst/>
          </a:prstGeom>
        </p:spPr>
      </p:pic>
    </p:spTree>
    <p:extLst>
      <p:ext uri="{BB962C8B-B14F-4D97-AF65-F5344CB8AC3E}">
        <p14:creationId xmlns:p14="http://schemas.microsoft.com/office/powerpoint/2010/main" val="364438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smtClean="0"/>
              <a:t> Leave </a:t>
            </a:r>
            <a:r>
              <a:rPr lang="he-IL" dirty="0"/>
              <a:t>המשך </a:t>
            </a:r>
          </a:p>
        </p:txBody>
      </p:sp>
      <p:sp>
        <p:nvSpPr>
          <p:cNvPr id="3" name="מציין מיקום תוכן 2"/>
          <p:cNvSpPr>
            <a:spLocks noGrp="1"/>
          </p:cNvSpPr>
          <p:nvPr>
            <p:ph idx="1"/>
          </p:nvPr>
        </p:nvSpPr>
        <p:spPr/>
        <p:txBody>
          <a:bodyPr/>
          <a:lstStyle/>
          <a:p>
            <a:r>
              <a:rPr lang="he-IL" dirty="0" smtClean="0"/>
              <a:t>לאחר </a:t>
            </a:r>
            <a:r>
              <a:rPr lang="en-US" dirty="0"/>
              <a:t>pop </a:t>
            </a:r>
            <a:r>
              <a:rPr lang="en-US" dirty="0" err="1" smtClean="0"/>
              <a:t>rbp</a:t>
            </a:r>
            <a:r>
              <a:rPr lang="he-IL" dirty="0" smtClean="0"/>
              <a:t> שהיא הפקודה </a:t>
            </a:r>
            <a:r>
              <a:rPr lang="he-IL" dirty="0" err="1" smtClean="0"/>
              <a:t>השניה</a:t>
            </a:r>
            <a:r>
              <a:rPr lang="he-IL" dirty="0" smtClean="0"/>
              <a:t> של </a:t>
            </a:r>
            <a:r>
              <a:rPr lang="en-US" dirty="0" smtClean="0"/>
              <a:t>leave</a:t>
            </a:r>
            <a:r>
              <a:rPr lang="he-IL" dirty="0" smtClean="0"/>
              <a:t> נקבל כי תכני האוגרים משתנים :</a:t>
            </a:r>
            <a:r>
              <a:rPr lang="en-US" dirty="0" smtClean="0"/>
              <a:t> </a:t>
            </a:r>
            <a:endParaRPr lang="he-IL" dirty="0" smtClean="0"/>
          </a:p>
          <a:p>
            <a:pPr algn="l" rtl="0"/>
            <a:r>
              <a:rPr lang="en-US" dirty="0"/>
              <a:t>RBP = old RBP (from main</a:t>
            </a:r>
            <a:r>
              <a:rPr lang="en-US" dirty="0" smtClean="0"/>
              <a:t>)</a:t>
            </a:r>
          </a:p>
          <a:p>
            <a:pPr algn="l" rtl="0"/>
            <a:r>
              <a:rPr lang="en-US" dirty="0" smtClean="0"/>
              <a:t>RSP </a:t>
            </a:r>
            <a:r>
              <a:rPr lang="en-US" dirty="0"/>
              <a:t>= </a:t>
            </a:r>
            <a:r>
              <a:rPr lang="en-US" dirty="0" smtClean="0"/>
              <a:t>0x0FF8</a:t>
            </a:r>
          </a:p>
          <a:p>
            <a:pPr algn="r"/>
            <a:r>
              <a:rPr lang="he-IL" dirty="0" smtClean="0"/>
              <a:t>ומבנה המחסנית נראה כך :</a:t>
            </a:r>
            <a:r>
              <a:rPr lang="en-US" dirty="0" smtClean="0"/>
              <a:t> </a:t>
            </a:r>
            <a:endParaRPr lang="he-IL" dirty="0" smtClean="0"/>
          </a:p>
          <a:p>
            <a:pPr algn="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38</a:t>
            </a:fld>
            <a:endParaRPr lang="he-IL"/>
          </a:p>
        </p:txBody>
      </p:sp>
      <p:pic>
        <p:nvPicPr>
          <p:cNvPr id="6" name="תמונה 5"/>
          <p:cNvPicPr>
            <a:picLocks noChangeAspect="1"/>
          </p:cNvPicPr>
          <p:nvPr/>
        </p:nvPicPr>
        <p:blipFill>
          <a:blip r:embed="rId2"/>
          <a:stretch>
            <a:fillRect/>
          </a:stretch>
        </p:blipFill>
        <p:spPr>
          <a:xfrm>
            <a:off x="1402865" y="4492419"/>
            <a:ext cx="5125165" cy="1476581"/>
          </a:xfrm>
          <a:prstGeom prst="rect">
            <a:avLst/>
          </a:prstGeom>
        </p:spPr>
      </p:pic>
    </p:spTree>
    <p:extLst>
      <p:ext uri="{BB962C8B-B14F-4D97-AF65-F5344CB8AC3E}">
        <p14:creationId xmlns:p14="http://schemas.microsoft.com/office/powerpoint/2010/main" val="411974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80">
                                          <p:stCondLst>
                                            <p:cond delay="0"/>
                                          </p:stCondLst>
                                        </p:cTn>
                                        <p:tgtEl>
                                          <p:spTgt spid="6"/>
                                        </p:tgtEl>
                                      </p:cBhvr>
                                    </p:animEffect>
                                    <p:anim calcmode="lin" valueType="num">
                                      <p:cBhvr>
                                        <p:cTn id="3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5" dur="26">
                                          <p:stCondLst>
                                            <p:cond delay="650"/>
                                          </p:stCondLst>
                                        </p:cTn>
                                        <p:tgtEl>
                                          <p:spTgt spid="6"/>
                                        </p:tgtEl>
                                      </p:cBhvr>
                                      <p:to x="100000" y="60000"/>
                                    </p:animScale>
                                    <p:animScale>
                                      <p:cBhvr>
                                        <p:cTn id="36" dur="166" decel="50000">
                                          <p:stCondLst>
                                            <p:cond delay="676"/>
                                          </p:stCondLst>
                                        </p:cTn>
                                        <p:tgtEl>
                                          <p:spTgt spid="6"/>
                                        </p:tgtEl>
                                      </p:cBhvr>
                                      <p:to x="100000" y="100000"/>
                                    </p:animScale>
                                    <p:animScale>
                                      <p:cBhvr>
                                        <p:cTn id="37" dur="26">
                                          <p:stCondLst>
                                            <p:cond delay="1312"/>
                                          </p:stCondLst>
                                        </p:cTn>
                                        <p:tgtEl>
                                          <p:spTgt spid="6"/>
                                        </p:tgtEl>
                                      </p:cBhvr>
                                      <p:to x="100000" y="80000"/>
                                    </p:animScale>
                                    <p:animScale>
                                      <p:cBhvr>
                                        <p:cTn id="38" dur="166" decel="50000">
                                          <p:stCondLst>
                                            <p:cond delay="1338"/>
                                          </p:stCondLst>
                                        </p:cTn>
                                        <p:tgtEl>
                                          <p:spTgt spid="6"/>
                                        </p:tgtEl>
                                      </p:cBhvr>
                                      <p:to x="100000" y="100000"/>
                                    </p:animScale>
                                    <p:animScale>
                                      <p:cBhvr>
                                        <p:cTn id="39" dur="26">
                                          <p:stCondLst>
                                            <p:cond delay="1642"/>
                                          </p:stCondLst>
                                        </p:cTn>
                                        <p:tgtEl>
                                          <p:spTgt spid="6"/>
                                        </p:tgtEl>
                                      </p:cBhvr>
                                      <p:to x="100000" y="90000"/>
                                    </p:animScale>
                                    <p:animScale>
                                      <p:cBhvr>
                                        <p:cTn id="40" dur="166" decel="50000">
                                          <p:stCondLst>
                                            <p:cond delay="1668"/>
                                          </p:stCondLst>
                                        </p:cTn>
                                        <p:tgtEl>
                                          <p:spTgt spid="6"/>
                                        </p:tgtEl>
                                      </p:cBhvr>
                                      <p:to x="100000" y="100000"/>
                                    </p:animScale>
                                    <p:animScale>
                                      <p:cBhvr>
                                        <p:cTn id="41" dur="26">
                                          <p:stCondLst>
                                            <p:cond delay="1808"/>
                                          </p:stCondLst>
                                        </p:cTn>
                                        <p:tgtEl>
                                          <p:spTgt spid="6"/>
                                        </p:tgtEl>
                                      </p:cBhvr>
                                      <p:to x="100000" y="95000"/>
                                    </p:animScale>
                                    <p:animScale>
                                      <p:cBhvr>
                                        <p:cTn id="42"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smtClean="0"/>
              <a:t>  Leave </a:t>
            </a:r>
            <a:r>
              <a:rPr lang="he-IL" dirty="0"/>
              <a:t>המשך </a:t>
            </a:r>
          </a:p>
        </p:txBody>
      </p:sp>
      <p:sp>
        <p:nvSpPr>
          <p:cNvPr id="3" name="מציין מיקום תוכן 2"/>
          <p:cNvSpPr>
            <a:spLocks noGrp="1"/>
          </p:cNvSpPr>
          <p:nvPr>
            <p:ph idx="1"/>
          </p:nvPr>
        </p:nvSpPr>
        <p:spPr/>
        <p:txBody>
          <a:bodyPr/>
          <a:lstStyle/>
          <a:p>
            <a:pPr marL="0" indent="0">
              <a:buNone/>
            </a:pPr>
            <a:r>
              <a:rPr lang="he-IL" dirty="0" smtClean="0"/>
              <a:t>כלומר , ניתן לומר שפקודת </a:t>
            </a:r>
            <a:r>
              <a:rPr lang="en-US" dirty="0" smtClean="0"/>
              <a:t>leave</a:t>
            </a:r>
            <a:r>
              <a:rPr lang="he-IL" dirty="0" smtClean="0"/>
              <a:t>  משחזרת את תוכן המחסנית לתוכנה הקודם, טרם בוצעו כל הדחיפות אליה באופן שבו  </a:t>
            </a:r>
            <a:r>
              <a:rPr lang="en-US" dirty="0" smtClean="0"/>
              <a:t>RSP</a:t>
            </a:r>
            <a:r>
              <a:rPr lang="he-IL" dirty="0" smtClean="0"/>
              <a:t> מצביע על כתובת החזרה אל התכנית הראשית או הפונקציה הקוראת.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39</a:t>
            </a:fld>
            <a:endParaRPr lang="he-IL"/>
          </a:p>
        </p:txBody>
      </p:sp>
    </p:spTree>
    <p:extLst>
      <p:ext uri="{BB962C8B-B14F-4D97-AF65-F5344CB8AC3E}">
        <p14:creationId xmlns:p14="http://schemas.microsoft.com/office/powerpoint/2010/main" val="269692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פקודת </a:t>
            </a:r>
            <a:r>
              <a:rPr lang="en-US" dirty="0" smtClean="0"/>
              <a:t>ret</a:t>
            </a:r>
            <a:r>
              <a:rPr lang="he-IL" dirty="0" smtClean="0"/>
              <a:t> </a:t>
            </a:r>
            <a:endParaRPr lang="he-IL" dirty="0"/>
          </a:p>
        </p:txBody>
      </p:sp>
      <p:sp>
        <p:nvSpPr>
          <p:cNvPr id="3" name="מציין מיקום תוכן 2"/>
          <p:cNvSpPr>
            <a:spLocks noGrp="1"/>
          </p:cNvSpPr>
          <p:nvPr>
            <p:ph idx="1"/>
          </p:nvPr>
        </p:nvSpPr>
        <p:spPr/>
        <p:txBody>
          <a:bodyPr/>
          <a:lstStyle/>
          <a:p>
            <a:r>
              <a:rPr lang="he-IL" dirty="0" smtClean="0"/>
              <a:t>ביחס לדוגמא, מופיעה גם פקודת </a:t>
            </a:r>
            <a:r>
              <a:rPr lang="en-US" dirty="0" smtClean="0"/>
              <a:t>ret</a:t>
            </a:r>
            <a:r>
              <a:rPr lang="en-US" dirty="0"/>
              <a:t> </a:t>
            </a:r>
            <a:r>
              <a:rPr lang="he-IL" dirty="0"/>
              <a:t> </a:t>
            </a:r>
            <a:r>
              <a:rPr lang="he-IL" dirty="0" smtClean="0"/>
              <a:t>בסיום הפונקציה </a:t>
            </a:r>
          </a:p>
          <a:p>
            <a:r>
              <a:rPr lang="he-IL" dirty="0" smtClean="0"/>
              <a:t>כאמור, מטרתה של </a:t>
            </a:r>
            <a:r>
              <a:rPr lang="en-US" dirty="0" smtClean="0"/>
              <a:t>ret</a:t>
            </a:r>
            <a:r>
              <a:rPr lang="en-US" dirty="0"/>
              <a:t> </a:t>
            </a:r>
            <a:r>
              <a:rPr lang="he-IL" dirty="0"/>
              <a:t> </a:t>
            </a:r>
            <a:r>
              <a:rPr lang="he-IL" dirty="0" smtClean="0"/>
              <a:t>הוא להחזיר את התכנית לביצוע השוטף שלה לאחר סיום ביצוע הפונקציה, ולכן חובה לסדר את המחסנית באופן כזה שברגע שהפקודה </a:t>
            </a:r>
            <a:r>
              <a:rPr lang="en-US" dirty="0" smtClean="0"/>
              <a:t>ret</a:t>
            </a:r>
            <a:r>
              <a:rPr lang="he-IL" dirty="0" smtClean="0"/>
              <a:t> מבוצעת , תוכן מצביע המחסנית יהיה על כתובת החזרה שממנה קפצנו לביצוע הפונקציה </a:t>
            </a:r>
          </a:p>
          <a:p>
            <a:r>
              <a:rPr lang="he-IL" dirty="0" smtClean="0"/>
              <a:t>לכן לאחר ביצוע </a:t>
            </a:r>
            <a:r>
              <a:rPr lang="en-US" dirty="0" smtClean="0"/>
              <a:t>ret</a:t>
            </a:r>
            <a:r>
              <a:rPr lang="he-IL" dirty="0" smtClean="0"/>
              <a:t> נקבל :</a:t>
            </a:r>
            <a:r>
              <a:rPr lang="en-US" dirty="0" smtClean="0"/>
              <a:t> </a:t>
            </a:r>
            <a:endParaRPr lang="he-IL" dirty="0" smtClean="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40</a:t>
            </a:fld>
            <a:endParaRPr lang="he-IL"/>
          </a:p>
        </p:txBody>
      </p:sp>
      <p:pic>
        <p:nvPicPr>
          <p:cNvPr id="6" name="תמונה 5"/>
          <p:cNvPicPr>
            <a:picLocks noChangeAspect="1"/>
          </p:cNvPicPr>
          <p:nvPr/>
        </p:nvPicPr>
        <p:blipFill>
          <a:blip r:embed="rId2"/>
          <a:stretch>
            <a:fillRect/>
          </a:stretch>
        </p:blipFill>
        <p:spPr>
          <a:xfrm>
            <a:off x="1766331" y="4808919"/>
            <a:ext cx="5239481" cy="1066949"/>
          </a:xfrm>
          <a:prstGeom prst="rect">
            <a:avLst/>
          </a:prstGeom>
        </p:spPr>
      </p:pic>
    </p:spTree>
    <p:extLst>
      <p:ext uri="{BB962C8B-B14F-4D97-AF65-F5344CB8AC3E}">
        <p14:creationId xmlns:p14="http://schemas.microsoft.com/office/powerpoint/2010/main" val="332588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smtClean="0"/>
              <a:t>Call_return_demo.asm</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41</a:t>
            </a:fld>
            <a:endParaRPr lang="he-IL"/>
          </a:p>
        </p:txBody>
      </p:sp>
      <p:pic>
        <p:nvPicPr>
          <p:cNvPr id="9" name="תמונה 8"/>
          <p:cNvPicPr>
            <a:picLocks noChangeAspect="1"/>
          </p:cNvPicPr>
          <p:nvPr/>
        </p:nvPicPr>
        <p:blipFill>
          <a:blip r:embed="rId2"/>
          <a:stretch>
            <a:fillRect/>
          </a:stretch>
        </p:blipFill>
        <p:spPr>
          <a:xfrm>
            <a:off x="5398008" y="2587753"/>
            <a:ext cx="4057191" cy="3660648"/>
          </a:xfrm>
          <a:prstGeom prst="rect">
            <a:avLst/>
          </a:prstGeom>
        </p:spPr>
      </p:pic>
      <p:pic>
        <p:nvPicPr>
          <p:cNvPr id="6" name="מציין מיקום תוכן 5"/>
          <p:cNvPicPr>
            <a:picLocks noGrp="1" noChangeAspect="1"/>
          </p:cNvPicPr>
          <p:nvPr>
            <p:ph idx="1"/>
          </p:nvPr>
        </p:nvPicPr>
        <p:blipFill>
          <a:blip r:embed="rId3"/>
          <a:stretch>
            <a:fillRect/>
          </a:stretch>
        </p:blipFill>
        <p:spPr>
          <a:xfrm>
            <a:off x="981405" y="2587753"/>
            <a:ext cx="4367443" cy="3381247"/>
          </a:xfrm>
          <a:prstGeom prst="rect">
            <a:avLst/>
          </a:prstGeom>
        </p:spPr>
      </p:pic>
    </p:spTree>
    <p:extLst>
      <p:ext uri="{BB962C8B-B14F-4D97-AF65-F5344CB8AC3E}">
        <p14:creationId xmlns:p14="http://schemas.microsoft.com/office/powerpoint/2010/main" val="249972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אופן פעולת התכנית </a:t>
            </a:r>
            <a:endParaRPr lang="he-IL" dirty="0"/>
          </a:p>
        </p:txBody>
      </p:sp>
      <p:sp>
        <p:nvSpPr>
          <p:cNvPr id="3" name="מציין מיקום תוכן 2"/>
          <p:cNvSpPr>
            <a:spLocks noGrp="1"/>
          </p:cNvSpPr>
          <p:nvPr>
            <p:ph idx="1"/>
          </p:nvPr>
        </p:nvSpPr>
        <p:spPr/>
        <p:txBody>
          <a:bodyPr/>
          <a:lstStyle/>
          <a:p>
            <a:r>
              <a:rPr lang="he-IL" dirty="0" smtClean="0"/>
              <a:t>התכנית עובדת עם 4 </a:t>
            </a:r>
            <a:r>
              <a:rPr lang="he-IL" dirty="0" err="1" smtClean="0"/>
              <a:t>מאקרוס</a:t>
            </a:r>
            <a:r>
              <a:rPr lang="he-IL" dirty="0" smtClean="0"/>
              <a:t>: </a:t>
            </a:r>
          </a:p>
          <a:p>
            <a:r>
              <a:rPr lang="he-IL" dirty="0" smtClean="0"/>
              <a:t>1. </a:t>
            </a:r>
            <a:r>
              <a:rPr lang="en-US" dirty="0" smtClean="0"/>
              <a:t>PUSH </a:t>
            </a:r>
            <a:r>
              <a:rPr lang="he-IL" dirty="0" smtClean="0"/>
              <a:t> אשר מפחית את מצביע המחסנית ב 8 כתובות ודוחף לכתובת החדשה אשר מצביע המחסנית מצביע עליו  נתון חדש. </a:t>
            </a:r>
          </a:p>
          <a:p>
            <a:r>
              <a:rPr lang="he-IL" dirty="0" smtClean="0"/>
              <a:t>2. </a:t>
            </a:r>
            <a:r>
              <a:rPr lang="en-US" dirty="0" smtClean="0"/>
              <a:t>POP</a:t>
            </a:r>
            <a:r>
              <a:rPr lang="he-IL" dirty="0" smtClean="0"/>
              <a:t>  - אשר שולף את הנתון מראש המחסנית ולאחר מכן מעלה את מצביע המחסנית </a:t>
            </a:r>
            <a:r>
              <a:rPr lang="en-US" dirty="0" smtClean="0"/>
              <a:t>RSP</a:t>
            </a:r>
            <a:r>
              <a:rPr lang="he-IL" dirty="0" smtClean="0"/>
              <a:t> ב 8 </a:t>
            </a:r>
          </a:p>
          <a:p>
            <a:r>
              <a:rPr lang="he-IL" dirty="0" smtClean="0"/>
              <a:t>3. </a:t>
            </a:r>
            <a:r>
              <a:rPr lang="en-US" dirty="0" smtClean="0"/>
              <a:t>CALL</a:t>
            </a:r>
            <a:r>
              <a:rPr lang="he-IL" dirty="0" smtClean="0"/>
              <a:t> מאקרו אשר מדמה פעולת</a:t>
            </a:r>
            <a:r>
              <a:rPr lang="en-US" dirty="0"/>
              <a:t> </a:t>
            </a:r>
            <a:r>
              <a:rPr lang="en-US" dirty="0" smtClean="0"/>
              <a:t> </a:t>
            </a:r>
            <a:r>
              <a:rPr lang="he-IL" dirty="0" smtClean="0"/>
              <a:t>קריאה לפונקציה עם הבדלים ניכרים בהשוואה לקריאה </a:t>
            </a:r>
            <a:r>
              <a:rPr lang="he-IL" dirty="0" err="1" smtClean="0"/>
              <a:t>אמיתית</a:t>
            </a:r>
            <a:r>
              <a:rPr lang="he-IL" dirty="0" smtClean="0"/>
              <a:t>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42</a:t>
            </a:fld>
            <a:endParaRPr lang="he-IL"/>
          </a:p>
        </p:txBody>
      </p:sp>
    </p:spTree>
    <p:extLst>
      <p:ext uri="{BB962C8B-B14F-4D97-AF65-F5344CB8AC3E}">
        <p14:creationId xmlns:p14="http://schemas.microsoft.com/office/powerpoint/2010/main" val="362668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normAutofit fontScale="92500" lnSpcReduction="10000"/>
          </a:bodyPr>
          <a:lstStyle/>
          <a:p>
            <a:r>
              <a:rPr lang="he-IL" dirty="0" smtClean="0"/>
              <a:t>ננתח את אופן הפעולה של המאקרו </a:t>
            </a:r>
            <a:r>
              <a:rPr lang="en-US" dirty="0" smtClean="0"/>
              <a:t>CALL</a:t>
            </a:r>
            <a:r>
              <a:rPr lang="he-IL" dirty="0" smtClean="0"/>
              <a:t>  : </a:t>
            </a:r>
          </a:p>
          <a:p>
            <a:r>
              <a:rPr lang="he-IL" dirty="0" smtClean="0"/>
              <a:t>פקודה ראשונה :</a:t>
            </a:r>
            <a:r>
              <a:rPr lang="en-US" dirty="0" smtClean="0"/>
              <a:t> </a:t>
            </a:r>
            <a:r>
              <a:rPr lang="en-US" dirty="0" err="1" smtClean="0"/>
              <a:t>mov</a:t>
            </a:r>
            <a:r>
              <a:rPr lang="en-US" dirty="0" smtClean="0"/>
              <a:t> </a:t>
            </a:r>
            <a:r>
              <a:rPr lang="en-US" dirty="0" smtClean="0"/>
              <a:t>r12, </a:t>
            </a:r>
            <a:r>
              <a:rPr lang="en-US" dirty="0" smtClean="0"/>
              <a:t>%%L</a:t>
            </a:r>
            <a:r>
              <a:rPr lang="he-IL" dirty="0" smtClean="0"/>
              <a:t> גורמת ל </a:t>
            </a:r>
            <a:r>
              <a:rPr lang="en-US" dirty="0" smtClean="0"/>
              <a:t>NASM</a:t>
            </a:r>
            <a:r>
              <a:rPr lang="he-IL" dirty="0" smtClean="0"/>
              <a:t> להרחיב את </a:t>
            </a:r>
            <a:r>
              <a:rPr lang="en-US" dirty="0" smtClean="0"/>
              <a:t>% L</a:t>
            </a:r>
            <a:r>
              <a:rPr lang="he-IL" dirty="0" smtClean="0"/>
              <a:t> לכתובת </a:t>
            </a:r>
            <a:r>
              <a:rPr lang="he-IL" dirty="0" err="1" smtClean="0"/>
              <a:t>יחודית</a:t>
            </a:r>
            <a:r>
              <a:rPr lang="he-IL" dirty="0" smtClean="0"/>
              <a:t> בכל פעם אשר מתבצעת קריאה למאקרו זה. </a:t>
            </a:r>
          </a:p>
          <a:p>
            <a:r>
              <a:rPr lang="he-IL" dirty="0" smtClean="0"/>
              <a:t>הביטוי </a:t>
            </a:r>
            <a:r>
              <a:rPr lang="en-US" dirty="0" smtClean="0"/>
              <a:t>%%L</a:t>
            </a:r>
            <a:r>
              <a:rPr lang="he-IL" dirty="0" smtClean="0"/>
              <a:t> משמש לחישוב כתובת חזרה </a:t>
            </a:r>
            <a:r>
              <a:rPr lang="he-IL" dirty="0" err="1" smtClean="0"/>
              <a:t>יחודית</a:t>
            </a:r>
            <a:r>
              <a:rPr lang="he-IL" dirty="0" smtClean="0"/>
              <a:t> כך שכתובת החזרה מאוחסנת ב </a:t>
            </a:r>
            <a:r>
              <a:rPr lang="en-US" dirty="0" smtClean="0"/>
              <a:t>R12 </a:t>
            </a:r>
            <a:r>
              <a:rPr lang="he-IL" dirty="0" smtClean="0"/>
              <a:t> </a:t>
            </a:r>
            <a:r>
              <a:rPr lang="he-IL" dirty="0" smtClean="0"/>
              <a:t>ולכן </a:t>
            </a:r>
            <a:r>
              <a:rPr lang="en-US" dirty="0" smtClean="0"/>
              <a:t>PUSH </a:t>
            </a:r>
            <a:r>
              <a:rPr lang="en-US" dirty="0" smtClean="0"/>
              <a:t>R12</a:t>
            </a:r>
            <a:r>
              <a:rPr lang="he-IL" dirty="0" smtClean="0"/>
              <a:t> </a:t>
            </a:r>
            <a:r>
              <a:rPr lang="he-IL" dirty="0" smtClean="0"/>
              <a:t>שומרת את כתובת החזרה ב </a:t>
            </a:r>
            <a:r>
              <a:rPr lang="en-US" dirty="0" smtClean="0"/>
              <a:t>R12</a:t>
            </a:r>
            <a:r>
              <a:rPr lang="he-IL" dirty="0" smtClean="0"/>
              <a:t> </a:t>
            </a:r>
            <a:endParaRPr lang="he-IL" dirty="0" smtClean="0"/>
          </a:p>
          <a:p>
            <a:r>
              <a:rPr lang="he-IL" dirty="0" smtClean="0"/>
              <a:t>הפקודה </a:t>
            </a:r>
            <a:r>
              <a:rPr lang="en-US" dirty="0" err="1" smtClean="0"/>
              <a:t>jmp</a:t>
            </a:r>
            <a:r>
              <a:rPr lang="en-US" dirty="0" smtClean="0"/>
              <a:t> %L</a:t>
            </a:r>
            <a:r>
              <a:rPr lang="he-IL" dirty="0" smtClean="0"/>
              <a:t> קופצת אל השורה שבה קיימת פקודה שרוצים להפעיל – במקרה שלנו </a:t>
            </a:r>
            <a:r>
              <a:rPr lang="en-US" dirty="0" err="1" smtClean="0"/>
              <a:t>printf</a:t>
            </a:r>
            <a:r>
              <a:rPr lang="he-IL" dirty="0" smtClean="0"/>
              <a:t> </a:t>
            </a:r>
          </a:p>
          <a:p>
            <a:r>
              <a:rPr lang="en-US" dirty="0"/>
              <a:t>%%</a:t>
            </a:r>
            <a:r>
              <a:rPr lang="en-US" dirty="0" smtClean="0"/>
              <a:t>L</a:t>
            </a:r>
            <a:r>
              <a:rPr lang="he-IL" dirty="0" smtClean="0"/>
              <a:t> – מגדירה את התווית שממנה חוזרים</a:t>
            </a:r>
          </a:p>
          <a:p>
            <a:r>
              <a:rPr lang="he-IL" dirty="0" smtClean="0"/>
              <a:t>זהו מאקרו חכם אשר יוצר לכל קריאה כתובת ייחודית לקפיצה תוך שימוש ב </a:t>
            </a:r>
            <a:r>
              <a:rPr lang="en-US" dirty="0" err="1" smtClean="0"/>
              <a:t>jmp</a:t>
            </a:r>
            <a:endParaRPr lang="he-IL" dirty="0" smtClean="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43</a:t>
            </a:fld>
            <a:endParaRPr lang="he-IL"/>
          </a:p>
        </p:txBody>
      </p:sp>
    </p:spTree>
    <p:extLst>
      <p:ext uri="{BB962C8B-B14F-4D97-AF65-F5344CB8AC3E}">
        <p14:creationId xmlns:p14="http://schemas.microsoft.com/office/powerpoint/2010/main" val="175444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normAutofit fontScale="85000" lnSpcReduction="20000"/>
          </a:bodyPr>
          <a:lstStyle/>
          <a:p>
            <a:r>
              <a:rPr lang="he-IL" dirty="0" smtClean="0"/>
              <a:t>המאקרו האחרון </a:t>
            </a:r>
            <a:r>
              <a:rPr lang="en-US" dirty="0" smtClean="0"/>
              <a:t>RETURN</a:t>
            </a:r>
            <a:r>
              <a:rPr lang="he-IL" dirty="0" smtClean="0"/>
              <a:t> שולף מתוך המחסנית את כתובת החזרה אל תוך </a:t>
            </a:r>
            <a:r>
              <a:rPr lang="en-US" dirty="0" smtClean="0"/>
              <a:t>RAX</a:t>
            </a:r>
            <a:r>
              <a:rPr lang="he-IL" dirty="0" smtClean="0"/>
              <a:t> </a:t>
            </a:r>
          </a:p>
          <a:p>
            <a:r>
              <a:rPr lang="he-IL" dirty="0" smtClean="0"/>
              <a:t>ההדפסה הראשונה מתבצעת כך :</a:t>
            </a:r>
            <a:r>
              <a:rPr lang="en-US" dirty="0"/>
              <a:t> </a:t>
            </a:r>
            <a:r>
              <a:rPr lang="en-US" dirty="0" err="1"/>
              <a:t>mov</a:t>
            </a:r>
            <a:r>
              <a:rPr lang="en-US" dirty="0"/>
              <a:t> </a:t>
            </a:r>
            <a:r>
              <a:rPr lang="en-US" dirty="0" err="1"/>
              <a:t>rdi</a:t>
            </a:r>
            <a:r>
              <a:rPr lang="en-US" dirty="0"/>
              <a:t>, </a:t>
            </a:r>
            <a:r>
              <a:rPr lang="en-US" dirty="0" smtClean="0"/>
              <a:t>message </a:t>
            </a:r>
            <a:r>
              <a:rPr lang="he-IL" dirty="0" smtClean="0"/>
              <a:t> כלומר גורמים ל </a:t>
            </a:r>
            <a:r>
              <a:rPr lang="en-US" dirty="0" err="1" smtClean="0"/>
              <a:t>rdi</a:t>
            </a:r>
            <a:r>
              <a:rPr lang="he-IL" dirty="0" smtClean="0"/>
              <a:t> להצביע על המחרוזת </a:t>
            </a:r>
            <a:r>
              <a:rPr lang="en-US" dirty="0" smtClean="0"/>
              <a:t>Hello World</a:t>
            </a:r>
            <a:r>
              <a:rPr lang="he-IL" dirty="0" smtClean="0"/>
              <a:t> </a:t>
            </a:r>
          </a:p>
          <a:p>
            <a:r>
              <a:rPr lang="he-IL" dirty="0" smtClean="0"/>
              <a:t>הפקודה </a:t>
            </a:r>
            <a:r>
              <a:rPr lang="en-US" dirty="0"/>
              <a:t>CALL </a:t>
            </a:r>
            <a:r>
              <a:rPr lang="en-US" dirty="0" err="1" smtClean="0"/>
              <a:t>printf</a:t>
            </a:r>
            <a:r>
              <a:rPr lang="en-US" dirty="0" smtClean="0"/>
              <a:t> </a:t>
            </a:r>
            <a:r>
              <a:rPr lang="he-IL" dirty="0" smtClean="0"/>
              <a:t> מפורשת לרצף של פקודות :</a:t>
            </a:r>
            <a:r>
              <a:rPr lang="en-US" dirty="0" smtClean="0"/>
              <a:t> </a:t>
            </a:r>
            <a:endParaRPr lang="he-IL" dirty="0" smtClean="0"/>
          </a:p>
          <a:p>
            <a:pPr algn="l" rtl="0"/>
            <a:r>
              <a:rPr lang="en-US" b="1" dirty="0" err="1"/>
              <a:t>mov</a:t>
            </a:r>
            <a:r>
              <a:rPr lang="en-US" b="1" dirty="0"/>
              <a:t> </a:t>
            </a:r>
            <a:r>
              <a:rPr lang="en-US" b="1" dirty="0" err="1"/>
              <a:t>rax</a:t>
            </a:r>
            <a:r>
              <a:rPr lang="en-US" b="1" dirty="0"/>
              <a:t>, </a:t>
            </a:r>
            <a:r>
              <a:rPr lang="en-US" b="1" dirty="0" err="1" smtClean="0"/>
              <a:t>return_label</a:t>
            </a:r>
            <a:endParaRPr lang="en-US" b="1" dirty="0" smtClean="0"/>
          </a:p>
          <a:p>
            <a:pPr algn="l" rtl="0"/>
            <a:r>
              <a:rPr lang="en-US" b="1" dirty="0" smtClean="0"/>
              <a:t>sub </a:t>
            </a:r>
            <a:r>
              <a:rPr lang="en-US" b="1" dirty="0" err="1"/>
              <a:t>rsp</a:t>
            </a:r>
            <a:r>
              <a:rPr lang="en-US" b="1" dirty="0"/>
              <a:t>, </a:t>
            </a:r>
            <a:r>
              <a:rPr lang="en-US" b="1" dirty="0" smtClean="0"/>
              <a:t>8</a:t>
            </a:r>
          </a:p>
          <a:p>
            <a:pPr algn="l" rtl="0"/>
            <a:r>
              <a:rPr lang="en-US" b="1" dirty="0" err="1" smtClean="0"/>
              <a:t>mov</a:t>
            </a:r>
            <a:r>
              <a:rPr lang="en-US" b="1" dirty="0" smtClean="0"/>
              <a:t> </a:t>
            </a:r>
            <a:r>
              <a:rPr lang="en-US" b="1" dirty="0"/>
              <a:t>[</a:t>
            </a:r>
            <a:r>
              <a:rPr lang="en-US" b="1" dirty="0" err="1"/>
              <a:t>rsp</a:t>
            </a:r>
            <a:r>
              <a:rPr lang="en-US" b="1" dirty="0"/>
              <a:t>], </a:t>
            </a:r>
            <a:r>
              <a:rPr lang="en-US" b="1" dirty="0" err="1" smtClean="0"/>
              <a:t>rax</a:t>
            </a:r>
            <a:endParaRPr lang="en-US" b="1" dirty="0" smtClean="0"/>
          </a:p>
          <a:p>
            <a:pPr algn="l" rtl="0"/>
            <a:r>
              <a:rPr lang="en-US" b="1" dirty="0" err="1" smtClean="0"/>
              <a:t>jmp</a:t>
            </a:r>
            <a:r>
              <a:rPr lang="en-US" b="1" dirty="0" smtClean="0"/>
              <a:t> </a:t>
            </a:r>
            <a:r>
              <a:rPr lang="en-US" b="1" dirty="0" err="1" smtClean="0"/>
              <a:t>printf</a:t>
            </a:r>
            <a:endParaRPr lang="en-US" b="1" dirty="0" smtClean="0"/>
          </a:p>
          <a:p>
            <a:pPr algn="l" rtl="0"/>
            <a:r>
              <a:rPr lang="en-US" b="1" dirty="0" err="1" smtClean="0"/>
              <a:t>return_label</a:t>
            </a:r>
            <a:r>
              <a:rPr lang="en-US" b="1" dirty="0"/>
              <a:t>:</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44</a:t>
            </a:fld>
            <a:endParaRPr lang="he-IL"/>
          </a:p>
        </p:txBody>
      </p:sp>
    </p:spTree>
    <p:extLst>
      <p:ext uri="{BB962C8B-B14F-4D97-AF65-F5344CB8AC3E}">
        <p14:creationId xmlns:p14="http://schemas.microsoft.com/office/powerpoint/2010/main" val="385623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down)">
                                      <p:cBhvr>
                                        <p:cTn id="25" dur="580">
                                          <p:stCondLst>
                                            <p:cond delay="0"/>
                                          </p:stCondLst>
                                        </p:cTn>
                                        <p:tgtEl>
                                          <p:spTgt spid="3">
                                            <p:txEl>
                                              <p:pRg st="3" end="3"/>
                                            </p:txEl>
                                          </p:spTgt>
                                        </p:tgtEl>
                                      </p:cBhvr>
                                    </p:animEffect>
                                    <p:anim calcmode="lin" valueType="num">
                                      <p:cBhvr>
                                        <p:cTn id="2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3" end="3"/>
                                            </p:txEl>
                                          </p:spTgt>
                                        </p:tgtEl>
                                      </p:cBhvr>
                                      <p:to x="100000" y="60000"/>
                                    </p:animScale>
                                    <p:animScale>
                                      <p:cBhvr>
                                        <p:cTn id="32" dur="166" decel="50000">
                                          <p:stCondLst>
                                            <p:cond delay="676"/>
                                          </p:stCondLst>
                                        </p:cTn>
                                        <p:tgtEl>
                                          <p:spTgt spid="3">
                                            <p:txEl>
                                              <p:pRg st="3" end="3"/>
                                            </p:txEl>
                                          </p:spTgt>
                                        </p:tgtEl>
                                      </p:cBhvr>
                                      <p:to x="100000" y="100000"/>
                                    </p:animScale>
                                    <p:animScale>
                                      <p:cBhvr>
                                        <p:cTn id="33" dur="26">
                                          <p:stCondLst>
                                            <p:cond delay="1312"/>
                                          </p:stCondLst>
                                        </p:cTn>
                                        <p:tgtEl>
                                          <p:spTgt spid="3">
                                            <p:txEl>
                                              <p:pRg st="3" end="3"/>
                                            </p:txEl>
                                          </p:spTgt>
                                        </p:tgtEl>
                                      </p:cBhvr>
                                      <p:to x="100000" y="80000"/>
                                    </p:animScale>
                                    <p:animScale>
                                      <p:cBhvr>
                                        <p:cTn id="34" dur="166" decel="50000">
                                          <p:stCondLst>
                                            <p:cond delay="1338"/>
                                          </p:stCondLst>
                                        </p:cTn>
                                        <p:tgtEl>
                                          <p:spTgt spid="3">
                                            <p:txEl>
                                              <p:pRg st="3" end="3"/>
                                            </p:txEl>
                                          </p:spTgt>
                                        </p:tgtEl>
                                      </p:cBhvr>
                                      <p:to x="100000" y="100000"/>
                                    </p:animScale>
                                    <p:animScale>
                                      <p:cBhvr>
                                        <p:cTn id="35" dur="26">
                                          <p:stCondLst>
                                            <p:cond delay="1642"/>
                                          </p:stCondLst>
                                        </p:cTn>
                                        <p:tgtEl>
                                          <p:spTgt spid="3">
                                            <p:txEl>
                                              <p:pRg st="3" end="3"/>
                                            </p:txEl>
                                          </p:spTgt>
                                        </p:tgtEl>
                                      </p:cBhvr>
                                      <p:to x="100000" y="90000"/>
                                    </p:animScale>
                                    <p:animScale>
                                      <p:cBhvr>
                                        <p:cTn id="36" dur="166" decel="50000">
                                          <p:stCondLst>
                                            <p:cond delay="1668"/>
                                          </p:stCondLst>
                                        </p:cTn>
                                        <p:tgtEl>
                                          <p:spTgt spid="3">
                                            <p:txEl>
                                              <p:pRg st="3" end="3"/>
                                            </p:txEl>
                                          </p:spTgt>
                                        </p:tgtEl>
                                      </p:cBhvr>
                                      <p:to x="100000" y="100000"/>
                                    </p:animScale>
                                    <p:animScale>
                                      <p:cBhvr>
                                        <p:cTn id="37" dur="26">
                                          <p:stCondLst>
                                            <p:cond delay="1808"/>
                                          </p:stCondLst>
                                        </p:cTn>
                                        <p:tgtEl>
                                          <p:spTgt spid="3">
                                            <p:txEl>
                                              <p:pRg st="3" end="3"/>
                                            </p:txEl>
                                          </p:spTgt>
                                        </p:tgtEl>
                                      </p:cBhvr>
                                      <p:to x="100000" y="95000"/>
                                    </p:animScale>
                                    <p:animScale>
                                      <p:cBhvr>
                                        <p:cTn id="38" dur="166" decel="50000">
                                          <p:stCondLst>
                                            <p:cond delay="1834"/>
                                          </p:stCondLst>
                                        </p:cTn>
                                        <p:tgtEl>
                                          <p:spTgt spid="3">
                                            <p:txEl>
                                              <p:pRg st="3" end="3"/>
                                            </p:txEl>
                                          </p:spTgt>
                                        </p:tgtEl>
                                      </p:cBhvr>
                                      <p:to x="100000" y="100000"/>
                                    </p:animScale>
                                  </p:childTnLst>
                                </p:cTn>
                              </p:par>
                              <p:par>
                                <p:cTn id="39" presetID="26"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wipe(down)">
                                      <p:cBhvr>
                                        <p:cTn id="41" dur="580">
                                          <p:stCondLst>
                                            <p:cond delay="0"/>
                                          </p:stCondLst>
                                        </p:cTn>
                                        <p:tgtEl>
                                          <p:spTgt spid="3">
                                            <p:txEl>
                                              <p:pRg st="4" end="4"/>
                                            </p:txEl>
                                          </p:spTgt>
                                        </p:tgtEl>
                                      </p:cBhvr>
                                    </p:animEffect>
                                    <p:anim calcmode="lin" valueType="num">
                                      <p:cBhvr>
                                        <p:cTn id="4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4" end="4"/>
                                            </p:txEl>
                                          </p:spTgt>
                                        </p:tgtEl>
                                      </p:cBhvr>
                                      <p:to x="100000" y="60000"/>
                                    </p:animScale>
                                    <p:animScale>
                                      <p:cBhvr>
                                        <p:cTn id="48" dur="166" decel="50000">
                                          <p:stCondLst>
                                            <p:cond delay="676"/>
                                          </p:stCondLst>
                                        </p:cTn>
                                        <p:tgtEl>
                                          <p:spTgt spid="3">
                                            <p:txEl>
                                              <p:pRg st="4" end="4"/>
                                            </p:txEl>
                                          </p:spTgt>
                                        </p:tgtEl>
                                      </p:cBhvr>
                                      <p:to x="100000" y="100000"/>
                                    </p:animScale>
                                    <p:animScale>
                                      <p:cBhvr>
                                        <p:cTn id="49" dur="26">
                                          <p:stCondLst>
                                            <p:cond delay="1312"/>
                                          </p:stCondLst>
                                        </p:cTn>
                                        <p:tgtEl>
                                          <p:spTgt spid="3">
                                            <p:txEl>
                                              <p:pRg st="4" end="4"/>
                                            </p:txEl>
                                          </p:spTgt>
                                        </p:tgtEl>
                                      </p:cBhvr>
                                      <p:to x="100000" y="80000"/>
                                    </p:animScale>
                                    <p:animScale>
                                      <p:cBhvr>
                                        <p:cTn id="50" dur="166" decel="50000">
                                          <p:stCondLst>
                                            <p:cond delay="1338"/>
                                          </p:stCondLst>
                                        </p:cTn>
                                        <p:tgtEl>
                                          <p:spTgt spid="3">
                                            <p:txEl>
                                              <p:pRg st="4" end="4"/>
                                            </p:txEl>
                                          </p:spTgt>
                                        </p:tgtEl>
                                      </p:cBhvr>
                                      <p:to x="100000" y="100000"/>
                                    </p:animScale>
                                    <p:animScale>
                                      <p:cBhvr>
                                        <p:cTn id="51" dur="26">
                                          <p:stCondLst>
                                            <p:cond delay="1642"/>
                                          </p:stCondLst>
                                        </p:cTn>
                                        <p:tgtEl>
                                          <p:spTgt spid="3">
                                            <p:txEl>
                                              <p:pRg st="4" end="4"/>
                                            </p:txEl>
                                          </p:spTgt>
                                        </p:tgtEl>
                                      </p:cBhvr>
                                      <p:to x="100000" y="90000"/>
                                    </p:animScale>
                                    <p:animScale>
                                      <p:cBhvr>
                                        <p:cTn id="52" dur="166" decel="50000">
                                          <p:stCondLst>
                                            <p:cond delay="1668"/>
                                          </p:stCondLst>
                                        </p:cTn>
                                        <p:tgtEl>
                                          <p:spTgt spid="3">
                                            <p:txEl>
                                              <p:pRg st="4" end="4"/>
                                            </p:txEl>
                                          </p:spTgt>
                                        </p:tgtEl>
                                      </p:cBhvr>
                                      <p:to x="100000" y="100000"/>
                                    </p:animScale>
                                    <p:animScale>
                                      <p:cBhvr>
                                        <p:cTn id="53" dur="26">
                                          <p:stCondLst>
                                            <p:cond delay="1808"/>
                                          </p:stCondLst>
                                        </p:cTn>
                                        <p:tgtEl>
                                          <p:spTgt spid="3">
                                            <p:txEl>
                                              <p:pRg st="4" end="4"/>
                                            </p:txEl>
                                          </p:spTgt>
                                        </p:tgtEl>
                                      </p:cBhvr>
                                      <p:to x="100000" y="95000"/>
                                    </p:animScale>
                                    <p:animScale>
                                      <p:cBhvr>
                                        <p:cTn id="54" dur="166" decel="50000">
                                          <p:stCondLst>
                                            <p:cond delay="1834"/>
                                          </p:stCondLst>
                                        </p:cTn>
                                        <p:tgtEl>
                                          <p:spTgt spid="3">
                                            <p:txEl>
                                              <p:pRg st="4" end="4"/>
                                            </p:txEl>
                                          </p:spTgt>
                                        </p:tgtEl>
                                      </p:cBhvr>
                                      <p:to x="100000" y="100000"/>
                                    </p:animScale>
                                  </p:childTnLst>
                                </p:cTn>
                              </p:par>
                              <p:par>
                                <p:cTn id="55" presetID="26" presetClass="entr" presetSubtype="0" fill="hold" nodeType="with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animEffect transition="in" filter="wipe(down)">
                                      <p:cBhvr>
                                        <p:cTn id="57" dur="580">
                                          <p:stCondLst>
                                            <p:cond delay="0"/>
                                          </p:stCondLst>
                                        </p:cTn>
                                        <p:tgtEl>
                                          <p:spTgt spid="3">
                                            <p:txEl>
                                              <p:pRg st="5" end="5"/>
                                            </p:txEl>
                                          </p:spTgt>
                                        </p:tgtEl>
                                      </p:cBhvr>
                                    </p:animEffect>
                                    <p:anim calcmode="lin" valueType="num">
                                      <p:cBhvr>
                                        <p:cTn id="5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3">
                                            <p:txEl>
                                              <p:pRg st="5" end="5"/>
                                            </p:txEl>
                                          </p:spTgt>
                                        </p:tgtEl>
                                      </p:cBhvr>
                                      <p:to x="100000" y="60000"/>
                                    </p:animScale>
                                    <p:animScale>
                                      <p:cBhvr>
                                        <p:cTn id="64" dur="166" decel="50000">
                                          <p:stCondLst>
                                            <p:cond delay="676"/>
                                          </p:stCondLst>
                                        </p:cTn>
                                        <p:tgtEl>
                                          <p:spTgt spid="3">
                                            <p:txEl>
                                              <p:pRg st="5" end="5"/>
                                            </p:txEl>
                                          </p:spTgt>
                                        </p:tgtEl>
                                      </p:cBhvr>
                                      <p:to x="100000" y="100000"/>
                                    </p:animScale>
                                    <p:animScale>
                                      <p:cBhvr>
                                        <p:cTn id="65" dur="26">
                                          <p:stCondLst>
                                            <p:cond delay="1312"/>
                                          </p:stCondLst>
                                        </p:cTn>
                                        <p:tgtEl>
                                          <p:spTgt spid="3">
                                            <p:txEl>
                                              <p:pRg st="5" end="5"/>
                                            </p:txEl>
                                          </p:spTgt>
                                        </p:tgtEl>
                                      </p:cBhvr>
                                      <p:to x="100000" y="80000"/>
                                    </p:animScale>
                                    <p:animScale>
                                      <p:cBhvr>
                                        <p:cTn id="66" dur="166" decel="50000">
                                          <p:stCondLst>
                                            <p:cond delay="1338"/>
                                          </p:stCondLst>
                                        </p:cTn>
                                        <p:tgtEl>
                                          <p:spTgt spid="3">
                                            <p:txEl>
                                              <p:pRg st="5" end="5"/>
                                            </p:txEl>
                                          </p:spTgt>
                                        </p:tgtEl>
                                      </p:cBhvr>
                                      <p:to x="100000" y="100000"/>
                                    </p:animScale>
                                    <p:animScale>
                                      <p:cBhvr>
                                        <p:cTn id="67" dur="26">
                                          <p:stCondLst>
                                            <p:cond delay="1642"/>
                                          </p:stCondLst>
                                        </p:cTn>
                                        <p:tgtEl>
                                          <p:spTgt spid="3">
                                            <p:txEl>
                                              <p:pRg st="5" end="5"/>
                                            </p:txEl>
                                          </p:spTgt>
                                        </p:tgtEl>
                                      </p:cBhvr>
                                      <p:to x="100000" y="90000"/>
                                    </p:animScale>
                                    <p:animScale>
                                      <p:cBhvr>
                                        <p:cTn id="68" dur="166" decel="50000">
                                          <p:stCondLst>
                                            <p:cond delay="1668"/>
                                          </p:stCondLst>
                                        </p:cTn>
                                        <p:tgtEl>
                                          <p:spTgt spid="3">
                                            <p:txEl>
                                              <p:pRg st="5" end="5"/>
                                            </p:txEl>
                                          </p:spTgt>
                                        </p:tgtEl>
                                      </p:cBhvr>
                                      <p:to x="100000" y="100000"/>
                                    </p:animScale>
                                    <p:animScale>
                                      <p:cBhvr>
                                        <p:cTn id="69" dur="26">
                                          <p:stCondLst>
                                            <p:cond delay="1808"/>
                                          </p:stCondLst>
                                        </p:cTn>
                                        <p:tgtEl>
                                          <p:spTgt spid="3">
                                            <p:txEl>
                                              <p:pRg st="5" end="5"/>
                                            </p:txEl>
                                          </p:spTgt>
                                        </p:tgtEl>
                                      </p:cBhvr>
                                      <p:to x="100000" y="95000"/>
                                    </p:animScale>
                                    <p:animScale>
                                      <p:cBhvr>
                                        <p:cTn id="70" dur="166" decel="50000">
                                          <p:stCondLst>
                                            <p:cond delay="1834"/>
                                          </p:stCondLst>
                                        </p:cTn>
                                        <p:tgtEl>
                                          <p:spTgt spid="3">
                                            <p:txEl>
                                              <p:pRg st="5" end="5"/>
                                            </p:txEl>
                                          </p:spTgt>
                                        </p:tgtEl>
                                      </p:cBhvr>
                                      <p:to x="100000" y="100000"/>
                                    </p:animScale>
                                  </p:childTnLst>
                                </p:cTn>
                              </p:par>
                              <p:par>
                                <p:cTn id="71" presetID="26" presetClass="entr" presetSubtype="0" fill="hold" nodeType="withEffect">
                                  <p:stCondLst>
                                    <p:cond delay="0"/>
                                  </p:stCondLst>
                                  <p:childTnLst>
                                    <p:set>
                                      <p:cBhvr>
                                        <p:cTn id="72" dur="1" fill="hold">
                                          <p:stCondLst>
                                            <p:cond delay="0"/>
                                          </p:stCondLst>
                                        </p:cTn>
                                        <p:tgtEl>
                                          <p:spTgt spid="3">
                                            <p:txEl>
                                              <p:pRg st="6" end="6"/>
                                            </p:txEl>
                                          </p:spTgt>
                                        </p:tgtEl>
                                        <p:attrNameLst>
                                          <p:attrName>style.visibility</p:attrName>
                                        </p:attrNameLst>
                                      </p:cBhvr>
                                      <p:to>
                                        <p:strVal val="visible"/>
                                      </p:to>
                                    </p:set>
                                    <p:animEffect transition="in" filter="wipe(down)">
                                      <p:cBhvr>
                                        <p:cTn id="73" dur="580">
                                          <p:stCondLst>
                                            <p:cond delay="0"/>
                                          </p:stCondLst>
                                        </p:cTn>
                                        <p:tgtEl>
                                          <p:spTgt spid="3">
                                            <p:txEl>
                                              <p:pRg st="6" end="6"/>
                                            </p:txEl>
                                          </p:spTgt>
                                        </p:tgtEl>
                                      </p:cBhvr>
                                    </p:animEffect>
                                    <p:anim calcmode="lin" valueType="num">
                                      <p:cBhvr>
                                        <p:cTn id="74"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79" dur="26">
                                          <p:stCondLst>
                                            <p:cond delay="650"/>
                                          </p:stCondLst>
                                        </p:cTn>
                                        <p:tgtEl>
                                          <p:spTgt spid="3">
                                            <p:txEl>
                                              <p:pRg st="6" end="6"/>
                                            </p:txEl>
                                          </p:spTgt>
                                        </p:tgtEl>
                                      </p:cBhvr>
                                      <p:to x="100000" y="60000"/>
                                    </p:animScale>
                                    <p:animScale>
                                      <p:cBhvr>
                                        <p:cTn id="80" dur="166" decel="50000">
                                          <p:stCondLst>
                                            <p:cond delay="676"/>
                                          </p:stCondLst>
                                        </p:cTn>
                                        <p:tgtEl>
                                          <p:spTgt spid="3">
                                            <p:txEl>
                                              <p:pRg st="6" end="6"/>
                                            </p:txEl>
                                          </p:spTgt>
                                        </p:tgtEl>
                                      </p:cBhvr>
                                      <p:to x="100000" y="100000"/>
                                    </p:animScale>
                                    <p:animScale>
                                      <p:cBhvr>
                                        <p:cTn id="81" dur="26">
                                          <p:stCondLst>
                                            <p:cond delay="1312"/>
                                          </p:stCondLst>
                                        </p:cTn>
                                        <p:tgtEl>
                                          <p:spTgt spid="3">
                                            <p:txEl>
                                              <p:pRg st="6" end="6"/>
                                            </p:txEl>
                                          </p:spTgt>
                                        </p:tgtEl>
                                      </p:cBhvr>
                                      <p:to x="100000" y="80000"/>
                                    </p:animScale>
                                    <p:animScale>
                                      <p:cBhvr>
                                        <p:cTn id="82" dur="166" decel="50000">
                                          <p:stCondLst>
                                            <p:cond delay="1338"/>
                                          </p:stCondLst>
                                        </p:cTn>
                                        <p:tgtEl>
                                          <p:spTgt spid="3">
                                            <p:txEl>
                                              <p:pRg st="6" end="6"/>
                                            </p:txEl>
                                          </p:spTgt>
                                        </p:tgtEl>
                                      </p:cBhvr>
                                      <p:to x="100000" y="100000"/>
                                    </p:animScale>
                                    <p:animScale>
                                      <p:cBhvr>
                                        <p:cTn id="83" dur="26">
                                          <p:stCondLst>
                                            <p:cond delay="1642"/>
                                          </p:stCondLst>
                                        </p:cTn>
                                        <p:tgtEl>
                                          <p:spTgt spid="3">
                                            <p:txEl>
                                              <p:pRg st="6" end="6"/>
                                            </p:txEl>
                                          </p:spTgt>
                                        </p:tgtEl>
                                      </p:cBhvr>
                                      <p:to x="100000" y="90000"/>
                                    </p:animScale>
                                    <p:animScale>
                                      <p:cBhvr>
                                        <p:cTn id="84" dur="166" decel="50000">
                                          <p:stCondLst>
                                            <p:cond delay="1668"/>
                                          </p:stCondLst>
                                        </p:cTn>
                                        <p:tgtEl>
                                          <p:spTgt spid="3">
                                            <p:txEl>
                                              <p:pRg st="6" end="6"/>
                                            </p:txEl>
                                          </p:spTgt>
                                        </p:tgtEl>
                                      </p:cBhvr>
                                      <p:to x="100000" y="100000"/>
                                    </p:animScale>
                                    <p:animScale>
                                      <p:cBhvr>
                                        <p:cTn id="85" dur="26">
                                          <p:stCondLst>
                                            <p:cond delay="1808"/>
                                          </p:stCondLst>
                                        </p:cTn>
                                        <p:tgtEl>
                                          <p:spTgt spid="3">
                                            <p:txEl>
                                              <p:pRg st="6" end="6"/>
                                            </p:txEl>
                                          </p:spTgt>
                                        </p:tgtEl>
                                      </p:cBhvr>
                                      <p:to x="100000" y="95000"/>
                                    </p:animScale>
                                    <p:animScale>
                                      <p:cBhvr>
                                        <p:cTn id="86" dur="166" decel="50000">
                                          <p:stCondLst>
                                            <p:cond delay="1834"/>
                                          </p:stCondLst>
                                        </p:cTn>
                                        <p:tgtEl>
                                          <p:spTgt spid="3">
                                            <p:txEl>
                                              <p:pRg st="6" end="6"/>
                                            </p:txEl>
                                          </p:spTgt>
                                        </p:tgtEl>
                                      </p:cBhvr>
                                      <p:to x="100000" y="100000"/>
                                    </p:animScale>
                                  </p:childTnLst>
                                </p:cTn>
                              </p:par>
                              <p:par>
                                <p:cTn id="87" presetID="26" presetClass="entr" presetSubtype="0" fill="hold" nodeType="withEffect">
                                  <p:stCondLst>
                                    <p:cond delay="0"/>
                                  </p:stCondLst>
                                  <p:childTnLst>
                                    <p:set>
                                      <p:cBhvr>
                                        <p:cTn id="88" dur="1" fill="hold">
                                          <p:stCondLst>
                                            <p:cond delay="0"/>
                                          </p:stCondLst>
                                        </p:cTn>
                                        <p:tgtEl>
                                          <p:spTgt spid="3">
                                            <p:txEl>
                                              <p:pRg st="7" end="7"/>
                                            </p:txEl>
                                          </p:spTgt>
                                        </p:tgtEl>
                                        <p:attrNameLst>
                                          <p:attrName>style.visibility</p:attrName>
                                        </p:attrNameLst>
                                      </p:cBhvr>
                                      <p:to>
                                        <p:strVal val="visible"/>
                                      </p:to>
                                    </p:set>
                                    <p:animEffect transition="in" filter="wipe(down)">
                                      <p:cBhvr>
                                        <p:cTn id="89" dur="580">
                                          <p:stCondLst>
                                            <p:cond delay="0"/>
                                          </p:stCondLst>
                                        </p:cTn>
                                        <p:tgtEl>
                                          <p:spTgt spid="3">
                                            <p:txEl>
                                              <p:pRg st="7" end="7"/>
                                            </p:txEl>
                                          </p:spTgt>
                                        </p:tgtEl>
                                      </p:cBhvr>
                                    </p:animEffect>
                                    <p:anim calcmode="lin" valueType="num">
                                      <p:cBhvr>
                                        <p:cTn id="90"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95" dur="26">
                                          <p:stCondLst>
                                            <p:cond delay="650"/>
                                          </p:stCondLst>
                                        </p:cTn>
                                        <p:tgtEl>
                                          <p:spTgt spid="3">
                                            <p:txEl>
                                              <p:pRg st="7" end="7"/>
                                            </p:txEl>
                                          </p:spTgt>
                                        </p:tgtEl>
                                      </p:cBhvr>
                                      <p:to x="100000" y="60000"/>
                                    </p:animScale>
                                    <p:animScale>
                                      <p:cBhvr>
                                        <p:cTn id="96" dur="166" decel="50000">
                                          <p:stCondLst>
                                            <p:cond delay="676"/>
                                          </p:stCondLst>
                                        </p:cTn>
                                        <p:tgtEl>
                                          <p:spTgt spid="3">
                                            <p:txEl>
                                              <p:pRg st="7" end="7"/>
                                            </p:txEl>
                                          </p:spTgt>
                                        </p:tgtEl>
                                      </p:cBhvr>
                                      <p:to x="100000" y="100000"/>
                                    </p:animScale>
                                    <p:animScale>
                                      <p:cBhvr>
                                        <p:cTn id="97" dur="26">
                                          <p:stCondLst>
                                            <p:cond delay="1312"/>
                                          </p:stCondLst>
                                        </p:cTn>
                                        <p:tgtEl>
                                          <p:spTgt spid="3">
                                            <p:txEl>
                                              <p:pRg st="7" end="7"/>
                                            </p:txEl>
                                          </p:spTgt>
                                        </p:tgtEl>
                                      </p:cBhvr>
                                      <p:to x="100000" y="80000"/>
                                    </p:animScale>
                                    <p:animScale>
                                      <p:cBhvr>
                                        <p:cTn id="98" dur="166" decel="50000">
                                          <p:stCondLst>
                                            <p:cond delay="1338"/>
                                          </p:stCondLst>
                                        </p:cTn>
                                        <p:tgtEl>
                                          <p:spTgt spid="3">
                                            <p:txEl>
                                              <p:pRg st="7" end="7"/>
                                            </p:txEl>
                                          </p:spTgt>
                                        </p:tgtEl>
                                      </p:cBhvr>
                                      <p:to x="100000" y="100000"/>
                                    </p:animScale>
                                    <p:animScale>
                                      <p:cBhvr>
                                        <p:cTn id="99" dur="26">
                                          <p:stCondLst>
                                            <p:cond delay="1642"/>
                                          </p:stCondLst>
                                        </p:cTn>
                                        <p:tgtEl>
                                          <p:spTgt spid="3">
                                            <p:txEl>
                                              <p:pRg st="7" end="7"/>
                                            </p:txEl>
                                          </p:spTgt>
                                        </p:tgtEl>
                                      </p:cBhvr>
                                      <p:to x="100000" y="90000"/>
                                    </p:animScale>
                                    <p:animScale>
                                      <p:cBhvr>
                                        <p:cTn id="100" dur="166" decel="50000">
                                          <p:stCondLst>
                                            <p:cond delay="1668"/>
                                          </p:stCondLst>
                                        </p:cTn>
                                        <p:tgtEl>
                                          <p:spTgt spid="3">
                                            <p:txEl>
                                              <p:pRg st="7" end="7"/>
                                            </p:txEl>
                                          </p:spTgt>
                                        </p:tgtEl>
                                      </p:cBhvr>
                                      <p:to x="100000" y="100000"/>
                                    </p:animScale>
                                    <p:animScale>
                                      <p:cBhvr>
                                        <p:cTn id="101" dur="26">
                                          <p:stCondLst>
                                            <p:cond delay="1808"/>
                                          </p:stCondLst>
                                        </p:cTn>
                                        <p:tgtEl>
                                          <p:spTgt spid="3">
                                            <p:txEl>
                                              <p:pRg st="7" end="7"/>
                                            </p:txEl>
                                          </p:spTgt>
                                        </p:tgtEl>
                                      </p:cBhvr>
                                      <p:to x="100000" y="95000"/>
                                    </p:animScale>
                                    <p:animScale>
                                      <p:cBhvr>
                                        <p:cTn id="102"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lstStyle/>
          <a:p>
            <a:r>
              <a:rPr lang="he-IL" dirty="0" smtClean="0"/>
              <a:t>מסקנה – כתובת החזרה נדחפת למחסנית </a:t>
            </a:r>
          </a:p>
          <a:p>
            <a:r>
              <a:rPr lang="he-IL" dirty="0" smtClean="0"/>
              <a:t>לאחר מכן קופצים לביצוע הפקודה </a:t>
            </a:r>
            <a:r>
              <a:rPr lang="en-US" dirty="0" err="1" smtClean="0"/>
              <a:t>printf</a:t>
            </a:r>
            <a:r>
              <a:rPr lang="he-IL" dirty="0" smtClean="0"/>
              <a:t> </a:t>
            </a:r>
          </a:p>
          <a:p>
            <a:r>
              <a:rPr lang="he-IL" dirty="0" smtClean="0"/>
              <a:t>הפקודה </a:t>
            </a:r>
            <a:r>
              <a:rPr lang="en-US" dirty="0" err="1" smtClean="0"/>
              <a:t>printf</a:t>
            </a:r>
            <a:r>
              <a:rPr lang="he-IL" dirty="0" smtClean="0"/>
              <a:t> מדפיסה את המחרוזת </a:t>
            </a:r>
          </a:p>
          <a:p>
            <a:r>
              <a:rPr lang="he-IL" dirty="0" smtClean="0"/>
              <a:t>מאקרו </a:t>
            </a:r>
            <a:r>
              <a:rPr lang="en-US" dirty="0" smtClean="0"/>
              <a:t>RETURN </a:t>
            </a:r>
            <a:r>
              <a:rPr lang="he-IL" dirty="0" smtClean="0"/>
              <a:t> מחזיר אותנו אל הפונקציה הראשית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45</a:t>
            </a:fld>
            <a:endParaRPr lang="he-IL"/>
          </a:p>
        </p:txBody>
      </p:sp>
    </p:spTree>
    <p:extLst>
      <p:ext uri="{BB962C8B-B14F-4D97-AF65-F5344CB8AC3E}">
        <p14:creationId xmlns:p14="http://schemas.microsoft.com/office/powerpoint/2010/main" val="61589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smtClean="0"/>
              <a:t>קמפול</a:t>
            </a:r>
            <a:r>
              <a:rPr lang="he-IL" dirty="0" smtClean="0"/>
              <a:t>, הרצה </a:t>
            </a:r>
            <a:r>
              <a:rPr lang="he-IL" dirty="0" err="1" smtClean="0"/>
              <a:t>ודיבוג</a:t>
            </a:r>
            <a:r>
              <a:rPr lang="he-IL" dirty="0" smtClean="0"/>
              <a:t>  התכנית</a:t>
            </a:r>
            <a:endParaRPr lang="he-IL" dirty="0"/>
          </a:p>
        </p:txBody>
      </p:sp>
      <p:sp>
        <p:nvSpPr>
          <p:cNvPr id="3" name="מציין מיקום תוכן 2"/>
          <p:cNvSpPr>
            <a:spLocks noGrp="1"/>
          </p:cNvSpPr>
          <p:nvPr>
            <p:ph idx="1"/>
          </p:nvPr>
        </p:nvSpPr>
        <p:spPr/>
        <p:txBody>
          <a:bodyPr/>
          <a:lstStyle/>
          <a:p>
            <a:r>
              <a:rPr lang="he-IL" dirty="0" smtClean="0"/>
              <a:t>:</a:t>
            </a:r>
            <a:r>
              <a:rPr lang="en-US" dirty="0" smtClean="0"/>
              <a:t> </a:t>
            </a:r>
            <a:endParaRPr lang="he-IL" dirty="0" smtClean="0"/>
          </a:p>
          <a:p>
            <a:pPr algn="l" rtl="0"/>
            <a:r>
              <a:rPr lang="en-US" dirty="0"/>
              <a:t>nasm -f elf64 call_return_demo.asm -o </a:t>
            </a:r>
            <a:r>
              <a:rPr lang="en-US" dirty="0" err="1"/>
              <a:t>call_return_demo.o</a:t>
            </a:r>
            <a:r>
              <a:rPr lang="en-US" dirty="0"/>
              <a:t> </a:t>
            </a:r>
            <a:endParaRPr lang="en-US" dirty="0" smtClean="0"/>
          </a:p>
          <a:p>
            <a:pPr algn="l" rtl="0"/>
            <a:r>
              <a:rPr lang="en-US" dirty="0"/>
              <a:t>gcc -no-pie </a:t>
            </a:r>
            <a:r>
              <a:rPr lang="en-US" dirty="0" err="1"/>
              <a:t>call_return_demo.o</a:t>
            </a:r>
            <a:r>
              <a:rPr lang="en-US" dirty="0"/>
              <a:t> -o </a:t>
            </a:r>
            <a:r>
              <a:rPr lang="en-US" dirty="0" err="1" smtClean="0"/>
              <a:t>call_return_demo</a:t>
            </a:r>
            <a:endParaRPr lang="en-US" dirty="0" smtClean="0"/>
          </a:p>
          <a:p>
            <a:pPr algn="l" rtl="0"/>
            <a:r>
              <a:rPr lang="en-US" dirty="0" smtClean="0"/>
              <a:t>./</a:t>
            </a:r>
            <a:r>
              <a:rPr lang="en-US" dirty="0" err="1" smtClean="0"/>
              <a:t>call_return_demo</a:t>
            </a:r>
            <a:endParaRPr lang="he-IL" dirty="0" smtClean="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46</a:t>
            </a:fld>
            <a:endParaRPr lang="he-IL"/>
          </a:p>
        </p:txBody>
      </p:sp>
    </p:spTree>
    <p:extLst>
      <p:ext uri="{BB962C8B-B14F-4D97-AF65-F5344CB8AC3E}">
        <p14:creationId xmlns:p14="http://schemas.microsoft.com/office/powerpoint/2010/main" val="2992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תכנית רקורסיבית לחישוב עצרת </a:t>
            </a:r>
            <a:endParaRPr lang="he-IL" dirty="0"/>
          </a:p>
        </p:txBody>
      </p:sp>
      <p:sp>
        <p:nvSpPr>
          <p:cNvPr id="3" name="מציין מיקום תוכן 2"/>
          <p:cNvSpPr>
            <a:spLocks noGrp="1"/>
          </p:cNvSpPr>
          <p:nvPr>
            <p:ph idx="1"/>
          </p:nvPr>
        </p:nvSpPr>
        <p:spPr/>
        <p:txBody>
          <a:bodyPr/>
          <a:lstStyle/>
          <a:p>
            <a:r>
              <a:rPr lang="he-IL" dirty="0" smtClean="0"/>
              <a:t>התכנית שנראה מחשבת את הערך של </a:t>
            </a:r>
            <a:r>
              <a:rPr lang="en-US" dirty="0" smtClean="0"/>
              <a:t>5!</a:t>
            </a:r>
            <a:r>
              <a:rPr lang="he-IL" dirty="0" smtClean="0"/>
              <a:t> תוך שימוש ברקורסיה.</a:t>
            </a:r>
          </a:p>
          <a:p>
            <a:r>
              <a:rPr lang="he-IL" dirty="0" smtClean="0"/>
              <a:t>שם הקובץ </a:t>
            </a:r>
            <a:r>
              <a:rPr lang="en-US" dirty="0" smtClean="0"/>
              <a:t>fact_recursive_demo.asm</a:t>
            </a:r>
            <a:endParaRPr lang="he-IL" dirty="0" smtClean="0"/>
          </a:p>
          <a:p>
            <a:r>
              <a:rPr lang="he-IL" dirty="0" smtClean="0"/>
              <a:t>כידוע,</a:t>
            </a:r>
            <a:r>
              <a:rPr lang="en-US" dirty="0" smtClean="0"/>
              <a:t> N!=</a:t>
            </a:r>
            <a:r>
              <a:rPr lang="en-US" dirty="0" err="1" smtClean="0"/>
              <a:t>Nx</a:t>
            </a:r>
            <a:r>
              <a:rPr lang="en-US" dirty="0" smtClean="0"/>
              <a:t>(N-1)!   </a:t>
            </a:r>
            <a:r>
              <a:rPr lang="he-IL" dirty="0" smtClean="0"/>
              <a:t>   ולכן זו הנוסחה של הורדת סדר כנהוג ברקורסיה</a:t>
            </a:r>
          </a:p>
          <a:p>
            <a:r>
              <a:rPr lang="he-IL" dirty="0" smtClean="0"/>
              <a:t>תנאי העצירה : </a:t>
            </a:r>
            <a:r>
              <a:rPr lang="en-US" dirty="0" smtClean="0"/>
              <a:t>0!=1</a:t>
            </a:r>
            <a:r>
              <a:rPr lang="he-IL" dirty="0" smtClean="0"/>
              <a:t> או</a:t>
            </a:r>
            <a:r>
              <a:rPr lang="en-US" dirty="0" smtClean="0"/>
              <a:t>  </a:t>
            </a:r>
            <a:r>
              <a:rPr lang="en-US" dirty="0"/>
              <a:t> </a:t>
            </a:r>
            <a:r>
              <a:rPr lang="en-US" dirty="0" smtClean="0"/>
              <a:t>1!=1 </a:t>
            </a:r>
            <a:r>
              <a:rPr lang="he-IL" dirty="0" smtClean="0"/>
              <a:t>במקרה שלנו בחרנו ב 1 כתנאי עצירה.</a:t>
            </a:r>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47</a:t>
            </a:fld>
            <a:endParaRPr lang="he-IL"/>
          </a:p>
        </p:txBody>
      </p:sp>
    </p:spTree>
    <p:extLst>
      <p:ext uri="{BB962C8B-B14F-4D97-AF65-F5344CB8AC3E}">
        <p14:creationId xmlns:p14="http://schemas.microsoft.com/office/powerpoint/2010/main" val="284239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מבנה התכנית </a:t>
            </a:r>
            <a:endParaRPr lang="he-IL" dirty="0"/>
          </a:p>
        </p:txBody>
      </p:sp>
      <p:sp>
        <p:nvSpPr>
          <p:cNvPr id="3" name="מציין מיקום תוכן 2"/>
          <p:cNvSpPr>
            <a:spLocks noGrp="1"/>
          </p:cNvSpPr>
          <p:nvPr>
            <p:ph idx="1"/>
          </p:nvPr>
        </p:nvSpPr>
        <p:spPr/>
        <p:txBody>
          <a:bodyPr/>
          <a:lstStyle/>
          <a:p>
            <a:r>
              <a:rPr lang="he-IL" dirty="0" smtClean="0"/>
              <a:t>התכנית בנויה באופן הבא :</a:t>
            </a:r>
            <a:r>
              <a:rPr lang="en-US" dirty="0" smtClean="0"/>
              <a:t> </a:t>
            </a:r>
            <a:endParaRPr lang="he-IL" dirty="0" smtClean="0"/>
          </a:p>
          <a:p>
            <a:r>
              <a:rPr lang="he-IL" dirty="0" smtClean="0"/>
              <a:t>1. החלק הראשון מכיל הגדרות מאקרו עבור </a:t>
            </a:r>
            <a:r>
              <a:rPr lang="en-US" dirty="0" smtClean="0"/>
              <a:t>PUSH, POP , CALL , RETURN </a:t>
            </a:r>
          </a:p>
          <a:p>
            <a:r>
              <a:rPr lang="en-US" dirty="0" smtClean="0"/>
              <a:t>2</a:t>
            </a:r>
            <a:r>
              <a:rPr lang="he-IL" dirty="0" smtClean="0"/>
              <a:t>. פונקציה רקורסיבית </a:t>
            </a:r>
            <a:r>
              <a:rPr lang="en-US" dirty="0" smtClean="0"/>
              <a:t>fact</a:t>
            </a:r>
            <a:r>
              <a:rPr lang="he-IL" dirty="0" smtClean="0"/>
              <a:t> לחישוב העצרת</a:t>
            </a:r>
          </a:p>
          <a:p>
            <a:r>
              <a:rPr lang="he-IL" dirty="0" smtClean="0"/>
              <a:t>3. פונקציה ראשית  </a:t>
            </a:r>
            <a:r>
              <a:rPr lang="en-US" dirty="0" smtClean="0"/>
              <a:t>main </a:t>
            </a:r>
            <a:r>
              <a:rPr lang="en-US" dirty="0"/>
              <a:t> </a:t>
            </a:r>
            <a:r>
              <a:rPr lang="en-US" dirty="0" smtClean="0"/>
              <a:t>  </a:t>
            </a:r>
            <a:r>
              <a:rPr lang="he-IL" dirty="0" smtClean="0"/>
              <a:t>   אשר מבצעת קריאה ל </a:t>
            </a:r>
            <a:r>
              <a:rPr lang="en-US" dirty="0" smtClean="0"/>
              <a:t>fact</a:t>
            </a:r>
            <a:endParaRPr lang="he-IL" dirty="0" smtClean="0"/>
          </a:p>
          <a:p>
            <a:r>
              <a:rPr lang="he-IL" dirty="0" smtClean="0"/>
              <a:t>נתחיל לפרט בשקפים הבאים את כל החלקים</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48</a:t>
            </a:fld>
            <a:endParaRPr lang="he-IL"/>
          </a:p>
        </p:txBody>
      </p:sp>
    </p:spTree>
    <p:extLst>
      <p:ext uri="{BB962C8B-B14F-4D97-AF65-F5344CB8AC3E}">
        <p14:creationId xmlns:p14="http://schemas.microsoft.com/office/powerpoint/2010/main" val="160446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smtClean="0"/>
              <a:t>מאקרוס</a:t>
            </a:r>
            <a:r>
              <a:rPr lang="he-IL" dirty="0" smtClean="0"/>
              <a:t> </a:t>
            </a:r>
            <a:endParaRPr lang="he-IL" dirty="0"/>
          </a:p>
        </p:txBody>
      </p:sp>
      <p:sp>
        <p:nvSpPr>
          <p:cNvPr id="3" name="מציין מיקום תוכן 2"/>
          <p:cNvSpPr>
            <a:spLocks noGrp="1"/>
          </p:cNvSpPr>
          <p:nvPr>
            <p:ph idx="1"/>
          </p:nvPr>
        </p:nvSpPr>
        <p:spPr/>
        <p:txBody>
          <a:bodyPr/>
          <a:lstStyle/>
          <a:p>
            <a:pPr algn="l" rtl="0"/>
            <a:r>
              <a:rPr lang="en-US" dirty="0"/>
              <a:t>PUSH macro                                                          POP macro </a:t>
            </a:r>
            <a:endParaRPr lang="en-US" dirty="0" smtClean="0"/>
          </a:p>
          <a:p>
            <a:pPr algn="l" rtl="0"/>
            <a:r>
              <a:rPr lang="en-US" b="1" dirty="0"/>
              <a:t>%macro </a:t>
            </a:r>
            <a:r>
              <a:rPr lang="en-US" b="1" dirty="0" smtClean="0"/>
              <a:t>PUSH 1                                                   %macro POP 1</a:t>
            </a:r>
            <a:endParaRPr lang="en-US" b="1" dirty="0"/>
          </a:p>
          <a:p>
            <a:pPr algn="l" rtl="0"/>
            <a:r>
              <a:rPr lang="en-US" b="1" dirty="0"/>
              <a:t>   </a:t>
            </a:r>
            <a:r>
              <a:rPr lang="en-US" b="1" dirty="0" smtClean="0"/>
              <a:t>sub </a:t>
            </a:r>
            <a:r>
              <a:rPr lang="en-US" b="1" dirty="0" err="1" smtClean="0"/>
              <a:t>rsp</a:t>
            </a:r>
            <a:r>
              <a:rPr lang="en-US" b="1" dirty="0" smtClean="0"/>
              <a:t>, 8                                                                 </a:t>
            </a:r>
            <a:r>
              <a:rPr lang="en-US" b="1" dirty="0" err="1" smtClean="0"/>
              <a:t>mov</a:t>
            </a:r>
            <a:r>
              <a:rPr lang="en-US" b="1" dirty="0" smtClean="0"/>
              <a:t> %1, qword [</a:t>
            </a:r>
            <a:r>
              <a:rPr lang="en-US" b="1" dirty="0" err="1" smtClean="0"/>
              <a:t>rsp</a:t>
            </a:r>
            <a:r>
              <a:rPr lang="en-US" b="1" dirty="0" smtClean="0"/>
              <a:t>]</a:t>
            </a:r>
          </a:p>
          <a:p>
            <a:pPr algn="l" rtl="0"/>
            <a:r>
              <a:rPr lang="en-US" b="1" dirty="0" smtClean="0"/>
              <a:t>   </a:t>
            </a:r>
            <a:r>
              <a:rPr lang="en-US" b="1" dirty="0" err="1" smtClean="0"/>
              <a:t>mov</a:t>
            </a:r>
            <a:r>
              <a:rPr lang="en-US" b="1" dirty="0" smtClean="0"/>
              <a:t> qword [</a:t>
            </a:r>
            <a:r>
              <a:rPr lang="en-US" b="1" dirty="0" err="1" smtClean="0"/>
              <a:t>rsp</a:t>
            </a:r>
            <a:r>
              <a:rPr lang="en-US" b="1" dirty="0" smtClean="0"/>
              <a:t>], %1                                              add </a:t>
            </a:r>
            <a:r>
              <a:rPr lang="en-US" b="1" dirty="0" err="1" smtClean="0"/>
              <a:t>rsp</a:t>
            </a:r>
            <a:r>
              <a:rPr lang="en-US" b="1" dirty="0" smtClean="0"/>
              <a:t>, 8</a:t>
            </a:r>
          </a:p>
          <a:p>
            <a:pPr algn="l" rtl="0"/>
            <a:r>
              <a:rPr lang="en-US" b="1" dirty="0" smtClean="0"/>
              <a:t>%</a:t>
            </a:r>
            <a:r>
              <a:rPr lang="en-US" b="1" dirty="0" err="1" smtClean="0"/>
              <a:t>endmacro</a:t>
            </a:r>
            <a:r>
              <a:rPr lang="en-US" b="1" dirty="0" smtClean="0"/>
              <a:t>                                                            %</a:t>
            </a:r>
            <a:r>
              <a:rPr lang="en-US" b="1" dirty="0" err="1" smtClean="0"/>
              <a:t>endmacro</a:t>
            </a:r>
            <a:endParaRPr lang="en-US" b="1" dirty="0" smtClean="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49</a:t>
            </a:fld>
            <a:endParaRPr lang="he-IL"/>
          </a:p>
        </p:txBody>
      </p:sp>
    </p:spTree>
    <p:extLst>
      <p:ext uri="{BB962C8B-B14F-4D97-AF65-F5344CB8AC3E}">
        <p14:creationId xmlns:p14="http://schemas.microsoft.com/office/powerpoint/2010/main" val="37920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smtClean="0"/>
              <a:t>מאקרוס</a:t>
            </a:r>
            <a:r>
              <a:rPr lang="he-IL" dirty="0" smtClean="0"/>
              <a:t> המשך </a:t>
            </a:r>
            <a:endParaRPr lang="he-IL" dirty="0"/>
          </a:p>
        </p:txBody>
      </p:sp>
      <p:sp>
        <p:nvSpPr>
          <p:cNvPr id="3" name="מציין מיקום תוכן 2"/>
          <p:cNvSpPr>
            <a:spLocks noGrp="1"/>
          </p:cNvSpPr>
          <p:nvPr>
            <p:ph idx="1"/>
          </p:nvPr>
        </p:nvSpPr>
        <p:spPr/>
        <p:txBody>
          <a:bodyPr/>
          <a:lstStyle/>
          <a:p>
            <a:pPr algn="l" rtl="0"/>
            <a:r>
              <a:rPr lang="en-US" dirty="0"/>
              <a:t>%macro CALL 1</a:t>
            </a:r>
          </a:p>
          <a:p>
            <a:pPr algn="l" rtl="0"/>
            <a:r>
              <a:rPr lang="en-US" dirty="0"/>
              <a:t>   lea  r11, [</a:t>
            </a:r>
            <a:r>
              <a:rPr lang="en-US" dirty="0" err="1"/>
              <a:t>rel</a:t>
            </a:r>
            <a:r>
              <a:rPr lang="en-US" dirty="0"/>
              <a:t> %%L]   ; r11 = return address</a:t>
            </a:r>
          </a:p>
          <a:p>
            <a:pPr algn="l" rtl="0"/>
            <a:r>
              <a:rPr lang="en-US" dirty="0"/>
              <a:t>   PUSH r11              ; push return address</a:t>
            </a:r>
          </a:p>
          <a:p>
            <a:pPr algn="l" rtl="0"/>
            <a:r>
              <a:rPr lang="en-US" dirty="0"/>
              <a:t>   </a:t>
            </a:r>
            <a:r>
              <a:rPr lang="en-US" dirty="0" err="1"/>
              <a:t>jmp</a:t>
            </a:r>
            <a:r>
              <a:rPr lang="en-US" dirty="0"/>
              <a:t> %1                ; jump to function</a:t>
            </a:r>
          </a:p>
          <a:p>
            <a:pPr algn="l" rtl="0"/>
            <a:r>
              <a:rPr lang="en-US" dirty="0"/>
              <a:t>%%L:</a:t>
            </a:r>
          </a:p>
          <a:p>
            <a:pPr algn="l" rtl="0"/>
            <a:r>
              <a:rPr lang="en-US" dirty="0"/>
              <a:t>%</a:t>
            </a:r>
            <a:r>
              <a:rPr lang="en-US" dirty="0" err="1"/>
              <a:t>endmacro</a:t>
            </a: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50</a:t>
            </a:fld>
            <a:endParaRPr lang="he-IL"/>
          </a:p>
        </p:txBody>
      </p:sp>
    </p:spTree>
    <p:extLst>
      <p:ext uri="{BB962C8B-B14F-4D97-AF65-F5344CB8AC3E}">
        <p14:creationId xmlns:p14="http://schemas.microsoft.com/office/powerpoint/2010/main" val="332989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הסבר לגבי </a:t>
            </a:r>
            <a:r>
              <a:rPr lang="en-US" dirty="0" smtClean="0"/>
              <a:t>CALL</a:t>
            </a:r>
            <a:endParaRPr lang="he-IL" dirty="0"/>
          </a:p>
        </p:txBody>
      </p:sp>
      <p:sp>
        <p:nvSpPr>
          <p:cNvPr id="3" name="מציין מיקום תוכן 2"/>
          <p:cNvSpPr>
            <a:spLocks noGrp="1"/>
          </p:cNvSpPr>
          <p:nvPr>
            <p:ph idx="1"/>
          </p:nvPr>
        </p:nvSpPr>
        <p:spPr/>
        <p:txBody>
          <a:bodyPr>
            <a:normAutofit fontScale="92500"/>
          </a:bodyPr>
          <a:lstStyle/>
          <a:p>
            <a:r>
              <a:rPr lang="he-IL" dirty="0" smtClean="0"/>
              <a:t>המאקרו של </a:t>
            </a:r>
            <a:r>
              <a:rPr lang="en-US" dirty="0" smtClean="0"/>
              <a:t>CALL</a:t>
            </a:r>
            <a:r>
              <a:rPr lang="he-IL" dirty="0" smtClean="0"/>
              <a:t> מחשב את כתובת החזרה ע"י שימוש ב </a:t>
            </a:r>
            <a:r>
              <a:rPr lang="en-US" dirty="0" smtClean="0"/>
              <a:t>%%L</a:t>
            </a:r>
            <a:endParaRPr lang="he-IL" dirty="0"/>
          </a:p>
          <a:p>
            <a:r>
              <a:rPr lang="he-IL" dirty="0" smtClean="0"/>
              <a:t>בשלב השני שומרת במחסנית את כתובת החזרה </a:t>
            </a:r>
          </a:p>
          <a:p>
            <a:r>
              <a:rPr lang="he-IL" dirty="0" smtClean="0"/>
              <a:t>בשלב השלישי עוברת לכתובת הראשונה  של הפקודה הראשונה של  הפונקציה שאותה יש לבצע.</a:t>
            </a:r>
          </a:p>
          <a:p>
            <a:r>
              <a:rPr lang="he-IL" dirty="0" smtClean="0"/>
              <a:t>כשהפונקציה מסתיימת, המחשב יחזור אל אותה כתובת. </a:t>
            </a:r>
          </a:p>
          <a:p>
            <a:r>
              <a:rPr lang="he-IL" dirty="0" smtClean="0"/>
              <a:t>הערה : משתמשים ב </a:t>
            </a:r>
            <a:r>
              <a:rPr lang="en-US" dirty="0" smtClean="0"/>
              <a:t>R11</a:t>
            </a:r>
            <a:r>
              <a:rPr lang="he-IL" dirty="0" smtClean="0"/>
              <a:t> ולא ב </a:t>
            </a:r>
            <a:r>
              <a:rPr lang="en-US" dirty="0" err="1" smtClean="0"/>
              <a:t>rax</a:t>
            </a:r>
            <a:r>
              <a:rPr lang="he-IL" dirty="0" smtClean="0"/>
              <a:t> משום שכל הקריאות לפונקציה משתמשות ב </a:t>
            </a:r>
            <a:r>
              <a:rPr lang="en-US" dirty="0" err="1" smtClean="0"/>
              <a:t>rax</a:t>
            </a:r>
            <a:r>
              <a:rPr lang="he-IL" dirty="0" smtClean="0"/>
              <a:t> לצורך החזרת תוצאות וכדי לא לדרוס את התוצאות משתמשים באוגר אחר. </a:t>
            </a:r>
          </a:p>
          <a:p>
            <a:r>
              <a:rPr lang="he-IL" dirty="0" smtClean="0"/>
              <a:t>גם שימוש ב </a:t>
            </a:r>
            <a:r>
              <a:rPr lang="en-US" dirty="0" smtClean="0"/>
              <a:t>R8</a:t>
            </a:r>
            <a:r>
              <a:rPr lang="he-IL" dirty="0" smtClean="0"/>
              <a:t> אינו בטוח.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dirty="0"/>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51</a:t>
            </a:fld>
            <a:endParaRPr lang="he-IL"/>
          </a:p>
        </p:txBody>
      </p:sp>
    </p:spTree>
    <p:extLst>
      <p:ext uri="{BB962C8B-B14F-4D97-AF65-F5344CB8AC3E}">
        <p14:creationId xmlns:p14="http://schemas.microsoft.com/office/powerpoint/2010/main" val="3708326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smtClean="0"/>
              <a:t>RETURN</a:t>
            </a:r>
            <a:r>
              <a:rPr lang="he-IL" dirty="0"/>
              <a:t> </a:t>
            </a:r>
            <a:r>
              <a:rPr lang="en-US" dirty="0"/>
              <a:t> </a:t>
            </a:r>
            <a:r>
              <a:rPr lang="en-US" dirty="0" smtClean="0"/>
              <a:t>macro </a:t>
            </a:r>
            <a:endParaRPr lang="he-IL" dirty="0"/>
          </a:p>
        </p:txBody>
      </p:sp>
      <p:sp>
        <p:nvSpPr>
          <p:cNvPr id="3" name="מציין מיקום תוכן 2"/>
          <p:cNvSpPr>
            <a:spLocks noGrp="1"/>
          </p:cNvSpPr>
          <p:nvPr>
            <p:ph idx="1"/>
          </p:nvPr>
        </p:nvSpPr>
        <p:spPr/>
        <p:txBody>
          <a:bodyPr/>
          <a:lstStyle/>
          <a:p>
            <a:pPr algn="l" rtl="0"/>
            <a:r>
              <a:rPr lang="pt-BR" b="1" dirty="0"/>
              <a:t>%macro RETURN 0</a:t>
            </a:r>
          </a:p>
          <a:p>
            <a:pPr algn="l" rtl="0"/>
            <a:r>
              <a:rPr lang="pt-BR" b="1" dirty="0"/>
              <a:t>   POP r11</a:t>
            </a:r>
          </a:p>
          <a:p>
            <a:pPr algn="l" rtl="0"/>
            <a:r>
              <a:rPr lang="pt-BR" b="1" dirty="0"/>
              <a:t>   jmp r11</a:t>
            </a:r>
          </a:p>
          <a:p>
            <a:pPr algn="l" rtl="0"/>
            <a:r>
              <a:rPr lang="pt-BR" b="1" dirty="0"/>
              <a:t>%</a:t>
            </a:r>
            <a:r>
              <a:rPr lang="pt-BR" b="1" dirty="0" smtClean="0"/>
              <a:t>endmacro</a:t>
            </a:r>
          </a:p>
          <a:p>
            <a:pPr algn="r"/>
            <a:r>
              <a:rPr lang="he-IL" dirty="0" smtClean="0"/>
              <a:t>שולפת את כתובת החזרה מהמחסנית אל תוך </a:t>
            </a:r>
            <a:r>
              <a:rPr lang="en-US" dirty="0" smtClean="0"/>
              <a:t>R11</a:t>
            </a:r>
            <a:endParaRPr lang="he-IL" dirty="0" smtClean="0"/>
          </a:p>
          <a:p>
            <a:pPr algn="r"/>
            <a:r>
              <a:rPr lang="he-IL" dirty="0" smtClean="0"/>
              <a:t>קופצת אל כתובת החזרה כדי להמשיך את הביצוע הרציף של התכנית</a:t>
            </a:r>
            <a:endParaRPr lang="pt-BR"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52</a:t>
            </a:fld>
            <a:endParaRPr lang="he-IL"/>
          </a:p>
        </p:txBody>
      </p:sp>
    </p:spTree>
    <p:extLst>
      <p:ext uri="{BB962C8B-B14F-4D97-AF65-F5344CB8AC3E}">
        <p14:creationId xmlns:p14="http://schemas.microsoft.com/office/powerpoint/2010/main" val="96162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down)">
                                      <p:cBhvr>
                                        <p:cTn id="55" dur="580">
                                          <p:stCondLst>
                                            <p:cond delay="0"/>
                                          </p:stCondLst>
                                        </p:cTn>
                                        <p:tgtEl>
                                          <p:spTgt spid="3">
                                            <p:txEl>
                                              <p:pRg st="3" end="3"/>
                                            </p:txEl>
                                          </p:spTgt>
                                        </p:tgtEl>
                                      </p:cBhvr>
                                    </p:animEffect>
                                    <p:anim calcmode="lin" valueType="num">
                                      <p:cBhvr>
                                        <p:cTn id="5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3" end="3"/>
                                            </p:txEl>
                                          </p:spTgt>
                                        </p:tgtEl>
                                      </p:cBhvr>
                                      <p:to x="100000" y="60000"/>
                                    </p:animScale>
                                    <p:animScale>
                                      <p:cBhvr>
                                        <p:cTn id="62" dur="166" decel="50000">
                                          <p:stCondLst>
                                            <p:cond delay="676"/>
                                          </p:stCondLst>
                                        </p:cTn>
                                        <p:tgtEl>
                                          <p:spTgt spid="3">
                                            <p:txEl>
                                              <p:pRg st="3" end="3"/>
                                            </p:txEl>
                                          </p:spTgt>
                                        </p:tgtEl>
                                      </p:cBhvr>
                                      <p:to x="100000" y="100000"/>
                                    </p:animScale>
                                    <p:animScale>
                                      <p:cBhvr>
                                        <p:cTn id="63" dur="26">
                                          <p:stCondLst>
                                            <p:cond delay="1312"/>
                                          </p:stCondLst>
                                        </p:cTn>
                                        <p:tgtEl>
                                          <p:spTgt spid="3">
                                            <p:txEl>
                                              <p:pRg st="3" end="3"/>
                                            </p:txEl>
                                          </p:spTgt>
                                        </p:tgtEl>
                                      </p:cBhvr>
                                      <p:to x="100000" y="80000"/>
                                    </p:animScale>
                                    <p:animScale>
                                      <p:cBhvr>
                                        <p:cTn id="64" dur="166" decel="50000">
                                          <p:stCondLst>
                                            <p:cond delay="1338"/>
                                          </p:stCondLst>
                                        </p:cTn>
                                        <p:tgtEl>
                                          <p:spTgt spid="3">
                                            <p:txEl>
                                              <p:pRg st="3" end="3"/>
                                            </p:txEl>
                                          </p:spTgt>
                                        </p:tgtEl>
                                      </p:cBhvr>
                                      <p:to x="100000" y="100000"/>
                                    </p:animScale>
                                    <p:animScale>
                                      <p:cBhvr>
                                        <p:cTn id="65" dur="26">
                                          <p:stCondLst>
                                            <p:cond delay="1642"/>
                                          </p:stCondLst>
                                        </p:cTn>
                                        <p:tgtEl>
                                          <p:spTgt spid="3">
                                            <p:txEl>
                                              <p:pRg st="3" end="3"/>
                                            </p:txEl>
                                          </p:spTgt>
                                        </p:tgtEl>
                                      </p:cBhvr>
                                      <p:to x="100000" y="90000"/>
                                    </p:animScale>
                                    <p:animScale>
                                      <p:cBhvr>
                                        <p:cTn id="66" dur="166" decel="50000">
                                          <p:stCondLst>
                                            <p:cond delay="1668"/>
                                          </p:stCondLst>
                                        </p:cTn>
                                        <p:tgtEl>
                                          <p:spTgt spid="3">
                                            <p:txEl>
                                              <p:pRg st="3" end="3"/>
                                            </p:txEl>
                                          </p:spTgt>
                                        </p:tgtEl>
                                      </p:cBhvr>
                                      <p:to x="100000" y="100000"/>
                                    </p:animScale>
                                    <p:animScale>
                                      <p:cBhvr>
                                        <p:cTn id="67" dur="26">
                                          <p:stCondLst>
                                            <p:cond delay="1808"/>
                                          </p:stCondLst>
                                        </p:cTn>
                                        <p:tgtEl>
                                          <p:spTgt spid="3">
                                            <p:txEl>
                                              <p:pRg st="3" end="3"/>
                                            </p:txEl>
                                          </p:spTgt>
                                        </p:tgtEl>
                                      </p:cBhvr>
                                      <p:to x="100000" y="95000"/>
                                    </p:animScale>
                                    <p:animScale>
                                      <p:cBhvr>
                                        <p:cTn id="68" dur="166" decel="50000">
                                          <p:stCondLst>
                                            <p:cond delay="1834"/>
                                          </p:stCondLst>
                                        </p:cTn>
                                        <p:tgtEl>
                                          <p:spTgt spid="3">
                                            <p:txEl>
                                              <p:pRg st="3" end="3"/>
                                            </p:txEl>
                                          </p:spTgt>
                                        </p:tgtEl>
                                      </p:cBhvr>
                                      <p:to x="100000" y="100000"/>
                                    </p:animScale>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4" end="4"/>
                                            </p:txEl>
                                          </p:spTgt>
                                        </p:tgtEl>
                                        <p:attrNameLst>
                                          <p:attrName>style.visibility</p:attrName>
                                        </p:attrNameLst>
                                      </p:cBhvr>
                                      <p:to>
                                        <p:strVal val="visible"/>
                                      </p:to>
                                    </p:set>
                                    <p:anim calcmode="lin" valueType="num">
                                      <p:cBhvr additive="base">
                                        <p:cTn id="7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 calcmode="lin" valueType="num">
                                      <p:cBhvr additive="base">
                                        <p:cTn id="7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פונקצית העצרת</a:t>
            </a:r>
            <a:endParaRPr lang="he-IL" dirty="0"/>
          </a:p>
        </p:txBody>
      </p:sp>
      <p:sp>
        <p:nvSpPr>
          <p:cNvPr id="3" name="מציין מיקום תוכן 2"/>
          <p:cNvSpPr>
            <a:spLocks noGrp="1"/>
          </p:cNvSpPr>
          <p:nvPr>
            <p:ph idx="1"/>
          </p:nvPr>
        </p:nvSpPr>
        <p:spPr/>
        <p:txBody>
          <a:bodyPr>
            <a:normAutofit lnSpcReduction="10000"/>
          </a:bodyPr>
          <a:lstStyle/>
          <a:p>
            <a:r>
              <a:rPr lang="he-IL" dirty="0" smtClean="0"/>
              <a:t>בשלב מקדים, נועצים נעץ במחסנית וזאת משום שפרט לכתובת החזרה, נשתמש במחסנית לצורך אחסון נתונים :</a:t>
            </a:r>
            <a:r>
              <a:rPr lang="en-US" dirty="0" smtClean="0"/>
              <a:t> </a:t>
            </a:r>
            <a:endParaRPr lang="he-IL" dirty="0" smtClean="0"/>
          </a:p>
          <a:p>
            <a:pPr algn="l" rtl="0"/>
            <a:r>
              <a:rPr lang="en-US" b="1" dirty="0"/>
              <a:t>fact:</a:t>
            </a:r>
          </a:p>
          <a:p>
            <a:pPr algn="l" rtl="0"/>
            <a:r>
              <a:rPr lang="en-US" b="1" dirty="0"/>
              <a:t>   enter </a:t>
            </a:r>
            <a:r>
              <a:rPr lang="en-US" b="1" dirty="0" smtClean="0"/>
              <a:t>0,0</a:t>
            </a:r>
          </a:p>
          <a:p>
            <a:pPr algn="r"/>
            <a:r>
              <a:rPr lang="he-IL" b="1" dirty="0" smtClean="0"/>
              <a:t>כזכור, </a:t>
            </a:r>
            <a:r>
              <a:rPr lang="en-US" b="1" dirty="0" smtClean="0"/>
              <a:t>enter 0,0</a:t>
            </a:r>
            <a:r>
              <a:rPr lang="en-US" b="1" dirty="0"/>
              <a:t> </a:t>
            </a:r>
            <a:r>
              <a:rPr lang="he-IL" b="1" dirty="0" smtClean="0"/>
              <a:t>  שקולה לביצוע שתי השורות הבאות :</a:t>
            </a:r>
            <a:r>
              <a:rPr lang="en-US" b="1" dirty="0" smtClean="0"/>
              <a:t> </a:t>
            </a:r>
            <a:endParaRPr lang="he-IL" b="1" dirty="0" smtClean="0"/>
          </a:p>
          <a:p>
            <a:pPr algn="l" rtl="0"/>
            <a:r>
              <a:rPr lang="en-US" b="1" dirty="0" smtClean="0"/>
              <a:t>push </a:t>
            </a:r>
            <a:r>
              <a:rPr lang="en-US" b="1" dirty="0" err="1" smtClean="0"/>
              <a:t>rbp</a:t>
            </a:r>
            <a:r>
              <a:rPr lang="en-US" b="1" dirty="0" smtClean="0"/>
              <a:t> </a:t>
            </a:r>
          </a:p>
          <a:p>
            <a:pPr algn="l" rtl="0"/>
            <a:r>
              <a:rPr lang="en-US" b="1" dirty="0" err="1" smtClean="0"/>
              <a:t>mov</a:t>
            </a:r>
            <a:r>
              <a:rPr lang="en-US" b="1" dirty="0" smtClean="0"/>
              <a:t> </a:t>
            </a:r>
            <a:r>
              <a:rPr lang="en-US" b="1" dirty="0" err="1" smtClean="0"/>
              <a:t>rbp</a:t>
            </a:r>
            <a:r>
              <a:rPr lang="en-US" b="1" dirty="0" smtClean="0"/>
              <a:t>, </a:t>
            </a:r>
            <a:r>
              <a:rPr lang="en-US" b="1" dirty="0" err="1" smtClean="0"/>
              <a:t>rsp</a:t>
            </a:r>
            <a:r>
              <a:rPr lang="en-US" b="1" dirty="0" smtClean="0"/>
              <a:t> </a:t>
            </a:r>
            <a:endParaRPr lang="en-US" b="1"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53</a:t>
            </a:fld>
            <a:endParaRPr lang="he-IL"/>
          </a:p>
        </p:txBody>
      </p:sp>
    </p:spTree>
    <p:extLst>
      <p:ext uri="{BB962C8B-B14F-4D97-AF65-F5344CB8AC3E}">
        <p14:creationId xmlns:p14="http://schemas.microsoft.com/office/powerpoint/2010/main" val="317881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wipe(down)">
                                      <p:cBhvr>
                                        <p:cTn id="41" dur="580">
                                          <p:stCondLst>
                                            <p:cond delay="0"/>
                                          </p:stCondLst>
                                        </p:cTn>
                                        <p:tgtEl>
                                          <p:spTgt spid="3">
                                            <p:txEl>
                                              <p:pRg st="4" end="4"/>
                                            </p:txEl>
                                          </p:spTgt>
                                        </p:tgtEl>
                                      </p:cBhvr>
                                    </p:animEffect>
                                    <p:anim calcmode="lin" valueType="num">
                                      <p:cBhvr>
                                        <p:cTn id="4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4" end="4"/>
                                            </p:txEl>
                                          </p:spTgt>
                                        </p:tgtEl>
                                      </p:cBhvr>
                                      <p:to x="100000" y="60000"/>
                                    </p:animScale>
                                    <p:animScale>
                                      <p:cBhvr>
                                        <p:cTn id="48" dur="166" decel="50000">
                                          <p:stCondLst>
                                            <p:cond delay="676"/>
                                          </p:stCondLst>
                                        </p:cTn>
                                        <p:tgtEl>
                                          <p:spTgt spid="3">
                                            <p:txEl>
                                              <p:pRg st="4" end="4"/>
                                            </p:txEl>
                                          </p:spTgt>
                                        </p:tgtEl>
                                      </p:cBhvr>
                                      <p:to x="100000" y="100000"/>
                                    </p:animScale>
                                    <p:animScale>
                                      <p:cBhvr>
                                        <p:cTn id="49" dur="26">
                                          <p:stCondLst>
                                            <p:cond delay="1312"/>
                                          </p:stCondLst>
                                        </p:cTn>
                                        <p:tgtEl>
                                          <p:spTgt spid="3">
                                            <p:txEl>
                                              <p:pRg st="4" end="4"/>
                                            </p:txEl>
                                          </p:spTgt>
                                        </p:tgtEl>
                                      </p:cBhvr>
                                      <p:to x="100000" y="80000"/>
                                    </p:animScale>
                                    <p:animScale>
                                      <p:cBhvr>
                                        <p:cTn id="50" dur="166" decel="50000">
                                          <p:stCondLst>
                                            <p:cond delay="1338"/>
                                          </p:stCondLst>
                                        </p:cTn>
                                        <p:tgtEl>
                                          <p:spTgt spid="3">
                                            <p:txEl>
                                              <p:pRg st="4" end="4"/>
                                            </p:txEl>
                                          </p:spTgt>
                                        </p:tgtEl>
                                      </p:cBhvr>
                                      <p:to x="100000" y="100000"/>
                                    </p:animScale>
                                    <p:animScale>
                                      <p:cBhvr>
                                        <p:cTn id="51" dur="26">
                                          <p:stCondLst>
                                            <p:cond delay="1642"/>
                                          </p:stCondLst>
                                        </p:cTn>
                                        <p:tgtEl>
                                          <p:spTgt spid="3">
                                            <p:txEl>
                                              <p:pRg st="4" end="4"/>
                                            </p:txEl>
                                          </p:spTgt>
                                        </p:tgtEl>
                                      </p:cBhvr>
                                      <p:to x="100000" y="90000"/>
                                    </p:animScale>
                                    <p:animScale>
                                      <p:cBhvr>
                                        <p:cTn id="52" dur="166" decel="50000">
                                          <p:stCondLst>
                                            <p:cond delay="1668"/>
                                          </p:stCondLst>
                                        </p:cTn>
                                        <p:tgtEl>
                                          <p:spTgt spid="3">
                                            <p:txEl>
                                              <p:pRg st="4" end="4"/>
                                            </p:txEl>
                                          </p:spTgt>
                                        </p:tgtEl>
                                      </p:cBhvr>
                                      <p:to x="100000" y="100000"/>
                                    </p:animScale>
                                    <p:animScale>
                                      <p:cBhvr>
                                        <p:cTn id="53" dur="26">
                                          <p:stCondLst>
                                            <p:cond delay="1808"/>
                                          </p:stCondLst>
                                        </p:cTn>
                                        <p:tgtEl>
                                          <p:spTgt spid="3">
                                            <p:txEl>
                                              <p:pRg st="4" end="4"/>
                                            </p:txEl>
                                          </p:spTgt>
                                        </p:tgtEl>
                                      </p:cBhvr>
                                      <p:to x="100000" y="95000"/>
                                    </p:animScale>
                                    <p:animScale>
                                      <p:cBhvr>
                                        <p:cTn id="54" dur="166" decel="50000">
                                          <p:stCondLst>
                                            <p:cond delay="1834"/>
                                          </p:stCondLst>
                                        </p:cTn>
                                        <p:tgtEl>
                                          <p:spTgt spid="3">
                                            <p:txEl>
                                              <p:pRg st="4" end="4"/>
                                            </p:txEl>
                                          </p:spTgt>
                                        </p:tgtEl>
                                      </p:cBhvr>
                                      <p:to x="100000" y="100000"/>
                                    </p:animScale>
                                  </p:childTnLst>
                                </p:cTn>
                              </p:par>
                              <p:par>
                                <p:cTn id="55" presetID="26" presetClass="entr" presetSubtype="0" fill="hold" nodeType="with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animEffect transition="in" filter="wipe(down)">
                                      <p:cBhvr>
                                        <p:cTn id="57" dur="580">
                                          <p:stCondLst>
                                            <p:cond delay="0"/>
                                          </p:stCondLst>
                                        </p:cTn>
                                        <p:tgtEl>
                                          <p:spTgt spid="3">
                                            <p:txEl>
                                              <p:pRg st="5" end="5"/>
                                            </p:txEl>
                                          </p:spTgt>
                                        </p:tgtEl>
                                      </p:cBhvr>
                                    </p:animEffect>
                                    <p:anim calcmode="lin" valueType="num">
                                      <p:cBhvr>
                                        <p:cTn id="5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3">
                                            <p:txEl>
                                              <p:pRg st="5" end="5"/>
                                            </p:txEl>
                                          </p:spTgt>
                                        </p:tgtEl>
                                      </p:cBhvr>
                                      <p:to x="100000" y="60000"/>
                                    </p:animScale>
                                    <p:animScale>
                                      <p:cBhvr>
                                        <p:cTn id="64" dur="166" decel="50000">
                                          <p:stCondLst>
                                            <p:cond delay="676"/>
                                          </p:stCondLst>
                                        </p:cTn>
                                        <p:tgtEl>
                                          <p:spTgt spid="3">
                                            <p:txEl>
                                              <p:pRg st="5" end="5"/>
                                            </p:txEl>
                                          </p:spTgt>
                                        </p:tgtEl>
                                      </p:cBhvr>
                                      <p:to x="100000" y="100000"/>
                                    </p:animScale>
                                    <p:animScale>
                                      <p:cBhvr>
                                        <p:cTn id="65" dur="26">
                                          <p:stCondLst>
                                            <p:cond delay="1312"/>
                                          </p:stCondLst>
                                        </p:cTn>
                                        <p:tgtEl>
                                          <p:spTgt spid="3">
                                            <p:txEl>
                                              <p:pRg st="5" end="5"/>
                                            </p:txEl>
                                          </p:spTgt>
                                        </p:tgtEl>
                                      </p:cBhvr>
                                      <p:to x="100000" y="80000"/>
                                    </p:animScale>
                                    <p:animScale>
                                      <p:cBhvr>
                                        <p:cTn id="66" dur="166" decel="50000">
                                          <p:stCondLst>
                                            <p:cond delay="1338"/>
                                          </p:stCondLst>
                                        </p:cTn>
                                        <p:tgtEl>
                                          <p:spTgt spid="3">
                                            <p:txEl>
                                              <p:pRg st="5" end="5"/>
                                            </p:txEl>
                                          </p:spTgt>
                                        </p:tgtEl>
                                      </p:cBhvr>
                                      <p:to x="100000" y="100000"/>
                                    </p:animScale>
                                    <p:animScale>
                                      <p:cBhvr>
                                        <p:cTn id="67" dur="26">
                                          <p:stCondLst>
                                            <p:cond delay="1642"/>
                                          </p:stCondLst>
                                        </p:cTn>
                                        <p:tgtEl>
                                          <p:spTgt spid="3">
                                            <p:txEl>
                                              <p:pRg st="5" end="5"/>
                                            </p:txEl>
                                          </p:spTgt>
                                        </p:tgtEl>
                                      </p:cBhvr>
                                      <p:to x="100000" y="90000"/>
                                    </p:animScale>
                                    <p:animScale>
                                      <p:cBhvr>
                                        <p:cTn id="68" dur="166" decel="50000">
                                          <p:stCondLst>
                                            <p:cond delay="1668"/>
                                          </p:stCondLst>
                                        </p:cTn>
                                        <p:tgtEl>
                                          <p:spTgt spid="3">
                                            <p:txEl>
                                              <p:pRg st="5" end="5"/>
                                            </p:txEl>
                                          </p:spTgt>
                                        </p:tgtEl>
                                      </p:cBhvr>
                                      <p:to x="100000" y="100000"/>
                                    </p:animScale>
                                    <p:animScale>
                                      <p:cBhvr>
                                        <p:cTn id="69" dur="26">
                                          <p:stCondLst>
                                            <p:cond delay="1808"/>
                                          </p:stCondLst>
                                        </p:cTn>
                                        <p:tgtEl>
                                          <p:spTgt spid="3">
                                            <p:txEl>
                                              <p:pRg st="5" end="5"/>
                                            </p:txEl>
                                          </p:spTgt>
                                        </p:tgtEl>
                                      </p:cBhvr>
                                      <p:to x="100000" y="95000"/>
                                    </p:animScale>
                                    <p:animScale>
                                      <p:cBhvr>
                                        <p:cTn id="7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פונקצית העצרת</a:t>
            </a:r>
          </a:p>
        </p:txBody>
      </p:sp>
      <p:sp>
        <p:nvSpPr>
          <p:cNvPr id="3" name="מציין מיקום תוכן 2"/>
          <p:cNvSpPr>
            <a:spLocks noGrp="1"/>
          </p:cNvSpPr>
          <p:nvPr>
            <p:ph idx="1"/>
          </p:nvPr>
        </p:nvSpPr>
        <p:spPr/>
        <p:txBody>
          <a:bodyPr>
            <a:normAutofit/>
          </a:bodyPr>
          <a:lstStyle/>
          <a:p>
            <a:r>
              <a:rPr lang="he-IL" dirty="0" smtClean="0"/>
              <a:t>כעת עוברים לתנאי הבסיס – תנאי העצירה : </a:t>
            </a:r>
          </a:p>
          <a:p>
            <a:r>
              <a:rPr lang="he-IL" dirty="0" smtClean="0"/>
              <a:t>בשלב ראשון בודקים אם </a:t>
            </a:r>
            <a:r>
              <a:rPr lang="en-US" dirty="0" err="1" smtClean="0"/>
              <a:t>rdi</a:t>
            </a:r>
            <a:r>
              <a:rPr lang="he-IL" dirty="0" smtClean="0"/>
              <a:t> אשר מהווה אוגר </a:t>
            </a:r>
            <a:r>
              <a:rPr lang="he-IL" dirty="0" err="1" smtClean="0"/>
              <a:t>יעודי</a:t>
            </a:r>
            <a:r>
              <a:rPr lang="he-IL" dirty="0" smtClean="0"/>
              <a:t> לחישוב העצרת הגיע לערך של 1. הדבר נעשה בהתאם לנוסחה </a:t>
            </a:r>
            <a:r>
              <a:rPr lang="en-US" dirty="0" smtClean="0"/>
              <a:t> </a:t>
            </a:r>
            <a:r>
              <a:rPr lang="he-IL" dirty="0" smtClean="0"/>
              <a:t> </a:t>
            </a:r>
            <a:r>
              <a:rPr lang="en-US" dirty="0" smtClean="0"/>
              <a:t>N!=</a:t>
            </a:r>
            <a:r>
              <a:rPr lang="en-US" dirty="0" err="1" smtClean="0"/>
              <a:t>Nx</a:t>
            </a:r>
            <a:r>
              <a:rPr lang="en-US" dirty="0" smtClean="0"/>
              <a:t>(N-1)!</a:t>
            </a:r>
            <a:r>
              <a:rPr lang="he-IL" dirty="0" smtClean="0"/>
              <a:t> כלומר החישוב  מחושב באופן יורד. </a:t>
            </a:r>
          </a:p>
          <a:p>
            <a:r>
              <a:rPr lang="he-IL" dirty="0" smtClean="0"/>
              <a:t>במידה והערך גדול מ 1 , קופצים לתווית אשר החל ממנה מתחיל החישוב הרקורסיבי. </a:t>
            </a:r>
          </a:p>
          <a:p>
            <a:r>
              <a:rPr lang="he-IL" dirty="0" smtClean="0"/>
              <a:t>במידה ושווה ל 1 מאחסנים ערך של 1 ב </a:t>
            </a:r>
            <a:r>
              <a:rPr lang="en-US" dirty="0" err="1" smtClean="0"/>
              <a:t>rax</a:t>
            </a:r>
            <a:r>
              <a:rPr lang="he-IL" dirty="0" smtClean="0"/>
              <a:t> </a:t>
            </a:r>
          </a:p>
          <a:p>
            <a:pPr algn="l" rtl="0"/>
            <a:r>
              <a:rPr lang="en-US" dirty="0"/>
              <a:t> </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54</a:t>
            </a:fld>
            <a:endParaRPr lang="he-IL"/>
          </a:p>
        </p:txBody>
      </p:sp>
    </p:spTree>
    <p:extLst>
      <p:ext uri="{BB962C8B-B14F-4D97-AF65-F5344CB8AC3E}">
        <p14:creationId xmlns:p14="http://schemas.microsoft.com/office/powerpoint/2010/main" val="53427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קטע קוד של מקרה הבסיס </a:t>
            </a:r>
            <a:endParaRPr lang="he-IL" dirty="0"/>
          </a:p>
        </p:txBody>
      </p:sp>
      <p:sp>
        <p:nvSpPr>
          <p:cNvPr id="3" name="מציין מיקום תוכן 2"/>
          <p:cNvSpPr>
            <a:spLocks noGrp="1"/>
          </p:cNvSpPr>
          <p:nvPr>
            <p:ph idx="1"/>
          </p:nvPr>
        </p:nvSpPr>
        <p:spPr/>
        <p:txBody>
          <a:bodyPr/>
          <a:lstStyle/>
          <a:p>
            <a:pPr algn="l" rtl="0"/>
            <a:r>
              <a:rPr lang="en-US" dirty="0"/>
              <a:t> </a:t>
            </a:r>
            <a:r>
              <a:rPr lang="en-US" b="1" dirty="0" err="1"/>
              <a:t>cmp</a:t>
            </a:r>
            <a:r>
              <a:rPr lang="en-US" b="1" dirty="0"/>
              <a:t> </a:t>
            </a:r>
            <a:r>
              <a:rPr lang="en-US" b="1" dirty="0" err="1"/>
              <a:t>rdi</a:t>
            </a:r>
            <a:r>
              <a:rPr lang="en-US" b="1" dirty="0"/>
              <a:t>, 1</a:t>
            </a:r>
          </a:p>
          <a:p>
            <a:pPr algn="l" rtl="0"/>
            <a:r>
              <a:rPr lang="en-US" b="1" dirty="0"/>
              <a:t>   </a:t>
            </a:r>
            <a:r>
              <a:rPr lang="en-US" b="1" dirty="0" err="1"/>
              <a:t>jg</a:t>
            </a:r>
            <a:r>
              <a:rPr lang="en-US" b="1" dirty="0"/>
              <a:t> .recursive</a:t>
            </a:r>
          </a:p>
          <a:p>
            <a:pPr algn="l" rtl="0"/>
            <a:r>
              <a:rPr lang="en-US" b="1" dirty="0"/>
              <a:t>   </a:t>
            </a:r>
            <a:r>
              <a:rPr lang="en-US" b="1" dirty="0" err="1"/>
              <a:t>mov</a:t>
            </a:r>
            <a:r>
              <a:rPr lang="en-US" b="1" dirty="0"/>
              <a:t> </a:t>
            </a:r>
            <a:r>
              <a:rPr lang="en-US" b="1" dirty="0" err="1"/>
              <a:t>rax</a:t>
            </a:r>
            <a:r>
              <a:rPr lang="en-US" b="1" dirty="0"/>
              <a:t>, 1</a:t>
            </a:r>
          </a:p>
          <a:p>
            <a:pPr algn="l" rtl="0"/>
            <a:r>
              <a:rPr lang="en-US" b="1" dirty="0"/>
              <a:t>   leave</a:t>
            </a:r>
          </a:p>
          <a:p>
            <a:pPr algn="l" rtl="0"/>
            <a:r>
              <a:rPr lang="en-US" b="1" dirty="0"/>
              <a:t>   RETURN</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55</a:t>
            </a:fld>
            <a:endParaRPr lang="he-IL"/>
          </a:p>
        </p:txBody>
      </p:sp>
    </p:spTree>
    <p:extLst>
      <p:ext uri="{BB962C8B-B14F-4D97-AF65-F5344CB8AC3E}">
        <p14:creationId xmlns:p14="http://schemas.microsoft.com/office/powerpoint/2010/main" val="262028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down)">
                                      <p:cBhvr>
                                        <p:cTn id="55" dur="580">
                                          <p:stCondLst>
                                            <p:cond delay="0"/>
                                          </p:stCondLst>
                                        </p:cTn>
                                        <p:tgtEl>
                                          <p:spTgt spid="3">
                                            <p:txEl>
                                              <p:pRg st="3" end="3"/>
                                            </p:txEl>
                                          </p:spTgt>
                                        </p:tgtEl>
                                      </p:cBhvr>
                                    </p:animEffect>
                                    <p:anim calcmode="lin" valueType="num">
                                      <p:cBhvr>
                                        <p:cTn id="5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3" end="3"/>
                                            </p:txEl>
                                          </p:spTgt>
                                        </p:tgtEl>
                                      </p:cBhvr>
                                      <p:to x="100000" y="60000"/>
                                    </p:animScale>
                                    <p:animScale>
                                      <p:cBhvr>
                                        <p:cTn id="62" dur="166" decel="50000">
                                          <p:stCondLst>
                                            <p:cond delay="676"/>
                                          </p:stCondLst>
                                        </p:cTn>
                                        <p:tgtEl>
                                          <p:spTgt spid="3">
                                            <p:txEl>
                                              <p:pRg st="3" end="3"/>
                                            </p:txEl>
                                          </p:spTgt>
                                        </p:tgtEl>
                                      </p:cBhvr>
                                      <p:to x="100000" y="100000"/>
                                    </p:animScale>
                                    <p:animScale>
                                      <p:cBhvr>
                                        <p:cTn id="63" dur="26">
                                          <p:stCondLst>
                                            <p:cond delay="1312"/>
                                          </p:stCondLst>
                                        </p:cTn>
                                        <p:tgtEl>
                                          <p:spTgt spid="3">
                                            <p:txEl>
                                              <p:pRg st="3" end="3"/>
                                            </p:txEl>
                                          </p:spTgt>
                                        </p:tgtEl>
                                      </p:cBhvr>
                                      <p:to x="100000" y="80000"/>
                                    </p:animScale>
                                    <p:animScale>
                                      <p:cBhvr>
                                        <p:cTn id="64" dur="166" decel="50000">
                                          <p:stCondLst>
                                            <p:cond delay="1338"/>
                                          </p:stCondLst>
                                        </p:cTn>
                                        <p:tgtEl>
                                          <p:spTgt spid="3">
                                            <p:txEl>
                                              <p:pRg st="3" end="3"/>
                                            </p:txEl>
                                          </p:spTgt>
                                        </p:tgtEl>
                                      </p:cBhvr>
                                      <p:to x="100000" y="100000"/>
                                    </p:animScale>
                                    <p:animScale>
                                      <p:cBhvr>
                                        <p:cTn id="65" dur="26">
                                          <p:stCondLst>
                                            <p:cond delay="1642"/>
                                          </p:stCondLst>
                                        </p:cTn>
                                        <p:tgtEl>
                                          <p:spTgt spid="3">
                                            <p:txEl>
                                              <p:pRg st="3" end="3"/>
                                            </p:txEl>
                                          </p:spTgt>
                                        </p:tgtEl>
                                      </p:cBhvr>
                                      <p:to x="100000" y="90000"/>
                                    </p:animScale>
                                    <p:animScale>
                                      <p:cBhvr>
                                        <p:cTn id="66" dur="166" decel="50000">
                                          <p:stCondLst>
                                            <p:cond delay="1668"/>
                                          </p:stCondLst>
                                        </p:cTn>
                                        <p:tgtEl>
                                          <p:spTgt spid="3">
                                            <p:txEl>
                                              <p:pRg st="3" end="3"/>
                                            </p:txEl>
                                          </p:spTgt>
                                        </p:tgtEl>
                                      </p:cBhvr>
                                      <p:to x="100000" y="100000"/>
                                    </p:animScale>
                                    <p:animScale>
                                      <p:cBhvr>
                                        <p:cTn id="67" dur="26">
                                          <p:stCondLst>
                                            <p:cond delay="1808"/>
                                          </p:stCondLst>
                                        </p:cTn>
                                        <p:tgtEl>
                                          <p:spTgt spid="3">
                                            <p:txEl>
                                              <p:pRg st="3" end="3"/>
                                            </p:txEl>
                                          </p:spTgt>
                                        </p:tgtEl>
                                      </p:cBhvr>
                                      <p:to x="100000" y="95000"/>
                                    </p:animScale>
                                    <p:animScale>
                                      <p:cBhvr>
                                        <p:cTn id="68" dur="166" decel="50000">
                                          <p:stCondLst>
                                            <p:cond delay="1834"/>
                                          </p:stCondLst>
                                        </p:cTn>
                                        <p:tgtEl>
                                          <p:spTgt spid="3">
                                            <p:txEl>
                                              <p:pRg st="3" end="3"/>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4" end="4"/>
                                            </p:txEl>
                                          </p:spTgt>
                                        </p:tgtEl>
                                        <p:attrNameLst>
                                          <p:attrName>style.visibility</p:attrName>
                                        </p:attrNameLst>
                                      </p:cBhvr>
                                      <p:to>
                                        <p:strVal val="visible"/>
                                      </p:to>
                                    </p:set>
                                    <p:animEffect transition="in" filter="wipe(down)">
                                      <p:cBhvr>
                                        <p:cTn id="71" dur="580">
                                          <p:stCondLst>
                                            <p:cond delay="0"/>
                                          </p:stCondLst>
                                        </p:cTn>
                                        <p:tgtEl>
                                          <p:spTgt spid="3">
                                            <p:txEl>
                                              <p:pRg st="4" end="4"/>
                                            </p:txEl>
                                          </p:spTgt>
                                        </p:tgtEl>
                                      </p:cBhvr>
                                    </p:animEffect>
                                    <p:anim calcmode="lin" valueType="num">
                                      <p:cBhvr>
                                        <p:cTn id="7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4" end="4"/>
                                            </p:txEl>
                                          </p:spTgt>
                                        </p:tgtEl>
                                      </p:cBhvr>
                                      <p:to x="100000" y="60000"/>
                                    </p:animScale>
                                    <p:animScale>
                                      <p:cBhvr>
                                        <p:cTn id="78" dur="166" decel="50000">
                                          <p:stCondLst>
                                            <p:cond delay="676"/>
                                          </p:stCondLst>
                                        </p:cTn>
                                        <p:tgtEl>
                                          <p:spTgt spid="3">
                                            <p:txEl>
                                              <p:pRg st="4" end="4"/>
                                            </p:txEl>
                                          </p:spTgt>
                                        </p:tgtEl>
                                      </p:cBhvr>
                                      <p:to x="100000" y="100000"/>
                                    </p:animScale>
                                    <p:animScale>
                                      <p:cBhvr>
                                        <p:cTn id="79" dur="26">
                                          <p:stCondLst>
                                            <p:cond delay="1312"/>
                                          </p:stCondLst>
                                        </p:cTn>
                                        <p:tgtEl>
                                          <p:spTgt spid="3">
                                            <p:txEl>
                                              <p:pRg st="4" end="4"/>
                                            </p:txEl>
                                          </p:spTgt>
                                        </p:tgtEl>
                                      </p:cBhvr>
                                      <p:to x="100000" y="80000"/>
                                    </p:animScale>
                                    <p:animScale>
                                      <p:cBhvr>
                                        <p:cTn id="80" dur="166" decel="50000">
                                          <p:stCondLst>
                                            <p:cond delay="1338"/>
                                          </p:stCondLst>
                                        </p:cTn>
                                        <p:tgtEl>
                                          <p:spTgt spid="3">
                                            <p:txEl>
                                              <p:pRg st="4" end="4"/>
                                            </p:txEl>
                                          </p:spTgt>
                                        </p:tgtEl>
                                      </p:cBhvr>
                                      <p:to x="100000" y="100000"/>
                                    </p:animScale>
                                    <p:animScale>
                                      <p:cBhvr>
                                        <p:cTn id="81" dur="26">
                                          <p:stCondLst>
                                            <p:cond delay="1642"/>
                                          </p:stCondLst>
                                        </p:cTn>
                                        <p:tgtEl>
                                          <p:spTgt spid="3">
                                            <p:txEl>
                                              <p:pRg st="4" end="4"/>
                                            </p:txEl>
                                          </p:spTgt>
                                        </p:tgtEl>
                                      </p:cBhvr>
                                      <p:to x="100000" y="90000"/>
                                    </p:animScale>
                                    <p:animScale>
                                      <p:cBhvr>
                                        <p:cTn id="82" dur="166" decel="50000">
                                          <p:stCondLst>
                                            <p:cond delay="1668"/>
                                          </p:stCondLst>
                                        </p:cTn>
                                        <p:tgtEl>
                                          <p:spTgt spid="3">
                                            <p:txEl>
                                              <p:pRg st="4" end="4"/>
                                            </p:txEl>
                                          </p:spTgt>
                                        </p:tgtEl>
                                      </p:cBhvr>
                                      <p:to x="100000" y="100000"/>
                                    </p:animScale>
                                    <p:animScale>
                                      <p:cBhvr>
                                        <p:cTn id="83" dur="26">
                                          <p:stCondLst>
                                            <p:cond delay="1808"/>
                                          </p:stCondLst>
                                        </p:cTn>
                                        <p:tgtEl>
                                          <p:spTgt spid="3">
                                            <p:txEl>
                                              <p:pRg st="4" end="4"/>
                                            </p:txEl>
                                          </p:spTgt>
                                        </p:tgtEl>
                                      </p:cBhvr>
                                      <p:to x="100000" y="95000"/>
                                    </p:animScale>
                                    <p:animScale>
                                      <p:cBhvr>
                                        <p:cTn id="84"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הקטע הרקורסיבי </a:t>
            </a:r>
            <a:endParaRPr lang="he-IL" dirty="0"/>
          </a:p>
        </p:txBody>
      </p:sp>
      <p:sp>
        <p:nvSpPr>
          <p:cNvPr id="3" name="מציין מיקום תוכן 2"/>
          <p:cNvSpPr>
            <a:spLocks noGrp="1"/>
          </p:cNvSpPr>
          <p:nvPr>
            <p:ph idx="1"/>
          </p:nvPr>
        </p:nvSpPr>
        <p:spPr/>
        <p:txBody>
          <a:bodyPr>
            <a:normAutofit fontScale="92500" lnSpcReduction="20000"/>
          </a:bodyPr>
          <a:lstStyle/>
          <a:p>
            <a:pPr algn="l" rtl="0"/>
            <a:r>
              <a:rPr lang="en-US" b="1" dirty="0"/>
              <a:t>.recursive:</a:t>
            </a:r>
          </a:p>
          <a:p>
            <a:pPr algn="l" rtl="0"/>
            <a:r>
              <a:rPr lang="en-US" b="1" dirty="0"/>
              <a:t>   PUSH </a:t>
            </a:r>
            <a:r>
              <a:rPr lang="en-US" b="1" dirty="0" err="1"/>
              <a:t>rdi</a:t>
            </a:r>
            <a:r>
              <a:rPr lang="en-US" b="1" dirty="0"/>
              <a:t>        ; save current n</a:t>
            </a:r>
          </a:p>
          <a:p>
            <a:pPr algn="l" rtl="0"/>
            <a:r>
              <a:rPr lang="en-US" b="1" dirty="0"/>
              <a:t>   </a:t>
            </a:r>
            <a:r>
              <a:rPr lang="en-US" b="1" dirty="0" err="1"/>
              <a:t>dec</a:t>
            </a:r>
            <a:r>
              <a:rPr lang="en-US" b="1" dirty="0"/>
              <a:t> </a:t>
            </a:r>
            <a:r>
              <a:rPr lang="en-US" b="1" dirty="0" err="1"/>
              <a:t>rdi</a:t>
            </a:r>
            <a:r>
              <a:rPr lang="en-US" b="1" dirty="0"/>
              <a:t>         ; compute n-1</a:t>
            </a:r>
          </a:p>
          <a:p>
            <a:pPr algn="l" rtl="0"/>
            <a:r>
              <a:rPr lang="en-US" b="1" dirty="0"/>
              <a:t>   CALL fact       ; compute fact(n-1)</a:t>
            </a:r>
          </a:p>
          <a:p>
            <a:pPr algn="l" rtl="0"/>
            <a:r>
              <a:rPr lang="en-US" b="1" dirty="0"/>
              <a:t>   POP </a:t>
            </a:r>
            <a:r>
              <a:rPr lang="en-US" b="1" dirty="0" err="1"/>
              <a:t>rdi</a:t>
            </a:r>
            <a:r>
              <a:rPr lang="en-US" b="1" dirty="0"/>
              <a:t>         ; restore n</a:t>
            </a:r>
          </a:p>
          <a:p>
            <a:pPr algn="l" rtl="0"/>
            <a:r>
              <a:rPr lang="en-US" b="1" dirty="0"/>
              <a:t>   </a:t>
            </a:r>
            <a:r>
              <a:rPr lang="en-US" b="1" dirty="0" err="1"/>
              <a:t>imul</a:t>
            </a:r>
            <a:r>
              <a:rPr lang="en-US" b="1" dirty="0"/>
              <a:t> </a:t>
            </a:r>
            <a:r>
              <a:rPr lang="en-US" b="1" dirty="0" err="1"/>
              <a:t>rax</a:t>
            </a:r>
            <a:r>
              <a:rPr lang="en-US" b="1" dirty="0"/>
              <a:t>, </a:t>
            </a:r>
            <a:r>
              <a:rPr lang="en-US" b="1" dirty="0" err="1"/>
              <a:t>rdi</a:t>
            </a:r>
            <a:r>
              <a:rPr lang="en-US" b="1" dirty="0"/>
              <a:t>   ; </a:t>
            </a:r>
            <a:r>
              <a:rPr lang="en-US" b="1" dirty="0" err="1"/>
              <a:t>rax</a:t>
            </a:r>
            <a:r>
              <a:rPr lang="en-US" b="1" dirty="0"/>
              <a:t> = </a:t>
            </a:r>
            <a:r>
              <a:rPr lang="en-US" b="1" dirty="0" err="1"/>
              <a:t>rdi</a:t>
            </a:r>
            <a:r>
              <a:rPr lang="en-US" b="1" dirty="0"/>
              <a:t> * </a:t>
            </a:r>
            <a:r>
              <a:rPr lang="en-US" b="1" dirty="0" err="1"/>
              <a:t>rax</a:t>
            </a:r>
            <a:endParaRPr lang="en-US" b="1" dirty="0"/>
          </a:p>
          <a:p>
            <a:pPr algn="l" rtl="0"/>
            <a:r>
              <a:rPr lang="en-US" b="1" dirty="0"/>
              <a:t>   leave</a:t>
            </a:r>
          </a:p>
          <a:p>
            <a:pPr algn="l" rtl="0"/>
            <a:r>
              <a:rPr lang="en-US" b="1" dirty="0"/>
              <a:t>   RETURN</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56</a:t>
            </a:fld>
            <a:endParaRPr lang="he-IL"/>
          </a:p>
        </p:txBody>
      </p:sp>
    </p:spTree>
    <p:extLst>
      <p:ext uri="{BB962C8B-B14F-4D97-AF65-F5344CB8AC3E}">
        <p14:creationId xmlns:p14="http://schemas.microsoft.com/office/powerpoint/2010/main" val="194483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הסבר </a:t>
            </a:r>
            <a:endParaRPr lang="he-IL" dirty="0"/>
          </a:p>
        </p:txBody>
      </p:sp>
      <p:sp>
        <p:nvSpPr>
          <p:cNvPr id="3" name="מציין מיקום תוכן 2"/>
          <p:cNvSpPr>
            <a:spLocks noGrp="1"/>
          </p:cNvSpPr>
          <p:nvPr>
            <p:ph idx="1"/>
          </p:nvPr>
        </p:nvSpPr>
        <p:spPr/>
        <p:txBody>
          <a:bodyPr>
            <a:normAutofit lnSpcReduction="10000"/>
          </a:bodyPr>
          <a:lstStyle/>
          <a:p>
            <a:r>
              <a:rPr lang="he-IL" dirty="0" smtClean="0"/>
              <a:t>1. שומרים את הערך של </a:t>
            </a:r>
            <a:r>
              <a:rPr lang="en-US" dirty="0" smtClean="0"/>
              <a:t>n</a:t>
            </a:r>
            <a:r>
              <a:rPr lang="he-IL" dirty="0" smtClean="0"/>
              <a:t> במחסנית (במקרה שלנו </a:t>
            </a:r>
            <a:r>
              <a:rPr lang="en-US" dirty="0" smtClean="0"/>
              <a:t>n=5</a:t>
            </a:r>
            <a:r>
              <a:rPr lang="he-IL" dirty="0" smtClean="0"/>
              <a:t>) וזאת ע"י  ביצוע הפקודה </a:t>
            </a:r>
          </a:p>
          <a:p>
            <a:pPr algn="r"/>
            <a:r>
              <a:rPr lang="he-IL" dirty="0" smtClean="0"/>
              <a:t> </a:t>
            </a:r>
            <a:r>
              <a:rPr lang="en-US" dirty="0" smtClean="0"/>
              <a:t>PUSH  </a:t>
            </a:r>
            <a:r>
              <a:rPr lang="en-US" dirty="0" err="1" smtClean="0"/>
              <a:t>rdi</a:t>
            </a:r>
            <a:r>
              <a:rPr lang="he-IL" dirty="0" smtClean="0"/>
              <a:t> </a:t>
            </a:r>
          </a:p>
          <a:p>
            <a:pPr algn="r"/>
            <a:r>
              <a:rPr lang="he-IL" dirty="0" smtClean="0"/>
              <a:t>2. הערך של </a:t>
            </a:r>
            <a:r>
              <a:rPr lang="en-US" dirty="0" smtClean="0"/>
              <a:t>n-1</a:t>
            </a:r>
            <a:r>
              <a:rPr lang="he-IL" dirty="0" smtClean="0"/>
              <a:t> מחושב  ע"י </a:t>
            </a:r>
            <a:r>
              <a:rPr lang="en-US" dirty="0" err="1" smtClean="0"/>
              <a:t>dec</a:t>
            </a:r>
            <a:r>
              <a:rPr lang="he-IL" dirty="0" smtClean="0"/>
              <a:t> </a:t>
            </a:r>
          </a:p>
          <a:p>
            <a:pPr algn="r"/>
            <a:r>
              <a:rPr lang="he-IL" dirty="0" smtClean="0"/>
              <a:t>3. קוראים ברקורסיה ל </a:t>
            </a:r>
            <a:r>
              <a:rPr lang="en-US" dirty="0" smtClean="0"/>
              <a:t>fact</a:t>
            </a:r>
            <a:r>
              <a:rPr lang="he-IL" dirty="0" smtClean="0"/>
              <a:t> עם הערך של </a:t>
            </a:r>
            <a:r>
              <a:rPr lang="en-US" dirty="0" smtClean="0"/>
              <a:t>n-1</a:t>
            </a:r>
            <a:r>
              <a:rPr lang="he-IL" dirty="0" smtClean="0"/>
              <a:t> והתהליך ממשיך עד אשר מגיעים לערך של </a:t>
            </a:r>
            <a:r>
              <a:rPr lang="en-US" dirty="0" err="1" smtClean="0"/>
              <a:t>rdi</a:t>
            </a:r>
            <a:r>
              <a:rPr lang="en-US" dirty="0" smtClean="0"/>
              <a:t>=1</a:t>
            </a:r>
            <a:r>
              <a:rPr lang="he-IL" dirty="0" smtClean="0"/>
              <a:t>.</a:t>
            </a:r>
          </a:p>
          <a:p>
            <a:pPr algn="r"/>
            <a:r>
              <a:rPr lang="he-IL" dirty="0" smtClean="0"/>
              <a:t>4. כשתנאי העצירה מתקיים , מתחיל תהליך שליפה של הערך האחרון במחסנית ומשם מתחיל תהליך של כפל </a:t>
            </a:r>
          </a:p>
          <a:p>
            <a:pPr algn="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57</a:t>
            </a:fld>
            <a:endParaRPr lang="he-IL"/>
          </a:p>
        </p:txBody>
      </p:sp>
    </p:spTree>
    <p:extLst>
      <p:ext uri="{BB962C8B-B14F-4D97-AF65-F5344CB8AC3E}">
        <p14:creationId xmlns:p14="http://schemas.microsoft.com/office/powerpoint/2010/main" val="24718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הסבר </a:t>
            </a:r>
            <a:endParaRPr lang="he-IL" dirty="0"/>
          </a:p>
        </p:txBody>
      </p:sp>
      <p:sp>
        <p:nvSpPr>
          <p:cNvPr id="3" name="מציין מיקום תוכן 2"/>
          <p:cNvSpPr>
            <a:spLocks noGrp="1"/>
          </p:cNvSpPr>
          <p:nvPr>
            <p:ph idx="1"/>
          </p:nvPr>
        </p:nvSpPr>
        <p:spPr/>
        <p:txBody>
          <a:bodyPr>
            <a:normAutofit fontScale="92500" lnSpcReduction="10000"/>
          </a:bodyPr>
          <a:lstStyle/>
          <a:p>
            <a:pPr algn="l" rtl="0"/>
            <a:r>
              <a:rPr lang="en-US" dirty="0"/>
              <a:t>f</a:t>
            </a:r>
            <a:r>
              <a:rPr lang="en-US" dirty="0" smtClean="0"/>
              <a:t>act(5) </a:t>
            </a:r>
            <a:r>
              <a:rPr lang="en-US" dirty="0" smtClean="0">
                <a:sym typeface="Wingdings" panose="05000000000000000000" pitchFamily="2" charset="2"/>
              </a:rPr>
              <a:t> 5*fact(4)=5*24=120 </a:t>
            </a:r>
          </a:p>
          <a:p>
            <a:pPr algn="l" rtl="0"/>
            <a:r>
              <a:rPr lang="en-US" dirty="0" smtClean="0">
                <a:sym typeface="Wingdings" panose="05000000000000000000" pitchFamily="2" charset="2"/>
              </a:rPr>
              <a:t>Fact(4)  4*fact(3)=4*6=24</a:t>
            </a:r>
          </a:p>
          <a:p>
            <a:pPr algn="l" rtl="0"/>
            <a:r>
              <a:rPr lang="en-US" dirty="0" smtClean="0">
                <a:sym typeface="Wingdings" panose="05000000000000000000" pitchFamily="2" charset="2"/>
              </a:rPr>
              <a:t>Fact(3)  3*fact(2)=3*2=6</a:t>
            </a:r>
          </a:p>
          <a:p>
            <a:pPr algn="l" rtl="0"/>
            <a:r>
              <a:rPr lang="en-US" dirty="0" smtClean="0">
                <a:sym typeface="Wingdings" panose="05000000000000000000" pitchFamily="2" charset="2"/>
              </a:rPr>
              <a:t>Fact(2)2*fact(1)   = 2*1=2 </a:t>
            </a:r>
          </a:p>
          <a:p>
            <a:pPr algn="l" rtl="0"/>
            <a:r>
              <a:rPr lang="en-US" dirty="0" smtClean="0">
                <a:sym typeface="Wingdings" panose="05000000000000000000" pitchFamily="2" charset="2"/>
              </a:rPr>
              <a:t>Fact(1)=1</a:t>
            </a:r>
          </a:p>
          <a:p>
            <a:pPr algn="r"/>
            <a:r>
              <a:rPr lang="he-IL" dirty="0" smtClean="0">
                <a:sym typeface="Wingdings" panose="05000000000000000000" pitchFamily="2" charset="2"/>
              </a:rPr>
              <a:t>כשתנאי העצירה מתקיים, כלומר כאשר </a:t>
            </a:r>
            <a:r>
              <a:rPr lang="en-US" dirty="0" err="1" smtClean="0">
                <a:sym typeface="Wingdings" panose="05000000000000000000" pitchFamily="2" charset="2"/>
              </a:rPr>
              <a:t>rdi</a:t>
            </a:r>
            <a:r>
              <a:rPr lang="en-US" dirty="0" smtClean="0">
                <a:sym typeface="Wingdings" panose="05000000000000000000" pitchFamily="2" charset="2"/>
              </a:rPr>
              <a:t>=1</a:t>
            </a:r>
            <a:r>
              <a:rPr lang="he-IL" dirty="0" smtClean="0">
                <a:sym typeface="Wingdings" panose="05000000000000000000" pitchFamily="2" charset="2"/>
              </a:rPr>
              <a:t> אז </a:t>
            </a:r>
            <a:r>
              <a:rPr lang="en-US" dirty="0" err="1" smtClean="0">
                <a:sym typeface="Wingdings" panose="05000000000000000000" pitchFamily="2" charset="2"/>
              </a:rPr>
              <a:t>rax</a:t>
            </a:r>
            <a:r>
              <a:rPr lang="en-US" dirty="0" smtClean="0">
                <a:sym typeface="Wingdings" panose="05000000000000000000" pitchFamily="2" charset="2"/>
              </a:rPr>
              <a:t>=1</a:t>
            </a:r>
            <a:r>
              <a:rPr lang="en-US" dirty="0">
                <a:sym typeface="Wingdings" panose="05000000000000000000" pitchFamily="2" charset="2"/>
              </a:rPr>
              <a:t> </a:t>
            </a:r>
            <a:r>
              <a:rPr lang="he-IL" dirty="0" smtClean="0">
                <a:sym typeface="Wingdings" panose="05000000000000000000" pitchFamily="2" charset="2"/>
              </a:rPr>
              <a:t> וכן המחסנית מתרוקנת כך שראש המחסנית נשלף אל </a:t>
            </a:r>
            <a:r>
              <a:rPr lang="en-US" dirty="0" err="1" smtClean="0">
                <a:sym typeface="Wingdings" panose="05000000000000000000" pitchFamily="2" charset="2"/>
              </a:rPr>
              <a:t>rdi</a:t>
            </a:r>
            <a:r>
              <a:rPr lang="he-IL" dirty="0" smtClean="0">
                <a:sym typeface="Wingdings" panose="05000000000000000000" pitchFamily="2" charset="2"/>
              </a:rPr>
              <a:t> והוא מוכפל בערכו של </a:t>
            </a:r>
            <a:r>
              <a:rPr lang="en-US" dirty="0" err="1" smtClean="0">
                <a:sym typeface="Wingdings" panose="05000000000000000000" pitchFamily="2" charset="2"/>
              </a:rPr>
              <a:t>rax</a:t>
            </a:r>
            <a:r>
              <a:rPr lang="he-IL" dirty="0" smtClean="0">
                <a:sym typeface="Wingdings" panose="05000000000000000000" pitchFamily="2" charset="2"/>
              </a:rPr>
              <a:t>. כלומר </a:t>
            </a:r>
            <a:r>
              <a:rPr lang="en-US" dirty="0" err="1" smtClean="0">
                <a:sym typeface="Wingdings" panose="05000000000000000000" pitchFamily="2" charset="2"/>
              </a:rPr>
              <a:t>rax</a:t>
            </a:r>
            <a:r>
              <a:rPr lang="en-US" dirty="0">
                <a:sym typeface="Wingdings" panose="05000000000000000000" pitchFamily="2" charset="2"/>
              </a:rPr>
              <a:t> </a:t>
            </a:r>
            <a:r>
              <a:rPr lang="en-US" dirty="0" smtClean="0">
                <a:sym typeface="Wingdings" panose="05000000000000000000" pitchFamily="2" charset="2"/>
              </a:rPr>
              <a:t>  </a:t>
            </a:r>
            <a:r>
              <a:rPr lang="he-IL" dirty="0" smtClean="0">
                <a:sym typeface="Wingdings" panose="05000000000000000000" pitchFamily="2" charset="2"/>
              </a:rPr>
              <a:t> שומר את הערך המצטבר של התוצאה בכל שלב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58</a:t>
            </a:fld>
            <a:endParaRPr lang="he-IL"/>
          </a:p>
        </p:txBody>
      </p:sp>
    </p:spTree>
    <p:extLst>
      <p:ext uri="{BB962C8B-B14F-4D97-AF65-F5344CB8AC3E}">
        <p14:creationId xmlns:p14="http://schemas.microsoft.com/office/powerpoint/2010/main" val="4033217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התכנית הראשית והדפסת התוצאה למסך </a:t>
            </a:r>
            <a:endParaRPr lang="he-IL" dirty="0"/>
          </a:p>
        </p:txBody>
      </p:sp>
      <p:sp>
        <p:nvSpPr>
          <p:cNvPr id="3" name="מציין מיקום תוכן 2"/>
          <p:cNvSpPr>
            <a:spLocks noGrp="1"/>
          </p:cNvSpPr>
          <p:nvPr>
            <p:ph idx="1"/>
          </p:nvPr>
        </p:nvSpPr>
        <p:spPr/>
        <p:txBody>
          <a:bodyPr>
            <a:normAutofit lnSpcReduction="10000"/>
          </a:bodyPr>
          <a:lstStyle/>
          <a:p>
            <a:r>
              <a:rPr lang="he-IL" dirty="0" smtClean="0"/>
              <a:t>בשלב ראשון שומרים את הערך של חישוב העצרת – 5 באוגר </a:t>
            </a:r>
            <a:r>
              <a:rPr lang="en-US" dirty="0" err="1" smtClean="0"/>
              <a:t>rdi</a:t>
            </a:r>
            <a:r>
              <a:rPr lang="he-IL" dirty="0" smtClean="0"/>
              <a:t> (נראה בהמשך מדוע) ואז מבצעים את הקריאה הראשונה ל </a:t>
            </a:r>
            <a:r>
              <a:rPr lang="en-US" dirty="0" smtClean="0"/>
              <a:t>fact</a:t>
            </a:r>
            <a:r>
              <a:rPr lang="he-IL" dirty="0" smtClean="0"/>
              <a:t> :</a:t>
            </a:r>
            <a:r>
              <a:rPr lang="en-US" dirty="0" smtClean="0"/>
              <a:t> </a:t>
            </a:r>
            <a:endParaRPr lang="he-IL" dirty="0" smtClean="0"/>
          </a:p>
          <a:p>
            <a:pPr algn="l" rtl="0"/>
            <a:r>
              <a:rPr lang="en-US" b="1" dirty="0"/>
              <a:t>main:</a:t>
            </a:r>
          </a:p>
          <a:p>
            <a:pPr algn="l" rtl="0"/>
            <a:r>
              <a:rPr lang="en-US" b="1" dirty="0"/>
              <a:t>    enter 0,0</a:t>
            </a:r>
          </a:p>
          <a:p>
            <a:pPr algn="l" rtl="0"/>
            <a:r>
              <a:rPr lang="en-US" b="1" dirty="0"/>
              <a:t>    </a:t>
            </a:r>
            <a:r>
              <a:rPr lang="en-US" b="1" dirty="0" err="1"/>
              <a:t>mov</a:t>
            </a:r>
            <a:r>
              <a:rPr lang="en-US" b="1" dirty="0"/>
              <a:t> </a:t>
            </a:r>
            <a:r>
              <a:rPr lang="en-US" b="1" dirty="0" err="1"/>
              <a:t>rdi</a:t>
            </a:r>
            <a:r>
              <a:rPr lang="en-US" b="1" dirty="0"/>
              <a:t>, 5</a:t>
            </a:r>
          </a:p>
          <a:p>
            <a:pPr algn="l" rtl="0"/>
            <a:r>
              <a:rPr lang="en-US" b="1" dirty="0"/>
              <a:t>    </a:t>
            </a:r>
            <a:r>
              <a:rPr lang="en-US" b="1" dirty="0" err="1"/>
              <a:t>mov</a:t>
            </a:r>
            <a:r>
              <a:rPr lang="en-US" b="1" dirty="0"/>
              <a:t> r12, </a:t>
            </a:r>
            <a:r>
              <a:rPr lang="en-US" b="1" dirty="0" err="1"/>
              <a:t>rdi</a:t>
            </a:r>
            <a:r>
              <a:rPr lang="en-US" b="1" dirty="0"/>
              <a:t>        ; save 5</a:t>
            </a:r>
          </a:p>
          <a:p>
            <a:pPr algn="l" rtl="0"/>
            <a:r>
              <a:rPr lang="en-US" b="1" dirty="0"/>
              <a:t>    CALL fact           ; compute fact(5)</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59</a:t>
            </a:fld>
            <a:endParaRPr lang="he-IL"/>
          </a:p>
        </p:txBody>
      </p:sp>
    </p:spTree>
    <p:extLst>
      <p:ext uri="{BB962C8B-B14F-4D97-AF65-F5344CB8AC3E}">
        <p14:creationId xmlns:p14="http://schemas.microsoft.com/office/powerpoint/2010/main" val="130154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80">
                                          <p:stCondLst>
                                            <p:cond delay="0"/>
                                          </p:stCondLst>
                                        </p:cTn>
                                        <p:tgtEl>
                                          <p:spTgt spid="3">
                                            <p:txEl>
                                              <p:pRg st="2" end="2"/>
                                            </p:txEl>
                                          </p:spTgt>
                                        </p:tgtEl>
                                      </p:cBhvr>
                                    </p:animEffect>
                                    <p:anim calcmode="lin" valueType="num">
                                      <p:cBhvr>
                                        <p:cTn id="2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2" end="2"/>
                                            </p:txEl>
                                          </p:spTgt>
                                        </p:tgtEl>
                                      </p:cBhvr>
                                      <p:to x="100000" y="60000"/>
                                    </p:animScale>
                                    <p:animScale>
                                      <p:cBhvr>
                                        <p:cTn id="30" dur="166" decel="50000">
                                          <p:stCondLst>
                                            <p:cond delay="676"/>
                                          </p:stCondLst>
                                        </p:cTn>
                                        <p:tgtEl>
                                          <p:spTgt spid="3">
                                            <p:txEl>
                                              <p:pRg st="2" end="2"/>
                                            </p:txEl>
                                          </p:spTgt>
                                        </p:tgtEl>
                                      </p:cBhvr>
                                      <p:to x="100000" y="100000"/>
                                    </p:animScale>
                                    <p:animScale>
                                      <p:cBhvr>
                                        <p:cTn id="31" dur="26">
                                          <p:stCondLst>
                                            <p:cond delay="1312"/>
                                          </p:stCondLst>
                                        </p:cTn>
                                        <p:tgtEl>
                                          <p:spTgt spid="3">
                                            <p:txEl>
                                              <p:pRg st="2" end="2"/>
                                            </p:txEl>
                                          </p:spTgt>
                                        </p:tgtEl>
                                      </p:cBhvr>
                                      <p:to x="100000" y="80000"/>
                                    </p:animScale>
                                    <p:animScale>
                                      <p:cBhvr>
                                        <p:cTn id="32" dur="166" decel="50000">
                                          <p:stCondLst>
                                            <p:cond delay="1338"/>
                                          </p:stCondLst>
                                        </p:cTn>
                                        <p:tgtEl>
                                          <p:spTgt spid="3">
                                            <p:txEl>
                                              <p:pRg st="2" end="2"/>
                                            </p:txEl>
                                          </p:spTgt>
                                        </p:tgtEl>
                                      </p:cBhvr>
                                      <p:to x="100000" y="100000"/>
                                    </p:animScale>
                                    <p:animScale>
                                      <p:cBhvr>
                                        <p:cTn id="33" dur="26">
                                          <p:stCondLst>
                                            <p:cond delay="1642"/>
                                          </p:stCondLst>
                                        </p:cTn>
                                        <p:tgtEl>
                                          <p:spTgt spid="3">
                                            <p:txEl>
                                              <p:pRg st="2" end="2"/>
                                            </p:txEl>
                                          </p:spTgt>
                                        </p:tgtEl>
                                      </p:cBhvr>
                                      <p:to x="100000" y="90000"/>
                                    </p:animScale>
                                    <p:animScale>
                                      <p:cBhvr>
                                        <p:cTn id="34" dur="166" decel="50000">
                                          <p:stCondLst>
                                            <p:cond delay="1668"/>
                                          </p:stCondLst>
                                        </p:cTn>
                                        <p:tgtEl>
                                          <p:spTgt spid="3">
                                            <p:txEl>
                                              <p:pRg st="2" end="2"/>
                                            </p:txEl>
                                          </p:spTgt>
                                        </p:tgtEl>
                                      </p:cBhvr>
                                      <p:to x="100000" y="100000"/>
                                    </p:animScale>
                                    <p:animScale>
                                      <p:cBhvr>
                                        <p:cTn id="35" dur="26">
                                          <p:stCondLst>
                                            <p:cond delay="1808"/>
                                          </p:stCondLst>
                                        </p:cTn>
                                        <p:tgtEl>
                                          <p:spTgt spid="3">
                                            <p:txEl>
                                              <p:pRg st="2" end="2"/>
                                            </p:txEl>
                                          </p:spTgt>
                                        </p:tgtEl>
                                      </p:cBhvr>
                                      <p:to x="100000" y="95000"/>
                                    </p:animScale>
                                    <p:animScale>
                                      <p:cBhvr>
                                        <p:cTn id="36" dur="166" decel="50000">
                                          <p:stCondLst>
                                            <p:cond delay="1834"/>
                                          </p:stCondLst>
                                        </p:cTn>
                                        <p:tgtEl>
                                          <p:spTgt spid="3">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down)">
                                      <p:cBhvr>
                                        <p:cTn id="39" dur="580">
                                          <p:stCondLst>
                                            <p:cond delay="0"/>
                                          </p:stCondLst>
                                        </p:cTn>
                                        <p:tgtEl>
                                          <p:spTgt spid="3">
                                            <p:txEl>
                                              <p:pRg st="3" end="3"/>
                                            </p:txEl>
                                          </p:spTgt>
                                        </p:tgtEl>
                                      </p:cBhvr>
                                    </p:animEffect>
                                    <p:anim calcmode="lin" valueType="num">
                                      <p:cBhvr>
                                        <p:cTn id="4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3" end="3"/>
                                            </p:txEl>
                                          </p:spTgt>
                                        </p:tgtEl>
                                      </p:cBhvr>
                                      <p:to x="100000" y="60000"/>
                                    </p:animScale>
                                    <p:animScale>
                                      <p:cBhvr>
                                        <p:cTn id="46" dur="166" decel="50000">
                                          <p:stCondLst>
                                            <p:cond delay="676"/>
                                          </p:stCondLst>
                                        </p:cTn>
                                        <p:tgtEl>
                                          <p:spTgt spid="3">
                                            <p:txEl>
                                              <p:pRg st="3" end="3"/>
                                            </p:txEl>
                                          </p:spTgt>
                                        </p:tgtEl>
                                      </p:cBhvr>
                                      <p:to x="100000" y="100000"/>
                                    </p:animScale>
                                    <p:animScale>
                                      <p:cBhvr>
                                        <p:cTn id="47" dur="26">
                                          <p:stCondLst>
                                            <p:cond delay="1312"/>
                                          </p:stCondLst>
                                        </p:cTn>
                                        <p:tgtEl>
                                          <p:spTgt spid="3">
                                            <p:txEl>
                                              <p:pRg st="3" end="3"/>
                                            </p:txEl>
                                          </p:spTgt>
                                        </p:tgtEl>
                                      </p:cBhvr>
                                      <p:to x="100000" y="80000"/>
                                    </p:animScale>
                                    <p:animScale>
                                      <p:cBhvr>
                                        <p:cTn id="48" dur="166" decel="50000">
                                          <p:stCondLst>
                                            <p:cond delay="1338"/>
                                          </p:stCondLst>
                                        </p:cTn>
                                        <p:tgtEl>
                                          <p:spTgt spid="3">
                                            <p:txEl>
                                              <p:pRg st="3" end="3"/>
                                            </p:txEl>
                                          </p:spTgt>
                                        </p:tgtEl>
                                      </p:cBhvr>
                                      <p:to x="100000" y="100000"/>
                                    </p:animScale>
                                    <p:animScale>
                                      <p:cBhvr>
                                        <p:cTn id="49" dur="26">
                                          <p:stCondLst>
                                            <p:cond delay="1642"/>
                                          </p:stCondLst>
                                        </p:cTn>
                                        <p:tgtEl>
                                          <p:spTgt spid="3">
                                            <p:txEl>
                                              <p:pRg st="3" end="3"/>
                                            </p:txEl>
                                          </p:spTgt>
                                        </p:tgtEl>
                                      </p:cBhvr>
                                      <p:to x="100000" y="90000"/>
                                    </p:animScale>
                                    <p:animScale>
                                      <p:cBhvr>
                                        <p:cTn id="50" dur="166" decel="50000">
                                          <p:stCondLst>
                                            <p:cond delay="1668"/>
                                          </p:stCondLst>
                                        </p:cTn>
                                        <p:tgtEl>
                                          <p:spTgt spid="3">
                                            <p:txEl>
                                              <p:pRg st="3" end="3"/>
                                            </p:txEl>
                                          </p:spTgt>
                                        </p:tgtEl>
                                      </p:cBhvr>
                                      <p:to x="100000" y="100000"/>
                                    </p:animScale>
                                    <p:animScale>
                                      <p:cBhvr>
                                        <p:cTn id="51" dur="26">
                                          <p:stCondLst>
                                            <p:cond delay="1808"/>
                                          </p:stCondLst>
                                        </p:cTn>
                                        <p:tgtEl>
                                          <p:spTgt spid="3">
                                            <p:txEl>
                                              <p:pRg st="3" end="3"/>
                                            </p:txEl>
                                          </p:spTgt>
                                        </p:tgtEl>
                                      </p:cBhvr>
                                      <p:to x="100000" y="95000"/>
                                    </p:animScale>
                                    <p:animScale>
                                      <p:cBhvr>
                                        <p:cTn id="52" dur="166" decel="50000">
                                          <p:stCondLst>
                                            <p:cond delay="1834"/>
                                          </p:stCondLst>
                                        </p:cTn>
                                        <p:tgtEl>
                                          <p:spTgt spid="3">
                                            <p:txEl>
                                              <p:pRg st="3" end="3"/>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Effect transition="in" filter="wipe(down)">
                                      <p:cBhvr>
                                        <p:cTn id="55" dur="580">
                                          <p:stCondLst>
                                            <p:cond delay="0"/>
                                          </p:stCondLst>
                                        </p:cTn>
                                        <p:tgtEl>
                                          <p:spTgt spid="3">
                                            <p:txEl>
                                              <p:pRg st="4" end="4"/>
                                            </p:txEl>
                                          </p:spTgt>
                                        </p:tgtEl>
                                      </p:cBhvr>
                                    </p:animEffect>
                                    <p:anim calcmode="lin" valueType="num">
                                      <p:cBhvr>
                                        <p:cTn id="5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4" end="4"/>
                                            </p:txEl>
                                          </p:spTgt>
                                        </p:tgtEl>
                                      </p:cBhvr>
                                      <p:to x="100000" y="60000"/>
                                    </p:animScale>
                                    <p:animScale>
                                      <p:cBhvr>
                                        <p:cTn id="62" dur="166" decel="50000">
                                          <p:stCondLst>
                                            <p:cond delay="676"/>
                                          </p:stCondLst>
                                        </p:cTn>
                                        <p:tgtEl>
                                          <p:spTgt spid="3">
                                            <p:txEl>
                                              <p:pRg st="4" end="4"/>
                                            </p:txEl>
                                          </p:spTgt>
                                        </p:tgtEl>
                                      </p:cBhvr>
                                      <p:to x="100000" y="100000"/>
                                    </p:animScale>
                                    <p:animScale>
                                      <p:cBhvr>
                                        <p:cTn id="63" dur="26">
                                          <p:stCondLst>
                                            <p:cond delay="1312"/>
                                          </p:stCondLst>
                                        </p:cTn>
                                        <p:tgtEl>
                                          <p:spTgt spid="3">
                                            <p:txEl>
                                              <p:pRg st="4" end="4"/>
                                            </p:txEl>
                                          </p:spTgt>
                                        </p:tgtEl>
                                      </p:cBhvr>
                                      <p:to x="100000" y="80000"/>
                                    </p:animScale>
                                    <p:animScale>
                                      <p:cBhvr>
                                        <p:cTn id="64" dur="166" decel="50000">
                                          <p:stCondLst>
                                            <p:cond delay="1338"/>
                                          </p:stCondLst>
                                        </p:cTn>
                                        <p:tgtEl>
                                          <p:spTgt spid="3">
                                            <p:txEl>
                                              <p:pRg st="4" end="4"/>
                                            </p:txEl>
                                          </p:spTgt>
                                        </p:tgtEl>
                                      </p:cBhvr>
                                      <p:to x="100000" y="100000"/>
                                    </p:animScale>
                                    <p:animScale>
                                      <p:cBhvr>
                                        <p:cTn id="65" dur="26">
                                          <p:stCondLst>
                                            <p:cond delay="1642"/>
                                          </p:stCondLst>
                                        </p:cTn>
                                        <p:tgtEl>
                                          <p:spTgt spid="3">
                                            <p:txEl>
                                              <p:pRg st="4" end="4"/>
                                            </p:txEl>
                                          </p:spTgt>
                                        </p:tgtEl>
                                      </p:cBhvr>
                                      <p:to x="100000" y="90000"/>
                                    </p:animScale>
                                    <p:animScale>
                                      <p:cBhvr>
                                        <p:cTn id="66" dur="166" decel="50000">
                                          <p:stCondLst>
                                            <p:cond delay="1668"/>
                                          </p:stCondLst>
                                        </p:cTn>
                                        <p:tgtEl>
                                          <p:spTgt spid="3">
                                            <p:txEl>
                                              <p:pRg st="4" end="4"/>
                                            </p:txEl>
                                          </p:spTgt>
                                        </p:tgtEl>
                                      </p:cBhvr>
                                      <p:to x="100000" y="100000"/>
                                    </p:animScale>
                                    <p:animScale>
                                      <p:cBhvr>
                                        <p:cTn id="67" dur="26">
                                          <p:stCondLst>
                                            <p:cond delay="1808"/>
                                          </p:stCondLst>
                                        </p:cTn>
                                        <p:tgtEl>
                                          <p:spTgt spid="3">
                                            <p:txEl>
                                              <p:pRg st="4" end="4"/>
                                            </p:txEl>
                                          </p:spTgt>
                                        </p:tgtEl>
                                      </p:cBhvr>
                                      <p:to x="100000" y="95000"/>
                                    </p:animScale>
                                    <p:animScale>
                                      <p:cBhvr>
                                        <p:cTn id="68" dur="166" decel="50000">
                                          <p:stCondLst>
                                            <p:cond delay="1834"/>
                                          </p:stCondLst>
                                        </p:cTn>
                                        <p:tgtEl>
                                          <p:spTgt spid="3">
                                            <p:txEl>
                                              <p:pRg st="4" end="4"/>
                                            </p:txEl>
                                          </p:spTgt>
                                        </p:tgtEl>
                                      </p:cBhvr>
                                      <p:to x="100000" y="100000"/>
                                    </p:animScale>
                                  </p:childTnLst>
                                </p:cTn>
                              </p:par>
                              <p:par>
                                <p:cTn id="69" presetID="26" presetClass="entr" presetSubtype="0" fill="hold" nodeType="with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wipe(down)">
                                      <p:cBhvr>
                                        <p:cTn id="71" dur="580">
                                          <p:stCondLst>
                                            <p:cond delay="0"/>
                                          </p:stCondLst>
                                        </p:cTn>
                                        <p:tgtEl>
                                          <p:spTgt spid="3">
                                            <p:txEl>
                                              <p:pRg st="5" end="5"/>
                                            </p:txEl>
                                          </p:spTgt>
                                        </p:tgtEl>
                                      </p:cBhvr>
                                    </p:animEffect>
                                    <p:anim calcmode="lin" valueType="num">
                                      <p:cBhvr>
                                        <p:cTn id="72"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5" end="5"/>
                                            </p:txEl>
                                          </p:spTgt>
                                        </p:tgtEl>
                                      </p:cBhvr>
                                      <p:to x="100000" y="60000"/>
                                    </p:animScale>
                                    <p:animScale>
                                      <p:cBhvr>
                                        <p:cTn id="78" dur="166" decel="50000">
                                          <p:stCondLst>
                                            <p:cond delay="676"/>
                                          </p:stCondLst>
                                        </p:cTn>
                                        <p:tgtEl>
                                          <p:spTgt spid="3">
                                            <p:txEl>
                                              <p:pRg st="5" end="5"/>
                                            </p:txEl>
                                          </p:spTgt>
                                        </p:tgtEl>
                                      </p:cBhvr>
                                      <p:to x="100000" y="100000"/>
                                    </p:animScale>
                                    <p:animScale>
                                      <p:cBhvr>
                                        <p:cTn id="79" dur="26">
                                          <p:stCondLst>
                                            <p:cond delay="1312"/>
                                          </p:stCondLst>
                                        </p:cTn>
                                        <p:tgtEl>
                                          <p:spTgt spid="3">
                                            <p:txEl>
                                              <p:pRg st="5" end="5"/>
                                            </p:txEl>
                                          </p:spTgt>
                                        </p:tgtEl>
                                      </p:cBhvr>
                                      <p:to x="100000" y="80000"/>
                                    </p:animScale>
                                    <p:animScale>
                                      <p:cBhvr>
                                        <p:cTn id="80" dur="166" decel="50000">
                                          <p:stCondLst>
                                            <p:cond delay="1338"/>
                                          </p:stCondLst>
                                        </p:cTn>
                                        <p:tgtEl>
                                          <p:spTgt spid="3">
                                            <p:txEl>
                                              <p:pRg st="5" end="5"/>
                                            </p:txEl>
                                          </p:spTgt>
                                        </p:tgtEl>
                                      </p:cBhvr>
                                      <p:to x="100000" y="100000"/>
                                    </p:animScale>
                                    <p:animScale>
                                      <p:cBhvr>
                                        <p:cTn id="81" dur="26">
                                          <p:stCondLst>
                                            <p:cond delay="1642"/>
                                          </p:stCondLst>
                                        </p:cTn>
                                        <p:tgtEl>
                                          <p:spTgt spid="3">
                                            <p:txEl>
                                              <p:pRg st="5" end="5"/>
                                            </p:txEl>
                                          </p:spTgt>
                                        </p:tgtEl>
                                      </p:cBhvr>
                                      <p:to x="100000" y="90000"/>
                                    </p:animScale>
                                    <p:animScale>
                                      <p:cBhvr>
                                        <p:cTn id="82" dur="166" decel="50000">
                                          <p:stCondLst>
                                            <p:cond delay="1668"/>
                                          </p:stCondLst>
                                        </p:cTn>
                                        <p:tgtEl>
                                          <p:spTgt spid="3">
                                            <p:txEl>
                                              <p:pRg st="5" end="5"/>
                                            </p:txEl>
                                          </p:spTgt>
                                        </p:tgtEl>
                                      </p:cBhvr>
                                      <p:to x="100000" y="100000"/>
                                    </p:animScale>
                                    <p:animScale>
                                      <p:cBhvr>
                                        <p:cTn id="83" dur="26">
                                          <p:stCondLst>
                                            <p:cond delay="1808"/>
                                          </p:stCondLst>
                                        </p:cTn>
                                        <p:tgtEl>
                                          <p:spTgt spid="3">
                                            <p:txEl>
                                              <p:pRg st="5" end="5"/>
                                            </p:txEl>
                                          </p:spTgt>
                                        </p:tgtEl>
                                      </p:cBhvr>
                                      <p:to x="100000" y="95000"/>
                                    </p:animScale>
                                    <p:animScale>
                                      <p:cBhvr>
                                        <p:cTn id="84"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המשך </a:t>
            </a:r>
            <a:endParaRPr lang="he-IL" dirty="0"/>
          </a:p>
        </p:txBody>
      </p:sp>
      <p:sp>
        <p:nvSpPr>
          <p:cNvPr id="3" name="מציין מיקום תוכן 2"/>
          <p:cNvSpPr>
            <a:spLocks noGrp="1"/>
          </p:cNvSpPr>
          <p:nvPr>
            <p:ph idx="1"/>
          </p:nvPr>
        </p:nvSpPr>
        <p:spPr/>
        <p:txBody>
          <a:bodyPr/>
          <a:lstStyle/>
          <a:p>
            <a:r>
              <a:rPr lang="he-IL" dirty="0" smtClean="0"/>
              <a:t>כעת , כדי לקבל ערך מודפס של תוצאה מהצורה </a:t>
            </a:r>
            <a:r>
              <a:rPr lang="en-US" dirty="0" smtClean="0"/>
              <a:t>fact(5)=120</a:t>
            </a:r>
            <a:r>
              <a:rPr lang="he-IL" dirty="0" smtClean="0"/>
              <a:t> ע"י שימוש במחרוזת של </a:t>
            </a:r>
            <a:r>
              <a:rPr lang="en-US" dirty="0" err="1" smtClean="0"/>
              <a:t>fmt</a:t>
            </a:r>
            <a:r>
              <a:rPr lang="he-IL" dirty="0" smtClean="0"/>
              <a:t> , נסביר כיצד פועלת הפקודה </a:t>
            </a:r>
            <a:r>
              <a:rPr lang="en-US" dirty="0" err="1" smtClean="0"/>
              <a:t>printf</a:t>
            </a:r>
            <a:r>
              <a:rPr lang="he-IL" dirty="0" smtClean="0"/>
              <a:t> משפת </a:t>
            </a:r>
            <a:r>
              <a:rPr lang="en-US" dirty="0" smtClean="0"/>
              <a:t>C</a:t>
            </a:r>
            <a:r>
              <a:rPr lang="he-IL" dirty="0" smtClean="0"/>
              <a:t> ואילו ארגומנטים עליה לקבל :</a:t>
            </a:r>
            <a:r>
              <a:rPr lang="en-US" dirty="0" smtClean="0"/>
              <a:t> </a:t>
            </a:r>
            <a:endParaRPr lang="he-IL" dirty="0" smtClean="0"/>
          </a:p>
          <a:p>
            <a:r>
              <a:rPr lang="he-IL" dirty="0" smtClean="0"/>
              <a:t>במערכת </a:t>
            </a:r>
            <a:r>
              <a:rPr lang="en-US" dirty="0" err="1" smtClean="0"/>
              <a:t>linux</a:t>
            </a:r>
            <a:r>
              <a:rPr lang="he-IL" dirty="0" smtClean="0"/>
              <a:t> עם 64 ביטים, הארגומנטים אל פונקציה  עוברים דרך האוגרים ולא דרך המחסנית. </a:t>
            </a:r>
          </a:p>
          <a:p>
            <a:r>
              <a:rPr lang="he-IL" dirty="0" smtClean="0"/>
              <a:t>לכן עבור </a:t>
            </a:r>
            <a:r>
              <a:rPr lang="en-US" dirty="0" err="1" smtClean="0"/>
              <a:t>printf</a:t>
            </a:r>
            <a:r>
              <a:rPr lang="en-US" dirty="0" smtClean="0"/>
              <a:t>(</a:t>
            </a:r>
            <a:r>
              <a:rPr lang="en-US" dirty="0" err="1" smtClean="0"/>
              <a:t>fmt</a:t>
            </a:r>
            <a:r>
              <a:rPr lang="en-US" dirty="0" smtClean="0"/>
              <a:t>, </a:t>
            </a:r>
            <a:r>
              <a:rPr lang="en-US" dirty="0" err="1" smtClean="0"/>
              <a:t>a,b</a:t>
            </a:r>
            <a:r>
              <a:rPr lang="en-US" dirty="0" smtClean="0"/>
              <a:t>)</a:t>
            </a:r>
            <a:r>
              <a:rPr lang="he-IL" dirty="0" smtClean="0"/>
              <a:t> יש לערב את האוגרים הבאים :</a:t>
            </a:r>
            <a:r>
              <a:rPr lang="en-US" dirty="0" smtClean="0"/>
              <a:t> </a:t>
            </a:r>
            <a:endParaRPr lang="he-IL" dirty="0" smtClean="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60</a:t>
            </a:fld>
            <a:endParaRPr lang="he-IL"/>
          </a:p>
        </p:txBody>
      </p:sp>
    </p:spTree>
    <p:extLst>
      <p:ext uri="{BB962C8B-B14F-4D97-AF65-F5344CB8AC3E}">
        <p14:creationId xmlns:p14="http://schemas.microsoft.com/office/powerpoint/2010/main" val="235879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המשך </a:t>
            </a:r>
            <a:endParaRPr lang="he-IL" dirty="0"/>
          </a:p>
        </p:txBody>
      </p:sp>
      <p:sp>
        <p:nvSpPr>
          <p:cNvPr id="3" name="מציין מיקום תוכן 2"/>
          <p:cNvSpPr>
            <a:spLocks noGrp="1"/>
          </p:cNvSpPr>
          <p:nvPr>
            <p:ph idx="1"/>
          </p:nvPr>
        </p:nvSpPr>
        <p:spPr/>
        <p:txBody>
          <a:bodyPr/>
          <a:lstStyle/>
          <a:p>
            <a:pPr algn="l" rtl="0"/>
            <a:r>
              <a:rPr lang="en-US" dirty="0" err="1"/>
              <a:t>rdi</a:t>
            </a:r>
            <a:r>
              <a:rPr lang="en-US" dirty="0"/>
              <a:t> → pointer to the format </a:t>
            </a:r>
            <a:r>
              <a:rPr lang="en-US" dirty="0" smtClean="0"/>
              <a:t>string</a:t>
            </a:r>
          </a:p>
          <a:p>
            <a:pPr algn="l" rtl="0"/>
            <a:r>
              <a:rPr lang="en-US" dirty="0" err="1" smtClean="0"/>
              <a:t>rsi</a:t>
            </a:r>
            <a:r>
              <a:rPr lang="en-US" dirty="0" smtClean="0"/>
              <a:t> </a:t>
            </a:r>
            <a:r>
              <a:rPr lang="en-US" dirty="0"/>
              <a:t>→ first value to substitute into %</a:t>
            </a:r>
            <a:r>
              <a:rPr lang="en-US" dirty="0" smtClean="0"/>
              <a:t>d</a:t>
            </a:r>
          </a:p>
          <a:p>
            <a:pPr algn="l" rtl="0"/>
            <a:r>
              <a:rPr lang="en-US" dirty="0" err="1" smtClean="0"/>
              <a:t>rdx</a:t>
            </a:r>
            <a:r>
              <a:rPr lang="en-US" dirty="0" smtClean="0"/>
              <a:t> </a:t>
            </a:r>
            <a:r>
              <a:rPr lang="en-US" dirty="0"/>
              <a:t>→ second value to substitute into %</a:t>
            </a:r>
            <a:r>
              <a:rPr lang="en-US" dirty="0" smtClean="0"/>
              <a:t>d</a:t>
            </a:r>
          </a:p>
          <a:p>
            <a:pPr algn="l" rtl="0"/>
            <a:r>
              <a:rPr lang="en-US" dirty="0" err="1" smtClean="0"/>
              <a:t>rcx</a:t>
            </a:r>
            <a:r>
              <a:rPr lang="en-US" dirty="0" smtClean="0"/>
              <a:t> </a:t>
            </a:r>
            <a:r>
              <a:rPr lang="en-US" dirty="0"/>
              <a:t>→ third </a:t>
            </a:r>
            <a:r>
              <a:rPr lang="en-US" dirty="0" smtClean="0"/>
              <a:t>value</a:t>
            </a:r>
          </a:p>
          <a:p>
            <a:pPr algn="l" rtl="0"/>
            <a:r>
              <a:rPr lang="en-US" dirty="0" smtClean="0"/>
              <a:t>r8 </a:t>
            </a:r>
            <a:r>
              <a:rPr lang="en-US" dirty="0"/>
              <a:t>→ fourth </a:t>
            </a:r>
            <a:r>
              <a:rPr lang="en-US" dirty="0" smtClean="0"/>
              <a:t>value</a:t>
            </a:r>
          </a:p>
          <a:p>
            <a:pPr algn="l" rtl="0"/>
            <a:r>
              <a:rPr lang="en-US" dirty="0" smtClean="0"/>
              <a:t>r9 </a:t>
            </a:r>
            <a:r>
              <a:rPr lang="en-US" dirty="0"/>
              <a:t>→ fifth value</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61</a:t>
            </a:fld>
            <a:endParaRPr lang="he-IL"/>
          </a:p>
        </p:txBody>
      </p:sp>
    </p:spTree>
    <p:extLst>
      <p:ext uri="{BB962C8B-B14F-4D97-AF65-F5344CB8AC3E}">
        <p14:creationId xmlns:p14="http://schemas.microsoft.com/office/powerpoint/2010/main" val="318461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המשך </a:t>
            </a:r>
            <a:endParaRPr lang="he-IL" dirty="0"/>
          </a:p>
        </p:txBody>
      </p:sp>
      <p:sp>
        <p:nvSpPr>
          <p:cNvPr id="3" name="מציין מיקום תוכן 2"/>
          <p:cNvSpPr>
            <a:spLocks noGrp="1"/>
          </p:cNvSpPr>
          <p:nvPr>
            <p:ph idx="1"/>
          </p:nvPr>
        </p:nvSpPr>
        <p:spPr/>
        <p:txBody>
          <a:bodyPr/>
          <a:lstStyle/>
          <a:p>
            <a:r>
              <a:rPr lang="he-IL" dirty="0" smtClean="0"/>
              <a:t>הפורמט שלנו הוא </a:t>
            </a:r>
            <a:r>
              <a:rPr lang="en-US" dirty="0" err="1"/>
              <a:t>printf</a:t>
            </a:r>
            <a:r>
              <a:rPr lang="en-US" dirty="0"/>
              <a:t>("fact (%d)=%d\n", 5, 120</a:t>
            </a:r>
            <a:r>
              <a:rPr lang="en-US" dirty="0" smtClean="0"/>
              <a:t>);</a:t>
            </a:r>
            <a:r>
              <a:rPr lang="he-IL" dirty="0" smtClean="0"/>
              <a:t>  ולכן השימוש באוגרים יהיה כדלקמן :</a:t>
            </a:r>
            <a:r>
              <a:rPr lang="en-US" dirty="0" smtClean="0"/>
              <a:t> </a:t>
            </a:r>
            <a:endParaRPr lang="he-IL" dirty="0" smtClean="0"/>
          </a:p>
          <a:p>
            <a:r>
              <a:rPr lang="en-US" dirty="0" err="1" smtClean="0"/>
              <a:t>rdi</a:t>
            </a:r>
            <a:r>
              <a:rPr lang="en-US" dirty="0" smtClean="0"/>
              <a:t> </a:t>
            </a:r>
            <a:r>
              <a:rPr lang="he-IL" dirty="0" smtClean="0"/>
              <a:t> - הכתובת של </a:t>
            </a:r>
            <a:r>
              <a:rPr lang="en-US" dirty="0" smtClean="0"/>
              <a:t>"</a:t>
            </a:r>
            <a:r>
              <a:rPr lang="en-US" dirty="0"/>
              <a:t>fact (%d)=%d\n</a:t>
            </a:r>
            <a:r>
              <a:rPr lang="en-US" dirty="0" smtClean="0"/>
              <a:t>"</a:t>
            </a:r>
            <a:r>
              <a:rPr lang="he-IL" dirty="0" smtClean="0"/>
              <a:t>  </a:t>
            </a:r>
          </a:p>
          <a:p>
            <a:r>
              <a:rPr lang="en-US" dirty="0" smtClean="0"/>
              <a:t>Rsi=5</a:t>
            </a:r>
            <a:endParaRPr lang="he-IL" dirty="0" smtClean="0"/>
          </a:p>
          <a:p>
            <a:r>
              <a:rPr lang="en-US" dirty="0" smtClean="0"/>
              <a:t>Rdx=120</a:t>
            </a:r>
            <a:endParaRPr lang="he-IL" dirty="0" smtClean="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62</a:t>
            </a:fld>
            <a:endParaRPr lang="he-IL"/>
          </a:p>
        </p:txBody>
      </p:sp>
      <p:pic>
        <p:nvPicPr>
          <p:cNvPr id="6" name="תמונה 5"/>
          <p:cNvPicPr>
            <a:picLocks noChangeAspect="1"/>
          </p:cNvPicPr>
          <p:nvPr/>
        </p:nvPicPr>
        <p:blipFill>
          <a:blip r:embed="rId2"/>
          <a:stretch>
            <a:fillRect/>
          </a:stretch>
        </p:blipFill>
        <p:spPr>
          <a:xfrm>
            <a:off x="835539" y="4584107"/>
            <a:ext cx="8106906" cy="1219370"/>
          </a:xfrm>
          <a:prstGeom prst="rect">
            <a:avLst/>
          </a:prstGeom>
        </p:spPr>
      </p:pic>
    </p:spTree>
    <p:extLst>
      <p:ext uri="{BB962C8B-B14F-4D97-AF65-F5344CB8AC3E}">
        <p14:creationId xmlns:p14="http://schemas.microsoft.com/office/powerpoint/2010/main" val="148320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down)">
                                      <p:cBhvr>
                                        <p:cTn id="25" dur="580">
                                          <p:stCondLst>
                                            <p:cond delay="0"/>
                                          </p:stCondLst>
                                        </p:cTn>
                                        <p:tgtEl>
                                          <p:spTgt spid="3">
                                            <p:txEl>
                                              <p:pRg st="3" end="3"/>
                                            </p:txEl>
                                          </p:spTgt>
                                        </p:tgtEl>
                                      </p:cBhvr>
                                    </p:animEffect>
                                    <p:anim calcmode="lin" valueType="num">
                                      <p:cBhvr>
                                        <p:cTn id="2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3" end="3"/>
                                            </p:txEl>
                                          </p:spTgt>
                                        </p:tgtEl>
                                      </p:cBhvr>
                                      <p:to x="100000" y="60000"/>
                                    </p:animScale>
                                    <p:animScale>
                                      <p:cBhvr>
                                        <p:cTn id="32" dur="166" decel="50000">
                                          <p:stCondLst>
                                            <p:cond delay="676"/>
                                          </p:stCondLst>
                                        </p:cTn>
                                        <p:tgtEl>
                                          <p:spTgt spid="3">
                                            <p:txEl>
                                              <p:pRg st="3" end="3"/>
                                            </p:txEl>
                                          </p:spTgt>
                                        </p:tgtEl>
                                      </p:cBhvr>
                                      <p:to x="100000" y="100000"/>
                                    </p:animScale>
                                    <p:animScale>
                                      <p:cBhvr>
                                        <p:cTn id="33" dur="26">
                                          <p:stCondLst>
                                            <p:cond delay="1312"/>
                                          </p:stCondLst>
                                        </p:cTn>
                                        <p:tgtEl>
                                          <p:spTgt spid="3">
                                            <p:txEl>
                                              <p:pRg st="3" end="3"/>
                                            </p:txEl>
                                          </p:spTgt>
                                        </p:tgtEl>
                                      </p:cBhvr>
                                      <p:to x="100000" y="80000"/>
                                    </p:animScale>
                                    <p:animScale>
                                      <p:cBhvr>
                                        <p:cTn id="34" dur="166" decel="50000">
                                          <p:stCondLst>
                                            <p:cond delay="1338"/>
                                          </p:stCondLst>
                                        </p:cTn>
                                        <p:tgtEl>
                                          <p:spTgt spid="3">
                                            <p:txEl>
                                              <p:pRg st="3" end="3"/>
                                            </p:txEl>
                                          </p:spTgt>
                                        </p:tgtEl>
                                      </p:cBhvr>
                                      <p:to x="100000" y="100000"/>
                                    </p:animScale>
                                    <p:animScale>
                                      <p:cBhvr>
                                        <p:cTn id="35" dur="26">
                                          <p:stCondLst>
                                            <p:cond delay="1642"/>
                                          </p:stCondLst>
                                        </p:cTn>
                                        <p:tgtEl>
                                          <p:spTgt spid="3">
                                            <p:txEl>
                                              <p:pRg st="3" end="3"/>
                                            </p:txEl>
                                          </p:spTgt>
                                        </p:tgtEl>
                                      </p:cBhvr>
                                      <p:to x="100000" y="90000"/>
                                    </p:animScale>
                                    <p:animScale>
                                      <p:cBhvr>
                                        <p:cTn id="36" dur="166" decel="50000">
                                          <p:stCondLst>
                                            <p:cond delay="1668"/>
                                          </p:stCondLst>
                                        </p:cTn>
                                        <p:tgtEl>
                                          <p:spTgt spid="3">
                                            <p:txEl>
                                              <p:pRg st="3" end="3"/>
                                            </p:txEl>
                                          </p:spTgt>
                                        </p:tgtEl>
                                      </p:cBhvr>
                                      <p:to x="100000" y="100000"/>
                                    </p:animScale>
                                    <p:animScale>
                                      <p:cBhvr>
                                        <p:cTn id="37" dur="26">
                                          <p:stCondLst>
                                            <p:cond delay="1808"/>
                                          </p:stCondLst>
                                        </p:cTn>
                                        <p:tgtEl>
                                          <p:spTgt spid="3">
                                            <p:txEl>
                                              <p:pRg st="3" end="3"/>
                                            </p:txEl>
                                          </p:spTgt>
                                        </p:tgtEl>
                                      </p:cBhvr>
                                      <p:to x="100000" y="95000"/>
                                    </p:animScale>
                                    <p:animScale>
                                      <p:cBhvr>
                                        <p:cTn id="38" dur="166" decel="50000">
                                          <p:stCondLst>
                                            <p:cond delay="1834"/>
                                          </p:stCondLst>
                                        </p:cTn>
                                        <p:tgtEl>
                                          <p:spTgt spid="3">
                                            <p:txEl>
                                              <p:pRg st="3" end="3"/>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down)">
                                      <p:cBhvr>
                                        <p:cTn id="43" dur="580">
                                          <p:stCondLst>
                                            <p:cond delay="0"/>
                                          </p:stCondLst>
                                        </p:cTn>
                                        <p:tgtEl>
                                          <p:spTgt spid="6"/>
                                        </p:tgtEl>
                                      </p:cBhvr>
                                    </p:animEffect>
                                    <p:anim calcmode="lin" valueType="num">
                                      <p:cBhvr>
                                        <p:cTn id="4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9" dur="26">
                                          <p:stCondLst>
                                            <p:cond delay="650"/>
                                          </p:stCondLst>
                                        </p:cTn>
                                        <p:tgtEl>
                                          <p:spTgt spid="6"/>
                                        </p:tgtEl>
                                      </p:cBhvr>
                                      <p:to x="100000" y="60000"/>
                                    </p:animScale>
                                    <p:animScale>
                                      <p:cBhvr>
                                        <p:cTn id="50" dur="166" decel="50000">
                                          <p:stCondLst>
                                            <p:cond delay="676"/>
                                          </p:stCondLst>
                                        </p:cTn>
                                        <p:tgtEl>
                                          <p:spTgt spid="6"/>
                                        </p:tgtEl>
                                      </p:cBhvr>
                                      <p:to x="100000" y="100000"/>
                                    </p:animScale>
                                    <p:animScale>
                                      <p:cBhvr>
                                        <p:cTn id="51" dur="26">
                                          <p:stCondLst>
                                            <p:cond delay="1312"/>
                                          </p:stCondLst>
                                        </p:cTn>
                                        <p:tgtEl>
                                          <p:spTgt spid="6"/>
                                        </p:tgtEl>
                                      </p:cBhvr>
                                      <p:to x="100000" y="80000"/>
                                    </p:animScale>
                                    <p:animScale>
                                      <p:cBhvr>
                                        <p:cTn id="52" dur="166" decel="50000">
                                          <p:stCondLst>
                                            <p:cond delay="1338"/>
                                          </p:stCondLst>
                                        </p:cTn>
                                        <p:tgtEl>
                                          <p:spTgt spid="6"/>
                                        </p:tgtEl>
                                      </p:cBhvr>
                                      <p:to x="100000" y="100000"/>
                                    </p:animScale>
                                    <p:animScale>
                                      <p:cBhvr>
                                        <p:cTn id="53" dur="26">
                                          <p:stCondLst>
                                            <p:cond delay="1642"/>
                                          </p:stCondLst>
                                        </p:cTn>
                                        <p:tgtEl>
                                          <p:spTgt spid="6"/>
                                        </p:tgtEl>
                                      </p:cBhvr>
                                      <p:to x="100000" y="90000"/>
                                    </p:animScale>
                                    <p:animScale>
                                      <p:cBhvr>
                                        <p:cTn id="54" dur="166" decel="50000">
                                          <p:stCondLst>
                                            <p:cond delay="1668"/>
                                          </p:stCondLst>
                                        </p:cTn>
                                        <p:tgtEl>
                                          <p:spTgt spid="6"/>
                                        </p:tgtEl>
                                      </p:cBhvr>
                                      <p:to x="100000" y="100000"/>
                                    </p:animScale>
                                    <p:animScale>
                                      <p:cBhvr>
                                        <p:cTn id="55" dur="26">
                                          <p:stCondLst>
                                            <p:cond delay="1808"/>
                                          </p:stCondLst>
                                        </p:cTn>
                                        <p:tgtEl>
                                          <p:spTgt spid="6"/>
                                        </p:tgtEl>
                                      </p:cBhvr>
                                      <p:to x="100000" y="95000"/>
                                    </p:animScale>
                                    <p:animScale>
                                      <p:cBhvr>
                                        <p:cTn id="5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הרצת התכנית </a:t>
            </a:r>
            <a:endParaRPr lang="he-IL" dirty="0"/>
          </a:p>
        </p:txBody>
      </p:sp>
      <p:sp>
        <p:nvSpPr>
          <p:cNvPr id="3" name="מציין מיקום תוכן 2"/>
          <p:cNvSpPr>
            <a:spLocks noGrp="1"/>
          </p:cNvSpPr>
          <p:nvPr>
            <p:ph idx="1"/>
          </p:nvPr>
        </p:nvSpPr>
        <p:spPr/>
        <p:txBody>
          <a:bodyPr/>
          <a:lstStyle/>
          <a:p>
            <a:pPr algn="l" rtl="0"/>
            <a:r>
              <a:rPr lang="en-US" dirty="0"/>
              <a:t>nasm -f elf64 fact_recursive_demo.asm -o </a:t>
            </a:r>
            <a:r>
              <a:rPr lang="en-US" dirty="0" err="1" smtClean="0"/>
              <a:t>fact_recursive_demo.o</a:t>
            </a:r>
            <a:endParaRPr lang="en-US" dirty="0" smtClean="0"/>
          </a:p>
          <a:p>
            <a:pPr algn="l" rtl="0"/>
            <a:r>
              <a:rPr lang="pt-BR" dirty="0"/>
              <a:t>gcc -no-pie fact_recursive_demo.o -o </a:t>
            </a:r>
            <a:r>
              <a:rPr lang="pt-BR" dirty="0" smtClean="0"/>
              <a:t>fact_recursive_demo</a:t>
            </a:r>
          </a:p>
          <a:p>
            <a:pPr algn="l" rtl="0"/>
            <a:r>
              <a:rPr lang="en-US" dirty="0"/>
              <a:t>./</a:t>
            </a:r>
            <a:r>
              <a:rPr lang="en-US" dirty="0" err="1"/>
              <a:t>fact_recursive_demo</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63</a:t>
            </a:fld>
            <a:endParaRPr lang="he-IL"/>
          </a:p>
        </p:txBody>
      </p:sp>
    </p:spTree>
    <p:extLst>
      <p:ext uri="{BB962C8B-B14F-4D97-AF65-F5344CB8AC3E}">
        <p14:creationId xmlns:p14="http://schemas.microsoft.com/office/powerpoint/2010/main" val="222723138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לסיכום מה למדנו היום ? </a:t>
            </a:r>
            <a:endParaRPr lang="he-IL" dirty="0"/>
          </a:p>
        </p:txBody>
      </p:sp>
      <p:sp>
        <p:nvSpPr>
          <p:cNvPr id="3" name="מציין מיקום תוכן 2"/>
          <p:cNvSpPr>
            <a:spLocks noGrp="1"/>
          </p:cNvSpPr>
          <p:nvPr>
            <p:ph idx="1"/>
          </p:nvPr>
        </p:nvSpPr>
        <p:spPr/>
        <p:txBody>
          <a:bodyPr/>
          <a:lstStyle/>
          <a:p>
            <a:r>
              <a:rPr lang="he-IL" dirty="0" smtClean="0"/>
              <a:t>1. מהי מחסנית ובאילו פעולות היא תומכת</a:t>
            </a:r>
          </a:p>
          <a:p>
            <a:r>
              <a:rPr lang="he-IL" dirty="0" smtClean="0"/>
              <a:t>2. מהו מאקרו , כיצד משתמשים בו ואיך משלבים אותו בתכניות לרבות ניואנסים כגון </a:t>
            </a:r>
            <a:r>
              <a:rPr lang="en-US" dirty="0" smtClean="0"/>
              <a:t>%%L</a:t>
            </a:r>
            <a:r>
              <a:rPr lang="he-IL" dirty="0" smtClean="0"/>
              <a:t> </a:t>
            </a:r>
          </a:p>
          <a:p>
            <a:r>
              <a:rPr lang="he-IL" dirty="0" smtClean="0"/>
              <a:t>3. קריאות  וחזרות מפונקציה באמצעות </a:t>
            </a:r>
            <a:r>
              <a:rPr lang="he-IL" dirty="0" err="1" smtClean="0"/>
              <a:t>מאקרוס</a:t>
            </a:r>
            <a:endParaRPr lang="he-IL" dirty="0" smtClean="0"/>
          </a:p>
          <a:p>
            <a:r>
              <a:rPr lang="he-IL" dirty="0" smtClean="0"/>
              <a:t>4. שילוב של פקודת </a:t>
            </a:r>
            <a:r>
              <a:rPr lang="en-US" dirty="0" err="1" smtClean="0"/>
              <a:t>printf</a:t>
            </a:r>
            <a:r>
              <a:rPr lang="en-US" dirty="0"/>
              <a:t> </a:t>
            </a:r>
            <a:r>
              <a:rPr lang="en-US" dirty="0" smtClean="0"/>
              <a:t> </a:t>
            </a:r>
            <a:r>
              <a:rPr lang="he-IL" dirty="0" smtClean="0"/>
              <a:t>  משפת </a:t>
            </a:r>
            <a:r>
              <a:rPr lang="en-US" dirty="0" smtClean="0"/>
              <a:t>C</a:t>
            </a:r>
            <a:r>
              <a:rPr lang="he-IL" dirty="0" smtClean="0"/>
              <a:t>  וקריאה אליה באמצעות מאקרו</a:t>
            </a:r>
          </a:p>
          <a:p>
            <a:r>
              <a:rPr lang="he-IL" dirty="0" smtClean="0"/>
              <a:t>5. רקורסיה ושילוב עבודת מחסנית </a:t>
            </a:r>
            <a:r>
              <a:rPr lang="he-IL" dirty="0" err="1" smtClean="0"/>
              <a:t>איתה</a:t>
            </a:r>
            <a:r>
              <a:rPr lang="he-IL" smtClean="0"/>
              <a:t>. </a:t>
            </a:r>
            <a:endParaRPr lang="he-IL"/>
          </a:p>
        </p:txBody>
      </p:sp>
      <p:sp>
        <p:nvSpPr>
          <p:cNvPr id="4" name="מציין מיקום של תאריך 3"/>
          <p:cNvSpPr>
            <a:spLocks noGrp="1"/>
          </p:cNvSpPr>
          <p:nvPr>
            <p:ph type="dt" sz="half" idx="10"/>
          </p:nvPr>
        </p:nvSpPr>
        <p:spPr/>
        <p:txBody>
          <a:bodyPr/>
          <a:lstStyle/>
          <a:p>
            <a:fld id="{D22EEECC-0AEE-4AC1-AFAE-3DC0F2314C17}" type="datetime8">
              <a:rPr lang="he-IL" smtClean="0"/>
              <a:t>01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64</a:t>
            </a:fld>
            <a:endParaRPr lang="he-IL"/>
          </a:p>
        </p:txBody>
      </p:sp>
    </p:spTree>
    <p:extLst>
      <p:ext uri="{BB962C8B-B14F-4D97-AF65-F5344CB8AC3E}">
        <p14:creationId xmlns:p14="http://schemas.microsoft.com/office/powerpoint/2010/main" val="244454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אורגני">
  <a:themeElements>
    <a:clrScheme name="אורגני">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אורגני">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אורגני">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1537</TotalTime>
  <Words>3166</Words>
  <Application>Microsoft Office PowerPoint</Application>
  <PresentationFormat>מסך רחב</PresentationFormat>
  <Paragraphs>476</Paragraphs>
  <Slides>64</Slides>
  <Notes>1</Notes>
  <HiddenSlides>2</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64</vt:i4>
      </vt:variant>
    </vt:vector>
  </HeadingPairs>
  <TitlesOfParts>
    <vt:vector size="70" baseType="lpstr">
      <vt:lpstr>Arial</vt:lpstr>
      <vt:lpstr>Calibri</vt:lpstr>
      <vt:lpstr>Garamond</vt:lpstr>
      <vt:lpstr>Times New Roman</vt:lpstr>
      <vt:lpstr>Wingdings</vt:lpstr>
      <vt:lpstr>אורגני</vt:lpstr>
      <vt:lpstr>תרגול רביעי </vt:lpstr>
      <vt:lpstr>מחסנית הגדרה </vt:lpstr>
      <vt:lpstr>פעולות יסודיות במחסנית </vt:lpstr>
      <vt:lpstr>דחיפה למחסנית </vt:lpstr>
      <vt:lpstr>שליפה מהמחסנית </vt:lpstr>
      <vt:lpstr>מהו מאקרו ? </vt:lpstr>
      <vt:lpstr>NASM macro syntax</vt:lpstr>
      <vt:lpstr>דוגמא למאקרו </vt:lpstr>
      <vt:lpstr>המשך דוגמא </vt:lpstr>
      <vt:lpstr>Program 1 – Implementing PUSH/POP with macros</vt:lpstr>
      <vt:lpstr>דוגמא לתכנית שמשתמשת במאקרו </vt:lpstr>
      <vt:lpstr>דוגמא המשך</vt:lpstr>
      <vt:lpstr>הרצה ודיבוג של התכנית </vt:lpstr>
      <vt:lpstr>הפקודה echo $? </vt:lpstr>
      <vt:lpstr>הפקודה echo $? </vt:lpstr>
      <vt:lpstr>הרצה ודיבוג המשך </vt:lpstr>
      <vt:lpstr>פקודות call and return </vt:lpstr>
      <vt:lpstr>שימוש במאקרו לצורך call/return </vt:lpstr>
      <vt:lpstr>שימוש במאקרו לצורך call/return</vt:lpstr>
      <vt:lpstr>תפקידו של %%L </vt:lpstr>
      <vt:lpstr>תפקידו של%%L </vt:lpstr>
      <vt:lpstr>תפקידו של %%L</vt:lpstr>
      <vt:lpstr>extern printf</vt:lpstr>
      <vt:lpstr>פקודת enter 0,0 </vt:lpstr>
      <vt:lpstr>המשך </vt:lpstr>
      <vt:lpstr>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פקודת leave </vt:lpstr>
      <vt:lpstr>פקודת leave המשך </vt:lpstr>
      <vt:lpstr>פקודת Leave המשך </vt:lpstr>
      <vt:lpstr>פקודת  Leave המשך </vt:lpstr>
      <vt:lpstr>פקודת   Leave המשך </vt:lpstr>
      <vt:lpstr>פקודת ret </vt:lpstr>
      <vt:lpstr>Call_return_demo.asm</vt:lpstr>
      <vt:lpstr>אופן פעולת התכנית </vt:lpstr>
      <vt:lpstr>אופן פעולת התכנית </vt:lpstr>
      <vt:lpstr>אופן פעולת התכנית </vt:lpstr>
      <vt:lpstr>אופן פעולת התכנית </vt:lpstr>
      <vt:lpstr>קמפול, הרצה ודיבוג  התכנית</vt:lpstr>
      <vt:lpstr>תכנית רקורסיבית לחישוב עצרת </vt:lpstr>
      <vt:lpstr>מבנה התכנית </vt:lpstr>
      <vt:lpstr>מאקרוס </vt:lpstr>
      <vt:lpstr>מאקרוס המשך </vt:lpstr>
      <vt:lpstr>הסבר לגבי CALL</vt:lpstr>
      <vt:lpstr>RETURN  macro </vt:lpstr>
      <vt:lpstr>פונקצית העצרת</vt:lpstr>
      <vt:lpstr>פונקצית העצרת</vt:lpstr>
      <vt:lpstr>קטע קוד של מקרה הבסיס </vt:lpstr>
      <vt:lpstr>הקטע הרקורסיבי </vt:lpstr>
      <vt:lpstr>הסבר </vt:lpstr>
      <vt:lpstr>הסבר </vt:lpstr>
      <vt:lpstr>התכנית הראשית והדפסת התוצאה למסך </vt:lpstr>
      <vt:lpstr>המשך </vt:lpstr>
      <vt:lpstr>המשך </vt:lpstr>
      <vt:lpstr>המשך </vt:lpstr>
      <vt:lpstr>הרצת התכנית </vt:lpstr>
      <vt:lpstr>לסיכום מה למדנו היום ?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תרגול רביעי</dc:title>
  <dc:creator>אורן אליעזר</dc:creator>
  <cp:lastModifiedBy>אורן אליעזר</cp:lastModifiedBy>
  <cp:revision>79</cp:revision>
  <cp:lastPrinted>2026-05-01T10:00:50Z</cp:lastPrinted>
  <dcterms:created xsi:type="dcterms:W3CDTF">2026-03-12T19:50:22Z</dcterms:created>
  <dcterms:modified xsi:type="dcterms:W3CDTF">2026-05-01T10:11:30Z</dcterms:modified>
</cp:coreProperties>
</file>