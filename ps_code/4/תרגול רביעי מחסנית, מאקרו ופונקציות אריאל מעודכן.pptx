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0" r:id="rId1"/>
  </p:sldMasterIdLst>
  <p:notesMasterIdLst>
    <p:notesMasterId r:id="rId70"/>
  </p:notesMasterIdLst>
  <p:sldIdLst>
    <p:sldId id="256" r:id="rId2"/>
    <p:sldId id="317" r:id="rId3"/>
    <p:sldId id="275" r:id="rId4"/>
    <p:sldId id="272" r:id="rId5"/>
    <p:sldId id="318" r:id="rId6"/>
    <p:sldId id="319" r:id="rId7"/>
    <p:sldId id="257" r:id="rId8"/>
    <p:sldId id="259" r:id="rId9"/>
    <p:sldId id="258"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9" r:id="rId23"/>
    <p:sldId id="280" r:id="rId24"/>
    <p:sldId id="281" r:id="rId25"/>
    <p:sldId id="282" r:id="rId26"/>
    <p:sldId id="283" r:id="rId27"/>
    <p:sldId id="300" r:id="rId28"/>
    <p:sldId id="301" r:id="rId29"/>
    <p:sldId id="284" r:id="rId30"/>
    <p:sldId id="320" r:id="rId31"/>
    <p:sldId id="321" r:id="rId32"/>
    <p:sldId id="322" r:id="rId33"/>
    <p:sldId id="323" r:id="rId34"/>
    <p:sldId id="324" r:id="rId35"/>
    <p:sldId id="325" r:id="rId36"/>
    <p:sldId id="326" r:id="rId37"/>
    <p:sldId id="327" r:id="rId38"/>
    <p:sldId id="328" r:id="rId39"/>
    <p:sldId id="329" r:id="rId40"/>
    <p:sldId id="330" r:id="rId41"/>
    <p:sldId id="331" r:id="rId42"/>
    <p:sldId id="332" r:id="rId43"/>
    <p:sldId id="333" r:id="rId44"/>
    <p:sldId id="334" r:id="rId45"/>
    <p:sldId id="289" r:id="rId46"/>
    <p:sldId id="313" r:id="rId47"/>
    <p:sldId id="314" r:id="rId48"/>
    <p:sldId id="315" r:id="rId49"/>
    <p:sldId id="316" r:id="rId50"/>
    <p:sldId id="290" r:id="rId51"/>
    <p:sldId id="291" r:id="rId52"/>
    <p:sldId id="292" r:id="rId53"/>
    <p:sldId id="293" r:id="rId54"/>
    <p:sldId id="294" r:id="rId55"/>
    <p:sldId id="295" r:id="rId56"/>
    <p:sldId id="296" r:id="rId57"/>
    <p:sldId id="297" r:id="rId58"/>
    <p:sldId id="298" r:id="rId59"/>
    <p:sldId id="303" r:id="rId60"/>
    <p:sldId id="304" r:id="rId61"/>
    <p:sldId id="305" r:id="rId62"/>
    <p:sldId id="306" r:id="rId63"/>
    <p:sldId id="307" r:id="rId64"/>
    <p:sldId id="308" r:id="rId65"/>
    <p:sldId id="309" r:id="rId66"/>
    <p:sldId id="310" r:id="rId67"/>
    <p:sldId id="312" r:id="rId68"/>
    <p:sldId id="311" r:id="rId69"/>
  </p:sldIdLst>
  <p:sldSz cx="12192000" cy="6858000"/>
  <p:notesSz cx="7104063" cy="10234613"/>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4025636" y="0"/>
            <a:ext cx="3078427" cy="513508"/>
          </a:xfrm>
          <a:prstGeom prst="rect">
            <a:avLst/>
          </a:prstGeom>
        </p:spPr>
        <p:txBody>
          <a:bodyPr vert="horz" lIns="99075" tIns="49538" rIns="99075" bIns="49538" rtlCol="1"/>
          <a:lstStyle>
            <a:lvl1pPr algn="r">
              <a:defRPr sz="1300"/>
            </a:lvl1pPr>
          </a:lstStyle>
          <a:p>
            <a:endParaRPr lang="he-IL"/>
          </a:p>
        </p:txBody>
      </p:sp>
      <p:sp>
        <p:nvSpPr>
          <p:cNvPr id="3" name="מציין מיקום של תאריך 2"/>
          <p:cNvSpPr>
            <a:spLocks noGrp="1"/>
          </p:cNvSpPr>
          <p:nvPr>
            <p:ph type="dt" idx="1"/>
          </p:nvPr>
        </p:nvSpPr>
        <p:spPr>
          <a:xfrm>
            <a:off x="1645" y="0"/>
            <a:ext cx="3078427" cy="513508"/>
          </a:xfrm>
          <a:prstGeom prst="rect">
            <a:avLst/>
          </a:prstGeom>
        </p:spPr>
        <p:txBody>
          <a:bodyPr vert="horz" lIns="99075" tIns="49538" rIns="99075" bIns="49538" rtlCol="1"/>
          <a:lstStyle>
            <a:lvl1pPr algn="l">
              <a:defRPr sz="1300"/>
            </a:lvl1pPr>
          </a:lstStyle>
          <a:p>
            <a:fld id="{2DB8D94D-C934-4E2E-989A-4FCB3E2FF017}" type="datetimeFigureOut">
              <a:rPr lang="he-IL" smtClean="0"/>
              <a:t>ט"ז/אייר/תשפ"ו</a:t>
            </a:fld>
            <a:endParaRPr lang="he-IL"/>
          </a:p>
        </p:txBody>
      </p:sp>
      <p:sp>
        <p:nvSpPr>
          <p:cNvPr id="4" name="מציין מיקום של תמונת שקופית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1" anchor="ctr"/>
          <a:lstStyle/>
          <a:p>
            <a:endParaRPr lang="he-IL"/>
          </a:p>
        </p:txBody>
      </p:sp>
      <p:sp>
        <p:nvSpPr>
          <p:cNvPr id="5" name="מציין מיקום של הערות 4"/>
          <p:cNvSpPr>
            <a:spLocks noGrp="1"/>
          </p:cNvSpPr>
          <p:nvPr>
            <p:ph type="body" sz="quarter" idx="3"/>
          </p:nvPr>
        </p:nvSpPr>
        <p:spPr>
          <a:xfrm>
            <a:off x="710407" y="4925407"/>
            <a:ext cx="5683250" cy="4029879"/>
          </a:xfrm>
          <a:prstGeom prst="rect">
            <a:avLst/>
          </a:prstGeom>
        </p:spPr>
        <p:txBody>
          <a:bodyPr vert="horz" lIns="99075" tIns="49538" rIns="99075" bIns="49538" rtlCol="1"/>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p>
        </p:txBody>
      </p:sp>
      <p:sp>
        <p:nvSpPr>
          <p:cNvPr id="6" name="מציין מיקום של כותרת תחתונה 5"/>
          <p:cNvSpPr>
            <a:spLocks noGrp="1"/>
          </p:cNvSpPr>
          <p:nvPr>
            <p:ph type="ftr" sz="quarter" idx="4"/>
          </p:nvPr>
        </p:nvSpPr>
        <p:spPr>
          <a:xfrm>
            <a:off x="4025636" y="9721107"/>
            <a:ext cx="3078427" cy="513507"/>
          </a:xfrm>
          <a:prstGeom prst="rect">
            <a:avLst/>
          </a:prstGeom>
        </p:spPr>
        <p:txBody>
          <a:bodyPr vert="horz" lIns="99075" tIns="49538" rIns="99075" bIns="49538" rtlCol="1" anchor="b"/>
          <a:lstStyle>
            <a:lvl1pPr algn="r">
              <a:defRPr sz="1300"/>
            </a:lvl1pPr>
          </a:lstStyle>
          <a:p>
            <a:endParaRPr lang="he-IL"/>
          </a:p>
        </p:txBody>
      </p:sp>
      <p:sp>
        <p:nvSpPr>
          <p:cNvPr id="7" name="מציין מיקום של מספר שקופית 6"/>
          <p:cNvSpPr>
            <a:spLocks noGrp="1"/>
          </p:cNvSpPr>
          <p:nvPr>
            <p:ph type="sldNum" sz="quarter" idx="5"/>
          </p:nvPr>
        </p:nvSpPr>
        <p:spPr>
          <a:xfrm>
            <a:off x="1645" y="9721107"/>
            <a:ext cx="3078427" cy="513507"/>
          </a:xfrm>
          <a:prstGeom prst="rect">
            <a:avLst/>
          </a:prstGeom>
        </p:spPr>
        <p:txBody>
          <a:bodyPr vert="horz" lIns="99075" tIns="49538" rIns="99075" bIns="49538" rtlCol="1" anchor="b"/>
          <a:lstStyle>
            <a:lvl1pPr algn="l">
              <a:defRPr sz="1300"/>
            </a:lvl1pPr>
          </a:lstStyle>
          <a:p>
            <a:fld id="{75E516C7-F52A-4595-B6AE-0C09449B3150}" type="slidenum">
              <a:rPr lang="he-IL" smtClean="0"/>
              <a:t>‹#›</a:t>
            </a:fld>
            <a:endParaRPr lang="he-IL"/>
          </a:p>
        </p:txBody>
      </p:sp>
    </p:spTree>
    <p:extLst>
      <p:ext uri="{BB962C8B-B14F-4D97-AF65-F5344CB8AC3E}">
        <p14:creationId xmlns:p14="http://schemas.microsoft.com/office/powerpoint/2010/main" val="2053154203"/>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lstStyle/>
          <a:p>
            <a:endParaRPr lang="he-IL"/>
          </a:p>
        </p:txBody>
      </p:sp>
      <p:sp>
        <p:nvSpPr>
          <p:cNvPr id="4" name="מציין מיקום של מספר שקופית 3"/>
          <p:cNvSpPr>
            <a:spLocks noGrp="1"/>
          </p:cNvSpPr>
          <p:nvPr>
            <p:ph type="sldNum" sz="quarter" idx="10"/>
          </p:nvPr>
        </p:nvSpPr>
        <p:spPr/>
        <p:txBody>
          <a:bodyPr/>
          <a:lstStyle/>
          <a:p>
            <a:fld id="{75E516C7-F52A-4595-B6AE-0C09449B3150}" type="slidenum">
              <a:rPr lang="he-IL" smtClean="0"/>
              <a:t>1</a:t>
            </a:fld>
            <a:endParaRPr lang="he-IL"/>
          </a:p>
        </p:txBody>
      </p:sp>
    </p:spTree>
    <p:extLst>
      <p:ext uri="{BB962C8B-B14F-4D97-AF65-F5344CB8AC3E}">
        <p14:creationId xmlns:p14="http://schemas.microsoft.com/office/powerpoint/2010/main" val="32200007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a:xfrm>
            <a:off x="7983232" y="5037663"/>
            <a:ext cx="897467" cy="279400"/>
          </a:xfrm>
        </p:spPr>
        <p:txBody>
          <a:bodyPr/>
          <a:lstStyle/>
          <a:p>
            <a:fld id="{39F0D22D-7F13-4334-954E-4C8553E99685}" type="datetime8">
              <a:rPr lang="he-IL" smtClean="0"/>
              <a:t>03 מאי 26</a:t>
            </a:fld>
            <a:endParaRPr lang="he-IL"/>
          </a:p>
        </p:txBody>
      </p:sp>
      <p:sp>
        <p:nvSpPr>
          <p:cNvPr id="5" name="Footer Placeholder 4"/>
          <p:cNvSpPr>
            <a:spLocks noGrp="1"/>
          </p:cNvSpPr>
          <p:nvPr>
            <p:ph type="ftr" sz="quarter" idx="11"/>
          </p:nvPr>
        </p:nvSpPr>
        <p:spPr>
          <a:xfrm>
            <a:off x="2692397" y="5037663"/>
            <a:ext cx="5214635" cy="279400"/>
          </a:xfrm>
        </p:spPr>
        <p:txBody>
          <a:bodyPr/>
          <a:lstStyle/>
          <a:p>
            <a:endParaRPr lang="he-IL"/>
          </a:p>
        </p:txBody>
      </p:sp>
      <p:sp>
        <p:nvSpPr>
          <p:cNvPr id="6" name="Slide Number Placeholder 5"/>
          <p:cNvSpPr>
            <a:spLocks noGrp="1"/>
          </p:cNvSpPr>
          <p:nvPr>
            <p:ph type="sldNum" sz="quarter" idx="12"/>
          </p:nvPr>
        </p:nvSpPr>
        <p:spPr>
          <a:xfrm>
            <a:off x="8956900" y="5037663"/>
            <a:ext cx="551167" cy="279400"/>
          </a:xfrm>
        </p:spPr>
        <p:txBody>
          <a:bodyPr/>
          <a:lstStyle/>
          <a:p>
            <a:fld id="{0BB5907D-BD0F-43E0-A690-15B32A6F70AF}" type="slidenum">
              <a:rPr lang="he-IL" smtClean="0"/>
              <a:t>‹#›</a:t>
            </a:fld>
            <a:endParaRPr lang="he-IL"/>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28349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D22EEECC-0AEE-4AC1-AFAE-3DC0F2314C17}"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31357566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0AC6BE2E-9055-4F65-AA49-BF7C6E0F6C4A}"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204231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8CB4B380-96AD-431B-B7B1-6227DBAE311B}" type="datetime8">
              <a:rPr lang="he-IL" smtClean="0"/>
              <a:t>03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28161267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E7AAE2B3-DD6E-4A90-AE7C-2AA0FF37DBA6}" type="datetime8">
              <a:rPr lang="he-IL" smtClean="0"/>
              <a:t>03 מאי 26</a:t>
            </a:fld>
            <a:endParaRPr lang="he-IL"/>
          </a:p>
        </p:txBody>
      </p:sp>
      <p:sp>
        <p:nvSpPr>
          <p:cNvPr id="8" name="Footer Placeholder 7"/>
          <p:cNvSpPr>
            <a:spLocks noGrp="1"/>
          </p:cNvSpPr>
          <p:nvPr>
            <p:ph type="ftr" sz="quarter" idx="11"/>
          </p:nvPr>
        </p:nvSpPr>
        <p:spPr/>
        <p:txBody>
          <a:bodyPr/>
          <a:lstStyle/>
          <a:p>
            <a:endParaRPr lang="he-IL"/>
          </a:p>
        </p:txBody>
      </p:sp>
      <p:sp>
        <p:nvSpPr>
          <p:cNvPr id="9" name="Slide Number Placeholder 8"/>
          <p:cNvSpPr>
            <a:spLocks noGrp="1"/>
          </p:cNvSpPr>
          <p:nvPr>
            <p:ph type="sldNum" sz="quarter" idx="12"/>
          </p:nvPr>
        </p:nvSpPr>
        <p:spPr/>
        <p:txBody>
          <a:bodyPr/>
          <a:lstStyle/>
          <a:p>
            <a:fld id="{0BB5907D-BD0F-43E0-A690-15B32A6F70AF}" type="slidenum">
              <a:rPr lang="he-IL" smtClean="0"/>
              <a:t>‹#›</a:t>
            </a:fld>
            <a:endParaRPr lang="he-IL"/>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8108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762461C-0CA4-4F9A-BA78-751B3571CF61}" type="datetime8">
              <a:rPr lang="he-IL" smtClean="0"/>
              <a:t>03 מאי 26</a:t>
            </a:fld>
            <a:endParaRPr lang="he-IL"/>
          </a:p>
        </p:txBody>
      </p:sp>
      <p:sp>
        <p:nvSpPr>
          <p:cNvPr id="4" name="Footer Placeholder 3"/>
          <p:cNvSpPr>
            <a:spLocks noGrp="1"/>
          </p:cNvSpPr>
          <p:nvPr>
            <p:ph type="ftr" sz="quarter" idx="11"/>
          </p:nvPr>
        </p:nvSpPr>
        <p:spPr/>
        <p:txBody>
          <a:bodyPr/>
          <a:lstStyle/>
          <a:p>
            <a:endParaRPr lang="he-IL"/>
          </a:p>
        </p:txBody>
      </p:sp>
      <p:sp>
        <p:nvSpPr>
          <p:cNvPr id="5" name="Slide Number Placeholder 4"/>
          <p:cNvSpPr>
            <a:spLocks noGrp="1"/>
          </p:cNvSpPr>
          <p:nvPr>
            <p:ph type="sldNum" sz="quarter" idx="12"/>
          </p:nvPr>
        </p:nvSpPr>
        <p:spPr/>
        <p:txBody>
          <a:bodyPr/>
          <a:lstStyle/>
          <a:p>
            <a:fld id="{0BB5907D-BD0F-43E0-A690-15B32A6F70AF}"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4261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4A8DA5-3437-48DD-96B0-FCFBD0E1574C}" type="datetime8">
              <a:rPr lang="he-IL" smtClean="0"/>
              <a:t>03 מאי 26</a:t>
            </a:fld>
            <a:endParaRPr lang="he-IL"/>
          </a:p>
        </p:txBody>
      </p:sp>
      <p:sp>
        <p:nvSpPr>
          <p:cNvPr id="3" name="Footer Placeholder 2"/>
          <p:cNvSpPr>
            <a:spLocks noGrp="1"/>
          </p:cNvSpPr>
          <p:nvPr>
            <p:ph type="ftr" sz="quarter" idx="11"/>
          </p:nvPr>
        </p:nvSpPr>
        <p:spPr/>
        <p:txBody>
          <a:bodyPr/>
          <a:lstStyle/>
          <a:p>
            <a:endParaRPr lang="he-IL"/>
          </a:p>
        </p:txBody>
      </p:sp>
      <p:sp>
        <p:nvSpPr>
          <p:cNvPr id="4" name="Slide Number Placeholder 3"/>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1371460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245C0BFA-BEC0-4BC9-8B0E-DB22E02B73E7}" type="datetime8">
              <a:rPr lang="he-IL" smtClean="0"/>
              <a:t>03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9843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he-IL"/>
              <a:t>לחץ כדי לערוך סגנון כותרת של תבנית בסיס</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A67DE5E-8075-4D4A-BD9C-EA6A514E9685}" type="datetime8">
              <a:rPr lang="he-IL" smtClean="0"/>
              <a:t>03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3440711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D5F64E93-DE67-49BD-A506-E8CFB0EEA40D}" type="datetime8">
              <a:rPr lang="he-IL" smtClean="0"/>
              <a:t>03 מאי 26</a:t>
            </a:fld>
            <a:endParaRPr lang="he-IL"/>
          </a:p>
        </p:txBody>
      </p:sp>
      <p:sp>
        <p:nvSpPr>
          <p:cNvPr id="6" name="Footer Placeholder 5"/>
          <p:cNvSpPr>
            <a:spLocks noGrp="1"/>
          </p:cNvSpPr>
          <p:nvPr>
            <p:ph type="ftr" sz="quarter" idx="11"/>
          </p:nvPr>
        </p:nvSpPr>
        <p:spPr/>
        <p:txBody>
          <a:bodyPr/>
          <a:lstStyle/>
          <a:p>
            <a:endParaRPr lang="he-IL"/>
          </a:p>
        </p:txBody>
      </p:sp>
      <p:sp>
        <p:nvSpPr>
          <p:cNvPr id="7" name="Slide Number Placeholder 6"/>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15426948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98216D35-F519-4266-BF52-992511543A3E}"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60153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927E80CD-D48E-47F1-9FA8-BB406A92E2DC}"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056893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71C20518-C18F-4C8E-AF3D-E195D38B8796}"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Tree>
    <p:extLst>
      <p:ext uri="{BB962C8B-B14F-4D97-AF65-F5344CB8AC3E}">
        <p14:creationId xmlns:p14="http://schemas.microsoft.com/office/powerpoint/2010/main" val="12250377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כרטיס שם עם ציטוט">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he-IL"/>
              <a:t>לחץ כדי לערוך סגנון כותרת של תבנית בסיס</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EDBA2118-C19B-4284-BAB9-8ECFCD39099F}"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777856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או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he-IL"/>
              <a:t>לחץ כדי לערוך סגנון כותרת של תבנית בסיס</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a:t>לחץ כדי לערוך סגנונות טקסט של תבנית בסיס</a:t>
            </a:r>
          </a:p>
        </p:txBody>
      </p:sp>
      <p:sp>
        <p:nvSpPr>
          <p:cNvPr id="4" name="Date Placeholder 3"/>
          <p:cNvSpPr>
            <a:spLocks noGrp="1"/>
          </p:cNvSpPr>
          <p:nvPr>
            <p:ph type="dt" sz="half" idx="10"/>
          </p:nvPr>
        </p:nvSpPr>
        <p:spPr/>
        <p:txBody>
          <a:bodyPr/>
          <a:lstStyle/>
          <a:p>
            <a:fld id="{E42AE284-E494-4963-B56F-C943101CA807}"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659742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632CDAE8-F68B-4F92-A263-F6B54E557C73}"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4174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79B7B716-2AC3-4BFA-9D6A-3EB555FC2D4A}" type="datetime8">
              <a:rPr lang="he-IL" smtClean="0"/>
              <a:t>03 מאי 26</a:t>
            </a:fld>
            <a:endParaRPr lang="he-IL"/>
          </a:p>
        </p:txBody>
      </p:sp>
      <p:sp>
        <p:nvSpPr>
          <p:cNvPr id="5" name="Footer Placeholder 4"/>
          <p:cNvSpPr>
            <a:spLocks noGrp="1"/>
          </p:cNvSpPr>
          <p:nvPr>
            <p:ph type="ftr" sz="quarter" idx="11"/>
          </p:nvPr>
        </p:nvSpPr>
        <p:spPr/>
        <p:txBody>
          <a:bodyPr/>
          <a:lstStyle/>
          <a:p>
            <a:endParaRPr lang="he-IL"/>
          </a:p>
        </p:txBody>
      </p:sp>
      <p:sp>
        <p:nvSpPr>
          <p:cNvPr id="6" name="Slide Number Placeholder 5"/>
          <p:cNvSpPr>
            <a:spLocks noGrp="1"/>
          </p:cNvSpPr>
          <p:nvPr>
            <p:ph type="sldNum" sz="quarter" idx="12"/>
          </p:nvPr>
        </p:nvSpPr>
        <p:spPr/>
        <p:txBody>
          <a:bodyPr/>
          <a:lstStyle/>
          <a:p>
            <a:fld id="{0BB5907D-BD0F-43E0-A690-15B32A6F70AF}" type="slidenum">
              <a:rPr lang="he-IL" smtClean="0"/>
              <a:t>‹#›</a:t>
            </a:fld>
            <a:endParaRPr lang="he-IL"/>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5221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he-IL"/>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B692B64-18DA-44AB-875C-2FA4E9ACC70A}" type="datetime8">
              <a:rPr lang="he-IL" smtClean="0"/>
              <a:t>03 מאי 26</a:t>
            </a:fld>
            <a:endParaRPr lang="he-IL"/>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he-IL"/>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BB5907D-BD0F-43E0-A690-15B32A6F70AF}" type="slidenum">
              <a:rPr lang="he-IL" smtClean="0"/>
              <a:t>‹#›</a:t>
            </a:fld>
            <a:endParaRPr lang="he-IL"/>
          </a:p>
        </p:txBody>
      </p:sp>
    </p:spTree>
    <p:extLst>
      <p:ext uri="{BB962C8B-B14F-4D97-AF65-F5344CB8AC3E}">
        <p14:creationId xmlns:p14="http://schemas.microsoft.com/office/powerpoint/2010/main" val="11948385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p:txStyles>
    <p:titleStyle>
      <a:lvl1pPr algn="ctr" defTabSz="457200" rtl="1"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285750" indent="-285750" algn="r" defTabSz="457200" rtl="1"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r" defTabSz="457200" rtl="1"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r" defTabSz="457200" rtl="1"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r" defTabSz="457200" rtl="1"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r" defTabSz="457200" rtl="1"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p:txBody>
          <a:bodyPr/>
          <a:lstStyle/>
          <a:p>
            <a:r>
              <a:rPr lang="he-IL" dirty="0"/>
              <a:t>תרגול רביעי </a:t>
            </a:r>
          </a:p>
        </p:txBody>
      </p:sp>
      <p:sp>
        <p:nvSpPr>
          <p:cNvPr id="3" name="כותרת משנה 2"/>
          <p:cNvSpPr>
            <a:spLocks noGrp="1"/>
          </p:cNvSpPr>
          <p:nvPr>
            <p:ph type="subTitle" idx="1"/>
          </p:nvPr>
        </p:nvSpPr>
        <p:spPr/>
        <p:txBody>
          <a:bodyPr/>
          <a:lstStyle/>
          <a:p>
            <a:r>
              <a:rPr lang="he-IL" dirty="0"/>
              <a:t>מחסנית , מאקרו , רקורסיה , זיכרון מחסנית </a:t>
            </a:r>
          </a:p>
        </p:txBody>
      </p:sp>
      <p:sp>
        <p:nvSpPr>
          <p:cNvPr id="4" name="מציין מיקום של תאריך 3"/>
          <p:cNvSpPr>
            <a:spLocks noGrp="1"/>
          </p:cNvSpPr>
          <p:nvPr>
            <p:ph type="dt" sz="half" idx="10"/>
          </p:nvPr>
        </p:nvSpPr>
        <p:spPr/>
        <p:txBody>
          <a:bodyPr/>
          <a:lstStyle/>
          <a:p>
            <a:fld id="{69F4FD66-1734-43E9-8575-6E14ADFAE0CA}"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a:t>
            </a:fld>
            <a:endParaRPr lang="he-IL"/>
          </a:p>
        </p:txBody>
      </p:sp>
    </p:spTree>
    <p:extLst>
      <p:ext uri="{BB962C8B-B14F-4D97-AF65-F5344CB8AC3E}">
        <p14:creationId xmlns:p14="http://schemas.microsoft.com/office/powerpoint/2010/main" val="16313244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השערת </a:t>
            </a:r>
            <a:r>
              <a:rPr lang="en-US" dirty="0"/>
              <a:t>Collatz </a:t>
            </a:r>
            <a:endParaRPr lang="he-IL" dirty="0"/>
          </a:p>
        </p:txBody>
      </p:sp>
      <p:sp>
        <p:nvSpPr>
          <p:cNvPr id="3" name="מציין מיקום תוכן 2"/>
          <p:cNvSpPr>
            <a:spLocks noGrp="1"/>
          </p:cNvSpPr>
          <p:nvPr>
            <p:ph idx="1"/>
          </p:nvPr>
        </p:nvSpPr>
        <p:spPr/>
        <p:txBody>
          <a:bodyPr>
            <a:normAutofit lnSpcReduction="10000"/>
          </a:bodyPr>
          <a:lstStyle/>
          <a:p>
            <a:r>
              <a:rPr lang="he-IL" dirty="0"/>
              <a:t>השערת </a:t>
            </a:r>
            <a:r>
              <a:rPr lang="he-IL" dirty="0" err="1"/>
              <a:t>קולאץ</a:t>
            </a:r>
            <a:r>
              <a:rPr lang="he-IL" dirty="0"/>
              <a:t> מתחילה ממספר כלשהו: </a:t>
            </a:r>
          </a:p>
          <a:p>
            <a:r>
              <a:rPr lang="he-IL" dirty="0"/>
              <a:t>אם המספר זוגי – היא מחלקת אותו ב 2</a:t>
            </a:r>
          </a:p>
          <a:p>
            <a:r>
              <a:rPr lang="he-IL" dirty="0"/>
              <a:t>במידה ואי זוגי – כופלת אותו ב 3 ומוסיפה למכפלה 1. </a:t>
            </a:r>
          </a:p>
          <a:p>
            <a:r>
              <a:rPr lang="he-IL" dirty="0"/>
              <a:t>דוגמא – נתחיל מהערך 7</a:t>
            </a:r>
            <a:r>
              <a:rPr lang="en-US" dirty="0"/>
              <a:t> : </a:t>
            </a:r>
          </a:p>
          <a:p>
            <a:pPr algn="l" rtl="0"/>
            <a:r>
              <a:rPr lang="en-US" dirty="0"/>
              <a:t>7 </a:t>
            </a:r>
            <a:r>
              <a:rPr lang="en-US" dirty="0">
                <a:sym typeface="Wingdings" panose="05000000000000000000" pitchFamily="2" charset="2"/>
              </a:rPr>
              <a:t> 22  11 34 17 5226134020105  168421 </a:t>
            </a:r>
          </a:p>
          <a:p>
            <a:pPr algn="r"/>
            <a:r>
              <a:rPr lang="he-IL" dirty="0">
                <a:sym typeface="Wingdings" panose="05000000000000000000" pitchFamily="2" charset="2"/>
              </a:rPr>
              <a:t>ההשערה טוענת ללא הוכחה כי כל תהליך כזה אשר יחל מכל ערך טבעי יגיע לסיומו עם 1 </a:t>
            </a:r>
            <a:endParaRPr lang="he-IL" dirty="0"/>
          </a:p>
        </p:txBody>
      </p:sp>
      <p:sp>
        <p:nvSpPr>
          <p:cNvPr id="4" name="מציין מיקום של מספר שקופית 3"/>
          <p:cNvSpPr>
            <a:spLocks noGrp="1"/>
          </p:cNvSpPr>
          <p:nvPr>
            <p:ph type="sldNum" sz="quarter" idx="12"/>
          </p:nvPr>
        </p:nvSpPr>
        <p:spPr/>
        <p:txBody>
          <a:bodyPr/>
          <a:lstStyle/>
          <a:p>
            <a:fld id="{F3B72AAF-92CC-404F-8696-FD15D1FD208C}" type="slidenum">
              <a:rPr lang="he-IL" smtClean="0"/>
              <a:t>2</a:t>
            </a:fld>
            <a:endParaRPr lang="he-IL"/>
          </a:p>
        </p:txBody>
      </p:sp>
      <p:sp>
        <p:nvSpPr>
          <p:cNvPr id="5" name="מלבן 4">
            <a:extLst>
              <a:ext uri="{FF2B5EF4-FFF2-40B4-BE49-F238E27FC236}">
                <a16:creationId xmlns:a16="http://schemas.microsoft.com/office/drawing/2014/main" id="{2A8A7367-F51F-7742-D519-DD6C7461ECE9}"/>
              </a:ext>
            </a:extLst>
          </p:cNvPr>
          <p:cNvSpPr/>
          <p:nvPr/>
        </p:nvSpPr>
        <p:spPr>
          <a:xfrm>
            <a:off x="4390845" y="711199"/>
            <a:ext cx="3942272" cy="34633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1" anchor="ctr"/>
          <a:lstStyle/>
          <a:p>
            <a:pPr algn="ctr"/>
            <a:r>
              <a:rPr lang="he-IL" dirty="0">
                <a:solidFill>
                  <a:schemeClr val="tx1"/>
                </a:solidFill>
              </a:rPr>
              <a:t>השלמה מתרגול קודם</a:t>
            </a:r>
          </a:p>
        </p:txBody>
      </p:sp>
    </p:spTree>
    <p:extLst>
      <p:ext uri="{BB962C8B-B14F-4D97-AF65-F5344CB8AC3E}">
        <p14:creationId xmlns:p14="http://schemas.microsoft.com/office/powerpoint/2010/main" val="659177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a:xfrm>
            <a:off x="1295401" y="646642"/>
            <a:ext cx="9601196" cy="1303867"/>
          </a:xfrm>
        </p:spPr>
        <p:txBody>
          <a:bodyPr/>
          <a:lstStyle/>
          <a:p>
            <a:r>
              <a:rPr lang="he-IL" dirty="0"/>
              <a:t>תכנית </a:t>
            </a:r>
            <a:r>
              <a:rPr lang="en-US" dirty="0"/>
              <a:t>Collatz</a:t>
            </a:r>
            <a:endParaRPr lang="he-IL" dirty="0"/>
          </a:p>
        </p:txBody>
      </p:sp>
      <p:sp>
        <p:nvSpPr>
          <p:cNvPr id="4" name="מציין מיקום של מספר שקופית 3"/>
          <p:cNvSpPr>
            <a:spLocks noGrp="1"/>
          </p:cNvSpPr>
          <p:nvPr>
            <p:ph type="sldNum" sz="quarter" idx="12"/>
          </p:nvPr>
        </p:nvSpPr>
        <p:spPr/>
        <p:txBody>
          <a:bodyPr/>
          <a:lstStyle/>
          <a:p>
            <a:fld id="{F3B72AAF-92CC-404F-8696-FD15D1FD208C}" type="slidenum">
              <a:rPr lang="he-IL" smtClean="0"/>
              <a:t>3</a:t>
            </a:fld>
            <a:endParaRPr lang="he-IL"/>
          </a:p>
        </p:txBody>
      </p:sp>
      <p:pic>
        <p:nvPicPr>
          <p:cNvPr id="8" name="תמונה 7">
            <a:extLst>
              <a:ext uri="{FF2B5EF4-FFF2-40B4-BE49-F238E27FC236}">
                <a16:creationId xmlns:a16="http://schemas.microsoft.com/office/drawing/2014/main" id="{58347A80-01B9-FB69-4620-586061FAC51F}"/>
              </a:ext>
            </a:extLst>
          </p:cNvPr>
          <p:cNvPicPr>
            <a:picLocks noChangeAspect="1"/>
          </p:cNvPicPr>
          <p:nvPr/>
        </p:nvPicPr>
        <p:blipFill>
          <a:blip r:embed="rId2"/>
          <a:stretch>
            <a:fillRect/>
          </a:stretch>
        </p:blipFill>
        <p:spPr>
          <a:xfrm>
            <a:off x="2404786" y="1746121"/>
            <a:ext cx="7382426" cy="4427268"/>
          </a:xfrm>
          <a:prstGeom prst="rect">
            <a:avLst/>
          </a:prstGeom>
        </p:spPr>
      </p:pic>
      <p:sp>
        <p:nvSpPr>
          <p:cNvPr id="3" name="מלבן 2">
            <a:extLst>
              <a:ext uri="{FF2B5EF4-FFF2-40B4-BE49-F238E27FC236}">
                <a16:creationId xmlns:a16="http://schemas.microsoft.com/office/drawing/2014/main" id="{5C65BD90-1F0E-1281-CDE9-9036274BBDB2}"/>
              </a:ext>
            </a:extLst>
          </p:cNvPr>
          <p:cNvSpPr/>
          <p:nvPr/>
        </p:nvSpPr>
        <p:spPr>
          <a:xfrm>
            <a:off x="4390845" y="711199"/>
            <a:ext cx="3942272" cy="34633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1" anchor="ctr"/>
          <a:lstStyle/>
          <a:p>
            <a:pPr algn="ctr"/>
            <a:r>
              <a:rPr lang="he-IL" dirty="0">
                <a:solidFill>
                  <a:schemeClr val="tx1"/>
                </a:solidFill>
              </a:rPr>
              <a:t>השלמה מתרגול קודם</a:t>
            </a:r>
          </a:p>
        </p:txBody>
      </p:sp>
    </p:spTree>
    <p:extLst>
      <p:ext uri="{BB962C8B-B14F-4D97-AF65-F5344CB8AC3E}">
        <p14:creationId xmlns:p14="http://schemas.microsoft.com/office/powerpoint/2010/main" val="3742137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מהלך התכנית</a:t>
            </a:r>
          </a:p>
        </p:txBody>
      </p:sp>
      <p:sp>
        <p:nvSpPr>
          <p:cNvPr id="3" name="מציין מיקום תוכן 2"/>
          <p:cNvSpPr>
            <a:spLocks noGrp="1"/>
          </p:cNvSpPr>
          <p:nvPr>
            <p:ph idx="1"/>
          </p:nvPr>
        </p:nvSpPr>
        <p:spPr/>
        <p:txBody>
          <a:bodyPr/>
          <a:lstStyle/>
          <a:p>
            <a:r>
              <a:rPr lang="he-IL" dirty="0"/>
              <a:t>1. מאתחלים משתנה התחלתי </a:t>
            </a:r>
            <a:r>
              <a:rPr lang="en-US" dirty="0" err="1"/>
              <a:t>start_value</a:t>
            </a:r>
            <a:r>
              <a:rPr lang="he-IL" dirty="0"/>
              <a:t> עם ערך של 7  </a:t>
            </a:r>
          </a:p>
          <a:p>
            <a:r>
              <a:rPr lang="he-IL" dirty="0"/>
              <a:t>2. באזור הלא מאותחל, מגדירים מערך </a:t>
            </a:r>
            <a:r>
              <a:rPr lang="en-US" dirty="0" err="1"/>
              <a:t>seq</a:t>
            </a:r>
            <a:r>
              <a:rPr lang="en-US" dirty="0"/>
              <a:t> </a:t>
            </a:r>
            <a:r>
              <a:rPr lang="he-IL" dirty="0"/>
              <a:t>  שבו יאוחסנו אברי הסדרה וכן משתנה </a:t>
            </a:r>
            <a:r>
              <a:rPr lang="en-US" dirty="0"/>
              <a:t>count</a:t>
            </a:r>
            <a:r>
              <a:rPr lang="he-IL" dirty="0"/>
              <a:t> על מנת לאחסן בתוכו את מספר אברי המערך העתידיים.</a:t>
            </a:r>
          </a:p>
          <a:p>
            <a:r>
              <a:rPr lang="he-IL" dirty="0"/>
              <a:t>3.  טרם הלולאה , מעבירים אל</a:t>
            </a:r>
            <a:r>
              <a:rPr lang="en-US" dirty="0" err="1"/>
              <a:t>rax</a:t>
            </a:r>
            <a:r>
              <a:rPr lang="en-US" dirty="0"/>
              <a:t> </a:t>
            </a:r>
            <a:r>
              <a:rPr lang="he-IL" dirty="0"/>
              <a:t> את הערך ההתחלתי – 7 וכן אל אוגר </a:t>
            </a:r>
            <a:r>
              <a:rPr lang="en-US" dirty="0" err="1"/>
              <a:t>rdi</a:t>
            </a:r>
            <a:r>
              <a:rPr lang="he-IL" dirty="0"/>
              <a:t> את הכתובת של המערך </a:t>
            </a:r>
            <a:r>
              <a:rPr lang="en-US" dirty="0" err="1"/>
              <a:t>seq</a:t>
            </a:r>
            <a:r>
              <a:rPr lang="he-IL" dirty="0"/>
              <a:t>.</a:t>
            </a:r>
          </a:p>
          <a:p>
            <a:r>
              <a:rPr lang="he-IL" dirty="0"/>
              <a:t>4. היות ומדובר במערך של </a:t>
            </a:r>
            <a:r>
              <a:rPr lang="en-US" dirty="0"/>
              <a:t>quad</a:t>
            </a:r>
            <a:r>
              <a:rPr lang="he-IL" dirty="0"/>
              <a:t> מעלים את ערך הכתובת ב 8 כדי להתקדם מכתובת לכתובת, ואם הגענו לסוף עוברים ל</a:t>
            </a:r>
            <a:r>
              <a:rPr lang="en-US" dirty="0"/>
              <a:t>done</a:t>
            </a:r>
            <a:endParaRPr lang="he-IL" dirty="0"/>
          </a:p>
        </p:txBody>
      </p:sp>
      <p:sp>
        <p:nvSpPr>
          <p:cNvPr id="4" name="מציין מיקום של מספר שקופית 3"/>
          <p:cNvSpPr>
            <a:spLocks noGrp="1"/>
          </p:cNvSpPr>
          <p:nvPr>
            <p:ph type="sldNum" sz="quarter" idx="12"/>
          </p:nvPr>
        </p:nvSpPr>
        <p:spPr/>
        <p:txBody>
          <a:bodyPr/>
          <a:lstStyle/>
          <a:p>
            <a:fld id="{F3B72AAF-92CC-404F-8696-FD15D1FD208C}" type="slidenum">
              <a:rPr lang="he-IL" smtClean="0"/>
              <a:t>4</a:t>
            </a:fld>
            <a:endParaRPr lang="he-IL"/>
          </a:p>
        </p:txBody>
      </p:sp>
      <p:pic>
        <p:nvPicPr>
          <p:cNvPr id="6" name="תמונה 5">
            <a:extLst>
              <a:ext uri="{FF2B5EF4-FFF2-40B4-BE49-F238E27FC236}">
                <a16:creationId xmlns:a16="http://schemas.microsoft.com/office/drawing/2014/main" id="{DBAC3775-04AA-B7F8-0A45-306BF02CFBFE}"/>
              </a:ext>
            </a:extLst>
          </p:cNvPr>
          <p:cNvPicPr>
            <a:picLocks noChangeAspect="1"/>
          </p:cNvPicPr>
          <p:nvPr/>
        </p:nvPicPr>
        <p:blipFill>
          <a:blip r:embed="rId2"/>
          <a:stretch>
            <a:fillRect/>
          </a:stretch>
        </p:blipFill>
        <p:spPr>
          <a:xfrm>
            <a:off x="139764" y="190826"/>
            <a:ext cx="3372321" cy="2886478"/>
          </a:xfrm>
          <a:prstGeom prst="rect">
            <a:avLst/>
          </a:prstGeom>
        </p:spPr>
      </p:pic>
      <p:sp>
        <p:nvSpPr>
          <p:cNvPr id="5" name="מלבן 4">
            <a:extLst>
              <a:ext uri="{FF2B5EF4-FFF2-40B4-BE49-F238E27FC236}">
                <a16:creationId xmlns:a16="http://schemas.microsoft.com/office/drawing/2014/main" id="{A1EED0EB-8231-DA94-A0E2-97BBC92B182C}"/>
              </a:ext>
            </a:extLst>
          </p:cNvPr>
          <p:cNvSpPr/>
          <p:nvPr/>
        </p:nvSpPr>
        <p:spPr>
          <a:xfrm>
            <a:off x="4390845" y="711199"/>
            <a:ext cx="3942272" cy="34633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1" anchor="ctr"/>
          <a:lstStyle/>
          <a:p>
            <a:pPr algn="ctr"/>
            <a:r>
              <a:rPr lang="he-IL" dirty="0">
                <a:solidFill>
                  <a:schemeClr val="tx1"/>
                </a:solidFill>
              </a:rPr>
              <a:t>השלמה מתרגול קודם</a:t>
            </a:r>
          </a:p>
        </p:txBody>
      </p:sp>
    </p:spTree>
    <p:extLst>
      <p:ext uri="{BB962C8B-B14F-4D97-AF65-F5344CB8AC3E}">
        <p14:creationId xmlns:p14="http://schemas.microsoft.com/office/powerpoint/2010/main" val="13467820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מהלך התכנית</a:t>
            </a:r>
          </a:p>
        </p:txBody>
      </p:sp>
      <p:sp>
        <p:nvSpPr>
          <p:cNvPr id="3" name="מציין מיקום תוכן 2"/>
          <p:cNvSpPr>
            <a:spLocks noGrp="1"/>
          </p:cNvSpPr>
          <p:nvPr>
            <p:ph idx="1"/>
          </p:nvPr>
        </p:nvSpPr>
        <p:spPr/>
        <p:txBody>
          <a:bodyPr>
            <a:normAutofit fontScale="92500" lnSpcReduction="10000"/>
          </a:bodyPr>
          <a:lstStyle/>
          <a:p>
            <a:r>
              <a:rPr lang="he-IL" dirty="0"/>
              <a:t>5.  בודקים זוגיות של הערך הנבדק ע"י פקודת </a:t>
            </a:r>
            <a:r>
              <a:rPr lang="en-US" dirty="0"/>
              <a:t>test</a:t>
            </a:r>
            <a:r>
              <a:rPr lang="he-IL" dirty="0"/>
              <a:t>, שהיא גרסה לא הרסנית של </a:t>
            </a:r>
            <a:r>
              <a:rPr lang="en-US" dirty="0"/>
              <a:t>and</a:t>
            </a:r>
            <a:endParaRPr lang="he-IL" dirty="0"/>
          </a:p>
          <a:p>
            <a:r>
              <a:rPr lang="he-IL" dirty="0"/>
              <a:t>6. אם זוגי עובר חלוקה ב 2 ע"י הזזה של מקום אחד ימינה</a:t>
            </a:r>
          </a:p>
          <a:p>
            <a:r>
              <a:rPr lang="he-IL" dirty="0"/>
              <a:t>7. אם אי זוגי  - משתמשים באוגר </a:t>
            </a:r>
            <a:r>
              <a:rPr lang="en-US" dirty="0" err="1"/>
              <a:t>rbx</a:t>
            </a:r>
            <a:r>
              <a:rPr lang="he-IL" dirty="0"/>
              <a:t> כאוגר עזר , מזיזים את הערך של </a:t>
            </a:r>
            <a:r>
              <a:rPr lang="en-US" dirty="0" err="1"/>
              <a:t>rax</a:t>
            </a:r>
            <a:r>
              <a:rPr lang="he-IL" dirty="0"/>
              <a:t> שמאלה (כופלים אותו פי 2) , לאחר מכן מחברים לו את </a:t>
            </a:r>
            <a:r>
              <a:rPr lang="en-US" dirty="0" err="1"/>
              <a:t>rbx</a:t>
            </a:r>
            <a:r>
              <a:rPr lang="he-IL" dirty="0"/>
              <a:t>. ע"י כך מבצעים כפל של תוכן הערך הנידון פי 3.  בשלב האחרון מוסיפים לתוצאה 1 </a:t>
            </a:r>
          </a:p>
          <a:p>
            <a:r>
              <a:rPr lang="he-IL" dirty="0"/>
              <a:t>8. לאורך כל התכנית , אוגר </a:t>
            </a:r>
            <a:r>
              <a:rPr lang="en-US" dirty="0" err="1"/>
              <a:t>rcx</a:t>
            </a:r>
            <a:r>
              <a:rPr lang="he-IL" dirty="0"/>
              <a:t> מקודם ב 1 בכל שלב בלולאה וזאת כדי למנות את מספר האיברים בסדרה. </a:t>
            </a:r>
          </a:p>
          <a:p>
            <a:r>
              <a:rPr lang="he-IL" dirty="0"/>
              <a:t>9. כמו כן , כל ערך מחושב חדש נשמר בכתובת של מערך </a:t>
            </a:r>
            <a:r>
              <a:rPr lang="en-US" dirty="0" err="1"/>
              <a:t>seq</a:t>
            </a:r>
            <a:r>
              <a:rPr lang="he-IL" dirty="0"/>
              <a:t> </a:t>
            </a:r>
          </a:p>
        </p:txBody>
      </p:sp>
      <p:sp>
        <p:nvSpPr>
          <p:cNvPr id="4" name="מציין מיקום של מספר שקופית 3"/>
          <p:cNvSpPr>
            <a:spLocks noGrp="1"/>
          </p:cNvSpPr>
          <p:nvPr>
            <p:ph type="sldNum" sz="quarter" idx="12"/>
          </p:nvPr>
        </p:nvSpPr>
        <p:spPr/>
        <p:txBody>
          <a:bodyPr/>
          <a:lstStyle/>
          <a:p>
            <a:fld id="{F3B72AAF-92CC-404F-8696-FD15D1FD208C}" type="slidenum">
              <a:rPr lang="he-IL" smtClean="0"/>
              <a:t>5</a:t>
            </a:fld>
            <a:endParaRPr lang="he-IL"/>
          </a:p>
        </p:txBody>
      </p:sp>
      <p:pic>
        <p:nvPicPr>
          <p:cNvPr id="6" name="תמונה 5">
            <a:extLst>
              <a:ext uri="{FF2B5EF4-FFF2-40B4-BE49-F238E27FC236}">
                <a16:creationId xmlns:a16="http://schemas.microsoft.com/office/drawing/2014/main" id="{DE9F9BFB-ACB6-1AE3-C337-C7A8ACF25B41}"/>
              </a:ext>
            </a:extLst>
          </p:cNvPr>
          <p:cNvPicPr>
            <a:picLocks noChangeAspect="1"/>
          </p:cNvPicPr>
          <p:nvPr/>
        </p:nvPicPr>
        <p:blipFill>
          <a:blip r:embed="rId2"/>
          <a:stretch>
            <a:fillRect/>
          </a:stretch>
        </p:blipFill>
        <p:spPr>
          <a:xfrm>
            <a:off x="163364" y="215703"/>
            <a:ext cx="2419350" cy="2836723"/>
          </a:xfrm>
          <a:prstGeom prst="rect">
            <a:avLst/>
          </a:prstGeom>
        </p:spPr>
      </p:pic>
      <p:sp>
        <p:nvSpPr>
          <p:cNvPr id="5" name="מלבן 4">
            <a:extLst>
              <a:ext uri="{FF2B5EF4-FFF2-40B4-BE49-F238E27FC236}">
                <a16:creationId xmlns:a16="http://schemas.microsoft.com/office/drawing/2014/main" id="{B7380BF5-BE8E-0215-0634-1B7BF5C62FA5}"/>
              </a:ext>
            </a:extLst>
          </p:cNvPr>
          <p:cNvSpPr/>
          <p:nvPr/>
        </p:nvSpPr>
        <p:spPr>
          <a:xfrm>
            <a:off x="4390845" y="711199"/>
            <a:ext cx="3942272" cy="34633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1" anchor="ctr"/>
          <a:lstStyle/>
          <a:p>
            <a:pPr algn="ctr"/>
            <a:r>
              <a:rPr lang="he-IL" dirty="0">
                <a:solidFill>
                  <a:schemeClr val="tx1"/>
                </a:solidFill>
              </a:rPr>
              <a:t>השלמה מתרגול קודם</a:t>
            </a:r>
          </a:p>
        </p:txBody>
      </p:sp>
    </p:spTree>
    <p:extLst>
      <p:ext uri="{BB962C8B-B14F-4D97-AF65-F5344CB8AC3E}">
        <p14:creationId xmlns:p14="http://schemas.microsoft.com/office/powerpoint/2010/main" val="1682274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הרצה + מעקב אחר המערך </a:t>
            </a:r>
          </a:p>
        </p:txBody>
      </p:sp>
      <p:sp>
        <p:nvSpPr>
          <p:cNvPr id="3" name="מציין מיקום תוכן 2"/>
          <p:cNvSpPr>
            <a:spLocks noGrp="1"/>
          </p:cNvSpPr>
          <p:nvPr>
            <p:ph idx="1"/>
          </p:nvPr>
        </p:nvSpPr>
        <p:spPr/>
        <p:txBody>
          <a:bodyPr>
            <a:normAutofit/>
          </a:bodyPr>
          <a:lstStyle/>
          <a:p>
            <a:pPr algn="l" rtl="0"/>
            <a:r>
              <a:rPr lang="en-US" dirty="0"/>
              <a:t>1. </a:t>
            </a:r>
            <a:r>
              <a:rPr lang="en-US" dirty="0" err="1"/>
              <a:t>nasm</a:t>
            </a:r>
            <a:r>
              <a:rPr lang="en-US" dirty="0"/>
              <a:t> –f elf64 –g –F dwarf collatz.asm –o </a:t>
            </a:r>
            <a:r>
              <a:rPr lang="en-US" dirty="0" err="1"/>
              <a:t>collatz.o</a:t>
            </a:r>
            <a:endParaRPr lang="en-US" dirty="0"/>
          </a:p>
          <a:p>
            <a:pPr algn="l" rtl="0"/>
            <a:r>
              <a:rPr lang="en-US" dirty="0"/>
              <a:t>2. </a:t>
            </a:r>
            <a:r>
              <a:rPr lang="en-US" dirty="0" err="1"/>
              <a:t>gcc</a:t>
            </a:r>
            <a:r>
              <a:rPr lang="en-US" dirty="0"/>
              <a:t> –no-pie –g </a:t>
            </a:r>
            <a:r>
              <a:rPr lang="en-US" dirty="0" err="1"/>
              <a:t>collatz.o</a:t>
            </a:r>
            <a:r>
              <a:rPr lang="en-US" dirty="0"/>
              <a:t> –o </a:t>
            </a:r>
            <a:r>
              <a:rPr lang="en-US" dirty="0" err="1"/>
              <a:t>collatz</a:t>
            </a:r>
            <a:endParaRPr lang="en-US" dirty="0"/>
          </a:p>
          <a:p>
            <a:pPr algn="l" rtl="0"/>
            <a:r>
              <a:rPr lang="en-US" dirty="0"/>
              <a:t>3. </a:t>
            </a:r>
            <a:r>
              <a:rPr lang="en-US" dirty="0" err="1"/>
              <a:t>gdb</a:t>
            </a:r>
            <a:r>
              <a:rPr lang="en-US" dirty="0"/>
              <a:t> ./</a:t>
            </a:r>
            <a:r>
              <a:rPr lang="en-US" dirty="0" err="1"/>
              <a:t>collatz</a:t>
            </a:r>
            <a:endParaRPr lang="en-US" dirty="0"/>
          </a:p>
          <a:p>
            <a:pPr algn="l" rtl="0"/>
            <a:r>
              <a:rPr lang="en-US" dirty="0"/>
              <a:t>4. display /20g &amp;seq </a:t>
            </a:r>
          </a:p>
          <a:p>
            <a:pPr algn="l" rtl="0"/>
            <a:r>
              <a:rPr lang="en-US" dirty="0"/>
              <a:t>5. </a:t>
            </a:r>
            <a:r>
              <a:rPr lang="en-US" dirty="0" err="1"/>
              <a:t>si</a:t>
            </a:r>
            <a:endParaRPr lang="he-IL" dirty="0"/>
          </a:p>
        </p:txBody>
      </p:sp>
      <p:sp>
        <p:nvSpPr>
          <p:cNvPr id="4" name="מציין מיקום של מספר שקופית 3"/>
          <p:cNvSpPr>
            <a:spLocks noGrp="1"/>
          </p:cNvSpPr>
          <p:nvPr>
            <p:ph type="sldNum" sz="quarter" idx="12"/>
          </p:nvPr>
        </p:nvSpPr>
        <p:spPr/>
        <p:txBody>
          <a:bodyPr/>
          <a:lstStyle/>
          <a:p>
            <a:fld id="{F3B72AAF-92CC-404F-8696-FD15D1FD208C}" type="slidenum">
              <a:rPr lang="he-IL" smtClean="0"/>
              <a:t>6</a:t>
            </a:fld>
            <a:endParaRPr lang="he-IL"/>
          </a:p>
        </p:txBody>
      </p:sp>
      <p:sp>
        <p:nvSpPr>
          <p:cNvPr id="5" name="מלבן 4">
            <a:extLst>
              <a:ext uri="{FF2B5EF4-FFF2-40B4-BE49-F238E27FC236}">
                <a16:creationId xmlns:a16="http://schemas.microsoft.com/office/drawing/2014/main" id="{5244AAF9-DA3B-09A4-631F-011B8971AE29}"/>
              </a:ext>
            </a:extLst>
          </p:cNvPr>
          <p:cNvSpPr/>
          <p:nvPr/>
        </p:nvSpPr>
        <p:spPr>
          <a:xfrm>
            <a:off x="4390845" y="711199"/>
            <a:ext cx="3942272" cy="346336"/>
          </a:xfrm>
          <a:prstGeom prst="rect">
            <a:avLst/>
          </a:prstGeom>
        </p:spPr>
        <p:style>
          <a:lnRef idx="2">
            <a:schemeClr val="accent6">
              <a:shade val="15000"/>
            </a:schemeClr>
          </a:lnRef>
          <a:fillRef idx="1">
            <a:schemeClr val="accent6"/>
          </a:fillRef>
          <a:effectRef idx="0">
            <a:schemeClr val="accent6"/>
          </a:effectRef>
          <a:fontRef idx="minor">
            <a:schemeClr val="lt1"/>
          </a:fontRef>
        </p:style>
        <p:txBody>
          <a:bodyPr rtlCol="1" anchor="ctr"/>
          <a:lstStyle/>
          <a:p>
            <a:pPr algn="ctr"/>
            <a:r>
              <a:rPr lang="he-IL" dirty="0">
                <a:solidFill>
                  <a:schemeClr val="tx1"/>
                </a:solidFill>
              </a:rPr>
              <a:t>השלמה מתרגול קודם</a:t>
            </a:r>
          </a:p>
        </p:txBody>
      </p:sp>
    </p:spTree>
    <p:extLst>
      <p:ext uri="{BB962C8B-B14F-4D97-AF65-F5344CB8AC3E}">
        <p14:creationId xmlns:p14="http://schemas.microsoft.com/office/powerpoint/2010/main" val="17260521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מחסנית הגדרה </a:t>
            </a:r>
          </a:p>
        </p:txBody>
      </p:sp>
      <p:sp>
        <p:nvSpPr>
          <p:cNvPr id="3" name="מציין מיקום תוכן 2"/>
          <p:cNvSpPr>
            <a:spLocks noGrp="1"/>
          </p:cNvSpPr>
          <p:nvPr>
            <p:ph idx="1"/>
          </p:nvPr>
        </p:nvSpPr>
        <p:spPr/>
        <p:txBody>
          <a:bodyPr/>
          <a:lstStyle/>
          <a:p>
            <a:r>
              <a:rPr lang="he-IL" dirty="0"/>
              <a:t>מחסנית מהווה אזור בזיכרון אשר משמש כזיכרון זמני. </a:t>
            </a:r>
          </a:p>
          <a:p>
            <a:r>
              <a:rPr lang="he-IL" dirty="0"/>
              <a:t>המחסנית גדלה באופן הפוך: מתחילה מכתובות גבוהות ויורדת כלפי מטה בכל דחיפה. </a:t>
            </a:r>
          </a:p>
          <a:p>
            <a:r>
              <a:rPr lang="he-IL" dirty="0"/>
              <a:t>כדי לגשת למחסנית קיים אוגר מיוחד </a:t>
            </a:r>
            <a:r>
              <a:rPr lang="en-US" dirty="0" err="1"/>
              <a:t>rsp</a:t>
            </a:r>
            <a:r>
              <a:rPr lang="en-US" dirty="0"/>
              <a:t>=stack pointer</a:t>
            </a:r>
            <a:r>
              <a:rPr lang="he-IL" dirty="0"/>
              <a:t> אשר מצביע על הכתובת  של הערך אשר נכנס אחרון אל המחסנית.</a:t>
            </a:r>
          </a:p>
          <a:p>
            <a:r>
              <a:rPr lang="he-IL" dirty="0"/>
              <a:t>במחסנית של 64 ביטים, בכל קידום הכתובת יורדת ב 8 בתים (אשר מהווים 8 כתובות).</a:t>
            </a:r>
          </a:p>
        </p:txBody>
      </p:sp>
      <p:sp>
        <p:nvSpPr>
          <p:cNvPr id="4" name="מציין מיקום של תאריך 3"/>
          <p:cNvSpPr>
            <a:spLocks noGrp="1"/>
          </p:cNvSpPr>
          <p:nvPr>
            <p:ph type="dt" sz="half" idx="10"/>
          </p:nvPr>
        </p:nvSpPr>
        <p:spPr/>
        <p:txBody>
          <a:bodyPr/>
          <a:lstStyle/>
          <a:p>
            <a:fld id="{BB4CC7C6-2AF2-4154-85B2-407B4BE0D5F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7</a:t>
            </a:fld>
            <a:endParaRPr lang="he-IL"/>
          </a:p>
        </p:txBody>
      </p:sp>
    </p:spTree>
    <p:extLst>
      <p:ext uri="{BB962C8B-B14F-4D97-AF65-F5344CB8AC3E}">
        <p14:creationId xmlns:p14="http://schemas.microsoft.com/office/powerpoint/2010/main" val="3641705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פעולות יסודיות במחסנית </a:t>
            </a:r>
          </a:p>
        </p:txBody>
      </p:sp>
      <p:sp>
        <p:nvSpPr>
          <p:cNvPr id="3" name="מציין מיקום תוכן 2"/>
          <p:cNvSpPr>
            <a:spLocks noGrp="1"/>
          </p:cNvSpPr>
          <p:nvPr>
            <p:ph idx="1"/>
          </p:nvPr>
        </p:nvSpPr>
        <p:spPr/>
        <p:txBody>
          <a:bodyPr/>
          <a:lstStyle/>
          <a:p>
            <a:r>
              <a:rPr lang="he-IL" dirty="0"/>
              <a:t>במחסנית קיימות שתי פעולות יסודיות :</a:t>
            </a:r>
            <a:r>
              <a:rPr lang="en-US" dirty="0"/>
              <a:t> </a:t>
            </a:r>
            <a:endParaRPr lang="he-IL" dirty="0"/>
          </a:p>
          <a:p>
            <a:r>
              <a:rPr lang="he-IL" dirty="0"/>
              <a:t>1. דחיפה – </a:t>
            </a:r>
            <a:r>
              <a:rPr lang="en-US" dirty="0"/>
              <a:t>PUSH</a:t>
            </a:r>
            <a:r>
              <a:rPr lang="he-IL" dirty="0"/>
              <a:t> - הכנסת איבר חדש אל ראש המחסנית </a:t>
            </a:r>
            <a:r>
              <a:rPr lang="en-US" dirty="0"/>
              <a:t>	</a:t>
            </a:r>
          </a:p>
          <a:p>
            <a:r>
              <a:rPr lang="en-US" dirty="0"/>
              <a:t>2</a:t>
            </a:r>
            <a:r>
              <a:rPr lang="he-IL" dirty="0"/>
              <a:t>. שליפה – </a:t>
            </a:r>
            <a:r>
              <a:rPr lang="en-US" dirty="0"/>
              <a:t>POP</a:t>
            </a:r>
            <a:r>
              <a:rPr lang="he-IL" dirty="0"/>
              <a:t>  - הוצאת איבר מראש המחסנית </a:t>
            </a:r>
          </a:p>
          <a:p>
            <a:r>
              <a:rPr lang="he-IL" dirty="0"/>
              <a:t>המחסנית עובדת לפי שיטה של נכנס אחרון יוצא ראשון – </a:t>
            </a:r>
            <a:r>
              <a:rPr lang="en-US" dirty="0"/>
              <a:t>LIFO</a:t>
            </a:r>
            <a:r>
              <a:rPr lang="he-IL" dirty="0"/>
              <a:t>  </a:t>
            </a:r>
          </a:p>
          <a:p>
            <a:r>
              <a:rPr lang="he-IL" dirty="0"/>
              <a:t>בשקפים הבאים  נראה פירוט של כל אחת מן הפעולות </a:t>
            </a:r>
          </a:p>
        </p:txBody>
      </p:sp>
      <p:sp>
        <p:nvSpPr>
          <p:cNvPr id="4" name="מציין מיקום של תאריך 3"/>
          <p:cNvSpPr>
            <a:spLocks noGrp="1"/>
          </p:cNvSpPr>
          <p:nvPr>
            <p:ph type="dt" sz="half" idx="10"/>
          </p:nvPr>
        </p:nvSpPr>
        <p:spPr/>
        <p:txBody>
          <a:bodyPr/>
          <a:lstStyle/>
          <a:p>
            <a:fld id="{F17E7D88-087E-42AB-A5F8-78EB229E1F0E}"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8</a:t>
            </a:fld>
            <a:endParaRPr lang="he-IL"/>
          </a:p>
        </p:txBody>
      </p:sp>
    </p:spTree>
    <p:extLst>
      <p:ext uri="{BB962C8B-B14F-4D97-AF65-F5344CB8AC3E}">
        <p14:creationId xmlns:p14="http://schemas.microsoft.com/office/powerpoint/2010/main" val="3558580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דחיפה למחסנית </a:t>
            </a:r>
          </a:p>
        </p:txBody>
      </p:sp>
      <p:sp>
        <p:nvSpPr>
          <p:cNvPr id="3" name="מציין מיקום תוכן 2"/>
          <p:cNvSpPr>
            <a:spLocks noGrp="1"/>
          </p:cNvSpPr>
          <p:nvPr>
            <p:ph idx="1"/>
          </p:nvPr>
        </p:nvSpPr>
        <p:spPr/>
        <p:txBody>
          <a:bodyPr>
            <a:normAutofit/>
          </a:bodyPr>
          <a:lstStyle/>
          <a:p>
            <a:r>
              <a:rPr lang="he-IL" dirty="0"/>
              <a:t>  </a:t>
            </a:r>
            <a:r>
              <a:rPr lang="en-US" dirty="0"/>
              <a:t>push</a:t>
            </a:r>
            <a:r>
              <a:rPr lang="he-IL" dirty="0"/>
              <a:t> - בכל פעולת דחיפה </a:t>
            </a:r>
            <a:r>
              <a:rPr lang="en-US" dirty="0" err="1"/>
              <a:t>rsp</a:t>
            </a:r>
            <a:r>
              <a:rPr lang="he-IL" dirty="0"/>
              <a:t>  יורד ב 8 ואז התוכן נדחף אל הכתובת. </a:t>
            </a:r>
          </a:p>
          <a:p>
            <a:r>
              <a:rPr lang="he-IL" dirty="0"/>
              <a:t>דוגמא :</a:t>
            </a:r>
            <a:r>
              <a:rPr lang="en-US" dirty="0"/>
              <a:t> </a:t>
            </a:r>
            <a:r>
              <a:rPr lang="he-IL" dirty="0"/>
              <a:t> </a:t>
            </a:r>
            <a:r>
              <a:rPr lang="en-US" dirty="0"/>
              <a:t>push </a:t>
            </a:r>
            <a:r>
              <a:rPr lang="en-US" dirty="0" err="1"/>
              <a:t>rax</a:t>
            </a:r>
            <a:r>
              <a:rPr lang="he-IL" dirty="0"/>
              <a:t> שקולה לצמד הפעולות הבאות :</a:t>
            </a:r>
            <a:r>
              <a:rPr lang="en-US" dirty="0"/>
              <a:t> </a:t>
            </a:r>
            <a:endParaRPr lang="he-IL" dirty="0"/>
          </a:p>
          <a:p>
            <a:pPr algn="l" rtl="0"/>
            <a:r>
              <a:rPr lang="en-US" dirty="0" err="1"/>
              <a:t>rsp</a:t>
            </a:r>
            <a:r>
              <a:rPr lang="en-US" dirty="0"/>
              <a:t> = </a:t>
            </a:r>
            <a:r>
              <a:rPr lang="en-US" dirty="0" err="1"/>
              <a:t>rsp</a:t>
            </a:r>
            <a:r>
              <a:rPr lang="en-US" dirty="0"/>
              <a:t> – 8</a:t>
            </a:r>
          </a:p>
          <a:p>
            <a:pPr algn="l" rtl="0"/>
            <a:r>
              <a:rPr lang="en-US" dirty="0"/>
              <a:t>[</a:t>
            </a:r>
            <a:r>
              <a:rPr lang="en-US" dirty="0" err="1"/>
              <a:t>rsp</a:t>
            </a:r>
            <a:r>
              <a:rPr lang="en-US" dirty="0"/>
              <a:t>] = </a:t>
            </a:r>
            <a:r>
              <a:rPr lang="en-US" dirty="0" err="1"/>
              <a:t>rax</a:t>
            </a:r>
            <a:endParaRPr lang="he-IL" dirty="0"/>
          </a:p>
          <a:p>
            <a:endParaRPr lang="he-IL" dirty="0"/>
          </a:p>
        </p:txBody>
      </p:sp>
      <p:sp>
        <p:nvSpPr>
          <p:cNvPr id="4" name="מציין מיקום של תאריך 3"/>
          <p:cNvSpPr>
            <a:spLocks noGrp="1"/>
          </p:cNvSpPr>
          <p:nvPr>
            <p:ph type="dt" sz="half" idx="10"/>
          </p:nvPr>
        </p:nvSpPr>
        <p:spPr/>
        <p:txBody>
          <a:bodyPr/>
          <a:lstStyle/>
          <a:p>
            <a:fld id="{1C66583C-60D3-4CF3-8F2E-6F947DFA7C28}"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9</a:t>
            </a:fld>
            <a:endParaRPr lang="he-IL"/>
          </a:p>
        </p:txBody>
      </p:sp>
    </p:spTree>
    <p:extLst>
      <p:ext uri="{BB962C8B-B14F-4D97-AF65-F5344CB8AC3E}">
        <p14:creationId xmlns:p14="http://schemas.microsoft.com/office/powerpoint/2010/main" val="4151921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שליפה מהמחסנית </a:t>
            </a:r>
          </a:p>
        </p:txBody>
      </p:sp>
      <p:sp>
        <p:nvSpPr>
          <p:cNvPr id="3" name="מציין מיקום תוכן 2"/>
          <p:cNvSpPr>
            <a:spLocks noGrp="1"/>
          </p:cNvSpPr>
          <p:nvPr>
            <p:ph idx="1"/>
          </p:nvPr>
        </p:nvSpPr>
        <p:spPr/>
        <p:txBody>
          <a:bodyPr/>
          <a:lstStyle/>
          <a:p>
            <a:r>
              <a:rPr lang="he-IL" dirty="0"/>
              <a:t>. שליפה  -  </a:t>
            </a:r>
            <a:r>
              <a:rPr lang="en-US" dirty="0"/>
              <a:t>pop</a:t>
            </a:r>
            <a:r>
              <a:rPr lang="he-IL" dirty="0"/>
              <a:t>  - בכל פעולת שליפה תוכן הכתובת ש </a:t>
            </a:r>
            <a:r>
              <a:rPr lang="en-US" dirty="0" err="1"/>
              <a:t>rsp</a:t>
            </a:r>
            <a:r>
              <a:rPr lang="he-IL" dirty="0"/>
              <a:t> מצביע עליה עובר אל האוגר שבו נרצה לאחסן את התוכן, וכן הכתובת ש </a:t>
            </a:r>
            <a:r>
              <a:rPr lang="en-US" dirty="0"/>
              <a:t>RSP</a:t>
            </a:r>
            <a:r>
              <a:rPr lang="he-IL" dirty="0"/>
              <a:t> מצביע עליה עולה ב 8 :</a:t>
            </a:r>
            <a:r>
              <a:rPr lang="en-US" dirty="0"/>
              <a:t> </a:t>
            </a:r>
            <a:endParaRPr lang="he-IL" dirty="0"/>
          </a:p>
          <a:p>
            <a:r>
              <a:rPr lang="he-IL" dirty="0"/>
              <a:t>לדוגמא </a:t>
            </a:r>
            <a:r>
              <a:rPr lang="en-US" dirty="0"/>
              <a:t>pop </a:t>
            </a:r>
            <a:r>
              <a:rPr lang="en-US" dirty="0" err="1"/>
              <a:t>rax</a:t>
            </a:r>
            <a:r>
              <a:rPr lang="he-IL" dirty="0"/>
              <a:t> שקולה לצמד הפעולות הבא :</a:t>
            </a:r>
            <a:r>
              <a:rPr lang="en-US" dirty="0"/>
              <a:t> </a:t>
            </a:r>
            <a:endParaRPr lang="he-IL" dirty="0"/>
          </a:p>
          <a:p>
            <a:pPr algn="l" rtl="0"/>
            <a:r>
              <a:rPr lang="en-US" dirty="0" err="1"/>
              <a:t>rax</a:t>
            </a:r>
            <a:r>
              <a:rPr lang="en-US" dirty="0"/>
              <a:t> </a:t>
            </a:r>
            <a:r>
              <a:rPr lang="en-US" dirty="0">
                <a:sym typeface="Wingdings" panose="05000000000000000000" pitchFamily="2" charset="2"/>
              </a:rPr>
              <a:t> [</a:t>
            </a:r>
            <a:r>
              <a:rPr lang="en-US" dirty="0" err="1">
                <a:sym typeface="Wingdings" panose="05000000000000000000" pitchFamily="2" charset="2"/>
              </a:rPr>
              <a:t>rsp</a:t>
            </a:r>
            <a:r>
              <a:rPr lang="en-US" dirty="0">
                <a:sym typeface="Wingdings" panose="05000000000000000000" pitchFamily="2" charset="2"/>
              </a:rPr>
              <a:t>]</a:t>
            </a:r>
          </a:p>
          <a:p>
            <a:pPr algn="l" rtl="0"/>
            <a:r>
              <a:rPr lang="en-US" dirty="0" err="1"/>
              <a:t>Rsp</a:t>
            </a:r>
            <a:r>
              <a:rPr lang="en-US" dirty="0"/>
              <a:t> </a:t>
            </a:r>
            <a:r>
              <a:rPr lang="en-US" dirty="0">
                <a:sym typeface="Wingdings" panose="05000000000000000000" pitchFamily="2" charset="2"/>
              </a:rPr>
              <a:t> rsp+8</a:t>
            </a:r>
            <a:endParaRPr lang="he-IL" dirty="0"/>
          </a:p>
          <a:p>
            <a:endParaRPr lang="he-IL" dirty="0"/>
          </a:p>
        </p:txBody>
      </p:sp>
      <p:sp>
        <p:nvSpPr>
          <p:cNvPr id="4" name="מציין מיקום של תאריך 3"/>
          <p:cNvSpPr>
            <a:spLocks noGrp="1"/>
          </p:cNvSpPr>
          <p:nvPr>
            <p:ph type="dt" sz="half" idx="10"/>
          </p:nvPr>
        </p:nvSpPr>
        <p:spPr/>
        <p:txBody>
          <a:bodyPr/>
          <a:lstStyle/>
          <a:p>
            <a:fld id="{2CE29C8F-A565-4ACF-A6D8-44B0A2224EEC}"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10</a:t>
            </a:fld>
            <a:endParaRPr lang="he-IL"/>
          </a:p>
        </p:txBody>
      </p:sp>
    </p:spTree>
    <p:extLst>
      <p:ext uri="{BB962C8B-B14F-4D97-AF65-F5344CB8AC3E}">
        <p14:creationId xmlns:p14="http://schemas.microsoft.com/office/powerpoint/2010/main" val="19671016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מהו מאקרו ? </a:t>
            </a:r>
          </a:p>
        </p:txBody>
      </p:sp>
      <p:sp>
        <p:nvSpPr>
          <p:cNvPr id="3" name="מציין מיקום תוכן 2"/>
          <p:cNvSpPr>
            <a:spLocks noGrp="1"/>
          </p:cNvSpPr>
          <p:nvPr>
            <p:ph idx="1"/>
          </p:nvPr>
        </p:nvSpPr>
        <p:spPr/>
        <p:txBody>
          <a:bodyPr>
            <a:normAutofit fontScale="92500" lnSpcReduction="10000"/>
          </a:bodyPr>
          <a:lstStyle/>
          <a:p>
            <a:r>
              <a:rPr lang="he-IL" dirty="0"/>
              <a:t>מאקרו הוא קטע קוד באסמבלר: הוא מאפשר למתכנת להגדיר  קטע קוד באופן חד פעמי  ואז להשתמש בה שוב ושוב בתכנית. הוא כמעין העתק-הדבק עבור </a:t>
            </a:r>
            <a:r>
              <a:rPr lang="en-US" dirty="0"/>
              <a:t>NASM</a:t>
            </a:r>
            <a:r>
              <a:rPr lang="he-IL" dirty="0"/>
              <a:t> </a:t>
            </a:r>
            <a:endParaRPr lang="en-US" dirty="0"/>
          </a:p>
          <a:p>
            <a:r>
              <a:rPr lang="he-IL" dirty="0"/>
              <a:t>מאפיינים עיקריים: </a:t>
            </a:r>
          </a:p>
          <a:p>
            <a:r>
              <a:rPr lang="he-IL" dirty="0"/>
              <a:t>החלפת טקסט : כאשר האסמבלר  נתקל בשם המאקרו, הוא מחליף אותו בזמן ההידור ברצף הפקודות המקורי.</a:t>
            </a:r>
          </a:p>
          <a:p>
            <a:r>
              <a:rPr lang="he-IL" dirty="0"/>
              <a:t> בקובץ הריצה הסופי</a:t>
            </a:r>
            <a:r>
              <a:rPr lang="en-US" dirty="0"/>
              <a:t>, </a:t>
            </a:r>
            <a:r>
              <a:rPr lang="he-IL" dirty="0"/>
              <a:t>הקוד יופיע במלואו בכל מקום שבו נקרא המאקרו.</a:t>
            </a:r>
          </a:p>
          <a:p>
            <a:r>
              <a:rPr lang="he-IL" dirty="0"/>
              <a:t>פרמטרים: ניתן להעביר למאקרו ארגומנטים (כמו שמות של אוגרים או ערכים מספריים), מה שהופך אותו לגמיש.</a:t>
            </a:r>
          </a:p>
        </p:txBody>
      </p:sp>
      <p:sp>
        <p:nvSpPr>
          <p:cNvPr id="4" name="מציין מיקום של תאריך 3"/>
          <p:cNvSpPr>
            <a:spLocks noGrp="1"/>
          </p:cNvSpPr>
          <p:nvPr>
            <p:ph type="dt" sz="half" idx="10"/>
          </p:nvPr>
        </p:nvSpPr>
        <p:spPr/>
        <p:txBody>
          <a:bodyPr/>
          <a:lstStyle/>
          <a:p>
            <a:fld id="{27DBC233-206B-41C7-85FB-7DA6EC4628B5}"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11</a:t>
            </a:fld>
            <a:endParaRPr lang="he-IL"/>
          </a:p>
        </p:txBody>
      </p:sp>
    </p:spTree>
    <p:extLst>
      <p:ext uri="{BB962C8B-B14F-4D97-AF65-F5344CB8AC3E}">
        <p14:creationId xmlns:p14="http://schemas.microsoft.com/office/powerpoint/2010/main" val="14954932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NASM macro syntax</a:t>
            </a:r>
            <a:endParaRPr lang="he-IL" dirty="0"/>
          </a:p>
        </p:txBody>
      </p:sp>
      <p:sp>
        <p:nvSpPr>
          <p:cNvPr id="3" name="מציין מיקום תוכן 2"/>
          <p:cNvSpPr>
            <a:spLocks noGrp="1"/>
          </p:cNvSpPr>
          <p:nvPr>
            <p:ph idx="1"/>
          </p:nvPr>
        </p:nvSpPr>
        <p:spPr/>
        <p:txBody>
          <a:bodyPr>
            <a:normAutofit/>
          </a:bodyPr>
          <a:lstStyle/>
          <a:p>
            <a:pPr algn="l" rtl="0"/>
            <a:r>
              <a:rPr lang="en-US" dirty="0"/>
              <a:t>Define:   </a:t>
            </a:r>
            <a:r>
              <a:rPr lang="en-US" b="1" dirty="0"/>
              <a:t>%macro NAME  </a:t>
            </a:r>
            <a:r>
              <a:rPr lang="en-US" b="1" dirty="0" err="1"/>
              <a:t>number_of_arguments</a:t>
            </a:r>
            <a:endParaRPr lang="en-US" b="1" dirty="0"/>
          </a:p>
          <a:p>
            <a:pPr algn="l" rtl="0"/>
            <a:r>
              <a:rPr lang="en-US" b="1" dirty="0"/>
              <a:t>                         ; body using %1, %2, ...</a:t>
            </a:r>
          </a:p>
          <a:p>
            <a:pPr algn="l" rtl="0"/>
            <a:r>
              <a:rPr lang="en-US" b="1" dirty="0"/>
              <a:t>                   %</a:t>
            </a:r>
            <a:r>
              <a:rPr lang="en-US" b="1" dirty="0" err="1"/>
              <a:t>endmacro</a:t>
            </a:r>
            <a:endParaRPr lang="en-US" b="1" dirty="0"/>
          </a:p>
          <a:p>
            <a:pPr algn="l" rtl="0"/>
            <a:r>
              <a:rPr lang="en-US" dirty="0"/>
              <a:t>Use : </a:t>
            </a:r>
            <a:r>
              <a:rPr lang="en-US" b="1" dirty="0"/>
              <a:t>NAME arg1, arg2</a:t>
            </a:r>
          </a:p>
          <a:p>
            <a:pPr algn="l" rtl="0"/>
            <a:endParaRPr lang="he-IL" dirty="0"/>
          </a:p>
        </p:txBody>
      </p:sp>
      <p:sp>
        <p:nvSpPr>
          <p:cNvPr id="4" name="מציין מיקום של תאריך 3"/>
          <p:cNvSpPr>
            <a:spLocks noGrp="1"/>
          </p:cNvSpPr>
          <p:nvPr>
            <p:ph type="dt" sz="half" idx="10"/>
          </p:nvPr>
        </p:nvSpPr>
        <p:spPr/>
        <p:txBody>
          <a:bodyPr/>
          <a:lstStyle/>
          <a:p>
            <a:fld id="{48CC28D4-0EE5-477C-8073-FDAA6AF4D7F3}"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12</a:t>
            </a:fld>
            <a:endParaRPr lang="he-IL"/>
          </a:p>
        </p:txBody>
      </p:sp>
    </p:spTree>
    <p:extLst>
      <p:ext uri="{BB962C8B-B14F-4D97-AF65-F5344CB8AC3E}">
        <p14:creationId xmlns:p14="http://schemas.microsoft.com/office/powerpoint/2010/main" val="353882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דוגמא למאקרו </a:t>
            </a:r>
          </a:p>
        </p:txBody>
      </p:sp>
      <p:sp>
        <p:nvSpPr>
          <p:cNvPr id="3" name="מציין מיקום תוכן 2"/>
          <p:cNvSpPr>
            <a:spLocks noGrp="1"/>
          </p:cNvSpPr>
          <p:nvPr>
            <p:ph idx="1"/>
          </p:nvPr>
        </p:nvSpPr>
        <p:spPr/>
        <p:txBody>
          <a:bodyPr/>
          <a:lstStyle/>
          <a:p>
            <a:pPr algn="l" rtl="0"/>
            <a:r>
              <a:rPr lang="en-US" dirty="0"/>
              <a:t>Eample:           </a:t>
            </a:r>
            <a:r>
              <a:rPr lang="en-US" b="1" dirty="0"/>
              <a:t>%macro PUSH64 1</a:t>
            </a:r>
          </a:p>
          <a:p>
            <a:pPr algn="l" rtl="0"/>
            <a:r>
              <a:rPr lang="en-US" b="1" dirty="0"/>
              <a:t>                             sub </a:t>
            </a:r>
            <a:r>
              <a:rPr lang="en-US" b="1" dirty="0" err="1"/>
              <a:t>rsp</a:t>
            </a:r>
            <a:r>
              <a:rPr lang="en-US" b="1" dirty="0"/>
              <a:t>, 8</a:t>
            </a:r>
          </a:p>
          <a:p>
            <a:pPr algn="l" rtl="0"/>
            <a:r>
              <a:rPr lang="en-US" b="1" dirty="0"/>
              <a:t>                            mov qword [</a:t>
            </a:r>
            <a:r>
              <a:rPr lang="en-US" b="1" dirty="0" err="1"/>
              <a:t>rsp</a:t>
            </a:r>
            <a:r>
              <a:rPr lang="en-US" b="1" dirty="0"/>
              <a:t>], %1</a:t>
            </a:r>
          </a:p>
          <a:p>
            <a:pPr algn="l" rtl="0"/>
            <a:r>
              <a:rPr lang="en-US" b="1" dirty="0"/>
              <a:t>                            %</a:t>
            </a:r>
            <a:r>
              <a:rPr lang="en-US" b="1" dirty="0" err="1"/>
              <a:t>endmacro</a:t>
            </a:r>
            <a:endParaRPr lang="en-US" b="1" dirty="0"/>
          </a:p>
          <a:p>
            <a:pPr algn="r"/>
            <a:r>
              <a:rPr lang="he-IL" dirty="0"/>
              <a:t>הדוגמא אומרת לאסמבלר :</a:t>
            </a:r>
            <a:r>
              <a:rPr lang="en-US" dirty="0"/>
              <a:t> </a:t>
            </a:r>
            <a:r>
              <a:rPr lang="he-IL" dirty="0"/>
              <a:t>"קח נתון אחד (זו הסיבה שרשום 1 בכותרת של המאקרו)  ודחוף אותו אל המחסנית " . </a:t>
            </a:r>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F411DD42-9991-4A73-A09A-FBAAB7997A6D}"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13</a:t>
            </a:fld>
            <a:endParaRPr lang="he-IL"/>
          </a:p>
        </p:txBody>
      </p:sp>
    </p:spTree>
    <p:extLst>
      <p:ext uri="{BB962C8B-B14F-4D97-AF65-F5344CB8AC3E}">
        <p14:creationId xmlns:p14="http://schemas.microsoft.com/office/powerpoint/2010/main" val="39622423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דוגמא </a:t>
            </a:r>
          </a:p>
        </p:txBody>
      </p:sp>
      <p:sp>
        <p:nvSpPr>
          <p:cNvPr id="3" name="מציין מיקום תוכן 2"/>
          <p:cNvSpPr>
            <a:spLocks noGrp="1"/>
          </p:cNvSpPr>
          <p:nvPr>
            <p:ph idx="1"/>
          </p:nvPr>
        </p:nvSpPr>
        <p:spPr/>
        <p:txBody>
          <a:bodyPr/>
          <a:lstStyle/>
          <a:p>
            <a:r>
              <a:rPr lang="he-IL" dirty="0"/>
              <a:t>אם במהלך התכנית תופיע השורה :</a:t>
            </a:r>
            <a:r>
              <a:rPr lang="en-US" dirty="0"/>
              <a:t> PUSH64 </a:t>
            </a:r>
            <a:r>
              <a:rPr lang="en-US" dirty="0" err="1"/>
              <a:t>rax</a:t>
            </a:r>
            <a:r>
              <a:rPr lang="en-US" dirty="0"/>
              <a:t>     </a:t>
            </a:r>
            <a:r>
              <a:rPr lang="he-IL" dirty="0"/>
              <a:t>אזי </a:t>
            </a:r>
            <a:r>
              <a:rPr lang="en-US" dirty="0"/>
              <a:t>NASM</a:t>
            </a:r>
            <a:r>
              <a:rPr lang="he-IL" dirty="0"/>
              <a:t> יפרש את הפקודה כך :</a:t>
            </a:r>
            <a:r>
              <a:rPr lang="en-US" dirty="0"/>
              <a:t> </a:t>
            </a:r>
            <a:endParaRPr lang="he-IL" dirty="0"/>
          </a:p>
          <a:p>
            <a:pPr algn="l" rtl="0"/>
            <a:r>
              <a:rPr lang="en-US" b="1" dirty="0"/>
              <a:t>sub </a:t>
            </a:r>
            <a:r>
              <a:rPr lang="en-US" b="1" dirty="0" err="1"/>
              <a:t>rsp</a:t>
            </a:r>
            <a:r>
              <a:rPr lang="en-US" b="1" dirty="0"/>
              <a:t>, 8</a:t>
            </a:r>
          </a:p>
          <a:p>
            <a:pPr algn="l" rtl="0"/>
            <a:r>
              <a:rPr lang="en-US" b="1" dirty="0"/>
              <a:t>mov qword [</a:t>
            </a:r>
            <a:r>
              <a:rPr lang="en-US" b="1" dirty="0" err="1"/>
              <a:t>rsp</a:t>
            </a:r>
            <a:r>
              <a:rPr lang="en-US" b="1" dirty="0"/>
              <a:t>], </a:t>
            </a:r>
            <a:r>
              <a:rPr lang="en-US" b="1" dirty="0" err="1"/>
              <a:t>rax</a:t>
            </a:r>
            <a:endParaRPr lang="en-US" b="1" dirty="0"/>
          </a:p>
          <a:p>
            <a:pPr algn="r"/>
            <a:r>
              <a:rPr lang="he-IL" dirty="0"/>
              <a:t>כמובן שפעולה זו שקולה ל </a:t>
            </a:r>
            <a:r>
              <a:rPr lang="en-US" dirty="0"/>
              <a:t>push </a:t>
            </a:r>
            <a:r>
              <a:rPr lang="en-US" dirty="0" err="1"/>
              <a:t>rax</a:t>
            </a:r>
            <a:endParaRPr lang="he-IL" dirty="0"/>
          </a:p>
          <a:p>
            <a:pPr algn="r"/>
            <a:r>
              <a:rPr lang="he-IL" dirty="0"/>
              <a:t>כמובן שאפשר לדחוף למחסנית באמצעות מאקרו זה גם ערכים </a:t>
            </a:r>
            <a:r>
              <a:rPr lang="he-IL" dirty="0" err="1"/>
              <a:t>מיידיים</a:t>
            </a:r>
            <a:r>
              <a:rPr lang="he-IL" dirty="0"/>
              <a:t> כגון :</a:t>
            </a:r>
            <a:endParaRPr lang="en-US" dirty="0"/>
          </a:p>
          <a:p>
            <a:pPr algn="r"/>
            <a:r>
              <a:rPr lang="en-US" dirty="0"/>
              <a:t>PUSH64 999 </a:t>
            </a:r>
            <a:r>
              <a:rPr lang="he-IL" dirty="0"/>
              <a:t> אשר דוחפת למחסנית ערך 999</a:t>
            </a:r>
          </a:p>
        </p:txBody>
      </p:sp>
      <p:sp>
        <p:nvSpPr>
          <p:cNvPr id="4" name="מציין מיקום של תאריך 3"/>
          <p:cNvSpPr>
            <a:spLocks noGrp="1"/>
          </p:cNvSpPr>
          <p:nvPr>
            <p:ph type="dt" sz="half" idx="10"/>
          </p:nvPr>
        </p:nvSpPr>
        <p:spPr/>
        <p:txBody>
          <a:bodyPr/>
          <a:lstStyle/>
          <a:p>
            <a:fld id="{75694771-DBD6-4DA0-BC97-54AAD2C34DA5}"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14</a:t>
            </a:fld>
            <a:endParaRPr lang="he-IL"/>
          </a:p>
        </p:txBody>
      </p:sp>
    </p:spTree>
    <p:extLst>
      <p:ext uri="{BB962C8B-B14F-4D97-AF65-F5344CB8AC3E}">
        <p14:creationId xmlns:p14="http://schemas.microsoft.com/office/powerpoint/2010/main" val="899628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fontScale="90000"/>
          </a:bodyPr>
          <a:lstStyle/>
          <a:p>
            <a:r>
              <a:rPr lang="en-US" dirty="0" err="1"/>
              <a:t>push_pop_demo</a:t>
            </a:r>
            <a:r>
              <a:rPr lang="en-US" dirty="0"/>
              <a:t> – Implementing PUSH/POP with macros</a:t>
            </a:r>
            <a:endParaRPr lang="he-IL" dirty="0"/>
          </a:p>
        </p:txBody>
      </p:sp>
      <p:sp>
        <p:nvSpPr>
          <p:cNvPr id="3" name="מציין מיקום תוכן 2"/>
          <p:cNvSpPr>
            <a:spLocks noGrp="1"/>
          </p:cNvSpPr>
          <p:nvPr>
            <p:ph idx="1"/>
          </p:nvPr>
        </p:nvSpPr>
        <p:spPr/>
        <p:txBody>
          <a:bodyPr/>
          <a:lstStyle/>
          <a:p>
            <a:r>
              <a:rPr lang="he-IL" dirty="0"/>
              <a:t>נגדיר להלן שני מאקרו :</a:t>
            </a:r>
            <a:r>
              <a:rPr lang="en-US" dirty="0"/>
              <a:t> </a:t>
            </a:r>
            <a:r>
              <a:rPr lang="he-IL" dirty="0"/>
              <a:t> אחד עבור </a:t>
            </a:r>
            <a:r>
              <a:rPr lang="en-US" dirty="0"/>
              <a:t>PUSH</a:t>
            </a:r>
            <a:r>
              <a:rPr lang="he-IL" dirty="0"/>
              <a:t> והשני עבור </a:t>
            </a:r>
            <a:r>
              <a:rPr lang="en-US" dirty="0"/>
              <a:t>POP</a:t>
            </a:r>
            <a:r>
              <a:rPr lang="he-IL" dirty="0"/>
              <a:t> : </a:t>
            </a:r>
          </a:p>
          <a:p>
            <a:pPr algn="l" rtl="0"/>
            <a:r>
              <a:rPr lang="en-US" b="1" dirty="0"/>
              <a:t>%macro PUSH64 1                           %macro POP64 1  </a:t>
            </a:r>
          </a:p>
          <a:p>
            <a:pPr algn="l" rtl="0"/>
            <a:r>
              <a:rPr lang="en-US" b="1" dirty="0"/>
              <a:t>    sub </a:t>
            </a:r>
            <a:r>
              <a:rPr lang="en-US" b="1" dirty="0" err="1"/>
              <a:t>rsp</a:t>
            </a:r>
            <a:r>
              <a:rPr lang="en-US" b="1" dirty="0"/>
              <a:t>, 8                                            mov %1,  qword [</a:t>
            </a:r>
            <a:r>
              <a:rPr lang="en-US" b="1" dirty="0" err="1"/>
              <a:t>rsp</a:t>
            </a:r>
            <a:r>
              <a:rPr lang="en-US" b="1" dirty="0"/>
              <a:t>]</a:t>
            </a:r>
          </a:p>
          <a:p>
            <a:pPr algn="l" rtl="0"/>
            <a:r>
              <a:rPr lang="en-US" b="1" dirty="0"/>
              <a:t>    mov qword [</a:t>
            </a:r>
            <a:r>
              <a:rPr lang="en-US" b="1" dirty="0" err="1"/>
              <a:t>rsp</a:t>
            </a:r>
            <a:r>
              <a:rPr lang="en-US" b="1" dirty="0"/>
              <a:t>], %1                         add </a:t>
            </a:r>
            <a:r>
              <a:rPr lang="en-US" b="1" dirty="0" err="1"/>
              <a:t>rsp</a:t>
            </a:r>
            <a:r>
              <a:rPr lang="en-US" b="1" dirty="0"/>
              <a:t>, 8</a:t>
            </a:r>
          </a:p>
          <a:p>
            <a:pPr algn="l" rtl="0"/>
            <a:r>
              <a:rPr lang="en-US" b="1" dirty="0"/>
              <a:t>%</a:t>
            </a:r>
            <a:r>
              <a:rPr lang="en-US" b="1" dirty="0" err="1"/>
              <a:t>endmacro</a:t>
            </a:r>
            <a:r>
              <a:rPr lang="en-US" b="1" dirty="0"/>
              <a:t>                                         %</a:t>
            </a:r>
            <a:r>
              <a:rPr lang="en-US" b="1" dirty="0" err="1"/>
              <a:t>endmacro</a:t>
            </a:r>
            <a:endParaRPr lang="en-US" b="1" dirty="0"/>
          </a:p>
          <a:p>
            <a:pPr algn="l" rtl="0"/>
            <a:endParaRPr lang="he-IL" dirty="0"/>
          </a:p>
          <a:p>
            <a:endParaRPr lang="he-IL" dirty="0"/>
          </a:p>
        </p:txBody>
      </p:sp>
      <p:sp>
        <p:nvSpPr>
          <p:cNvPr id="4" name="מציין מיקום של תאריך 3"/>
          <p:cNvSpPr>
            <a:spLocks noGrp="1"/>
          </p:cNvSpPr>
          <p:nvPr>
            <p:ph type="dt" sz="half" idx="10"/>
          </p:nvPr>
        </p:nvSpPr>
        <p:spPr/>
        <p:txBody>
          <a:bodyPr/>
          <a:lstStyle/>
          <a:p>
            <a:fld id="{0FE4BFCE-BCC6-438C-9A07-5A59763B33E1}"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15</a:t>
            </a:fld>
            <a:endParaRPr lang="he-IL"/>
          </a:p>
        </p:txBody>
      </p:sp>
    </p:spTree>
    <p:extLst>
      <p:ext uri="{BB962C8B-B14F-4D97-AF65-F5344CB8AC3E}">
        <p14:creationId xmlns:p14="http://schemas.microsoft.com/office/powerpoint/2010/main" val="17166824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דוגמא לתכנית שמשתמשת במאקרו </a:t>
            </a:r>
          </a:p>
        </p:txBody>
      </p:sp>
      <p:pic>
        <p:nvPicPr>
          <p:cNvPr id="4" name="מציין מיקום תוכן 3"/>
          <p:cNvPicPr>
            <a:picLocks noGrp="1" noChangeAspect="1"/>
          </p:cNvPicPr>
          <p:nvPr>
            <p:ph idx="1"/>
          </p:nvPr>
        </p:nvPicPr>
        <p:blipFill>
          <a:blip r:embed="rId2"/>
          <a:stretch>
            <a:fillRect/>
          </a:stretch>
        </p:blipFill>
        <p:spPr>
          <a:xfrm>
            <a:off x="1911096" y="2630615"/>
            <a:ext cx="6464807" cy="3317875"/>
          </a:xfrm>
          <a:prstGeom prst="rect">
            <a:avLst/>
          </a:prstGeom>
        </p:spPr>
      </p:pic>
      <p:sp>
        <p:nvSpPr>
          <p:cNvPr id="3" name="מציין מיקום של תאריך 2"/>
          <p:cNvSpPr>
            <a:spLocks noGrp="1"/>
          </p:cNvSpPr>
          <p:nvPr>
            <p:ph type="dt" sz="half" idx="10"/>
          </p:nvPr>
        </p:nvSpPr>
        <p:spPr/>
        <p:txBody>
          <a:bodyPr/>
          <a:lstStyle/>
          <a:p>
            <a:fld id="{EC8B3AE7-62EC-4C62-A539-72F9CF0B6DC5}"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16</a:t>
            </a:fld>
            <a:endParaRPr lang="he-IL"/>
          </a:p>
        </p:txBody>
      </p:sp>
    </p:spTree>
    <p:extLst>
      <p:ext uri="{BB962C8B-B14F-4D97-AF65-F5344CB8AC3E}">
        <p14:creationId xmlns:p14="http://schemas.microsoft.com/office/powerpoint/2010/main" val="3416709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דוגמא המשך</a:t>
            </a:r>
          </a:p>
        </p:txBody>
      </p:sp>
      <p:sp>
        <p:nvSpPr>
          <p:cNvPr id="3" name="מציין מיקום תוכן 2"/>
          <p:cNvSpPr>
            <a:spLocks noGrp="1"/>
          </p:cNvSpPr>
          <p:nvPr>
            <p:ph idx="1"/>
          </p:nvPr>
        </p:nvSpPr>
        <p:spPr/>
        <p:txBody>
          <a:bodyPr/>
          <a:lstStyle/>
          <a:p>
            <a:r>
              <a:rPr lang="he-IL" dirty="0"/>
              <a:t>התכנית משתמשת בשני המאקרו שהוגדרו קודם לכן וזאת כדי לדחוף ערך של 42 למחסנית באמצעות </a:t>
            </a:r>
            <a:r>
              <a:rPr lang="en-US" dirty="0" err="1"/>
              <a:t>rax</a:t>
            </a:r>
            <a:r>
              <a:rPr lang="en-US" dirty="0"/>
              <a:t> </a:t>
            </a:r>
            <a:r>
              <a:rPr lang="he-IL" dirty="0"/>
              <a:t> ולאחר מכן לשלוף את הערך האחרון שנדחף – דהיינו 42 חזרה אל </a:t>
            </a:r>
            <a:r>
              <a:rPr lang="en-US" dirty="0" err="1"/>
              <a:t>rax</a:t>
            </a:r>
            <a:r>
              <a:rPr lang="he-IL" dirty="0"/>
              <a:t> </a:t>
            </a:r>
          </a:p>
        </p:txBody>
      </p:sp>
      <p:sp>
        <p:nvSpPr>
          <p:cNvPr id="4" name="מציין מיקום של תאריך 3"/>
          <p:cNvSpPr>
            <a:spLocks noGrp="1"/>
          </p:cNvSpPr>
          <p:nvPr>
            <p:ph type="dt" sz="half" idx="10"/>
          </p:nvPr>
        </p:nvSpPr>
        <p:spPr/>
        <p:txBody>
          <a:bodyPr/>
          <a:lstStyle/>
          <a:p>
            <a:fld id="{A4BDCD3D-F4E3-4424-8EB5-AF8621B200CF}"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17</a:t>
            </a:fld>
            <a:endParaRPr lang="he-IL"/>
          </a:p>
        </p:txBody>
      </p:sp>
    </p:spTree>
    <p:extLst>
      <p:ext uri="{BB962C8B-B14F-4D97-AF65-F5344CB8AC3E}">
        <p14:creationId xmlns:p14="http://schemas.microsoft.com/office/powerpoint/2010/main" val="2954554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הרצה </a:t>
            </a:r>
            <a:r>
              <a:rPr lang="he-IL" dirty="0" err="1"/>
              <a:t>ודיבוג</a:t>
            </a:r>
            <a:r>
              <a:rPr lang="he-IL" dirty="0"/>
              <a:t> של התכנית </a:t>
            </a:r>
          </a:p>
        </p:txBody>
      </p:sp>
      <p:sp>
        <p:nvSpPr>
          <p:cNvPr id="3" name="מציין מיקום תוכן 2"/>
          <p:cNvSpPr>
            <a:spLocks noGrp="1"/>
          </p:cNvSpPr>
          <p:nvPr>
            <p:ph idx="1"/>
          </p:nvPr>
        </p:nvSpPr>
        <p:spPr/>
        <p:txBody>
          <a:bodyPr>
            <a:normAutofit fontScale="92500" lnSpcReduction="20000"/>
          </a:bodyPr>
          <a:lstStyle/>
          <a:p>
            <a:r>
              <a:rPr lang="he-IL" dirty="0"/>
              <a:t>כדי להריץ את התכנית יש לרשום את הרצף הבא:</a:t>
            </a:r>
          </a:p>
          <a:p>
            <a:pPr algn="l" rtl="0"/>
            <a:r>
              <a:rPr lang="he-IL" dirty="0"/>
              <a:t> </a:t>
            </a:r>
            <a:r>
              <a:rPr lang="en-US" b="1" dirty="0"/>
              <a:t>nasm -f elf64 -g -F dwarf push_pop_demo.asm -o </a:t>
            </a:r>
            <a:r>
              <a:rPr lang="en-US" b="1" dirty="0" err="1"/>
              <a:t>push_pop_demo.o</a:t>
            </a:r>
            <a:endParaRPr lang="en-US" b="1" dirty="0"/>
          </a:p>
          <a:p>
            <a:pPr algn="l" rtl="0"/>
            <a:r>
              <a:rPr lang="en-US" b="1" dirty="0"/>
              <a:t>(remark : the version of nasm above is true only for debugging. Otherwise,  use: nasm -f elf64 push_pop_demo.asm -o </a:t>
            </a:r>
            <a:r>
              <a:rPr lang="en-US" b="1" dirty="0" err="1"/>
              <a:t>push_pop_demo.o</a:t>
            </a:r>
            <a:r>
              <a:rPr lang="en-US" b="1" dirty="0"/>
              <a:t>)</a:t>
            </a:r>
          </a:p>
          <a:p>
            <a:pPr algn="l" rtl="0"/>
            <a:r>
              <a:rPr lang="pl-PL" b="1" dirty="0"/>
              <a:t>gcc -no-pie push_pop_demo.o -o push_pop_demo</a:t>
            </a:r>
            <a:endParaRPr lang="en-US" b="1" dirty="0"/>
          </a:p>
          <a:p>
            <a:pPr algn="l" rtl="0"/>
            <a:r>
              <a:rPr lang="en-US" b="1" dirty="0"/>
              <a:t>./</a:t>
            </a:r>
            <a:r>
              <a:rPr lang="en-US" b="1" dirty="0" err="1"/>
              <a:t>push_pop_demo</a:t>
            </a:r>
            <a:endParaRPr lang="en-US" b="1" dirty="0"/>
          </a:p>
          <a:p>
            <a:pPr algn="l" rtl="0"/>
            <a:r>
              <a:rPr lang="en-US" b="1" dirty="0"/>
              <a:t>echo $?   ; prints what is stored in </a:t>
            </a:r>
            <a:r>
              <a:rPr lang="en-US" b="1" dirty="0" err="1"/>
              <a:t>rax</a:t>
            </a:r>
            <a:endParaRPr lang="en-US" b="1" dirty="0"/>
          </a:p>
          <a:p>
            <a:pPr algn="r"/>
            <a:r>
              <a:rPr lang="he-IL" b="1" dirty="0"/>
              <a:t>הפלט שיתקבל הוא כמובן 42.  כמובן ש </a:t>
            </a:r>
            <a:r>
              <a:rPr lang="en-US" b="1" dirty="0" err="1"/>
              <a:t>rsp</a:t>
            </a:r>
            <a:r>
              <a:rPr lang="en-US" b="1" dirty="0"/>
              <a:t>  </a:t>
            </a:r>
            <a:r>
              <a:rPr lang="he-IL" b="1" dirty="0"/>
              <a:t>  חוזר לתוכנו המקורי </a:t>
            </a:r>
            <a:endParaRPr lang="en-US" b="1" dirty="0"/>
          </a:p>
          <a:p>
            <a:pPr algn="l" rtl="0"/>
            <a:endParaRPr lang="he-IL" dirty="0"/>
          </a:p>
        </p:txBody>
      </p:sp>
      <p:sp>
        <p:nvSpPr>
          <p:cNvPr id="4" name="מציין מיקום של תאריך 3"/>
          <p:cNvSpPr>
            <a:spLocks noGrp="1"/>
          </p:cNvSpPr>
          <p:nvPr>
            <p:ph type="dt" sz="half" idx="10"/>
          </p:nvPr>
        </p:nvSpPr>
        <p:spPr/>
        <p:txBody>
          <a:bodyPr/>
          <a:lstStyle/>
          <a:p>
            <a:fld id="{C943588F-541F-4FB1-8BEA-E2E728464CF1}"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18</a:t>
            </a:fld>
            <a:endParaRPr lang="he-IL"/>
          </a:p>
        </p:txBody>
      </p:sp>
    </p:spTree>
    <p:extLst>
      <p:ext uri="{BB962C8B-B14F-4D97-AF65-F5344CB8AC3E}">
        <p14:creationId xmlns:p14="http://schemas.microsoft.com/office/powerpoint/2010/main" val="1256962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הרצה </a:t>
            </a:r>
            <a:r>
              <a:rPr lang="he-IL" dirty="0" err="1"/>
              <a:t>ודיבוג</a:t>
            </a:r>
            <a:endParaRPr lang="he-IL" dirty="0"/>
          </a:p>
        </p:txBody>
      </p:sp>
      <p:sp>
        <p:nvSpPr>
          <p:cNvPr id="3" name="מציין מיקום תוכן 2"/>
          <p:cNvSpPr>
            <a:spLocks noGrp="1"/>
          </p:cNvSpPr>
          <p:nvPr>
            <p:ph idx="1"/>
          </p:nvPr>
        </p:nvSpPr>
        <p:spPr/>
        <p:txBody>
          <a:bodyPr>
            <a:normAutofit fontScale="92500" lnSpcReduction="20000"/>
          </a:bodyPr>
          <a:lstStyle/>
          <a:p>
            <a:r>
              <a:rPr lang="he-IL" dirty="0"/>
              <a:t>כעת , על מנת לדבג את התכנית ולעקוב אחר המחסנית יש לבצע את הפקודות הבאות : </a:t>
            </a:r>
          </a:p>
          <a:p>
            <a:pPr algn="l" rtl="0"/>
            <a:r>
              <a:rPr lang="en-US" b="1" dirty="0" err="1"/>
              <a:t>gdb</a:t>
            </a:r>
            <a:r>
              <a:rPr lang="en-US" b="1" dirty="0"/>
              <a:t> ./</a:t>
            </a:r>
            <a:r>
              <a:rPr lang="en-US" b="1" dirty="0" err="1"/>
              <a:t>push_pop_demo</a:t>
            </a:r>
            <a:endParaRPr lang="en-US" b="1" dirty="0"/>
          </a:p>
          <a:p>
            <a:pPr algn="l" rtl="0"/>
            <a:r>
              <a:rPr lang="en-US" b="1" dirty="0"/>
              <a:t>break main </a:t>
            </a:r>
          </a:p>
          <a:p>
            <a:pPr algn="l" rtl="0"/>
            <a:r>
              <a:rPr lang="en-US" b="1" dirty="0"/>
              <a:t>Run</a:t>
            </a:r>
          </a:p>
          <a:p>
            <a:pPr algn="l" rtl="0"/>
            <a:r>
              <a:rPr lang="en-US" b="1" dirty="0"/>
              <a:t>; Watch </a:t>
            </a:r>
            <a:r>
              <a:rPr lang="en-US" b="1" dirty="0" err="1"/>
              <a:t>rsp</a:t>
            </a:r>
            <a:r>
              <a:rPr lang="en-US" b="1" dirty="0"/>
              <a:t> and top of stack</a:t>
            </a:r>
          </a:p>
          <a:p>
            <a:pPr algn="l" rtl="0"/>
            <a:r>
              <a:rPr lang="en-US" b="1" dirty="0"/>
              <a:t>display /</a:t>
            </a:r>
            <a:r>
              <a:rPr lang="en-US" b="1" dirty="0" err="1"/>
              <a:t>gx</a:t>
            </a:r>
            <a:r>
              <a:rPr lang="en-US" b="1" dirty="0"/>
              <a:t> $</a:t>
            </a:r>
            <a:r>
              <a:rPr lang="en-US" b="1" dirty="0" err="1"/>
              <a:t>rsp</a:t>
            </a:r>
            <a:r>
              <a:rPr lang="en-US" b="1" dirty="0"/>
              <a:t>     ; for continuous display</a:t>
            </a:r>
          </a:p>
          <a:p>
            <a:pPr algn="l" rtl="0"/>
            <a:r>
              <a:rPr lang="en-US" b="1" dirty="0"/>
              <a:t>x/</a:t>
            </a:r>
            <a:r>
              <a:rPr lang="en-US" b="1" dirty="0" err="1"/>
              <a:t>gx</a:t>
            </a:r>
            <a:r>
              <a:rPr lang="en-US" b="1" dirty="0"/>
              <a:t> $</a:t>
            </a:r>
            <a:r>
              <a:rPr lang="en-US" b="1" dirty="0" err="1"/>
              <a:t>rsp</a:t>
            </a:r>
            <a:r>
              <a:rPr lang="en-US" b="1" dirty="0"/>
              <a:t>         ; for one time display                  </a:t>
            </a:r>
          </a:p>
          <a:p>
            <a:pPr algn="l" rtl="0"/>
            <a:r>
              <a:rPr lang="en-US" b="1" dirty="0"/>
              <a:t>Si                ; Step instruction by instruction</a:t>
            </a:r>
          </a:p>
          <a:p>
            <a:pPr algn="l" rtl="0"/>
            <a:endParaRPr lang="he-IL" b="1" dirty="0"/>
          </a:p>
        </p:txBody>
      </p:sp>
      <p:sp>
        <p:nvSpPr>
          <p:cNvPr id="4" name="מציין מיקום של תאריך 3"/>
          <p:cNvSpPr>
            <a:spLocks noGrp="1"/>
          </p:cNvSpPr>
          <p:nvPr>
            <p:ph type="dt" sz="half" idx="10"/>
          </p:nvPr>
        </p:nvSpPr>
        <p:spPr/>
        <p:txBody>
          <a:bodyPr/>
          <a:lstStyle/>
          <a:p>
            <a:fld id="{47304355-6C00-4475-BB7C-3C5DCE9DCFEA}"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19</a:t>
            </a:fld>
            <a:endParaRPr lang="he-IL"/>
          </a:p>
        </p:txBody>
      </p:sp>
    </p:spTree>
    <p:extLst>
      <p:ext uri="{BB962C8B-B14F-4D97-AF65-F5344CB8AC3E}">
        <p14:creationId xmlns:p14="http://schemas.microsoft.com/office/powerpoint/2010/main" val="2540419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פקודות </a:t>
            </a:r>
            <a:r>
              <a:rPr lang="en-US" dirty="0"/>
              <a:t>call and return</a:t>
            </a:r>
            <a:r>
              <a:rPr lang="he-IL" dirty="0"/>
              <a:t> </a:t>
            </a:r>
          </a:p>
        </p:txBody>
      </p:sp>
      <p:sp>
        <p:nvSpPr>
          <p:cNvPr id="3" name="מציין מיקום תוכן 2"/>
          <p:cNvSpPr>
            <a:spLocks noGrp="1"/>
          </p:cNvSpPr>
          <p:nvPr>
            <p:ph idx="1"/>
          </p:nvPr>
        </p:nvSpPr>
        <p:spPr/>
        <p:txBody>
          <a:bodyPr/>
          <a:lstStyle/>
          <a:p>
            <a:pPr algn="l" rtl="0"/>
            <a:r>
              <a:rPr lang="en-US" dirty="0"/>
              <a:t>What call and ret do?</a:t>
            </a:r>
          </a:p>
          <a:p>
            <a:pPr algn="l" rtl="0"/>
            <a:r>
              <a:rPr lang="en-US" dirty="0"/>
              <a:t>call label: Pushes return address on the stack</a:t>
            </a:r>
          </a:p>
          <a:p>
            <a:pPr algn="l" rtl="0"/>
            <a:r>
              <a:rPr lang="en-US" dirty="0"/>
              <a:t>   Jumps to label</a:t>
            </a:r>
          </a:p>
          <a:p>
            <a:pPr algn="l" rtl="0"/>
            <a:r>
              <a:rPr lang="en-US" dirty="0"/>
              <a:t>  ret:   Pops return address from stack</a:t>
            </a:r>
          </a:p>
          <a:p>
            <a:pPr algn="l" rtl="0"/>
            <a:r>
              <a:rPr lang="en-US" dirty="0"/>
              <a:t>     Jumps to that address</a:t>
            </a:r>
            <a:endParaRPr lang="he-IL" dirty="0"/>
          </a:p>
        </p:txBody>
      </p:sp>
      <p:sp>
        <p:nvSpPr>
          <p:cNvPr id="5" name="מציין מיקום של תאריך 4"/>
          <p:cNvSpPr>
            <a:spLocks noGrp="1"/>
          </p:cNvSpPr>
          <p:nvPr>
            <p:ph type="dt" sz="half" idx="10"/>
          </p:nvPr>
        </p:nvSpPr>
        <p:spPr/>
        <p:txBody>
          <a:bodyPr/>
          <a:lstStyle/>
          <a:p>
            <a:fld id="{C1665452-2E62-432D-9560-3FF1B6037452}" type="datetime8">
              <a:rPr lang="he-IL" smtClean="0"/>
              <a:t>03 מאי 26</a:t>
            </a:fld>
            <a:endParaRPr lang="he-IL"/>
          </a:p>
        </p:txBody>
      </p:sp>
      <p:sp>
        <p:nvSpPr>
          <p:cNvPr id="6" name="מציין מיקום של מספר שקופית 5"/>
          <p:cNvSpPr>
            <a:spLocks noGrp="1"/>
          </p:cNvSpPr>
          <p:nvPr>
            <p:ph type="sldNum" sz="quarter" idx="12"/>
          </p:nvPr>
        </p:nvSpPr>
        <p:spPr/>
        <p:txBody>
          <a:bodyPr/>
          <a:lstStyle/>
          <a:p>
            <a:fld id="{0BB5907D-BD0F-43E0-A690-15B32A6F70AF}" type="slidenum">
              <a:rPr lang="he-IL" smtClean="0"/>
              <a:t>20</a:t>
            </a:fld>
            <a:endParaRPr lang="he-IL"/>
          </a:p>
        </p:txBody>
      </p:sp>
    </p:spTree>
    <p:extLst>
      <p:ext uri="{BB962C8B-B14F-4D97-AF65-F5344CB8AC3E}">
        <p14:creationId xmlns:p14="http://schemas.microsoft.com/office/powerpoint/2010/main" val="13606951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he-IL" dirty="0"/>
              <a:t>שימוש במאקרו לצורך </a:t>
            </a:r>
            <a:r>
              <a:rPr lang="en-US" dirty="0"/>
              <a:t>call/return</a:t>
            </a:r>
            <a:r>
              <a:rPr lang="he-IL" dirty="0"/>
              <a:t> </a:t>
            </a:r>
          </a:p>
        </p:txBody>
      </p:sp>
      <p:sp>
        <p:nvSpPr>
          <p:cNvPr id="3" name="מציין מיקום תוכן 2"/>
          <p:cNvSpPr>
            <a:spLocks noGrp="1"/>
          </p:cNvSpPr>
          <p:nvPr>
            <p:ph idx="1"/>
          </p:nvPr>
        </p:nvSpPr>
        <p:spPr/>
        <p:txBody>
          <a:bodyPr>
            <a:normAutofit fontScale="92500"/>
          </a:bodyPr>
          <a:lstStyle/>
          <a:p>
            <a:pPr algn="r"/>
            <a:r>
              <a:rPr lang="he-IL" dirty="0"/>
              <a:t>שתי הפעולות שנראה מסתמכות על </a:t>
            </a:r>
            <a:r>
              <a:rPr lang="he-IL" dirty="0" err="1"/>
              <a:t>המאקרוס</a:t>
            </a:r>
            <a:r>
              <a:rPr lang="he-IL" dirty="0"/>
              <a:t> שהגדרנו קודם לכן, דהיינו על </a:t>
            </a:r>
            <a:r>
              <a:rPr lang="en-US" dirty="0"/>
              <a:t>PUSH</a:t>
            </a:r>
            <a:r>
              <a:rPr lang="he-IL" dirty="0"/>
              <a:t> ועל </a:t>
            </a:r>
            <a:r>
              <a:rPr lang="en-US" dirty="0"/>
              <a:t>POP</a:t>
            </a:r>
            <a:r>
              <a:rPr lang="he-IL" dirty="0"/>
              <a:t> : </a:t>
            </a:r>
          </a:p>
          <a:p>
            <a:pPr algn="l" rtl="0"/>
            <a:r>
              <a:rPr lang="en-US" dirty="0"/>
              <a:t>%macro CALL 1                             %macro RETURN 0      </a:t>
            </a:r>
          </a:p>
          <a:p>
            <a:pPr algn="l" rtl="0"/>
            <a:r>
              <a:rPr lang="en-US" dirty="0"/>
              <a:t>      lea </a:t>
            </a:r>
            <a:r>
              <a:rPr lang="en-US" dirty="0" err="1"/>
              <a:t>rax</a:t>
            </a:r>
            <a:r>
              <a:rPr lang="en-US" dirty="0"/>
              <a:t>, [</a:t>
            </a:r>
            <a:r>
              <a:rPr lang="en-US" dirty="0" err="1"/>
              <a:t>rel</a:t>
            </a:r>
            <a:r>
              <a:rPr lang="en-US" dirty="0"/>
              <a:t> %%L]                              POP </a:t>
            </a:r>
            <a:r>
              <a:rPr lang="en-US" dirty="0" err="1"/>
              <a:t>rax</a:t>
            </a:r>
            <a:endParaRPr lang="en-US" dirty="0"/>
          </a:p>
          <a:p>
            <a:pPr algn="l" rtl="0"/>
            <a:r>
              <a:rPr lang="en-US" dirty="0"/>
              <a:t>      PUSH </a:t>
            </a:r>
            <a:r>
              <a:rPr lang="en-US" dirty="0" err="1"/>
              <a:t>rax</a:t>
            </a:r>
            <a:r>
              <a:rPr lang="en-US" dirty="0"/>
              <a:t>                                          </a:t>
            </a:r>
            <a:r>
              <a:rPr lang="en-US" dirty="0" err="1"/>
              <a:t>jmp</a:t>
            </a:r>
            <a:r>
              <a:rPr lang="en-US" dirty="0"/>
              <a:t> </a:t>
            </a:r>
            <a:r>
              <a:rPr lang="en-US" dirty="0" err="1"/>
              <a:t>rax</a:t>
            </a:r>
            <a:endParaRPr lang="en-US" dirty="0"/>
          </a:p>
          <a:p>
            <a:pPr algn="l" rtl="0"/>
            <a:r>
              <a:rPr lang="en-US" dirty="0"/>
              <a:t>        </a:t>
            </a:r>
            <a:r>
              <a:rPr lang="en-US" dirty="0" err="1"/>
              <a:t>jmp</a:t>
            </a:r>
            <a:r>
              <a:rPr lang="en-US" dirty="0"/>
              <a:t> %1                                      %</a:t>
            </a:r>
            <a:r>
              <a:rPr lang="en-US" dirty="0" err="1"/>
              <a:t>endmacro</a:t>
            </a:r>
            <a:r>
              <a:rPr lang="en-US" dirty="0"/>
              <a:t>      </a:t>
            </a:r>
          </a:p>
          <a:p>
            <a:pPr algn="l" rtl="0"/>
            <a:r>
              <a:rPr lang="en-US" dirty="0"/>
              <a:t>       %%L:</a:t>
            </a:r>
          </a:p>
          <a:p>
            <a:pPr algn="l" rtl="0"/>
            <a:r>
              <a:rPr lang="en-US" dirty="0"/>
              <a:t> %</a:t>
            </a:r>
            <a:r>
              <a:rPr lang="en-US" dirty="0" err="1"/>
              <a:t>endmacro</a:t>
            </a:r>
            <a:r>
              <a:rPr lang="en-US" dirty="0"/>
              <a:t> </a:t>
            </a:r>
            <a:endParaRPr lang="he-IL" dirty="0"/>
          </a:p>
        </p:txBody>
      </p:sp>
      <p:sp>
        <p:nvSpPr>
          <p:cNvPr id="4" name="מציין מיקום של תאריך 3"/>
          <p:cNvSpPr>
            <a:spLocks noGrp="1"/>
          </p:cNvSpPr>
          <p:nvPr>
            <p:ph type="dt" sz="half" idx="10"/>
          </p:nvPr>
        </p:nvSpPr>
        <p:spPr/>
        <p:txBody>
          <a:bodyPr/>
          <a:lstStyle/>
          <a:p>
            <a:fld id="{3B93AC2D-7BE0-4CFC-BF1B-3A0CF6C99C40}"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21</a:t>
            </a:fld>
            <a:endParaRPr lang="he-IL"/>
          </a:p>
        </p:txBody>
      </p:sp>
    </p:spTree>
    <p:extLst>
      <p:ext uri="{BB962C8B-B14F-4D97-AF65-F5344CB8AC3E}">
        <p14:creationId xmlns:p14="http://schemas.microsoft.com/office/powerpoint/2010/main" val="3089086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שימוש במאקרו לצורך </a:t>
            </a:r>
            <a:r>
              <a:rPr lang="en-US" dirty="0"/>
              <a:t>call/return</a:t>
            </a:r>
            <a:endParaRPr lang="he-IL" dirty="0"/>
          </a:p>
        </p:txBody>
      </p:sp>
      <p:sp>
        <p:nvSpPr>
          <p:cNvPr id="3" name="מציין מיקום תוכן 2"/>
          <p:cNvSpPr>
            <a:spLocks noGrp="1"/>
          </p:cNvSpPr>
          <p:nvPr>
            <p:ph idx="1"/>
          </p:nvPr>
        </p:nvSpPr>
        <p:spPr/>
        <p:txBody>
          <a:bodyPr/>
          <a:lstStyle/>
          <a:p>
            <a:r>
              <a:rPr lang="he-IL" dirty="0"/>
              <a:t>תפקידם של שני </a:t>
            </a:r>
            <a:r>
              <a:rPr lang="he-IL" dirty="0" err="1"/>
              <a:t>המאקרוס</a:t>
            </a:r>
            <a:r>
              <a:rPr lang="he-IL" dirty="0"/>
              <a:t> שהגדרנו בשקף הקודם  הוא לקרוא לפונקציה ע"י </a:t>
            </a:r>
            <a:r>
              <a:rPr lang="en-US" dirty="0"/>
              <a:t>CALL</a:t>
            </a:r>
            <a:r>
              <a:rPr lang="he-IL" dirty="0"/>
              <a:t>.</a:t>
            </a:r>
          </a:p>
          <a:p>
            <a:pPr marL="0" indent="0">
              <a:buNone/>
            </a:pPr>
            <a:r>
              <a:rPr lang="he-IL" dirty="0"/>
              <a:t>כלומר להפסיק את פעולת התכנית הראשית ולעבור לבצע רצף פקודות במקום אחר בזיכרון. </a:t>
            </a:r>
          </a:p>
          <a:p>
            <a:pPr marL="0" indent="0">
              <a:buNone/>
            </a:pPr>
            <a:r>
              <a:rPr lang="he-IL" dirty="0"/>
              <a:t>לשם כך יש לשמור את כתובת החזרה במחסנית – לאחר סיומה של הפונקציה. </a:t>
            </a:r>
          </a:p>
          <a:p>
            <a:pPr marL="0" indent="0">
              <a:buNone/>
            </a:pPr>
            <a:r>
              <a:rPr lang="he-IL" dirty="0"/>
              <a:t>מסיבה זו במאקרו של </a:t>
            </a:r>
            <a:r>
              <a:rPr lang="en-US" dirty="0"/>
              <a:t>CALL   </a:t>
            </a:r>
            <a:r>
              <a:rPr lang="he-IL" dirty="0"/>
              <a:t> הושמה פקודה בשם </a:t>
            </a:r>
            <a:r>
              <a:rPr lang="en-US" dirty="0"/>
              <a:t>PUSH </a:t>
            </a:r>
            <a:r>
              <a:rPr lang="en-US" dirty="0" err="1"/>
              <a:t>rax</a:t>
            </a:r>
            <a:r>
              <a:rPr lang="en-US" dirty="0"/>
              <a:t> </a:t>
            </a:r>
            <a:r>
              <a:rPr lang="he-IL" dirty="0"/>
              <a:t>  אשר שומרת במחסנית את כתובת החזרה. (על תהליך ההשמה של כתובת החזרה ב </a:t>
            </a:r>
            <a:r>
              <a:rPr lang="en-US" dirty="0" err="1"/>
              <a:t>rax</a:t>
            </a:r>
            <a:r>
              <a:rPr lang="en-US" dirty="0"/>
              <a:t> </a:t>
            </a:r>
            <a:r>
              <a:rPr lang="he-IL" dirty="0"/>
              <a:t> נדון מאוחר יותר)</a:t>
            </a:r>
          </a:p>
          <a:p>
            <a:pPr marL="0" indent="0">
              <a:buNone/>
            </a:pPr>
            <a:r>
              <a:rPr lang="he-IL" dirty="0"/>
              <a:t>לכן , במאקרו של </a:t>
            </a:r>
            <a:r>
              <a:rPr lang="en-US" dirty="0"/>
              <a:t>RETURN</a:t>
            </a:r>
            <a:r>
              <a:rPr lang="he-IL" dirty="0"/>
              <a:t> יש לשלוף את כתובת החזרה בסיום הפונקציה ישירות אל</a:t>
            </a:r>
            <a:r>
              <a:rPr lang="en-US" dirty="0" err="1"/>
              <a:t>rax</a:t>
            </a:r>
            <a:r>
              <a:rPr lang="en-US" dirty="0"/>
              <a:t> </a:t>
            </a:r>
            <a:r>
              <a:rPr lang="he-IL" dirty="0"/>
              <a:t>ולאחר מכן לבצע קפיצה אל כתובת זו כדי להמשיך את רצף התכנית.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22</a:t>
            </a:fld>
            <a:endParaRPr lang="he-IL"/>
          </a:p>
        </p:txBody>
      </p:sp>
    </p:spTree>
    <p:extLst>
      <p:ext uri="{BB962C8B-B14F-4D97-AF65-F5344CB8AC3E}">
        <p14:creationId xmlns:p14="http://schemas.microsoft.com/office/powerpoint/2010/main" val="13470438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תפקידו של </a:t>
            </a:r>
            <a:r>
              <a:rPr lang="en-US" dirty="0"/>
              <a:t>%%L</a:t>
            </a:r>
            <a:r>
              <a:rPr lang="he-IL" dirty="0"/>
              <a:t> </a:t>
            </a:r>
          </a:p>
        </p:txBody>
      </p:sp>
      <p:sp>
        <p:nvSpPr>
          <p:cNvPr id="3" name="מציין מיקום תוכן 2"/>
          <p:cNvSpPr>
            <a:spLocks noGrp="1"/>
          </p:cNvSpPr>
          <p:nvPr>
            <p:ph idx="1"/>
          </p:nvPr>
        </p:nvSpPr>
        <p:spPr/>
        <p:txBody>
          <a:bodyPr/>
          <a:lstStyle/>
          <a:p>
            <a:r>
              <a:rPr lang="he-IL" dirty="0"/>
              <a:t>במאקרו של </a:t>
            </a:r>
            <a:r>
              <a:rPr lang="en-US" dirty="0"/>
              <a:t>CALL</a:t>
            </a:r>
            <a:r>
              <a:rPr lang="he-IL" dirty="0"/>
              <a:t> קיימת שורה</a:t>
            </a:r>
            <a:r>
              <a:rPr lang="en-US" dirty="0"/>
              <a:t>  </a:t>
            </a:r>
            <a:r>
              <a:rPr lang="he-IL" dirty="0"/>
              <a:t> </a:t>
            </a:r>
            <a:r>
              <a:rPr lang="en-US" dirty="0"/>
              <a:t> %%L: </a:t>
            </a:r>
          </a:p>
          <a:p>
            <a:r>
              <a:rPr lang="he-IL" dirty="0"/>
              <a:t>זוהי תווית אשר קיימת אך ורק בתוך המאקרו.</a:t>
            </a:r>
          </a:p>
          <a:p>
            <a:r>
              <a:rPr lang="he-IL" dirty="0"/>
              <a:t>בכל קריאה למאקרו אשר תווית זו נמצאת בתוכו </a:t>
            </a:r>
            <a:r>
              <a:rPr lang="en-US" dirty="0"/>
              <a:t>NASM </a:t>
            </a:r>
            <a:r>
              <a:rPr lang="he-IL" dirty="0"/>
              <a:t>  יוצר תווית חדשה עם מספר אקראי כלשהו וזאת על מנת לבדל את הקריאה הנוכחית מהקודמות לה (ומהעתידיות לבוא).</a:t>
            </a:r>
          </a:p>
          <a:p>
            <a:r>
              <a:rPr lang="he-IL" dirty="0"/>
              <a:t>הרעיון הוא  ש </a:t>
            </a:r>
            <a:r>
              <a:rPr lang="en-US" dirty="0"/>
              <a:t>%%L</a:t>
            </a:r>
            <a:r>
              <a:rPr lang="he-IL" dirty="0"/>
              <a:t> תסמן בכל פעם </a:t>
            </a:r>
            <a:r>
              <a:rPr lang="he-IL" b="1" dirty="0"/>
              <a:t>תווית מקורית </a:t>
            </a:r>
            <a:r>
              <a:rPr lang="he-IL" dirty="0"/>
              <a:t>של מאקרו כך שאפילו אם כותבים את המאקרו מספר פעמים בקוד, בכל פעם</a:t>
            </a:r>
            <a:r>
              <a:rPr lang="en-US" dirty="0"/>
              <a:t> </a:t>
            </a:r>
            <a:r>
              <a:rPr lang="he-IL" dirty="0"/>
              <a:t> </a:t>
            </a:r>
            <a:r>
              <a:rPr lang="en-US" dirty="0"/>
              <a:t>NASM</a:t>
            </a:r>
            <a:r>
              <a:rPr lang="he-IL" dirty="0"/>
              <a:t> ישים תווית ייחודית. </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23</a:t>
            </a:fld>
            <a:endParaRPr lang="he-IL"/>
          </a:p>
        </p:txBody>
      </p:sp>
    </p:spTree>
    <p:extLst>
      <p:ext uri="{BB962C8B-B14F-4D97-AF65-F5344CB8AC3E}">
        <p14:creationId xmlns:p14="http://schemas.microsoft.com/office/powerpoint/2010/main" val="7993169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תפקידו של</a:t>
            </a:r>
            <a:r>
              <a:rPr lang="en-US" dirty="0"/>
              <a:t>%%L </a:t>
            </a:r>
            <a:endParaRPr lang="he-IL" dirty="0"/>
          </a:p>
        </p:txBody>
      </p:sp>
      <p:sp>
        <p:nvSpPr>
          <p:cNvPr id="3" name="מציין מיקום תוכן 2"/>
          <p:cNvSpPr>
            <a:spLocks noGrp="1"/>
          </p:cNvSpPr>
          <p:nvPr>
            <p:ph idx="1"/>
          </p:nvPr>
        </p:nvSpPr>
        <p:spPr/>
        <p:txBody>
          <a:bodyPr/>
          <a:lstStyle/>
          <a:p>
            <a:r>
              <a:rPr lang="he-IL" dirty="0"/>
              <a:t> דוגמא – אם נבצע לראשונה קריאה ל </a:t>
            </a:r>
            <a:r>
              <a:rPr lang="en-US" dirty="0"/>
              <a:t> </a:t>
            </a:r>
            <a:r>
              <a:rPr lang="he-IL" dirty="0"/>
              <a:t> </a:t>
            </a:r>
            <a:r>
              <a:rPr lang="en-US" dirty="0"/>
              <a:t>CALL  </a:t>
            </a:r>
            <a:r>
              <a:rPr lang="en-US" dirty="0" err="1"/>
              <a:t>printf</a:t>
            </a:r>
            <a:r>
              <a:rPr lang="he-IL" dirty="0"/>
              <a:t> אזי </a:t>
            </a:r>
            <a:r>
              <a:rPr lang="en-US" dirty="0"/>
              <a:t>NASM</a:t>
            </a:r>
            <a:r>
              <a:rPr lang="he-IL" dirty="0"/>
              <a:t> יפרש אותו באופן הבא :</a:t>
            </a:r>
            <a:r>
              <a:rPr lang="en-US" dirty="0"/>
              <a:t> </a:t>
            </a:r>
            <a:endParaRPr lang="he-IL" dirty="0"/>
          </a:p>
          <a:p>
            <a:pPr algn="l" rtl="0"/>
            <a:r>
              <a:rPr lang="en-US" b="1" dirty="0"/>
              <a:t>lea </a:t>
            </a:r>
            <a:r>
              <a:rPr lang="en-US" b="1" dirty="0" err="1"/>
              <a:t>rax</a:t>
            </a:r>
            <a:r>
              <a:rPr lang="en-US" b="1" dirty="0"/>
              <a:t>, [</a:t>
            </a:r>
            <a:r>
              <a:rPr lang="en-US" b="1" dirty="0" err="1"/>
              <a:t>rel</a:t>
            </a:r>
            <a:r>
              <a:rPr lang="en-US" b="1" dirty="0"/>
              <a:t> ..@L.1]   ; compute address of return point</a:t>
            </a:r>
          </a:p>
          <a:p>
            <a:pPr algn="l" rtl="0"/>
            <a:r>
              <a:rPr lang="en-US" b="1" dirty="0"/>
              <a:t>push </a:t>
            </a:r>
            <a:r>
              <a:rPr lang="en-US" b="1" dirty="0" err="1"/>
              <a:t>rax</a:t>
            </a:r>
            <a:r>
              <a:rPr lang="en-US" b="1" dirty="0"/>
              <a:t>                ; save it on the stack</a:t>
            </a:r>
          </a:p>
          <a:p>
            <a:pPr algn="l" rtl="0"/>
            <a:r>
              <a:rPr lang="en-US" b="1" dirty="0" err="1"/>
              <a:t>jmp</a:t>
            </a:r>
            <a:r>
              <a:rPr lang="en-US" b="1" dirty="0"/>
              <a:t> </a:t>
            </a:r>
            <a:r>
              <a:rPr lang="en-US" b="1" dirty="0" err="1"/>
              <a:t>printf</a:t>
            </a:r>
            <a:r>
              <a:rPr lang="en-US" b="1" dirty="0"/>
              <a:t>              ; jump to </a:t>
            </a:r>
            <a:r>
              <a:rPr lang="en-US" b="1" dirty="0" err="1"/>
              <a:t>printf</a:t>
            </a:r>
            <a:endParaRPr lang="en-US" b="1" dirty="0"/>
          </a:p>
          <a:p>
            <a:pPr algn="l" rtl="0"/>
            <a:r>
              <a:rPr lang="en-US" b="1" dirty="0"/>
              <a:t>..@L.1:                 ; return point</a:t>
            </a:r>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24</a:t>
            </a:fld>
            <a:endParaRPr lang="he-IL"/>
          </a:p>
        </p:txBody>
      </p:sp>
    </p:spTree>
    <p:extLst>
      <p:ext uri="{BB962C8B-B14F-4D97-AF65-F5344CB8AC3E}">
        <p14:creationId xmlns:p14="http://schemas.microsoft.com/office/powerpoint/2010/main" val="33462585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תפקידו של </a:t>
            </a:r>
            <a:r>
              <a:rPr lang="en-US" dirty="0"/>
              <a:t>%%L</a:t>
            </a:r>
            <a:endParaRPr lang="he-IL" dirty="0"/>
          </a:p>
        </p:txBody>
      </p:sp>
      <p:sp>
        <p:nvSpPr>
          <p:cNvPr id="3" name="מציין מיקום תוכן 2"/>
          <p:cNvSpPr>
            <a:spLocks noGrp="1"/>
          </p:cNvSpPr>
          <p:nvPr>
            <p:ph idx="1"/>
          </p:nvPr>
        </p:nvSpPr>
        <p:spPr/>
        <p:txBody>
          <a:bodyPr>
            <a:normAutofit lnSpcReduction="10000"/>
          </a:bodyPr>
          <a:lstStyle/>
          <a:p>
            <a:r>
              <a:rPr lang="he-IL" dirty="0"/>
              <a:t> ואילו אם נבצע </a:t>
            </a:r>
            <a:r>
              <a:rPr lang="en-US" dirty="0"/>
              <a:t>CALL </a:t>
            </a:r>
            <a:r>
              <a:rPr lang="en-US" dirty="0" err="1"/>
              <a:t>printf</a:t>
            </a:r>
            <a:r>
              <a:rPr lang="he-IL" dirty="0"/>
              <a:t> בפעם </a:t>
            </a:r>
            <a:r>
              <a:rPr lang="he-IL" dirty="0" err="1"/>
              <a:t>השניה</a:t>
            </a:r>
            <a:r>
              <a:rPr lang="he-IL" dirty="0"/>
              <a:t>  אזי </a:t>
            </a:r>
            <a:r>
              <a:rPr lang="en-US" dirty="0"/>
              <a:t>NASM</a:t>
            </a:r>
            <a:r>
              <a:rPr lang="he-IL" dirty="0"/>
              <a:t> יפרש אותו כך :</a:t>
            </a:r>
            <a:r>
              <a:rPr lang="en-US" dirty="0"/>
              <a:t> </a:t>
            </a:r>
            <a:endParaRPr lang="he-IL" dirty="0"/>
          </a:p>
          <a:p>
            <a:pPr algn="l" rtl="0"/>
            <a:r>
              <a:rPr lang="it-IT" b="1" dirty="0"/>
              <a:t>lea rax, [rel ..@L.2]</a:t>
            </a:r>
          </a:p>
          <a:p>
            <a:pPr algn="l" rtl="0"/>
            <a:r>
              <a:rPr lang="it-IT" b="1" dirty="0"/>
              <a:t>push rax</a:t>
            </a:r>
          </a:p>
          <a:p>
            <a:pPr algn="l" rtl="0"/>
            <a:r>
              <a:rPr lang="it-IT" b="1" dirty="0"/>
              <a:t>jmp printf</a:t>
            </a:r>
          </a:p>
          <a:p>
            <a:pPr algn="l" rtl="0"/>
            <a:r>
              <a:rPr lang="it-IT" b="1" dirty="0"/>
              <a:t>..@L.2:</a:t>
            </a:r>
          </a:p>
          <a:p>
            <a:pPr algn="r"/>
            <a:r>
              <a:rPr lang="he-IL" dirty="0"/>
              <a:t>כלומר כל קריאה מקבלת נקודת חזרה משל עצמה </a:t>
            </a:r>
            <a:r>
              <a:rPr lang="he-IL" dirty="0" err="1"/>
              <a:t>שיחודית</a:t>
            </a:r>
            <a:r>
              <a:rPr lang="he-IL" dirty="0"/>
              <a:t> רק לה. </a:t>
            </a:r>
          </a:p>
          <a:p>
            <a:pPr algn="r"/>
            <a:r>
              <a:rPr lang="he-IL" dirty="0"/>
              <a:t>מסיבה זו </a:t>
            </a:r>
            <a:r>
              <a:rPr lang="en-US" dirty="0"/>
              <a:t>%%L</a:t>
            </a:r>
            <a:r>
              <a:rPr lang="he-IL" dirty="0"/>
              <a:t> קיים כדי לומר </a:t>
            </a:r>
            <a:r>
              <a:rPr lang="en-US" dirty="0"/>
              <a:t>“come back here” </a:t>
            </a:r>
            <a:r>
              <a:rPr lang="he-IL" dirty="0"/>
              <a:t> לכל קריאת </a:t>
            </a:r>
            <a:r>
              <a:rPr lang="en-US" dirty="0"/>
              <a:t>CALL</a:t>
            </a:r>
            <a:r>
              <a:rPr lang="he-IL" dirty="0"/>
              <a:t>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25</a:t>
            </a:fld>
            <a:endParaRPr lang="he-IL"/>
          </a:p>
        </p:txBody>
      </p:sp>
    </p:spTree>
    <p:extLst>
      <p:ext uri="{BB962C8B-B14F-4D97-AF65-F5344CB8AC3E}">
        <p14:creationId xmlns:p14="http://schemas.microsoft.com/office/powerpoint/2010/main" val="698446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extern </a:t>
            </a:r>
            <a:r>
              <a:rPr lang="en-US" dirty="0" err="1"/>
              <a:t>printf</a:t>
            </a:r>
            <a:endParaRPr lang="he-IL" dirty="0"/>
          </a:p>
        </p:txBody>
      </p:sp>
      <p:sp>
        <p:nvSpPr>
          <p:cNvPr id="3" name="מציין מיקום תוכן 2"/>
          <p:cNvSpPr>
            <a:spLocks noGrp="1"/>
          </p:cNvSpPr>
          <p:nvPr>
            <p:ph idx="1"/>
          </p:nvPr>
        </p:nvSpPr>
        <p:spPr/>
        <p:txBody>
          <a:bodyPr/>
          <a:lstStyle/>
          <a:p>
            <a:r>
              <a:rPr lang="he-IL" dirty="0"/>
              <a:t>הפקודה </a:t>
            </a:r>
            <a:r>
              <a:rPr lang="en-US" dirty="0" err="1"/>
              <a:t>printf</a:t>
            </a:r>
            <a:r>
              <a:rPr lang="he-IL" dirty="0"/>
              <a:t> היא פקודה בשפת </a:t>
            </a:r>
            <a:r>
              <a:rPr lang="en-US" dirty="0"/>
              <a:t>C</a:t>
            </a:r>
            <a:r>
              <a:rPr lang="he-IL" dirty="0"/>
              <a:t> שמטרתה הדפסת מחרוזות  או תכנים מספריים על המסך. היות ואסמבלר לא מכיר פקודות של </a:t>
            </a:r>
            <a:r>
              <a:rPr lang="en-US" dirty="0"/>
              <a:t>C</a:t>
            </a:r>
            <a:r>
              <a:rPr lang="he-IL" dirty="0"/>
              <a:t> כלל וכלל , אזי הפקודה </a:t>
            </a:r>
            <a:r>
              <a:rPr lang="en-US" dirty="0"/>
              <a:t>extern </a:t>
            </a:r>
            <a:r>
              <a:rPr lang="en-US" dirty="0" err="1"/>
              <a:t>printf</a:t>
            </a:r>
            <a:r>
              <a:rPr lang="he-IL" dirty="0"/>
              <a:t>  מציינת  ל </a:t>
            </a:r>
            <a:r>
              <a:rPr lang="en-US" dirty="0"/>
              <a:t>NASM</a:t>
            </a:r>
            <a:r>
              <a:rPr lang="he-IL" dirty="0"/>
              <a:t> כי קיים סימן בשם </a:t>
            </a:r>
            <a:r>
              <a:rPr lang="en-US" dirty="0" err="1"/>
              <a:t>printf</a:t>
            </a:r>
            <a:r>
              <a:rPr lang="en-US" dirty="0"/>
              <a:t> </a:t>
            </a:r>
            <a:r>
              <a:rPr lang="he-IL" dirty="0"/>
              <a:t> אשר קיים במקום אחר ועל הקומפיילר להתייחס אליה כאל סימן לא מוכר. </a:t>
            </a:r>
          </a:p>
          <a:p>
            <a:r>
              <a:rPr lang="en-US" dirty="0"/>
              <a:t>NASM</a:t>
            </a:r>
            <a:r>
              <a:rPr lang="he-IL" dirty="0"/>
              <a:t> ממתין לקבל את הכתובת של הדף שבו </a:t>
            </a:r>
            <a:r>
              <a:rPr lang="en-US" dirty="0" err="1"/>
              <a:t>printf</a:t>
            </a:r>
            <a:r>
              <a:rPr lang="en-US" dirty="0"/>
              <a:t> </a:t>
            </a:r>
            <a:r>
              <a:rPr lang="he-IL" dirty="0"/>
              <a:t> נמצאת ומוגדרת. הכתובת נשארת בלתי פתורה</a:t>
            </a:r>
          </a:p>
          <a:p>
            <a:r>
              <a:rPr lang="he-IL" dirty="0"/>
              <a:t>בשלב ה </a:t>
            </a:r>
            <a:r>
              <a:rPr lang="en-US" dirty="0" err="1"/>
              <a:t>gcc</a:t>
            </a:r>
            <a:r>
              <a:rPr lang="he-IL" dirty="0"/>
              <a:t> נרשם בטבלת סמלים השימוש ב</a:t>
            </a:r>
            <a:r>
              <a:rPr lang="en-US" dirty="0" err="1"/>
              <a:t>printf</a:t>
            </a:r>
            <a:r>
              <a:rPr lang="he-IL" dirty="0"/>
              <a:t>, ובזמן הריצה טוענים אותה מהכתובת המתאימה</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26</a:t>
            </a:fld>
            <a:endParaRPr lang="he-IL"/>
          </a:p>
        </p:txBody>
      </p:sp>
    </p:spTree>
    <p:extLst>
      <p:ext uri="{BB962C8B-B14F-4D97-AF65-F5344CB8AC3E}">
        <p14:creationId xmlns:p14="http://schemas.microsoft.com/office/powerpoint/2010/main" val="34601006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enter 0,0</a:t>
            </a:r>
            <a:r>
              <a:rPr lang="he-IL" dirty="0"/>
              <a:t> </a:t>
            </a:r>
          </a:p>
        </p:txBody>
      </p:sp>
      <p:sp>
        <p:nvSpPr>
          <p:cNvPr id="3" name="מציין מיקום תוכן 2"/>
          <p:cNvSpPr>
            <a:spLocks noGrp="1"/>
          </p:cNvSpPr>
          <p:nvPr>
            <p:ph idx="1"/>
          </p:nvPr>
        </p:nvSpPr>
        <p:spPr/>
        <p:txBody>
          <a:bodyPr/>
          <a:lstStyle/>
          <a:p>
            <a:r>
              <a:rPr lang="he-IL" dirty="0"/>
              <a:t>פקודה זו שקולה לזוג הפקודות הבא :</a:t>
            </a:r>
            <a:r>
              <a:rPr lang="en-US" dirty="0"/>
              <a:t> </a:t>
            </a:r>
            <a:endParaRPr lang="he-IL" dirty="0"/>
          </a:p>
          <a:p>
            <a:pPr algn="l" rtl="0"/>
            <a:r>
              <a:rPr lang="en-US" b="1" dirty="0"/>
              <a:t>push </a:t>
            </a:r>
            <a:r>
              <a:rPr lang="en-US" b="1" dirty="0" err="1"/>
              <a:t>rbp</a:t>
            </a:r>
            <a:endParaRPr lang="en-US" b="1" dirty="0"/>
          </a:p>
          <a:p>
            <a:pPr algn="l" rtl="0"/>
            <a:r>
              <a:rPr lang="en-US" b="1" dirty="0"/>
              <a:t>mov </a:t>
            </a:r>
            <a:r>
              <a:rPr lang="en-US" b="1" dirty="0" err="1"/>
              <a:t>rbp</a:t>
            </a:r>
            <a:r>
              <a:rPr lang="en-US" b="1" dirty="0"/>
              <a:t>, </a:t>
            </a:r>
            <a:r>
              <a:rPr lang="en-US" b="1" dirty="0" err="1"/>
              <a:t>rsp</a:t>
            </a:r>
            <a:endParaRPr lang="en-US" b="1" dirty="0"/>
          </a:p>
          <a:p>
            <a:pPr algn="r"/>
            <a:r>
              <a:rPr lang="he-IL" dirty="0"/>
              <a:t>כתוצאה מכך המחסנית נבנית באופן הבא : </a:t>
            </a:r>
          </a:p>
          <a:p>
            <a:pPr algn="r"/>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27</a:t>
            </a:fld>
            <a:endParaRPr lang="he-IL"/>
          </a:p>
        </p:txBody>
      </p:sp>
      <p:pic>
        <p:nvPicPr>
          <p:cNvPr id="6" name="תמונה 5"/>
          <p:cNvPicPr>
            <a:picLocks noChangeAspect="1"/>
          </p:cNvPicPr>
          <p:nvPr/>
        </p:nvPicPr>
        <p:blipFill>
          <a:blip r:embed="rId2"/>
          <a:stretch>
            <a:fillRect/>
          </a:stretch>
        </p:blipFill>
        <p:spPr>
          <a:xfrm>
            <a:off x="1295401" y="4565229"/>
            <a:ext cx="6363588" cy="1476581"/>
          </a:xfrm>
          <a:prstGeom prst="rect">
            <a:avLst/>
          </a:prstGeom>
        </p:spPr>
      </p:pic>
    </p:spTree>
    <p:extLst>
      <p:ext uri="{BB962C8B-B14F-4D97-AF65-F5344CB8AC3E}">
        <p14:creationId xmlns:p14="http://schemas.microsoft.com/office/powerpoint/2010/main" val="3289511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a:t>
            </a:r>
          </a:p>
        </p:txBody>
      </p:sp>
      <p:sp>
        <p:nvSpPr>
          <p:cNvPr id="3" name="מציין מיקום תוכן 2"/>
          <p:cNvSpPr>
            <a:spLocks noGrp="1"/>
          </p:cNvSpPr>
          <p:nvPr>
            <p:ph idx="1"/>
          </p:nvPr>
        </p:nvSpPr>
        <p:spPr/>
        <p:txBody>
          <a:bodyPr>
            <a:normAutofit fontScale="85000" lnSpcReduction="20000"/>
          </a:bodyPr>
          <a:lstStyle/>
          <a:p>
            <a:r>
              <a:rPr lang="he-IL" dirty="0"/>
              <a:t>פקודת </a:t>
            </a:r>
            <a:r>
              <a:rPr lang="en-US" dirty="0"/>
              <a:t>enter 0,0</a:t>
            </a:r>
            <a:r>
              <a:rPr lang="he-IL" dirty="0"/>
              <a:t> קובעת נעץ במחסנית (ע"י ביצוע של </a:t>
            </a:r>
            <a:r>
              <a:rPr lang="en-US" dirty="0"/>
              <a:t>push </a:t>
            </a:r>
            <a:r>
              <a:rPr lang="en-US" dirty="0" err="1"/>
              <a:t>rbp</a:t>
            </a:r>
            <a:r>
              <a:rPr lang="he-IL" dirty="0"/>
              <a:t> ולאחר מכן </a:t>
            </a:r>
            <a:r>
              <a:rPr lang="en-US" dirty="0" err="1"/>
              <a:t>mov</a:t>
            </a:r>
            <a:r>
              <a:rPr lang="en-US" dirty="0"/>
              <a:t> </a:t>
            </a:r>
            <a:r>
              <a:rPr lang="en-US" dirty="0" err="1"/>
              <a:t>rbp</a:t>
            </a:r>
            <a:r>
              <a:rPr lang="en-US" dirty="0"/>
              <a:t>, </a:t>
            </a:r>
            <a:r>
              <a:rPr lang="en-US" dirty="0" err="1"/>
              <a:t>rsp</a:t>
            </a:r>
            <a:r>
              <a:rPr lang="he-IL" dirty="0"/>
              <a:t>) </a:t>
            </a:r>
          </a:p>
          <a:p>
            <a:r>
              <a:rPr lang="he-IL" dirty="0"/>
              <a:t>נעיצת נעץ במחסנית נעשית כאשר מלבד כתובת החזרה מפונקציה אשר מאוחסנת במחסנית, דוחפים תוך כדי הרצת הפונקציה תכנים נוספים אל המחסנית, וזאת על מנת לסמן במחסנית את נקודת החזרה אל הפונקציה הקוראת.</a:t>
            </a:r>
          </a:p>
          <a:p>
            <a:r>
              <a:rPr lang="he-IL" dirty="0"/>
              <a:t>פקודת </a:t>
            </a:r>
            <a:r>
              <a:rPr lang="en-US" dirty="0"/>
              <a:t>leave</a:t>
            </a:r>
            <a:r>
              <a:rPr lang="he-IL" dirty="0"/>
              <a:t>  משחזרת את התוכן הקודם  של המחסנית (כלומר מבצעת את צמד הפקודות : </a:t>
            </a:r>
            <a:r>
              <a:rPr lang="en-US" dirty="0">
                <a:solidFill>
                  <a:prstClr val="black">
                    <a:lumMod val="85000"/>
                    <a:lumOff val="15000"/>
                  </a:prstClr>
                </a:solidFill>
              </a:rPr>
              <a:t>mov </a:t>
            </a:r>
            <a:r>
              <a:rPr lang="en-US" dirty="0" err="1">
                <a:solidFill>
                  <a:prstClr val="black">
                    <a:lumMod val="85000"/>
                    <a:lumOff val="15000"/>
                  </a:prstClr>
                </a:solidFill>
              </a:rPr>
              <a:t>rbp</a:t>
            </a:r>
            <a:r>
              <a:rPr lang="en-US" dirty="0">
                <a:solidFill>
                  <a:prstClr val="black">
                    <a:lumMod val="85000"/>
                    <a:lumOff val="15000"/>
                  </a:prstClr>
                </a:solidFill>
              </a:rPr>
              <a:t>, </a:t>
            </a:r>
            <a:r>
              <a:rPr lang="en-US" dirty="0" err="1">
                <a:solidFill>
                  <a:prstClr val="black">
                    <a:lumMod val="85000"/>
                    <a:lumOff val="15000"/>
                  </a:prstClr>
                </a:solidFill>
              </a:rPr>
              <a:t>rsp</a:t>
            </a:r>
            <a:r>
              <a:rPr lang="he-IL" dirty="0">
                <a:solidFill>
                  <a:prstClr val="black">
                    <a:lumMod val="85000"/>
                    <a:lumOff val="15000"/>
                  </a:prstClr>
                </a:solidFill>
              </a:rPr>
              <a:t>  ולאחר מכן את </a:t>
            </a:r>
            <a:r>
              <a:rPr lang="en-US" dirty="0">
                <a:solidFill>
                  <a:prstClr val="black">
                    <a:lumMod val="85000"/>
                    <a:lumOff val="15000"/>
                  </a:prstClr>
                </a:solidFill>
              </a:rPr>
              <a:t>pop </a:t>
            </a:r>
            <a:r>
              <a:rPr lang="en-US" dirty="0" err="1">
                <a:solidFill>
                  <a:prstClr val="black">
                    <a:lumMod val="85000"/>
                    <a:lumOff val="15000"/>
                  </a:prstClr>
                </a:solidFill>
              </a:rPr>
              <a:t>rbp</a:t>
            </a:r>
            <a:r>
              <a:rPr lang="he-IL" dirty="0">
                <a:solidFill>
                  <a:prstClr val="black">
                    <a:lumMod val="85000"/>
                    <a:lumOff val="15000"/>
                  </a:prstClr>
                </a:solidFill>
              </a:rPr>
              <a:t>) </a:t>
            </a:r>
          </a:p>
          <a:p>
            <a:pPr lvl="0">
              <a:buClr>
                <a:srgbClr val="83992A"/>
              </a:buClr>
            </a:pPr>
            <a:r>
              <a:rPr lang="he-IL" sz="2200" b="1" dirty="0">
                <a:solidFill>
                  <a:prstClr val="black">
                    <a:lumMod val="85000"/>
                    <a:lumOff val="15000"/>
                  </a:prstClr>
                </a:solidFill>
              </a:rPr>
              <a:t>לכן ,  אם תוך כדי ביצוע הפונקציה נעשו מספר פעולות של </a:t>
            </a:r>
            <a:r>
              <a:rPr lang="en-US" sz="2200" b="1" dirty="0">
                <a:solidFill>
                  <a:prstClr val="black">
                    <a:lumMod val="85000"/>
                    <a:lumOff val="15000"/>
                  </a:prstClr>
                </a:solidFill>
              </a:rPr>
              <a:t>PUSH</a:t>
            </a:r>
            <a:r>
              <a:rPr lang="he-IL" sz="2200" b="1" dirty="0">
                <a:solidFill>
                  <a:prstClr val="black">
                    <a:lumMod val="85000"/>
                    <a:lumOff val="15000"/>
                  </a:prstClr>
                </a:solidFill>
              </a:rPr>
              <a:t> למחסנית,  כדי לנקות את המחסנית ולאפשר לפקודת </a:t>
            </a:r>
            <a:r>
              <a:rPr lang="en-US" sz="2200" b="1" dirty="0">
                <a:solidFill>
                  <a:prstClr val="black">
                    <a:lumMod val="85000"/>
                    <a:lumOff val="15000"/>
                  </a:prstClr>
                </a:solidFill>
              </a:rPr>
              <a:t>leave </a:t>
            </a:r>
            <a:r>
              <a:rPr lang="he-IL" sz="2200" b="1" dirty="0">
                <a:solidFill>
                  <a:prstClr val="black">
                    <a:lumMod val="85000"/>
                    <a:lumOff val="15000"/>
                  </a:prstClr>
                </a:solidFill>
              </a:rPr>
              <a:t> לשחרר את הנעץ מהמחסנית ולשחזר את כתובת החזרה , יש לבצע פעולות של </a:t>
            </a:r>
            <a:r>
              <a:rPr lang="en-US" sz="2200" b="1" dirty="0">
                <a:solidFill>
                  <a:prstClr val="black">
                    <a:lumMod val="85000"/>
                    <a:lumOff val="15000"/>
                  </a:prstClr>
                </a:solidFill>
              </a:rPr>
              <a:t>POP</a:t>
            </a:r>
            <a:r>
              <a:rPr lang="he-IL" sz="2200" b="1" dirty="0">
                <a:solidFill>
                  <a:prstClr val="black">
                    <a:lumMod val="85000"/>
                    <a:lumOff val="15000"/>
                  </a:prstClr>
                </a:solidFill>
              </a:rPr>
              <a:t> לפי סדר הפוך של</a:t>
            </a:r>
            <a:r>
              <a:rPr lang="en-US" sz="2200" b="1" dirty="0">
                <a:solidFill>
                  <a:prstClr val="black">
                    <a:lumMod val="85000"/>
                    <a:lumOff val="15000"/>
                  </a:prstClr>
                </a:solidFill>
              </a:rPr>
              <a:t>    </a:t>
            </a:r>
            <a:r>
              <a:rPr lang="he-IL" sz="2200" b="1" dirty="0">
                <a:solidFill>
                  <a:prstClr val="black">
                    <a:lumMod val="85000"/>
                    <a:lumOff val="15000"/>
                  </a:prstClr>
                </a:solidFill>
              </a:rPr>
              <a:t>הדחיפה. אחרת החזרה לא תהיה אל הכתובת הנכונה. </a:t>
            </a:r>
          </a:p>
          <a:p>
            <a:r>
              <a:rPr lang="he-IL" dirty="0">
                <a:solidFill>
                  <a:prstClr val="black">
                    <a:lumMod val="85000"/>
                    <a:lumOff val="15000"/>
                  </a:prstClr>
                </a:solidFill>
              </a:rPr>
              <a:t>פקודת </a:t>
            </a:r>
            <a:r>
              <a:rPr lang="en-US" dirty="0">
                <a:solidFill>
                  <a:prstClr val="black">
                    <a:lumMod val="85000"/>
                    <a:lumOff val="15000"/>
                  </a:prstClr>
                </a:solidFill>
              </a:rPr>
              <a:t>ret</a:t>
            </a:r>
            <a:r>
              <a:rPr lang="he-IL" dirty="0">
                <a:solidFill>
                  <a:prstClr val="black">
                    <a:lumMod val="85000"/>
                    <a:lumOff val="15000"/>
                  </a:prstClr>
                </a:solidFill>
              </a:rPr>
              <a:t> מחזירה את השליטה לפונקציה הראשית </a:t>
            </a:r>
            <a:r>
              <a:rPr lang="en-US" dirty="0">
                <a:solidFill>
                  <a:prstClr val="black">
                    <a:lumMod val="85000"/>
                    <a:lumOff val="15000"/>
                  </a:prstClr>
                </a:solidFill>
              </a:rPr>
              <a:t>main</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28</a:t>
            </a:fld>
            <a:endParaRPr lang="he-IL"/>
          </a:p>
        </p:txBody>
      </p:sp>
    </p:spTree>
    <p:extLst>
      <p:ext uri="{BB962C8B-B14F-4D97-AF65-F5344CB8AC3E}">
        <p14:creationId xmlns:p14="http://schemas.microsoft.com/office/powerpoint/2010/main" val="19834897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leave</a:t>
            </a:r>
            <a:r>
              <a:rPr lang="he-IL" dirty="0"/>
              <a:t> </a:t>
            </a:r>
          </a:p>
        </p:txBody>
      </p:sp>
      <p:sp>
        <p:nvSpPr>
          <p:cNvPr id="3" name="מציין מיקום תוכן 2"/>
          <p:cNvSpPr>
            <a:spLocks noGrp="1"/>
          </p:cNvSpPr>
          <p:nvPr>
            <p:ph idx="1"/>
          </p:nvPr>
        </p:nvSpPr>
        <p:spPr/>
        <p:txBody>
          <a:bodyPr>
            <a:normAutofit/>
          </a:bodyPr>
          <a:lstStyle/>
          <a:p>
            <a:r>
              <a:rPr lang="he-IL" dirty="0"/>
              <a:t>פקודה זו היא בעצם קיצור דרך לביצוען של שתי פקודות :</a:t>
            </a:r>
            <a:r>
              <a:rPr lang="en-US" dirty="0"/>
              <a:t> </a:t>
            </a:r>
            <a:endParaRPr lang="he-IL" dirty="0"/>
          </a:p>
          <a:p>
            <a:pPr algn="ctr" rtl="0"/>
            <a:r>
              <a:rPr lang="en-US" b="1" dirty="0"/>
              <a:t>mov </a:t>
            </a:r>
            <a:r>
              <a:rPr lang="en-US" b="1" dirty="0" err="1"/>
              <a:t>rsp</a:t>
            </a:r>
            <a:r>
              <a:rPr lang="en-US" b="1" dirty="0"/>
              <a:t>, </a:t>
            </a:r>
            <a:r>
              <a:rPr lang="en-US" b="1" dirty="0" err="1"/>
              <a:t>rbp</a:t>
            </a:r>
            <a:endParaRPr lang="en-US" b="1" dirty="0"/>
          </a:p>
          <a:p>
            <a:pPr algn="ctr" rtl="0"/>
            <a:r>
              <a:rPr lang="en-US" b="1" dirty="0"/>
              <a:t>pop </a:t>
            </a:r>
            <a:r>
              <a:rPr lang="en-US" b="1" dirty="0" err="1"/>
              <a:t>rbp</a:t>
            </a:r>
            <a:endParaRPr lang="en-US" b="1" dirty="0"/>
          </a:p>
          <a:p>
            <a:r>
              <a:rPr lang="he-IL" dirty="0"/>
              <a:t>היא משמשת לשחרור הנעץ מהמחסנית,  אשר בוצע ע"י </a:t>
            </a:r>
            <a:r>
              <a:rPr lang="en-US" dirty="0"/>
              <a:t>enter 0,0 </a:t>
            </a:r>
            <a:r>
              <a:rPr lang="he-IL" dirty="0"/>
              <a:t> כלומר לשחרר את האזור התפוס במחסנית לצורך שחזור כתובת  החזרה. </a:t>
            </a:r>
          </a:p>
          <a:p>
            <a:r>
              <a:rPr lang="he-IL" dirty="0"/>
              <a:t>משתמשים בה בסיום פונקציה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29</a:t>
            </a:fld>
            <a:endParaRPr lang="he-IL"/>
          </a:p>
        </p:txBody>
      </p:sp>
    </p:spTree>
    <p:extLst>
      <p:ext uri="{BB962C8B-B14F-4D97-AF65-F5344CB8AC3E}">
        <p14:creationId xmlns:p14="http://schemas.microsoft.com/office/powerpoint/2010/main" val="4117706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דוגמא </a:t>
            </a:r>
          </a:p>
        </p:txBody>
      </p:sp>
      <p:sp>
        <p:nvSpPr>
          <p:cNvPr id="3" name="מציין מיקום תוכן 2"/>
          <p:cNvSpPr>
            <a:spLocks noGrp="1"/>
          </p:cNvSpPr>
          <p:nvPr>
            <p:ph idx="1"/>
          </p:nvPr>
        </p:nvSpPr>
        <p:spPr/>
        <p:txBody>
          <a:bodyPr>
            <a:normAutofit fontScale="92500" lnSpcReduction="20000"/>
          </a:bodyPr>
          <a:lstStyle/>
          <a:p>
            <a:pPr algn="l" rtl="0"/>
            <a:r>
              <a:rPr lang="en-US" dirty="0"/>
              <a:t>func:  enter 0,0                          main:  </a:t>
            </a:r>
            <a:r>
              <a:rPr lang="en-US" dirty="0" err="1"/>
              <a:t>mov</a:t>
            </a:r>
            <a:r>
              <a:rPr lang="en-US" dirty="0"/>
              <a:t> </a:t>
            </a:r>
            <a:r>
              <a:rPr lang="en-US" dirty="0" err="1"/>
              <a:t>rdi</a:t>
            </a:r>
            <a:r>
              <a:rPr lang="en-US" dirty="0"/>
              <a:t>, 5</a:t>
            </a:r>
          </a:p>
          <a:p>
            <a:pPr algn="l" rtl="0"/>
            <a:r>
              <a:rPr lang="en-US" dirty="0"/>
              <a:t>         PUSH </a:t>
            </a:r>
            <a:r>
              <a:rPr lang="en-US" dirty="0" err="1"/>
              <a:t>rax</a:t>
            </a:r>
            <a:r>
              <a:rPr lang="en-US" dirty="0"/>
              <a:t>                                    </a:t>
            </a:r>
            <a:r>
              <a:rPr lang="en-US" dirty="0" err="1"/>
              <a:t>mov</a:t>
            </a:r>
            <a:r>
              <a:rPr lang="en-US" dirty="0"/>
              <a:t> </a:t>
            </a:r>
            <a:r>
              <a:rPr lang="en-US" dirty="0" err="1"/>
              <a:t>rcx</a:t>
            </a:r>
            <a:r>
              <a:rPr lang="en-US" dirty="0"/>
              <a:t>, 7</a:t>
            </a:r>
          </a:p>
          <a:p>
            <a:pPr algn="l" rtl="0"/>
            <a:r>
              <a:rPr lang="en-US" dirty="0"/>
              <a:t>         PUSH r11                                   CALL func </a:t>
            </a:r>
          </a:p>
          <a:p>
            <a:pPr algn="l" rtl="0"/>
            <a:r>
              <a:rPr lang="en-US" dirty="0"/>
              <a:t>          ………                                     ………….</a:t>
            </a:r>
          </a:p>
          <a:p>
            <a:pPr algn="l" rtl="0"/>
            <a:r>
              <a:rPr lang="en-US" dirty="0"/>
              <a:t>         POP r11</a:t>
            </a:r>
          </a:p>
          <a:p>
            <a:pPr algn="l" rtl="0"/>
            <a:r>
              <a:rPr lang="en-US" dirty="0"/>
              <a:t>         POP </a:t>
            </a:r>
            <a:r>
              <a:rPr lang="en-US" dirty="0" err="1"/>
              <a:t>rax</a:t>
            </a:r>
            <a:endParaRPr lang="en-US" dirty="0"/>
          </a:p>
          <a:p>
            <a:pPr algn="l" rtl="0"/>
            <a:r>
              <a:rPr lang="en-US" dirty="0"/>
              <a:t>         leave</a:t>
            </a:r>
          </a:p>
          <a:p>
            <a:pPr algn="l" rtl="0"/>
            <a:r>
              <a:rPr lang="en-US" dirty="0"/>
              <a:t>          ret</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30</a:t>
            </a:fld>
            <a:endParaRPr lang="he-IL"/>
          </a:p>
        </p:txBody>
      </p:sp>
    </p:spTree>
    <p:extLst>
      <p:ext uri="{BB962C8B-B14F-4D97-AF65-F5344CB8AC3E}">
        <p14:creationId xmlns:p14="http://schemas.microsoft.com/office/powerpoint/2010/main" val="41995396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נניח כי תוכנו של </a:t>
            </a:r>
            <a:r>
              <a:rPr lang="en-US" dirty="0"/>
              <a:t>RSP</a:t>
            </a:r>
            <a:r>
              <a:rPr lang="he-IL" dirty="0"/>
              <a:t> לפני הקריאה לפונקציה  היה </a:t>
            </a:r>
            <a:r>
              <a:rPr lang="en-US" dirty="0"/>
              <a:t>0x1000</a:t>
            </a:r>
            <a:r>
              <a:rPr lang="he-IL" dirty="0"/>
              <a:t> כלומר מצביע על כתובת 1000. על כן, לאחר ביצוע </a:t>
            </a:r>
            <a:r>
              <a:rPr lang="en-US" dirty="0"/>
              <a:t>call </a:t>
            </a:r>
            <a:r>
              <a:rPr lang="en-US" dirty="0" err="1"/>
              <a:t>func</a:t>
            </a:r>
            <a:r>
              <a:rPr lang="he-IL" dirty="0"/>
              <a:t> נקבל את המחסנית הבאה: </a:t>
            </a:r>
          </a:p>
          <a:p>
            <a:r>
              <a:rPr lang="he-IL" dirty="0"/>
              <a:t>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31</a:t>
            </a:fld>
            <a:endParaRPr lang="he-IL"/>
          </a:p>
        </p:txBody>
      </p:sp>
      <p:pic>
        <p:nvPicPr>
          <p:cNvPr id="6" name="תמונה 5"/>
          <p:cNvPicPr>
            <a:picLocks noChangeAspect="1"/>
          </p:cNvPicPr>
          <p:nvPr/>
        </p:nvPicPr>
        <p:blipFill>
          <a:blip r:embed="rId2"/>
          <a:stretch>
            <a:fillRect/>
          </a:stretch>
        </p:blipFill>
        <p:spPr>
          <a:xfrm>
            <a:off x="1759481" y="3458980"/>
            <a:ext cx="5125165" cy="1695687"/>
          </a:xfrm>
          <a:prstGeom prst="rect">
            <a:avLst/>
          </a:prstGeom>
        </p:spPr>
      </p:pic>
    </p:spTree>
    <p:extLst>
      <p:ext uri="{BB962C8B-B14F-4D97-AF65-F5344CB8AC3E}">
        <p14:creationId xmlns:p14="http://schemas.microsoft.com/office/powerpoint/2010/main" val="374149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לאחר ביצוע </a:t>
            </a:r>
            <a:r>
              <a:rPr lang="en-US" dirty="0"/>
              <a:t>call </a:t>
            </a:r>
            <a:r>
              <a:rPr lang="en-US" dirty="0" err="1"/>
              <a:t>func</a:t>
            </a:r>
            <a:r>
              <a:rPr lang="he-IL" dirty="0"/>
              <a:t> , כתובת החזרה נדחפת למחסנית , מה שגורם לשינוי הבא במבנה שלה :</a:t>
            </a:r>
            <a:r>
              <a:rPr lang="en-US" dirty="0"/>
              <a:t> </a:t>
            </a:r>
            <a:endParaRPr lang="he-IL" dirty="0"/>
          </a:p>
          <a:p>
            <a:r>
              <a:rPr lang="he-IL" dirty="0"/>
              <a:t>ניתן לראות כי ערך הכתובת ש </a:t>
            </a:r>
            <a:r>
              <a:rPr lang="en-US" dirty="0"/>
              <a:t>RSP</a:t>
            </a:r>
            <a:r>
              <a:rPr lang="he-IL" dirty="0"/>
              <a:t> מצביע עליה ירד ב 8.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32</a:t>
            </a:fld>
            <a:endParaRPr lang="he-IL"/>
          </a:p>
        </p:txBody>
      </p:sp>
      <p:pic>
        <p:nvPicPr>
          <p:cNvPr id="6" name="תמונה 5"/>
          <p:cNvPicPr>
            <a:picLocks noChangeAspect="1"/>
          </p:cNvPicPr>
          <p:nvPr/>
        </p:nvPicPr>
        <p:blipFill>
          <a:blip r:embed="rId2"/>
          <a:stretch>
            <a:fillRect/>
          </a:stretch>
        </p:blipFill>
        <p:spPr>
          <a:xfrm>
            <a:off x="2081687" y="4304086"/>
            <a:ext cx="6839905" cy="1409897"/>
          </a:xfrm>
          <a:prstGeom prst="rect">
            <a:avLst/>
          </a:prstGeom>
        </p:spPr>
      </p:pic>
    </p:spTree>
    <p:extLst>
      <p:ext uri="{BB962C8B-B14F-4D97-AF65-F5344CB8AC3E}">
        <p14:creationId xmlns:p14="http://schemas.microsoft.com/office/powerpoint/2010/main" val="3555019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0" end="0"/>
                                            </p:txEl>
                                          </p:spTgt>
                                        </p:tgtEl>
                                        <p:attrNameLst>
                                          <p:attrName>style.visibility</p:attrName>
                                        </p:attrNameLst>
                                      </p:cBhvr>
                                      <p:to>
                                        <p:strVal val="visible"/>
                                      </p:to>
                                    </p:set>
                                    <p:anim calcmode="lin" valueType="num">
                                      <p:cBhvr additive="base">
                                        <p:cTn id="25"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1" end="1"/>
                                            </p:txEl>
                                          </p:spTgt>
                                        </p:tgtEl>
                                        <p:attrNameLst>
                                          <p:attrName>style.visibility</p:attrName>
                                        </p:attrNameLst>
                                      </p:cBhvr>
                                      <p:to>
                                        <p:strVal val="visible"/>
                                      </p:to>
                                    </p:set>
                                    <p:anim calcmode="lin" valueType="num">
                                      <p:cBhvr additive="base">
                                        <p:cTn id="3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לאחר הכניסה לפונקציה, הפקודה הראשונה שמופיעה היא </a:t>
            </a:r>
            <a:r>
              <a:rPr lang="en-US" dirty="0"/>
              <a:t>enter 0,0</a:t>
            </a:r>
            <a:r>
              <a:rPr lang="he-IL" dirty="0"/>
              <a:t> אשר פירושה הוא :</a:t>
            </a:r>
            <a:r>
              <a:rPr lang="en-US" dirty="0"/>
              <a:t> </a:t>
            </a:r>
            <a:endParaRPr lang="he-IL" dirty="0"/>
          </a:p>
          <a:p>
            <a:pPr algn="l" rtl="0"/>
            <a:r>
              <a:rPr lang="en-US" b="1" dirty="0"/>
              <a:t>push </a:t>
            </a:r>
            <a:r>
              <a:rPr lang="en-US" b="1" dirty="0" err="1"/>
              <a:t>rbp</a:t>
            </a:r>
            <a:endParaRPr lang="en-US" b="1" dirty="0"/>
          </a:p>
          <a:p>
            <a:pPr algn="l" rtl="0"/>
            <a:r>
              <a:rPr lang="en-US" b="1" dirty="0" err="1"/>
              <a:t>mov</a:t>
            </a:r>
            <a:r>
              <a:rPr lang="en-US" b="1" dirty="0"/>
              <a:t> </a:t>
            </a:r>
            <a:r>
              <a:rPr lang="en-US" b="1" dirty="0" err="1"/>
              <a:t>rbp</a:t>
            </a:r>
            <a:r>
              <a:rPr lang="en-US" b="1" dirty="0"/>
              <a:t>, </a:t>
            </a:r>
            <a:r>
              <a:rPr lang="en-US" b="1" dirty="0" err="1"/>
              <a:t>rsp</a:t>
            </a:r>
            <a:endParaRPr lang="en-US" b="1" dirty="0"/>
          </a:p>
          <a:p>
            <a:pPr algn="r"/>
            <a:r>
              <a:rPr lang="he-IL" dirty="0"/>
              <a:t>לאחר</a:t>
            </a:r>
            <a:r>
              <a:rPr lang="en-US" dirty="0"/>
              <a:t>  push </a:t>
            </a:r>
            <a:r>
              <a:rPr lang="en-US" dirty="0" err="1"/>
              <a:t>rbp</a:t>
            </a:r>
            <a:r>
              <a:rPr lang="en-US" dirty="0"/>
              <a:t> </a:t>
            </a:r>
            <a:r>
              <a:rPr lang="he-IL" dirty="0"/>
              <a:t> מקבלים :  </a:t>
            </a:r>
            <a:endParaRPr lang="en-US" dirty="0"/>
          </a:p>
          <a:p>
            <a:pPr algn="l" rtl="0"/>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33</a:t>
            </a:fld>
            <a:endParaRPr lang="he-IL"/>
          </a:p>
        </p:txBody>
      </p:sp>
      <p:pic>
        <p:nvPicPr>
          <p:cNvPr id="6" name="תמונה 5"/>
          <p:cNvPicPr>
            <a:picLocks noChangeAspect="1"/>
          </p:cNvPicPr>
          <p:nvPr/>
        </p:nvPicPr>
        <p:blipFill>
          <a:blip r:embed="rId2"/>
          <a:stretch>
            <a:fillRect/>
          </a:stretch>
        </p:blipFill>
        <p:spPr>
          <a:xfrm>
            <a:off x="1003110" y="4279640"/>
            <a:ext cx="6363588" cy="1867161"/>
          </a:xfrm>
          <a:prstGeom prst="rect">
            <a:avLst/>
          </a:prstGeom>
        </p:spPr>
      </p:pic>
    </p:spTree>
    <p:extLst>
      <p:ext uri="{BB962C8B-B14F-4D97-AF65-F5344CB8AC3E}">
        <p14:creationId xmlns:p14="http://schemas.microsoft.com/office/powerpoint/2010/main" val="2757289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wipe(down)">
                                      <p:cBhvr>
                                        <p:cTn id="23" dur="580">
                                          <p:stCondLst>
                                            <p:cond delay="0"/>
                                          </p:stCondLst>
                                        </p:cTn>
                                        <p:tgtEl>
                                          <p:spTgt spid="6"/>
                                        </p:tgtEl>
                                      </p:cBhvr>
                                    </p:animEffect>
                                    <p:anim calcmode="lin" valueType="num">
                                      <p:cBhvr>
                                        <p:cTn id="2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9" dur="26">
                                          <p:stCondLst>
                                            <p:cond delay="650"/>
                                          </p:stCondLst>
                                        </p:cTn>
                                        <p:tgtEl>
                                          <p:spTgt spid="6"/>
                                        </p:tgtEl>
                                      </p:cBhvr>
                                      <p:to x="100000" y="60000"/>
                                    </p:animScale>
                                    <p:animScale>
                                      <p:cBhvr>
                                        <p:cTn id="30" dur="166" decel="50000">
                                          <p:stCondLst>
                                            <p:cond delay="676"/>
                                          </p:stCondLst>
                                        </p:cTn>
                                        <p:tgtEl>
                                          <p:spTgt spid="6"/>
                                        </p:tgtEl>
                                      </p:cBhvr>
                                      <p:to x="100000" y="100000"/>
                                    </p:animScale>
                                    <p:animScale>
                                      <p:cBhvr>
                                        <p:cTn id="31" dur="26">
                                          <p:stCondLst>
                                            <p:cond delay="1312"/>
                                          </p:stCondLst>
                                        </p:cTn>
                                        <p:tgtEl>
                                          <p:spTgt spid="6"/>
                                        </p:tgtEl>
                                      </p:cBhvr>
                                      <p:to x="100000" y="80000"/>
                                    </p:animScale>
                                    <p:animScale>
                                      <p:cBhvr>
                                        <p:cTn id="32" dur="166" decel="50000">
                                          <p:stCondLst>
                                            <p:cond delay="1338"/>
                                          </p:stCondLst>
                                        </p:cTn>
                                        <p:tgtEl>
                                          <p:spTgt spid="6"/>
                                        </p:tgtEl>
                                      </p:cBhvr>
                                      <p:to x="100000" y="100000"/>
                                    </p:animScale>
                                    <p:animScale>
                                      <p:cBhvr>
                                        <p:cTn id="33" dur="26">
                                          <p:stCondLst>
                                            <p:cond delay="1642"/>
                                          </p:stCondLst>
                                        </p:cTn>
                                        <p:tgtEl>
                                          <p:spTgt spid="6"/>
                                        </p:tgtEl>
                                      </p:cBhvr>
                                      <p:to x="100000" y="90000"/>
                                    </p:animScale>
                                    <p:animScale>
                                      <p:cBhvr>
                                        <p:cTn id="34" dur="166" decel="50000">
                                          <p:stCondLst>
                                            <p:cond delay="1668"/>
                                          </p:stCondLst>
                                        </p:cTn>
                                        <p:tgtEl>
                                          <p:spTgt spid="6"/>
                                        </p:tgtEl>
                                      </p:cBhvr>
                                      <p:to x="100000" y="100000"/>
                                    </p:animScale>
                                    <p:animScale>
                                      <p:cBhvr>
                                        <p:cTn id="35" dur="26">
                                          <p:stCondLst>
                                            <p:cond delay="1808"/>
                                          </p:stCondLst>
                                        </p:cTn>
                                        <p:tgtEl>
                                          <p:spTgt spid="6"/>
                                        </p:tgtEl>
                                      </p:cBhvr>
                                      <p:to x="100000" y="95000"/>
                                    </p:animScale>
                                    <p:animScale>
                                      <p:cBhvr>
                                        <p:cTn id="3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מה בעצם קרה כאן ? תשובה – הכתובת של </a:t>
            </a:r>
            <a:r>
              <a:rPr lang="en-US" dirty="0"/>
              <a:t>RSP</a:t>
            </a:r>
            <a:r>
              <a:rPr lang="he-IL" dirty="0"/>
              <a:t> ירדה בערך  של 8 פעם נוספת עקב הפקודה </a:t>
            </a:r>
            <a:r>
              <a:rPr lang="en-US" dirty="0"/>
              <a:t>push </a:t>
            </a:r>
            <a:r>
              <a:rPr lang="en-US" dirty="0" err="1"/>
              <a:t>rbp</a:t>
            </a:r>
            <a:r>
              <a:rPr lang="he-IL" dirty="0"/>
              <a:t>  לערך של </a:t>
            </a:r>
            <a:r>
              <a:rPr lang="en-US" dirty="0"/>
              <a:t>0xff0</a:t>
            </a:r>
            <a:r>
              <a:rPr lang="he-IL" dirty="0"/>
              <a:t> ותוכן הכתובת הזו מקבל את הערך הישן של </a:t>
            </a:r>
            <a:r>
              <a:rPr lang="en-US" dirty="0"/>
              <a:t>RBP</a:t>
            </a:r>
            <a:endParaRPr lang="he-IL" dirty="0"/>
          </a:p>
          <a:p>
            <a:r>
              <a:rPr lang="he-IL" dirty="0"/>
              <a:t>לאחר מכן מבוצעת הפקודה  </a:t>
            </a:r>
            <a:r>
              <a:rPr lang="en-US" dirty="0" err="1"/>
              <a:t>mov</a:t>
            </a:r>
            <a:r>
              <a:rPr lang="en-US" dirty="0"/>
              <a:t> </a:t>
            </a:r>
            <a:r>
              <a:rPr lang="en-US" dirty="0" err="1"/>
              <a:t>rbp</a:t>
            </a:r>
            <a:r>
              <a:rPr lang="en-US" dirty="0"/>
              <a:t>, </a:t>
            </a:r>
            <a:r>
              <a:rPr lang="en-US" dirty="0" err="1"/>
              <a:t>rsp</a:t>
            </a:r>
            <a:r>
              <a:rPr lang="he-IL" dirty="0"/>
              <a:t>  ואז המחסנית לא משתנה: </a:t>
            </a:r>
          </a:p>
          <a:p>
            <a:r>
              <a:rPr lang="en-US" dirty="0"/>
              <a:t>RBP </a:t>
            </a:r>
            <a:r>
              <a:rPr lang="he-IL" dirty="0"/>
              <a:t> מצביע על התוכן הנשמר  של </a:t>
            </a:r>
            <a:r>
              <a:rPr lang="en-US" dirty="0"/>
              <a:t>RBP</a:t>
            </a:r>
            <a:r>
              <a:rPr lang="he-IL" dirty="0"/>
              <a:t>  : </a:t>
            </a:r>
            <a:r>
              <a:rPr lang="en-US" dirty="0"/>
              <a:t>RBP = 0x0FF0</a:t>
            </a:r>
            <a:r>
              <a:rPr lang="he-IL" dirty="0"/>
              <a:t> והמחסנית נראית כך (ללא שינוי) : </a:t>
            </a:r>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34</a:t>
            </a:fld>
            <a:endParaRPr lang="he-IL"/>
          </a:p>
        </p:txBody>
      </p:sp>
      <p:pic>
        <p:nvPicPr>
          <p:cNvPr id="6" name="תמונה 5"/>
          <p:cNvPicPr>
            <a:picLocks noChangeAspect="1"/>
          </p:cNvPicPr>
          <p:nvPr/>
        </p:nvPicPr>
        <p:blipFill>
          <a:blip r:embed="rId2"/>
          <a:stretch>
            <a:fillRect/>
          </a:stretch>
        </p:blipFill>
        <p:spPr>
          <a:xfrm>
            <a:off x="2021184" y="4555153"/>
            <a:ext cx="5193431" cy="1553547"/>
          </a:xfrm>
          <a:prstGeom prst="rect">
            <a:avLst/>
          </a:prstGeom>
        </p:spPr>
      </p:pic>
    </p:spTree>
    <p:extLst>
      <p:ext uri="{BB962C8B-B14F-4D97-AF65-F5344CB8AC3E}">
        <p14:creationId xmlns:p14="http://schemas.microsoft.com/office/powerpoint/2010/main" val="961286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כעת מתבצעת הפקודה </a:t>
            </a:r>
            <a:r>
              <a:rPr lang="en-US" dirty="0"/>
              <a:t>PUSH </a:t>
            </a:r>
            <a:r>
              <a:rPr lang="en-US" dirty="0" err="1"/>
              <a:t>rax</a:t>
            </a:r>
            <a:r>
              <a:rPr lang="he-IL" dirty="0"/>
              <a:t> שמתורגמת לשתי הפקודות הבאות : </a:t>
            </a:r>
          </a:p>
          <a:p>
            <a:pPr algn="l" rtl="0"/>
            <a:r>
              <a:rPr lang="en-US" b="1" dirty="0"/>
              <a:t>sub </a:t>
            </a:r>
            <a:r>
              <a:rPr lang="en-US" b="1" dirty="0" err="1"/>
              <a:t>rsp</a:t>
            </a:r>
            <a:r>
              <a:rPr lang="en-US" b="1" dirty="0"/>
              <a:t>, 8</a:t>
            </a:r>
          </a:p>
          <a:p>
            <a:pPr algn="l" rtl="0"/>
            <a:r>
              <a:rPr lang="en-US" b="1" dirty="0" err="1"/>
              <a:t>mov</a:t>
            </a:r>
            <a:r>
              <a:rPr lang="en-US" b="1" dirty="0"/>
              <a:t> [</a:t>
            </a:r>
            <a:r>
              <a:rPr lang="en-US" b="1" dirty="0" err="1"/>
              <a:t>rsp</a:t>
            </a:r>
            <a:r>
              <a:rPr lang="en-US" b="1" dirty="0"/>
              <a:t>], </a:t>
            </a:r>
            <a:r>
              <a:rPr lang="en-US" b="1" dirty="0" err="1"/>
              <a:t>rax</a:t>
            </a:r>
            <a:endParaRPr lang="en-US" b="1" dirty="0"/>
          </a:p>
          <a:p>
            <a:pPr algn="r"/>
            <a:r>
              <a:rPr lang="he-IL" dirty="0"/>
              <a:t>מבנה המחסנית יהיה כדלהלן:</a:t>
            </a:r>
          </a:p>
          <a:p>
            <a:pPr algn="l" rtl="0"/>
            <a:r>
              <a:rPr lang="he-IL" dirty="0"/>
              <a:t>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35</a:t>
            </a:fld>
            <a:endParaRPr lang="he-IL"/>
          </a:p>
        </p:txBody>
      </p:sp>
      <p:pic>
        <p:nvPicPr>
          <p:cNvPr id="6" name="תמונה 5"/>
          <p:cNvPicPr>
            <a:picLocks noChangeAspect="1"/>
          </p:cNvPicPr>
          <p:nvPr/>
        </p:nvPicPr>
        <p:blipFill>
          <a:blip r:embed="rId2"/>
          <a:stretch>
            <a:fillRect/>
          </a:stretch>
        </p:blipFill>
        <p:spPr>
          <a:xfrm>
            <a:off x="1588918" y="4293765"/>
            <a:ext cx="4583282" cy="1954635"/>
          </a:xfrm>
          <a:prstGeom prst="rect">
            <a:avLst/>
          </a:prstGeom>
        </p:spPr>
      </p:pic>
    </p:spTree>
    <p:extLst>
      <p:ext uri="{BB962C8B-B14F-4D97-AF65-F5344CB8AC3E}">
        <p14:creationId xmlns:p14="http://schemas.microsoft.com/office/powerpoint/2010/main" val="1055719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 calcmode="lin" valueType="num">
                                      <p:cBhvr additive="base">
                                        <p:cTn id="1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2000"/>
                                        <p:tgtEl>
                                          <p:spTgt spid="6"/>
                                        </p:tgtEl>
                                      </p:cBhvr>
                                    </p:animEffect>
                                    <p:anim calcmode="lin" valueType="num">
                                      <p:cBhvr>
                                        <p:cTn id="26" dur="2000" fill="hold"/>
                                        <p:tgtEl>
                                          <p:spTgt spid="6"/>
                                        </p:tgtEl>
                                        <p:attrNameLst>
                                          <p:attrName>ppt_w</p:attrName>
                                        </p:attrNameLst>
                                      </p:cBhvr>
                                      <p:tavLst>
                                        <p:tav tm="0" fmla="#ppt_w*sin(2.5*pi*$)">
                                          <p:val>
                                            <p:fltVal val="0"/>
                                          </p:val>
                                        </p:tav>
                                        <p:tav tm="100000">
                                          <p:val>
                                            <p:fltVal val="1"/>
                                          </p:val>
                                        </p:tav>
                                      </p:tavLst>
                                    </p:anim>
                                    <p:anim calcmode="lin" valueType="num">
                                      <p:cBhvr>
                                        <p:cTn id="27" dur="2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כעת נראה את מצב המחסנית לאחר </a:t>
            </a:r>
            <a:r>
              <a:rPr lang="en-US" dirty="0"/>
              <a:t>push r11</a:t>
            </a:r>
            <a:r>
              <a:rPr lang="he-IL" dirty="0"/>
              <a:t> :</a:t>
            </a:r>
            <a:r>
              <a:rPr lang="en-US" dirty="0"/>
              <a:t> </a:t>
            </a:r>
            <a:r>
              <a:rPr lang="he-IL" dirty="0"/>
              <a:t> </a:t>
            </a:r>
          </a:p>
          <a:p>
            <a:r>
              <a:rPr lang="he-IL" dirty="0"/>
              <a:t>מהלך העניינים זהה : תוכן הכתובת ש </a:t>
            </a:r>
            <a:r>
              <a:rPr lang="en-US" dirty="0"/>
              <a:t>RSP</a:t>
            </a:r>
            <a:r>
              <a:rPr lang="he-IL" dirty="0"/>
              <a:t> מצביע עליה יורד ב 8, ותוכנו של </a:t>
            </a:r>
            <a:r>
              <a:rPr lang="en-US" dirty="0"/>
              <a:t>R11</a:t>
            </a:r>
            <a:r>
              <a:rPr lang="he-IL" dirty="0"/>
              <a:t> נכנס אל אותה כתובת :</a:t>
            </a:r>
            <a:r>
              <a:rPr lang="en-US" dirty="0"/>
              <a:t> </a:t>
            </a:r>
            <a:endParaRPr lang="he-IL" dirty="0"/>
          </a:p>
          <a:p>
            <a:pPr algn="l" rtl="0"/>
            <a:endParaRPr lang="he-IL" dirty="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36</a:t>
            </a:fld>
            <a:endParaRPr lang="he-IL"/>
          </a:p>
        </p:txBody>
      </p:sp>
      <p:pic>
        <p:nvPicPr>
          <p:cNvPr id="6" name="תמונה 5"/>
          <p:cNvPicPr>
            <a:picLocks noChangeAspect="1"/>
          </p:cNvPicPr>
          <p:nvPr/>
        </p:nvPicPr>
        <p:blipFill>
          <a:blip r:embed="rId2"/>
          <a:stretch>
            <a:fillRect/>
          </a:stretch>
        </p:blipFill>
        <p:spPr>
          <a:xfrm>
            <a:off x="1033043" y="3775707"/>
            <a:ext cx="4800829" cy="2472693"/>
          </a:xfrm>
          <a:prstGeom prst="rect">
            <a:avLst/>
          </a:prstGeom>
        </p:spPr>
      </p:pic>
    </p:spTree>
    <p:extLst>
      <p:ext uri="{BB962C8B-B14F-4D97-AF65-F5344CB8AC3E}">
        <p14:creationId xmlns:p14="http://schemas.microsoft.com/office/powerpoint/2010/main" val="1703755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6"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wipe(down)">
                                      <p:cBhvr>
                                        <p:cTn id="19" dur="580">
                                          <p:stCondLst>
                                            <p:cond delay="0"/>
                                          </p:stCondLst>
                                        </p:cTn>
                                        <p:tgtEl>
                                          <p:spTgt spid="6"/>
                                        </p:tgtEl>
                                      </p:cBhvr>
                                    </p:animEffect>
                                    <p:anim calcmode="lin" valueType="num">
                                      <p:cBhvr>
                                        <p:cTn id="2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2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25" dur="26">
                                          <p:stCondLst>
                                            <p:cond delay="650"/>
                                          </p:stCondLst>
                                        </p:cTn>
                                        <p:tgtEl>
                                          <p:spTgt spid="6"/>
                                        </p:tgtEl>
                                      </p:cBhvr>
                                      <p:to x="100000" y="60000"/>
                                    </p:animScale>
                                    <p:animScale>
                                      <p:cBhvr>
                                        <p:cTn id="26" dur="166" decel="50000">
                                          <p:stCondLst>
                                            <p:cond delay="676"/>
                                          </p:stCondLst>
                                        </p:cTn>
                                        <p:tgtEl>
                                          <p:spTgt spid="6"/>
                                        </p:tgtEl>
                                      </p:cBhvr>
                                      <p:to x="100000" y="100000"/>
                                    </p:animScale>
                                    <p:animScale>
                                      <p:cBhvr>
                                        <p:cTn id="27" dur="26">
                                          <p:stCondLst>
                                            <p:cond delay="1312"/>
                                          </p:stCondLst>
                                        </p:cTn>
                                        <p:tgtEl>
                                          <p:spTgt spid="6"/>
                                        </p:tgtEl>
                                      </p:cBhvr>
                                      <p:to x="100000" y="80000"/>
                                    </p:animScale>
                                    <p:animScale>
                                      <p:cBhvr>
                                        <p:cTn id="28" dur="166" decel="50000">
                                          <p:stCondLst>
                                            <p:cond delay="1338"/>
                                          </p:stCondLst>
                                        </p:cTn>
                                        <p:tgtEl>
                                          <p:spTgt spid="6"/>
                                        </p:tgtEl>
                                      </p:cBhvr>
                                      <p:to x="100000" y="100000"/>
                                    </p:animScale>
                                    <p:animScale>
                                      <p:cBhvr>
                                        <p:cTn id="29" dur="26">
                                          <p:stCondLst>
                                            <p:cond delay="1642"/>
                                          </p:stCondLst>
                                        </p:cTn>
                                        <p:tgtEl>
                                          <p:spTgt spid="6"/>
                                        </p:tgtEl>
                                      </p:cBhvr>
                                      <p:to x="100000" y="90000"/>
                                    </p:animScale>
                                    <p:animScale>
                                      <p:cBhvr>
                                        <p:cTn id="30" dur="166" decel="50000">
                                          <p:stCondLst>
                                            <p:cond delay="1668"/>
                                          </p:stCondLst>
                                        </p:cTn>
                                        <p:tgtEl>
                                          <p:spTgt spid="6"/>
                                        </p:tgtEl>
                                      </p:cBhvr>
                                      <p:to x="100000" y="100000"/>
                                    </p:animScale>
                                    <p:animScale>
                                      <p:cBhvr>
                                        <p:cTn id="31" dur="26">
                                          <p:stCondLst>
                                            <p:cond delay="1808"/>
                                          </p:stCondLst>
                                        </p:cTn>
                                        <p:tgtEl>
                                          <p:spTgt spid="6"/>
                                        </p:tgtEl>
                                      </p:cBhvr>
                                      <p:to x="100000" y="95000"/>
                                    </p:animScale>
                                    <p:animScale>
                                      <p:cBhvr>
                                        <p:cTn id="32"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הפקודה </a:t>
            </a:r>
            <a:r>
              <a:rPr lang="en-US" dirty="0"/>
              <a:t>POP R11</a:t>
            </a:r>
            <a:r>
              <a:rPr lang="he-IL" dirty="0"/>
              <a:t> , מפורשת כך :</a:t>
            </a:r>
            <a:r>
              <a:rPr lang="en-US" dirty="0"/>
              <a:t> </a:t>
            </a:r>
            <a:endParaRPr lang="he-IL" dirty="0"/>
          </a:p>
          <a:p>
            <a:pPr algn="l" rtl="0"/>
            <a:r>
              <a:rPr lang="pt-BR" b="1" dirty="0"/>
              <a:t>mov r11, [rsp]</a:t>
            </a:r>
          </a:p>
          <a:p>
            <a:pPr algn="l" rtl="0"/>
            <a:r>
              <a:rPr lang="pt-BR" b="1" dirty="0"/>
              <a:t>add rsp, 8</a:t>
            </a:r>
            <a:endParaRPr lang="he-IL" b="1" dirty="0"/>
          </a:p>
          <a:p>
            <a:pPr algn="r"/>
            <a:r>
              <a:rPr lang="he-IL" dirty="0"/>
              <a:t>ולכן האוגר </a:t>
            </a:r>
            <a:r>
              <a:rPr lang="en-US" dirty="0"/>
              <a:t>r11</a:t>
            </a:r>
            <a:r>
              <a:rPr lang="he-IL" dirty="0"/>
              <a:t> מקבל את הערך שנדחף קודם לכן למחסנית , ולאחר הביצוע של הפקודה  נקבל מבנה מחסנית חדש : </a:t>
            </a:r>
            <a:endParaRPr lang="pt-BR" dirty="0"/>
          </a:p>
          <a:p>
            <a:pPr algn="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37</a:t>
            </a:fld>
            <a:endParaRPr lang="he-IL"/>
          </a:p>
        </p:txBody>
      </p:sp>
      <p:pic>
        <p:nvPicPr>
          <p:cNvPr id="6" name="תמונה 5"/>
          <p:cNvPicPr>
            <a:picLocks noChangeAspect="1"/>
          </p:cNvPicPr>
          <p:nvPr/>
        </p:nvPicPr>
        <p:blipFill>
          <a:blip r:embed="rId2"/>
          <a:stretch>
            <a:fillRect/>
          </a:stretch>
        </p:blipFill>
        <p:spPr>
          <a:xfrm>
            <a:off x="1961005" y="4471974"/>
            <a:ext cx="3872868" cy="1776426"/>
          </a:xfrm>
          <a:prstGeom prst="rect">
            <a:avLst/>
          </a:prstGeom>
        </p:spPr>
      </p:pic>
    </p:spTree>
    <p:extLst>
      <p:ext uri="{BB962C8B-B14F-4D97-AF65-F5344CB8AC3E}">
        <p14:creationId xmlns:p14="http://schemas.microsoft.com/office/powerpoint/2010/main" val="2268588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additive="base">
                                        <p:cTn id="14"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5"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 calcmode="lin" valueType="num">
                                      <p:cBhvr additive="base">
                                        <p:cTn id="20"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 calcmode="lin" valueType="num">
                                      <p:cBhvr additive="base">
                                        <p:cTn id="24"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 calcmode="lin" valueType="num">
                                      <p:cBhvr additive="base">
                                        <p:cTn id="3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המחסנית ביחס לדוגמא </a:t>
            </a:r>
          </a:p>
        </p:txBody>
      </p:sp>
      <p:sp>
        <p:nvSpPr>
          <p:cNvPr id="3" name="מציין מיקום תוכן 2"/>
          <p:cNvSpPr>
            <a:spLocks noGrp="1"/>
          </p:cNvSpPr>
          <p:nvPr>
            <p:ph idx="1"/>
          </p:nvPr>
        </p:nvSpPr>
        <p:spPr/>
        <p:txBody>
          <a:bodyPr/>
          <a:lstStyle/>
          <a:p>
            <a:r>
              <a:rPr lang="he-IL" dirty="0"/>
              <a:t>לאחר </a:t>
            </a:r>
            <a:r>
              <a:rPr lang="en-US" dirty="0"/>
              <a:t>POP </a:t>
            </a:r>
            <a:r>
              <a:rPr lang="en-US" dirty="0" err="1"/>
              <a:t>rax</a:t>
            </a:r>
            <a:r>
              <a:rPr lang="he-IL" dirty="0"/>
              <a:t> נקבל מבנה מחסנית חדש :</a:t>
            </a:r>
            <a:r>
              <a:rPr lang="en-US" dirty="0"/>
              <a:t> </a:t>
            </a:r>
            <a:endParaRPr lang="he-IL" dirty="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38</a:t>
            </a:fld>
            <a:endParaRPr lang="he-IL"/>
          </a:p>
        </p:txBody>
      </p:sp>
      <p:pic>
        <p:nvPicPr>
          <p:cNvPr id="6" name="תמונה 5"/>
          <p:cNvPicPr>
            <a:picLocks noChangeAspect="1"/>
          </p:cNvPicPr>
          <p:nvPr/>
        </p:nvPicPr>
        <p:blipFill>
          <a:blip r:embed="rId2"/>
          <a:stretch>
            <a:fillRect/>
          </a:stretch>
        </p:blipFill>
        <p:spPr>
          <a:xfrm>
            <a:off x="1885228" y="3110130"/>
            <a:ext cx="6792273" cy="2105319"/>
          </a:xfrm>
          <a:prstGeom prst="rect">
            <a:avLst/>
          </a:prstGeom>
        </p:spPr>
      </p:pic>
      <p:sp>
        <p:nvSpPr>
          <p:cNvPr id="7" name="TextBox 6"/>
          <p:cNvSpPr txBox="1"/>
          <p:nvPr/>
        </p:nvSpPr>
        <p:spPr>
          <a:xfrm>
            <a:off x="3566160" y="5269059"/>
            <a:ext cx="6501384" cy="646331"/>
          </a:xfrm>
          <a:prstGeom prst="rect">
            <a:avLst/>
          </a:prstGeom>
          <a:noFill/>
        </p:spPr>
        <p:txBody>
          <a:bodyPr wrap="square" rtlCol="1">
            <a:spAutoFit/>
          </a:bodyPr>
          <a:lstStyle/>
          <a:p>
            <a:r>
              <a:rPr lang="he-IL" dirty="0"/>
              <a:t>אוגר </a:t>
            </a:r>
            <a:r>
              <a:rPr lang="en-US" dirty="0"/>
              <a:t>RAX</a:t>
            </a:r>
            <a:r>
              <a:rPr lang="he-IL" dirty="0"/>
              <a:t> חוזר לקבל את התוכן שהיה בתוכו טרם הדחיפה למחסנית בעוד שהמחסנית קטנה</a:t>
            </a:r>
          </a:p>
        </p:txBody>
      </p:sp>
    </p:spTree>
    <p:extLst>
      <p:ext uri="{BB962C8B-B14F-4D97-AF65-F5344CB8AC3E}">
        <p14:creationId xmlns:p14="http://schemas.microsoft.com/office/powerpoint/2010/main" val="217734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 calcmode="lin" valueType="num">
                                      <p:cBhvr additive="base">
                                        <p:cTn id="25"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leave</a:t>
            </a:r>
            <a:r>
              <a:rPr lang="he-IL" dirty="0"/>
              <a:t> </a:t>
            </a:r>
          </a:p>
        </p:txBody>
      </p:sp>
      <p:sp>
        <p:nvSpPr>
          <p:cNvPr id="3" name="מציין מיקום תוכן 2"/>
          <p:cNvSpPr>
            <a:spLocks noGrp="1"/>
          </p:cNvSpPr>
          <p:nvPr>
            <p:ph idx="1"/>
          </p:nvPr>
        </p:nvSpPr>
        <p:spPr/>
        <p:txBody>
          <a:bodyPr>
            <a:normAutofit/>
          </a:bodyPr>
          <a:lstStyle/>
          <a:p>
            <a:r>
              <a:rPr lang="he-IL" dirty="0"/>
              <a:t>פקודה זו היא בעצם קיצור דרך לביצוען של שתי פקודות :</a:t>
            </a:r>
            <a:r>
              <a:rPr lang="en-US" dirty="0"/>
              <a:t> </a:t>
            </a:r>
            <a:endParaRPr lang="he-IL" dirty="0"/>
          </a:p>
          <a:p>
            <a:pPr algn="ctr" rtl="0"/>
            <a:r>
              <a:rPr lang="en-US" b="1" dirty="0"/>
              <a:t>mov </a:t>
            </a:r>
            <a:r>
              <a:rPr lang="en-US" b="1" dirty="0" err="1"/>
              <a:t>rsp</a:t>
            </a:r>
            <a:r>
              <a:rPr lang="en-US" b="1" dirty="0"/>
              <a:t>, </a:t>
            </a:r>
            <a:r>
              <a:rPr lang="en-US" b="1" dirty="0" err="1"/>
              <a:t>rbp</a:t>
            </a:r>
            <a:endParaRPr lang="en-US" b="1" dirty="0"/>
          </a:p>
          <a:p>
            <a:pPr algn="ctr" rtl="0"/>
            <a:r>
              <a:rPr lang="en-US" b="1" dirty="0"/>
              <a:t>pop </a:t>
            </a:r>
            <a:r>
              <a:rPr lang="en-US" b="1" dirty="0" err="1"/>
              <a:t>rbp</a:t>
            </a:r>
            <a:endParaRPr lang="en-US" b="1" dirty="0"/>
          </a:p>
          <a:p>
            <a:r>
              <a:rPr lang="he-IL" dirty="0"/>
              <a:t>היא משמשת לשחרור הנעץ מהמחסנית,  אשר בוצע ע"י </a:t>
            </a:r>
            <a:r>
              <a:rPr lang="en-US" dirty="0"/>
              <a:t>enter 0,0 </a:t>
            </a:r>
            <a:r>
              <a:rPr lang="he-IL" dirty="0"/>
              <a:t> כלומר לשחרר את האזור התפוס במחסנית לצורך שחזור כתובת  החזרה. </a:t>
            </a:r>
          </a:p>
          <a:p>
            <a:r>
              <a:rPr lang="he-IL" dirty="0"/>
              <a:t>משתמשים בה בסיום פונקציה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solidFill>
                  <a:prstClr val="black"/>
                </a:solidFill>
              </a:rPr>
              <a:pPr/>
              <a:t>03 מאי 26</a:t>
            </a:fld>
            <a:endParaRPr lang="he-IL">
              <a:solidFill>
                <a:prstClr val="black"/>
              </a:solidFill>
            </a:endParaRPr>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solidFill>
                  <a:prstClr val="black"/>
                </a:solidFill>
              </a:rPr>
              <a:pPr/>
              <a:t>39</a:t>
            </a:fld>
            <a:endParaRPr lang="he-IL">
              <a:solidFill>
                <a:prstClr val="black"/>
              </a:solidFill>
            </a:endParaRPr>
          </a:p>
        </p:txBody>
      </p:sp>
    </p:spTree>
    <p:extLst>
      <p:ext uri="{BB962C8B-B14F-4D97-AF65-F5344CB8AC3E}">
        <p14:creationId xmlns:p14="http://schemas.microsoft.com/office/powerpoint/2010/main" val="3330289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leave</a:t>
            </a:r>
            <a:r>
              <a:rPr lang="he-IL" dirty="0"/>
              <a:t> המשך </a:t>
            </a:r>
          </a:p>
        </p:txBody>
      </p:sp>
      <p:sp>
        <p:nvSpPr>
          <p:cNvPr id="3" name="מציין מיקום תוכן 2"/>
          <p:cNvSpPr>
            <a:spLocks noGrp="1"/>
          </p:cNvSpPr>
          <p:nvPr>
            <p:ph idx="1"/>
          </p:nvPr>
        </p:nvSpPr>
        <p:spPr/>
        <p:txBody>
          <a:bodyPr>
            <a:normAutofit fontScale="92500" lnSpcReduction="20000"/>
          </a:bodyPr>
          <a:lstStyle/>
          <a:p>
            <a:pPr algn="l" rtl="0"/>
            <a:r>
              <a:rPr lang="en-US" b="1" dirty="0"/>
              <a:t>; prologue</a:t>
            </a:r>
          </a:p>
          <a:p>
            <a:pPr algn="l" rtl="0"/>
            <a:r>
              <a:rPr lang="en-US" b="1" dirty="0"/>
              <a:t>push </a:t>
            </a:r>
            <a:r>
              <a:rPr lang="en-US" b="1" dirty="0" err="1"/>
              <a:t>rbp</a:t>
            </a:r>
            <a:endParaRPr lang="en-US" b="1" dirty="0"/>
          </a:p>
          <a:p>
            <a:pPr algn="l" rtl="0"/>
            <a:r>
              <a:rPr lang="en-US" b="1" dirty="0"/>
              <a:t>mov  </a:t>
            </a:r>
            <a:r>
              <a:rPr lang="en-US" b="1" dirty="0" err="1"/>
              <a:t>rbp</a:t>
            </a:r>
            <a:r>
              <a:rPr lang="en-US" b="1" dirty="0"/>
              <a:t>, </a:t>
            </a:r>
            <a:r>
              <a:rPr lang="en-US" b="1" dirty="0" err="1"/>
              <a:t>rsp</a:t>
            </a:r>
            <a:r>
              <a:rPr lang="en-US" b="1" dirty="0"/>
              <a:t>; </a:t>
            </a:r>
          </a:p>
          <a:p>
            <a:pPr algn="l" rtl="0"/>
            <a:r>
              <a:rPr lang="en-US" b="1" dirty="0"/>
              <a:t>... function body ...; </a:t>
            </a:r>
          </a:p>
          <a:p>
            <a:pPr algn="l" rtl="0"/>
            <a:r>
              <a:rPr lang="en-US" b="1" dirty="0"/>
              <a:t>;epilogue</a:t>
            </a:r>
          </a:p>
          <a:p>
            <a:pPr algn="l" rtl="0"/>
            <a:r>
              <a:rPr lang="en-US" b="1" dirty="0"/>
              <a:t>mov  </a:t>
            </a:r>
            <a:r>
              <a:rPr lang="en-US" b="1" dirty="0" err="1"/>
              <a:t>rsp</a:t>
            </a:r>
            <a:r>
              <a:rPr lang="en-US" b="1" dirty="0"/>
              <a:t>, </a:t>
            </a:r>
            <a:r>
              <a:rPr lang="en-US" b="1" dirty="0" err="1"/>
              <a:t>rbp</a:t>
            </a:r>
            <a:endParaRPr lang="en-US" b="1" dirty="0"/>
          </a:p>
          <a:p>
            <a:pPr algn="l" rtl="0"/>
            <a:r>
              <a:rPr lang="en-US" b="1" dirty="0"/>
              <a:t>pop  </a:t>
            </a:r>
            <a:r>
              <a:rPr lang="en-US" b="1" dirty="0" err="1"/>
              <a:t>rbp</a:t>
            </a:r>
            <a:endParaRPr lang="en-US" b="1" dirty="0"/>
          </a:p>
          <a:p>
            <a:pPr algn="l" rtl="0"/>
            <a:r>
              <a:rPr lang="en-US" b="1" dirty="0"/>
              <a:t>ret</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40</a:t>
            </a:fld>
            <a:endParaRPr lang="he-IL"/>
          </a:p>
        </p:txBody>
      </p:sp>
    </p:spTree>
    <p:extLst>
      <p:ext uri="{BB962C8B-B14F-4D97-AF65-F5344CB8AC3E}">
        <p14:creationId xmlns:p14="http://schemas.microsoft.com/office/powerpoint/2010/main" val="281303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Leave</a:t>
            </a:r>
            <a:r>
              <a:rPr lang="he-IL" dirty="0"/>
              <a:t> המשך </a:t>
            </a:r>
          </a:p>
        </p:txBody>
      </p:sp>
      <p:sp>
        <p:nvSpPr>
          <p:cNvPr id="3" name="מציין מיקום תוכן 2"/>
          <p:cNvSpPr>
            <a:spLocks noGrp="1"/>
          </p:cNvSpPr>
          <p:nvPr>
            <p:ph idx="1"/>
          </p:nvPr>
        </p:nvSpPr>
        <p:spPr/>
        <p:txBody>
          <a:bodyPr/>
          <a:lstStyle/>
          <a:p>
            <a:r>
              <a:rPr lang="he-IL" dirty="0"/>
              <a:t>לכן , ביחס לדוגמא האחרונה,  מאחר והפקודה הראשונה  ב </a:t>
            </a:r>
            <a:r>
              <a:rPr lang="en-US" dirty="0"/>
              <a:t>leave</a:t>
            </a:r>
            <a:r>
              <a:rPr lang="he-IL" dirty="0"/>
              <a:t> היא </a:t>
            </a:r>
            <a:r>
              <a:rPr lang="en-US" dirty="0" err="1"/>
              <a:t>mov</a:t>
            </a:r>
            <a:r>
              <a:rPr lang="en-US" dirty="0"/>
              <a:t> </a:t>
            </a:r>
            <a:r>
              <a:rPr lang="en-US" dirty="0" err="1"/>
              <a:t>rsp</a:t>
            </a:r>
            <a:r>
              <a:rPr lang="en-US" dirty="0"/>
              <a:t>, </a:t>
            </a:r>
            <a:r>
              <a:rPr lang="en-US" dirty="0" err="1"/>
              <a:t>rbp</a:t>
            </a:r>
            <a:r>
              <a:rPr lang="he-IL" dirty="0"/>
              <a:t> , נקבל כי </a:t>
            </a:r>
            <a:r>
              <a:rPr lang="en-US" dirty="0"/>
              <a:t>RSP = RBP = 0x0FF0</a:t>
            </a:r>
            <a:r>
              <a:rPr lang="he-IL" dirty="0"/>
              <a:t> </a:t>
            </a:r>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41</a:t>
            </a:fld>
            <a:endParaRPr lang="he-IL"/>
          </a:p>
        </p:txBody>
      </p:sp>
      <p:pic>
        <p:nvPicPr>
          <p:cNvPr id="6" name="תמונה 5"/>
          <p:cNvPicPr>
            <a:picLocks noChangeAspect="1"/>
          </p:cNvPicPr>
          <p:nvPr/>
        </p:nvPicPr>
        <p:blipFill>
          <a:blip r:embed="rId2"/>
          <a:stretch>
            <a:fillRect/>
          </a:stretch>
        </p:blipFill>
        <p:spPr>
          <a:xfrm>
            <a:off x="2093572" y="3684812"/>
            <a:ext cx="5792008" cy="2191056"/>
          </a:xfrm>
          <a:prstGeom prst="rect">
            <a:avLst/>
          </a:prstGeom>
        </p:spPr>
      </p:pic>
    </p:spTree>
    <p:extLst>
      <p:ext uri="{BB962C8B-B14F-4D97-AF65-F5344CB8AC3E}">
        <p14:creationId xmlns:p14="http://schemas.microsoft.com/office/powerpoint/2010/main" val="3644385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wipe(down)">
                                      <p:cBhvr>
                                        <p:cTn id="13" dur="580">
                                          <p:stCondLst>
                                            <p:cond delay="0"/>
                                          </p:stCondLst>
                                        </p:cTn>
                                        <p:tgtEl>
                                          <p:spTgt spid="6"/>
                                        </p:tgtEl>
                                      </p:cBhvr>
                                    </p:animEffect>
                                    <p:anim calcmode="lin" valueType="num">
                                      <p:cBhvr>
                                        <p:cTn id="14"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9" dur="26">
                                          <p:stCondLst>
                                            <p:cond delay="650"/>
                                          </p:stCondLst>
                                        </p:cTn>
                                        <p:tgtEl>
                                          <p:spTgt spid="6"/>
                                        </p:tgtEl>
                                      </p:cBhvr>
                                      <p:to x="100000" y="60000"/>
                                    </p:animScale>
                                    <p:animScale>
                                      <p:cBhvr>
                                        <p:cTn id="20" dur="166" decel="50000">
                                          <p:stCondLst>
                                            <p:cond delay="676"/>
                                          </p:stCondLst>
                                        </p:cTn>
                                        <p:tgtEl>
                                          <p:spTgt spid="6"/>
                                        </p:tgtEl>
                                      </p:cBhvr>
                                      <p:to x="100000" y="100000"/>
                                    </p:animScale>
                                    <p:animScale>
                                      <p:cBhvr>
                                        <p:cTn id="21" dur="26">
                                          <p:stCondLst>
                                            <p:cond delay="1312"/>
                                          </p:stCondLst>
                                        </p:cTn>
                                        <p:tgtEl>
                                          <p:spTgt spid="6"/>
                                        </p:tgtEl>
                                      </p:cBhvr>
                                      <p:to x="100000" y="80000"/>
                                    </p:animScale>
                                    <p:animScale>
                                      <p:cBhvr>
                                        <p:cTn id="22" dur="166" decel="50000">
                                          <p:stCondLst>
                                            <p:cond delay="1338"/>
                                          </p:stCondLst>
                                        </p:cTn>
                                        <p:tgtEl>
                                          <p:spTgt spid="6"/>
                                        </p:tgtEl>
                                      </p:cBhvr>
                                      <p:to x="100000" y="100000"/>
                                    </p:animScale>
                                    <p:animScale>
                                      <p:cBhvr>
                                        <p:cTn id="23" dur="26">
                                          <p:stCondLst>
                                            <p:cond delay="1642"/>
                                          </p:stCondLst>
                                        </p:cTn>
                                        <p:tgtEl>
                                          <p:spTgt spid="6"/>
                                        </p:tgtEl>
                                      </p:cBhvr>
                                      <p:to x="100000" y="90000"/>
                                    </p:animScale>
                                    <p:animScale>
                                      <p:cBhvr>
                                        <p:cTn id="24" dur="166" decel="50000">
                                          <p:stCondLst>
                                            <p:cond delay="1668"/>
                                          </p:stCondLst>
                                        </p:cTn>
                                        <p:tgtEl>
                                          <p:spTgt spid="6"/>
                                        </p:tgtEl>
                                      </p:cBhvr>
                                      <p:to x="100000" y="100000"/>
                                    </p:animScale>
                                    <p:animScale>
                                      <p:cBhvr>
                                        <p:cTn id="25" dur="26">
                                          <p:stCondLst>
                                            <p:cond delay="1808"/>
                                          </p:stCondLst>
                                        </p:cTn>
                                        <p:tgtEl>
                                          <p:spTgt spid="6"/>
                                        </p:tgtEl>
                                      </p:cBhvr>
                                      <p:to x="100000" y="95000"/>
                                    </p:animScale>
                                    <p:animScale>
                                      <p:cBhvr>
                                        <p:cTn id="26"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 Leave </a:t>
            </a:r>
            <a:r>
              <a:rPr lang="he-IL" dirty="0"/>
              <a:t>המשך </a:t>
            </a:r>
          </a:p>
        </p:txBody>
      </p:sp>
      <p:sp>
        <p:nvSpPr>
          <p:cNvPr id="3" name="מציין מיקום תוכן 2"/>
          <p:cNvSpPr>
            <a:spLocks noGrp="1"/>
          </p:cNvSpPr>
          <p:nvPr>
            <p:ph idx="1"/>
          </p:nvPr>
        </p:nvSpPr>
        <p:spPr/>
        <p:txBody>
          <a:bodyPr/>
          <a:lstStyle/>
          <a:p>
            <a:r>
              <a:rPr lang="he-IL" dirty="0"/>
              <a:t>לאחר </a:t>
            </a:r>
            <a:r>
              <a:rPr lang="en-US" dirty="0"/>
              <a:t>pop </a:t>
            </a:r>
            <a:r>
              <a:rPr lang="en-US" dirty="0" err="1"/>
              <a:t>rbp</a:t>
            </a:r>
            <a:r>
              <a:rPr lang="he-IL" dirty="0"/>
              <a:t> שהיא הפקודה </a:t>
            </a:r>
            <a:r>
              <a:rPr lang="he-IL" dirty="0" err="1"/>
              <a:t>השניה</a:t>
            </a:r>
            <a:r>
              <a:rPr lang="he-IL" dirty="0"/>
              <a:t> של </a:t>
            </a:r>
            <a:r>
              <a:rPr lang="en-US" dirty="0"/>
              <a:t>leave</a:t>
            </a:r>
            <a:r>
              <a:rPr lang="he-IL" dirty="0"/>
              <a:t> נקבל כי תכני האוגרים משתנים :</a:t>
            </a:r>
            <a:r>
              <a:rPr lang="en-US" dirty="0"/>
              <a:t> </a:t>
            </a:r>
            <a:endParaRPr lang="he-IL" dirty="0"/>
          </a:p>
          <a:p>
            <a:pPr algn="l" rtl="0"/>
            <a:r>
              <a:rPr lang="en-US" dirty="0"/>
              <a:t>RBP = old RBP (from main)</a:t>
            </a:r>
          </a:p>
          <a:p>
            <a:pPr algn="l" rtl="0"/>
            <a:r>
              <a:rPr lang="en-US" dirty="0"/>
              <a:t>RSP = 0x0FF8</a:t>
            </a:r>
          </a:p>
          <a:p>
            <a:pPr algn="r"/>
            <a:r>
              <a:rPr lang="he-IL" dirty="0"/>
              <a:t>ומבנה המחסנית נראה כך :</a:t>
            </a:r>
            <a:r>
              <a:rPr lang="en-US" dirty="0"/>
              <a:t> </a:t>
            </a:r>
            <a:endParaRPr lang="he-IL" dirty="0"/>
          </a:p>
          <a:p>
            <a:pPr algn="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42</a:t>
            </a:fld>
            <a:endParaRPr lang="he-IL"/>
          </a:p>
        </p:txBody>
      </p:sp>
      <p:pic>
        <p:nvPicPr>
          <p:cNvPr id="6" name="תמונה 5"/>
          <p:cNvPicPr>
            <a:picLocks noChangeAspect="1"/>
          </p:cNvPicPr>
          <p:nvPr/>
        </p:nvPicPr>
        <p:blipFill>
          <a:blip r:embed="rId2"/>
          <a:stretch>
            <a:fillRect/>
          </a:stretch>
        </p:blipFill>
        <p:spPr>
          <a:xfrm>
            <a:off x="1402865" y="4492419"/>
            <a:ext cx="5125165" cy="1476581"/>
          </a:xfrm>
          <a:prstGeom prst="rect">
            <a:avLst/>
          </a:prstGeom>
        </p:spPr>
      </p:pic>
    </p:spTree>
    <p:extLst>
      <p:ext uri="{BB962C8B-B14F-4D97-AF65-F5344CB8AC3E}">
        <p14:creationId xmlns:p14="http://schemas.microsoft.com/office/powerpoint/2010/main" val="411974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6"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wipe(down)">
                                      <p:cBhvr>
                                        <p:cTn id="29" dur="580">
                                          <p:stCondLst>
                                            <p:cond delay="0"/>
                                          </p:stCondLst>
                                        </p:cTn>
                                        <p:tgtEl>
                                          <p:spTgt spid="6"/>
                                        </p:tgtEl>
                                      </p:cBhvr>
                                    </p:animEffect>
                                    <p:anim calcmode="lin" valueType="num">
                                      <p:cBhvr>
                                        <p:cTn id="30"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31"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32"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33"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4"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5" dur="26">
                                          <p:stCondLst>
                                            <p:cond delay="650"/>
                                          </p:stCondLst>
                                        </p:cTn>
                                        <p:tgtEl>
                                          <p:spTgt spid="6"/>
                                        </p:tgtEl>
                                      </p:cBhvr>
                                      <p:to x="100000" y="60000"/>
                                    </p:animScale>
                                    <p:animScale>
                                      <p:cBhvr>
                                        <p:cTn id="36" dur="166" decel="50000">
                                          <p:stCondLst>
                                            <p:cond delay="676"/>
                                          </p:stCondLst>
                                        </p:cTn>
                                        <p:tgtEl>
                                          <p:spTgt spid="6"/>
                                        </p:tgtEl>
                                      </p:cBhvr>
                                      <p:to x="100000" y="100000"/>
                                    </p:animScale>
                                    <p:animScale>
                                      <p:cBhvr>
                                        <p:cTn id="37" dur="26">
                                          <p:stCondLst>
                                            <p:cond delay="1312"/>
                                          </p:stCondLst>
                                        </p:cTn>
                                        <p:tgtEl>
                                          <p:spTgt spid="6"/>
                                        </p:tgtEl>
                                      </p:cBhvr>
                                      <p:to x="100000" y="80000"/>
                                    </p:animScale>
                                    <p:animScale>
                                      <p:cBhvr>
                                        <p:cTn id="38" dur="166" decel="50000">
                                          <p:stCondLst>
                                            <p:cond delay="1338"/>
                                          </p:stCondLst>
                                        </p:cTn>
                                        <p:tgtEl>
                                          <p:spTgt spid="6"/>
                                        </p:tgtEl>
                                      </p:cBhvr>
                                      <p:to x="100000" y="100000"/>
                                    </p:animScale>
                                    <p:animScale>
                                      <p:cBhvr>
                                        <p:cTn id="39" dur="26">
                                          <p:stCondLst>
                                            <p:cond delay="1642"/>
                                          </p:stCondLst>
                                        </p:cTn>
                                        <p:tgtEl>
                                          <p:spTgt spid="6"/>
                                        </p:tgtEl>
                                      </p:cBhvr>
                                      <p:to x="100000" y="90000"/>
                                    </p:animScale>
                                    <p:animScale>
                                      <p:cBhvr>
                                        <p:cTn id="40" dur="166" decel="50000">
                                          <p:stCondLst>
                                            <p:cond delay="1668"/>
                                          </p:stCondLst>
                                        </p:cTn>
                                        <p:tgtEl>
                                          <p:spTgt spid="6"/>
                                        </p:tgtEl>
                                      </p:cBhvr>
                                      <p:to x="100000" y="100000"/>
                                    </p:animScale>
                                    <p:animScale>
                                      <p:cBhvr>
                                        <p:cTn id="41" dur="26">
                                          <p:stCondLst>
                                            <p:cond delay="1808"/>
                                          </p:stCondLst>
                                        </p:cTn>
                                        <p:tgtEl>
                                          <p:spTgt spid="6"/>
                                        </p:tgtEl>
                                      </p:cBhvr>
                                      <p:to x="100000" y="95000"/>
                                    </p:animScale>
                                    <p:animScale>
                                      <p:cBhvr>
                                        <p:cTn id="42"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  Leave </a:t>
            </a:r>
            <a:r>
              <a:rPr lang="he-IL" dirty="0"/>
              <a:t>המשך </a:t>
            </a:r>
          </a:p>
        </p:txBody>
      </p:sp>
      <p:sp>
        <p:nvSpPr>
          <p:cNvPr id="3" name="מציין מיקום תוכן 2"/>
          <p:cNvSpPr>
            <a:spLocks noGrp="1"/>
          </p:cNvSpPr>
          <p:nvPr>
            <p:ph idx="1"/>
          </p:nvPr>
        </p:nvSpPr>
        <p:spPr/>
        <p:txBody>
          <a:bodyPr/>
          <a:lstStyle/>
          <a:p>
            <a:pPr marL="0" indent="0">
              <a:buNone/>
            </a:pPr>
            <a:r>
              <a:rPr lang="he-IL" dirty="0"/>
              <a:t>כלומר , ניתן לומר שפקודת </a:t>
            </a:r>
            <a:r>
              <a:rPr lang="en-US" dirty="0"/>
              <a:t>leave</a:t>
            </a:r>
            <a:r>
              <a:rPr lang="he-IL" dirty="0"/>
              <a:t>  משחזרת את תוכן המחסנית לתוכנה הקודם, טרם בוצעו כל הדחיפות אליה באופן שבו  </a:t>
            </a:r>
            <a:r>
              <a:rPr lang="en-US" dirty="0"/>
              <a:t>RSP</a:t>
            </a:r>
            <a:r>
              <a:rPr lang="he-IL" dirty="0"/>
              <a:t> מצביע על כתובת החזרה אל התכנית הראשית או הפונקציה הקוראת.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43</a:t>
            </a:fld>
            <a:endParaRPr lang="he-IL"/>
          </a:p>
        </p:txBody>
      </p:sp>
    </p:spTree>
    <p:extLst>
      <p:ext uri="{BB962C8B-B14F-4D97-AF65-F5344CB8AC3E}">
        <p14:creationId xmlns:p14="http://schemas.microsoft.com/office/powerpoint/2010/main" val="2696925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פקודת </a:t>
            </a:r>
            <a:r>
              <a:rPr lang="en-US" dirty="0"/>
              <a:t>ret</a:t>
            </a:r>
            <a:r>
              <a:rPr lang="he-IL" dirty="0"/>
              <a:t> </a:t>
            </a:r>
          </a:p>
        </p:txBody>
      </p:sp>
      <p:sp>
        <p:nvSpPr>
          <p:cNvPr id="3" name="מציין מיקום תוכן 2"/>
          <p:cNvSpPr>
            <a:spLocks noGrp="1"/>
          </p:cNvSpPr>
          <p:nvPr>
            <p:ph idx="1"/>
          </p:nvPr>
        </p:nvSpPr>
        <p:spPr/>
        <p:txBody>
          <a:bodyPr/>
          <a:lstStyle/>
          <a:p>
            <a:r>
              <a:rPr lang="he-IL" dirty="0"/>
              <a:t>ביחס לדוגמא, מופיעה גם פקודת </a:t>
            </a:r>
            <a:r>
              <a:rPr lang="en-US" dirty="0"/>
              <a:t>ret </a:t>
            </a:r>
            <a:r>
              <a:rPr lang="he-IL" dirty="0"/>
              <a:t> בסיום הפונקציה </a:t>
            </a:r>
          </a:p>
          <a:p>
            <a:r>
              <a:rPr lang="he-IL" dirty="0"/>
              <a:t>כאמור, מטרתה של </a:t>
            </a:r>
            <a:r>
              <a:rPr lang="en-US" dirty="0"/>
              <a:t>ret </a:t>
            </a:r>
            <a:r>
              <a:rPr lang="he-IL" dirty="0"/>
              <a:t> הוא להחזיר את התכנית לביצוע השוטף שלה לאחר סיום ביצוע הפונקציה, ולכן חובה לסדר את המחסנית באופן כזה שברגע שהפקודה </a:t>
            </a:r>
            <a:r>
              <a:rPr lang="en-US" dirty="0"/>
              <a:t>ret</a:t>
            </a:r>
            <a:r>
              <a:rPr lang="he-IL" dirty="0"/>
              <a:t> מבוצעת , תוכן מצביע המחסנית יהיה על כתובת החזרה שממנה קפצנו לביצוע הפונקציה </a:t>
            </a:r>
          </a:p>
          <a:p>
            <a:r>
              <a:rPr lang="he-IL" dirty="0"/>
              <a:t>לכן לאחר ביצוע </a:t>
            </a:r>
            <a:r>
              <a:rPr lang="en-US" dirty="0"/>
              <a:t>ret</a:t>
            </a:r>
            <a:r>
              <a:rPr lang="he-IL" dirty="0"/>
              <a:t> נקבל :</a:t>
            </a:r>
            <a:r>
              <a:rPr lang="en-US" dirty="0"/>
              <a:t> </a:t>
            </a:r>
            <a:endParaRPr lang="he-IL" dirty="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44</a:t>
            </a:fld>
            <a:endParaRPr lang="he-IL"/>
          </a:p>
        </p:txBody>
      </p:sp>
      <p:pic>
        <p:nvPicPr>
          <p:cNvPr id="6" name="תמונה 5"/>
          <p:cNvPicPr>
            <a:picLocks noChangeAspect="1"/>
          </p:cNvPicPr>
          <p:nvPr/>
        </p:nvPicPr>
        <p:blipFill>
          <a:blip r:embed="rId2"/>
          <a:stretch>
            <a:fillRect/>
          </a:stretch>
        </p:blipFill>
        <p:spPr>
          <a:xfrm>
            <a:off x="1766331" y="4808919"/>
            <a:ext cx="5239481" cy="1066949"/>
          </a:xfrm>
          <a:prstGeom prst="rect">
            <a:avLst/>
          </a:prstGeom>
        </p:spPr>
      </p:pic>
    </p:spTree>
    <p:extLst>
      <p:ext uri="{BB962C8B-B14F-4D97-AF65-F5344CB8AC3E}">
        <p14:creationId xmlns:p14="http://schemas.microsoft.com/office/powerpoint/2010/main" val="3325881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down)">
                                      <p:cBhvr>
                                        <p:cTn id="25" dur="580">
                                          <p:stCondLst>
                                            <p:cond delay="0"/>
                                          </p:stCondLst>
                                        </p:cTn>
                                        <p:tgtEl>
                                          <p:spTgt spid="6"/>
                                        </p:tgtEl>
                                      </p:cBhvr>
                                    </p:animEffect>
                                    <p:anim calcmode="lin" valueType="num">
                                      <p:cBhvr>
                                        <p:cTn id="26"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31" dur="26">
                                          <p:stCondLst>
                                            <p:cond delay="650"/>
                                          </p:stCondLst>
                                        </p:cTn>
                                        <p:tgtEl>
                                          <p:spTgt spid="6"/>
                                        </p:tgtEl>
                                      </p:cBhvr>
                                      <p:to x="100000" y="60000"/>
                                    </p:animScale>
                                    <p:animScale>
                                      <p:cBhvr>
                                        <p:cTn id="32" dur="166" decel="50000">
                                          <p:stCondLst>
                                            <p:cond delay="676"/>
                                          </p:stCondLst>
                                        </p:cTn>
                                        <p:tgtEl>
                                          <p:spTgt spid="6"/>
                                        </p:tgtEl>
                                      </p:cBhvr>
                                      <p:to x="100000" y="100000"/>
                                    </p:animScale>
                                    <p:animScale>
                                      <p:cBhvr>
                                        <p:cTn id="33" dur="26">
                                          <p:stCondLst>
                                            <p:cond delay="1312"/>
                                          </p:stCondLst>
                                        </p:cTn>
                                        <p:tgtEl>
                                          <p:spTgt spid="6"/>
                                        </p:tgtEl>
                                      </p:cBhvr>
                                      <p:to x="100000" y="80000"/>
                                    </p:animScale>
                                    <p:animScale>
                                      <p:cBhvr>
                                        <p:cTn id="34" dur="166" decel="50000">
                                          <p:stCondLst>
                                            <p:cond delay="1338"/>
                                          </p:stCondLst>
                                        </p:cTn>
                                        <p:tgtEl>
                                          <p:spTgt spid="6"/>
                                        </p:tgtEl>
                                      </p:cBhvr>
                                      <p:to x="100000" y="100000"/>
                                    </p:animScale>
                                    <p:animScale>
                                      <p:cBhvr>
                                        <p:cTn id="35" dur="26">
                                          <p:stCondLst>
                                            <p:cond delay="1642"/>
                                          </p:stCondLst>
                                        </p:cTn>
                                        <p:tgtEl>
                                          <p:spTgt spid="6"/>
                                        </p:tgtEl>
                                      </p:cBhvr>
                                      <p:to x="100000" y="90000"/>
                                    </p:animScale>
                                    <p:animScale>
                                      <p:cBhvr>
                                        <p:cTn id="36" dur="166" decel="50000">
                                          <p:stCondLst>
                                            <p:cond delay="1668"/>
                                          </p:stCondLst>
                                        </p:cTn>
                                        <p:tgtEl>
                                          <p:spTgt spid="6"/>
                                        </p:tgtEl>
                                      </p:cBhvr>
                                      <p:to x="100000" y="100000"/>
                                    </p:animScale>
                                    <p:animScale>
                                      <p:cBhvr>
                                        <p:cTn id="37" dur="26">
                                          <p:stCondLst>
                                            <p:cond delay="1808"/>
                                          </p:stCondLst>
                                        </p:cTn>
                                        <p:tgtEl>
                                          <p:spTgt spid="6"/>
                                        </p:tgtEl>
                                      </p:cBhvr>
                                      <p:to x="100000" y="95000"/>
                                    </p:animScale>
                                    <p:animScale>
                                      <p:cBhvr>
                                        <p:cTn id="38" dur="166" decel="50000">
                                          <p:stCondLst>
                                            <p:cond delay="1834"/>
                                          </p:stCondLst>
                                        </p:cTn>
                                        <p:tgtEl>
                                          <p:spTgt spid="6"/>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Call_return_demo.asm</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45</a:t>
            </a:fld>
            <a:endParaRPr lang="he-IL"/>
          </a:p>
        </p:txBody>
      </p:sp>
      <p:pic>
        <p:nvPicPr>
          <p:cNvPr id="9" name="תמונה 8"/>
          <p:cNvPicPr>
            <a:picLocks noChangeAspect="1"/>
          </p:cNvPicPr>
          <p:nvPr/>
        </p:nvPicPr>
        <p:blipFill>
          <a:blip r:embed="rId2"/>
          <a:stretch>
            <a:fillRect/>
          </a:stretch>
        </p:blipFill>
        <p:spPr>
          <a:xfrm>
            <a:off x="5398008" y="2587753"/>
            <a:ext cx="4057191" cy="3660648"/>
          </a:xfrm>
          <a:prstGeom prst="rect">
            <a:avLst/>
          </a:prstGeom>
        </p:spPr>
      </p:pic>
      <p:sp>
        <p:nvSpPr>
          <p:cNvPr id="6" name="מציין מיקום תוכן 5">
            <a:extLst>
              <a:ext uri="{FF2B5EF4-FFF2-40B4-BE49-F238E27FC236}">
                <a16:creationId xmlns:a16="http://schemas.microsoft.com/office/drawing/2014/main" id="{DB29F6A5-B07A-6723-25B9-64B5281C9E55}"/>
              </a:ext>
            </a:extLst>
          </p:cNvPr>
          <p:cNvSpPr>
            <a:spLocks noGrp="1"/>
          </p:cNvSpPr>
          <p:nvPr>
            <p:ph idx="1"/>
          </p:nvPr>
        </p:nvSpPr>
        <p:spPr/>
        <p:txBody>
          <a:bodyPr/>
          <a:lstStyle/>
          <a:p>
            <a:endParaRPr lang="he-IL" dirty="0"/>
          </a:p>
        </p:txBody>
      </p:sp>
      <p:pic>
        <p:nvPicPr>
          <p:cNvPr id="10" name="תמונה 9">
            <a:extLst>
              <a:ext uri="{FF2B5EF4-FFF2-40B4-BE49-F238E27FC236}">
                <a16:creationId xmlns:a16="http://schemas.microsoft.com/office/drawing/2014/main" id="{2958A121-B04F-4EC7-67EB-A5FCC62C4A14}"/>
              </a:ext>
            </a:extLst>
          </p:cNvPr>
          <p:cNvPicPr>
            <a:picLocks noChangeAspect="1"/>
          </p:cNvPicPr>
          <p:nvPr/>
        </p:nvPicPr>
        <p:blipFill>
          <a:blip r:embed="rId3"/>
          <a:stretch>
            <a:fillRect/>
          </a:stretch>
        </p:blipFill>
        <p:spPr>
          <a:xfrm>
            <a:off x="1253662" y="2491016"/>
            <a:ext cx="4057190" cy="3661682"/>
          </a:xfrm>
          <a:prstGeom prst="rect">
            <a:avLst/>
          </a:prstGeom>
        </p:spPr>
      </p:pic>
    </p:spTree>
    <p:extLst>
      <p:ext uri="{BB962C8B-B14F-4D97-AF65-F5344CB8AC3E}">
        <p14:creationId xmlns:p14="http://schemas.microsoft.com/office/powerpoint/2010/main" val="24997245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אופן פעולת התכנית </a:t>
            </a:r>
          </a:p>
        </p:txBody>
      </p:sp>
      <p:sp>
        <p:nvSpPr>
          <p:cNvPr id="3" name="מציין מיקום תוכן 2"/>
          <p:cNvSpPr>
            <a:spLocks noGrp="1"/>
          </p:cNvSpPr>
          <p:nvPr>
            <p:ph idx="1"/>
          </p:nvPr>
        </p:nvSpPr>
        <p:spPr/>
        <p:txBody>
          <a:bodyPr/>
          <a:lstStyle/>
          <a:p>
            <a:r>
              <a:rPr lang="he-IL" dirty="0"/>
              <a:t>התכנית עובדת עם 4 </a:t>
            </a:r>
            <a:r>
              <a:rPr lang="he-IL" dirty="0" err="1"/>
              <a:t>מאקרוס</a:t>
            </a:r>
            <a:r>
              <a:rPr lang="he-IL" dirty="0"/>
              <a:t>: </a:t>
            </a:r>
          </a:p>
          <a:p>
            <a:r>
              <a:rPr lang="he-IL" dirty="0"/>
              <a:t>1. </a:t>
            </a:r>
            <a:r>
              <a:rPr lang="en-US" dirty="0"/>
              <a:t>PUSH </a:t>
            </a:r>
            <a:r>
              <a:rPr lang="he-IL" dirty="0"/>
              <a:t> אשר מפחית את מצביע המחסנית ב 8 כתובות ודוחף לכתובת החדשה אשר מצביע המחסנית מצביע עליו  נתון חדש. </a:t>
            </a:r>
          </a:p>
          <a:p>
            <a:r>
              <a:rPr lang="he-IL" dirty="0"/>
              <a:t>2. </a:t>
            </a:r>
            <a:r>
              <a:rPr lang="en-US" dirty="0"/>
              <a:t>POP</a:t>
            </a:r>
            <a:r>
              <a:rPr lang="he-IL" dirty="0"/>
              <a:t>  - אשר שולף את הנתון מראש המחסנית ולאחר מכן מעלה את מצביע המחסנית </a:t>
            </a:r>
            <a:r>
              <a:rPr lang="en-US" dirty="0"/>
              <a:t>RSP</a:t>
            </a:r>
            <a:r>
              <a:rPr lang="he-IL" dirty="0"/>
              <a:t> ב 8 </a:t>
            </a:r>
          </a:p>
          <a:p>
            <a:r>
              <a:rPr lang="he-IL" dirty="0"/>
              <a:t>3. </a:t>
            </a:r>
            <a:r>
              <a:rPr lang="en-US" dirty="0"/>
              <a:t>CALL</a:t>
            </a:r>
            <a:r>
              <a:rPr lang="he-IL" dirty="0"/>
              <a:t> מאקרו אשר מדמה פעולת</a:t>
            </a:r>
            <a:r>
              <a:rPr lang="en-US" dirty="0"/>
              <a:t>  </a:t>
            </a:r>
            <a:r>
              <a:rPr lang="he-IL" dirty="0"/>
              <a:t>קריאה לפונקציה עם הבדלים ניכרים בהשוואה לקריאה </a:t>
            </a:r>
            <a:r>
              <a:rPr lang="he-IL" dirty="0" err="1"/>
              <a:t>אמיתית</a:t>
            </a:r>
            <a:r>
              <a:rPr lang="he-IL" dirty="0"/>
              <a:t>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46</a:t>
            </a:fld>
            <a:endParaRPr lang="he-IL"/>
          </a:p>
        </p:txBody>
      </p:sp>
    </p:spTree>
    <p:extLst>
      <p:ext uri="{BB962C8B-B14F-4D97-AF65-F5344CB8AC3E}">
        <p14:creationId xmlns:p14="http://schemas.microsoft.com/office/powerpoint/2010/main" val="36266821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אופן פעולת התכנית </a:t>
            </a:r>
          </a:p>
        </p:txBody>
      </p:sp>
      <p:sp>
        <p:nvSpPr>
          <p:cNvPr id="3" name="מציין מיקום תוכן 2"/>
          <p:cNvSpPr>
            <a:spLocks noGrp="1"/>
          </p:cNvSpPr>
          <p:nvPr>
            <p:ph idx="1"/>
          </p:nvPr>
        </p:nvSpPr>
        <p:spPr/>
        <p:txBody>
          <a:bodyPr>
            <a:normAutofit fontScale="92500" lnSpcReduction="10000"/>
          </a:bodyPr>
          <a:lstStyle/>
          <a:p>
            <a:r>
              <a:rPr lang="he-IL" dirty="0"/>
              <a:t>ננתח את אופן הפעולה של המאקרו </a:t>
            </a:r>
            <a:r>
              <a:rPr lang="en-US" dirty="0"/>
              <a:t>CALL</a:t>
            </a:r>
            <a:r>
              <a:rPr lang="he-IL" dirty="0"/>
              <a:t>  : </a:t>
            </a:r>
          </a:p>
          <a:p>
            <a:r>
              <a:rPr lang="he-IL" dirty="0"/>
              <a:t>פקודה ראשונה :</a:t>
            </a:r>
            <a:r>
              <a:rPr lang="en-US" dirty="0"/>
              <a:t> lea </a:t>
            </a:r>
            <a:r>
              <a:rPr lang="en-US" dirty="0" err="1"/>
              <a:t>rax</a:t>
            </a:r>
            <a:r>
              <a:rPr lang="en-US" dirty="0"/>
              <a:t>, [</a:t>
            </a:r>
            <a:r>
              <a:rPr lang="en-US" dirty="0" err="1"/>
              <a:t>rel</a:t>
            </a:r>
            <a:r>
              <a:rPr lang="en-US" dirty="0"/>
              <a:t> %%L]</a:t>
            </a:r>
            <a:r>
              <a:rPr lang="he-IL" dirty="0"/>
              <a:t>גורמת ל </a:t>
            </a:r>
            <a:r>
              <a:rPr lang="en-US" dirty="0"/>
              <a:t>NASM</a:t>
            </a:r>
            <a:r>
              <a:rPr lang="he-IL" dirty="0"/>
              <a:t> להרחיב את </a:t>
            </a:r>
            <a:r>
              <a:rPr lang="en-US" dirty="0"/>
              <a:t>%% L</a:t>
            </a:r>
            <a:r>
              <a:rPr lang="he-IL" dirty="0"/>
              <a:t> לכתובת </a:t>
            </a:r>
            <a:r>
              <a:rPr lang="he-IL" dirty="0" err="1"/>
              <a:t>יחודית</a:t>
            </a:r>
            <a:r>
              <a:rPr lang="he-IL" dirty="0"/>
              <a:t> בכל פעם אשר מתבצעת כתיבה של מאקרו זה. </a:t>
            </a:r>
          </a:p>
          <a:p>
            <a:r>
              <a:rPr lang="he-IL" dirty="0"/>
              <a:t>הביטוי </a:t>
            </a:r>
            <a:r>
              <a:rPr lang="en-US" dirty="0"/>
              <a:t>%%L</a:t>
            </a:r>
            <a:r>
              <a:rPr lang="he-IL" dirty="0"/>
              <a:t> משמש לחישוב כתובת חזרה </a:t>
            </a:r>
            <a:r>
              <a:rPr lang="he-IL" dirty="0" err="1"/>
              <a:t>יחודית</a:t>
            </a:r>
            <a:r>
              <a:rPr lang="he-IL" dirty="0"/>
              <a:t> כך שכתובת החזרה מאוחסנת ב </a:t>
            </a:r>
            <a:r>
              <a:rPr lang="en-US" dirty="0"/>
              <a:t>RAX </a:t>
            </a:r>
            <a:r>
              <a:rPr lang="he-IL" dirty="0"/>
              <a:t> ולכן </a:t>
            </a:r>
            <a:r>
              <a:rPr lang="en-US" dirty="0"/>
              <a:t>PUSH RAX</a:t>
            </a:r>
            <a:r>
              <a:rPr lang="he-IL" dirty="0"/>
              <a:t> שומרת את כתובת החזרה ב </a:t>
            </a:r>
            <a:r>
              <a:rPr lang="en-US" dirty="0"/>
              <a:t>RAX</a:t>
            </a:r>
            <a:r>
              <a:rPr lang="he-IL" dirty="0"/>
              <a:t> </a:t>
            </a:r>
          </a:p>
          <a:p>
            <a:r>
              <a:rPr lang="he-IL" dirty="0"/>
              <a:t>הפקודה </a:t>
            </a:r>
            <a:r>
              <a:rPr lang="en-US" dirty="0" err="1"/>
              <a:t>jmp</a:t>
            </a:r>
            <a:r>
              <a:rPr lang="en-US" dirty="0"/>
              <a:t> %1</a:t>
            </a:r>
            <a:r>
              <a:rPr lang="he-IL" dirty="0"/>
              <a:t> קופצת אל השורה שבה קיימת פקודה שרוצים להפעיל – במקרה שלנו </a:t>
            </a:r>
            <a:r>
              <a:rPr lang="en-US" dirty="0" err="1"/>
              <a:t>printf</a:t>
            </a:r>
            <a:r>
              <a:rPr lang="he-IL" dirty="0"/>
              <a:t> </a:t>
            </a:r>
          </a:p>
          <a:p>
            <a:r>
              <a:rPr lang="en-US" dirty="0"/>
              <a:t>%%L</a:t>
            </a:r>
            <a:r>
              <a:rPr lang="he-IL" dirty="0"/>
              <a:t> – מגדירה את התווית שאליה חוזרים</a:t>
            </a:r>
          </a:p>
          <a:p>
            <a:r>
              <a:rPr lang="he-IL" dirty="0"/>
              <a:t>זהו מאקרו חכם אשר יוצר בכל פעם תווית ייחודית לקפיצה תוך שימוש ב </a:t>
            </a:r>
            <a:r>
              <a:rPr lang="en-US" dirty="0" err="1"/>
              <a:t>jmp</a:t>
            </a:r>
            <a:endParaRPr lang="he-IL" dirty="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47</a:t>
            </a:fld>
            <a:endParaRPr lang="he-IL"/>
          </a:p>
        </p:txBody>
      </p:sp>
    </p:spTree>
    <p:extLst>
      <p:ext uri="{BB962C8B-B14F-4D97-AF65-F5344CB8AC3E}">
        <p14:creationId xmlns:p14="http://schemas.microsoft.com/office/powerpoint/2010/main" val="17544413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אופן פעולת התכנית </a:t>
            </a:r>
          </a:p>
        </p:txBody>
      </p:sp>
      <p:sp>
        <p:nvSpPr>
          <p:cNvPr id="3" name="מציין מיקום תוכן 2"/>
          <p:cNvSpPr>
            <a:spLocks noGrp="1"/>
          </p:cNvSpPr>
          <p:nvPr>
            <p:ph idx="1"/>
          </p:nvPr>
        </p:nvSpPr>
        <p:spPr/>
        <p:txBody>
          <a:bodyPr>
            <a:normAutofit fontScale="85000" lnSpcReduction="20000"/>
          </a:bodyPr>
          <a:lstStyle/>
          <a:p>
            <a:r>
              <a:rPr lang="he-IL" dirty="0"/>
              <a:t>המאקרו האחרון </a:t>
            </a:r>
            <a:r>
              <a:rPr lang="en-US" dirty="0"/>
              <a:t>RETURN</a:t>
            </a:r>
            <a:r>
              <a:rPr lang="he-IL" dirty="0"/>
              <a:t> שולף מתוך המחסנית את כתובת החזרה אל תוך </a:t>
            </a:r>
            <a:r>
              <a:rPr lang="en-US" dirty="0"/>
              <a:t>RAX</a:t>
            </a:r>
            <a:r>
              <a:rPr lang="he-IL" dirty="0"/>
              <a:t> </a:t>
            </a:r>
          </a:p>
          <a:p>
            <a:r>
              <a:rPr lang="he-IL" dirty="0"/>
              <a:t>ההדפסה הראשונה מתבצעת כך :</a:t>
            </a:r>
            <a:r>
              <a:rPr lang="en-US" dirty="0"/>
              <a:t> </a:t>
            </a:r>
            <a:r>
              <a:rPr lang="en-US" dirty="0" err="1"/>
              <a:t>mov</a:t>
            </a:r>
            <a:r>
              <a:rPr lang="en-US" dirty="0"/>
              <a:t> </a:t>
            </a:r>
            <a:r>
              <a:rPr lang="en-US" dirty="0" err="1"/>
              <a:t>rdi</a:t>
            </a:r>
            <a:r>
              <a:rPr lang="en-US" dirty="0"/>
              <a:t>, message </a:t>
            </a:r>
            <a:r>
              <a:rPr lang="he-IL" dirty="0"/>
              <a:t> כלומר גורמים ל </a:t>
            </a:r>
            <a:r>
              <a:rPr lang="en-US" dirty="0" err="1"/>
              <a:t>rdi</a:t>
            </a:r>
            <a:r>
              <a:rPr lang="he-IL" dirty="0"/>
              <a:t> להצביע על המחרוזת </a:t>
            </a:r>
            <a:r>
              <a:rPr lang="en-US" dirty="0"/>
              <a:t>Hello World</a:t>
            </a:r>
            <a:r>
              <a:rPr lang="he-IL" dirty="0"/>
              <a:t> </a:t>
            </a:r>
          </a:p>
          <a:p>
            <a:r>
              <a:rPr lang="he-IL" dirty="0"/>
              <a:t>הפקודה </a:t>
            </a:r>
            <a:r>
              <a:rPr lang="en-US" dirty="0"/>
              <a:t>CALL </a:t>
            </a:r>
            <a:r>
              <a:rPr lang="en-US" dirty="0" err="1"/>
              <a:t>printf</a:t>
            </a:r>
            <a:r>
              <a:rPr lang="en-US" dirty="0"/>
              <a:t> </a:t>
            </a:r>
            <a:r>
              <a:rPr lang="he-IL" dirty="0"/>
              <a:t> מפורשת לרצף של פקודות :</a:t>
            </a:r>
            <a:r>
              <a:rPr lang="en-US" dirty="0"/>
              <a:t> </a:t>
            </a:r>
            <a:endParaRPr lang="he-IL" dirty="0"/>
          </a:p>
          <a:p>
            <a:pPr algn="l" rtl="0"/>
            <a:r>
              <a:rPr lang="en-US" b="1" dirty="0"/>
              <a:t>lea </a:t>
            </a:r>
            <a:r>
              <a:rPr lang="en-US" b="1" dirty="0" err="1"/>
              <a:t>rax</a:t>
            </a:r>
            <a:r>
              <a:rPr lang="en-US" b="1" dirty="0"/>
              <a:t>, [</a:t>
            </a:r>
            <a:r>
              <a:rPr lang="en-US" b="1" dirty="0" err="1"/>
              <a:t>return_label</a:t>
            </a:r>
            <a:r>
              <a:rPr lang="en-US" b="1" dirty="0"/>
              <a:t>]</a:t>
            </a:r>
          </a:p>
          <a:p>
            <a:pPr algn="l" rtl="0"/>
            <a:r>
              <a:rPr lang="en-US" b="1" dirty="0"/>
              <a:t>sub </a:t>
            </a:r>
            <a:r>
              <a:rPr lang="en-US" b="1" dirty="0" err="1"/>
              <a:t>rsp</a:t>
            </a:r>
            <a:r>
              <a:rPr lang="en-US" b="1" dirty="0"/>
              <a:t>, 8</a:t>
            </a:r>
          </a:p>
          <a:p>
            <a:pPr algn="l" rtl="0"/>
            <a:r>
              <a:rPr lang="en-US" b="1" dirty="0" err="1"/>
              <a:t>mov</a:t>
            </a:r>
            <a:r>
              <a:rPr lang="en-US" b="1" dirty="0"/>
              <a:t> [</a:t>
            </a:r>
            <a:r>
              <a:rPr lang="en-US" b="1" dirty="0" err="1"/>
              <a:t>rsp</a:t>
            </a:r>
            <a:r>
              <a:rPr lang="en-US" b="1" dirty="0"/>
              <a:t>], </a:t>
            </a:r>
            <a:r>
              <a:rPr lang="en-US" b="1" dirty="0" err="1"/>
              <a:t>rax</a:t>
            </a:r>
            <a:endParaRPr lang="en-US" b="1" dirty="0"/>
          </a:p>
          <a:p>
            <a:pPr algn="l" rtl="0"/>
            <a:r>
              <a:rPr lang="en-US" b="1" dirty="0" err="1"/>
              <a:t>jmp</a:t>
            </a:r>
            <a:r>
              <a:rPr lang="en-US" b="1" dirty="0"/>
              <a:t> </a:t>
            </a:r>
            <a:r>
              <a:rPr lang="en-US" b="1" dirty="0" err="1"/>
              <a:t>printf</a:t>
            </a:r>
            <a:endParaRPr lang="en-US" b="1" dirty="0"/>
          </a:p>
          <a:p>
            <a:pPr algn="l" rtl="0"/>
            <a:r>
              <a:rPr lang="en-US" b="1" dirty="0" err="1"/>
              <a:t>return_label</a:t>
            </a:r>
            <a:r>
              <a:rPr lang="en-US" b="1" dirty="0"/>
              <a:t>:</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48</a:t>
            </a:fld>
            <a:endParaRPr lang="he-IL"/>
          </a:p>
        </p:txBody>
      </p:sp>
    </p:spTree>
    <p:extLst>
      <p:ext uri="{BB962C8B-B14F-4D97-AF65-F5344CB8AC3E}">
        <p14:creationId xmlns:p14="http://schemas.microsoft.com/office/powerpoint/2010/main" val="38562311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אופן פעולת התכנית </a:t>
            </a:r>
          </a:p>
        </p:txBody>
      </p:sp>
      <p:sp>
        <p:nvSpPr>
          <p:cNvPr id="3" name="מציין מיקום תוכן 2"/>
          <p:cNvSpPr>
            <a:spLocks noGrp="1"/>
          </p:cNvSpPr>
          <p:nvPr>
            <p:ph idx="1"/>
          </p:nvPr>
        </p:nvSpPr>
        <p:spPr/>
        <p:txBody>
          <a:bodyPr/>
          <a:lstStyle/>
          <a:p>
            <a:r>
              <a:rPr lang="he-IL" dirty="0"/>
              <a:t>מסקנה – כתובת החזרה נדחפת למחסנית </a:t>
            </a:r>
          </a:p>
          <a:p>
            <a:r>
              <a:rPr lang="he-IL" dirty="0"/>
              <a:t>לאחר מכן קופצים לביצוע הפקודה </a:t>
            </a:r>
            <a:r>
              <a:rPr lang="en-US" dirty="0" err="1"/>
              <a:t>printf</a:t>
            </a:r>
            <a:r>
              <a:rPr lang="he-IL" dirty="0"/>
              <a:t> </a:t>
            </a:r>
          </a:p>
          <a:p>
            <a:r>
              <a:rPr lang="he-IL" dirty="0"/>
              <a:t>הפקודה </a:t>
            </a:r>
            <a:r>
              <a:rPr lang="en-US" dirty="0" err="1"/>
              <a:t>printf</a:t>
            </a:r>
            <a:r>
              <a:rPr lang="he-IL" dirty="0"/>
              <a:t> מדפיסה את המחרוזת </a:t>
            </a:r>
          </a:p>
          <a:p>
            <a:r>
              <a:rPr lang="he-IL" dirty="0"/>
              <a:t>מאקרו </a:t>
            </a:r>
            <a:r>
              <a:rPr lang="en-US" dirty="0"/>
              <a:t>RETURN </a:t>
            </a:r>
            <a:r>
              <a:rPr lang="he-IL" dirty="0"/>
              <a:t> מחזיר אותנו אל הפונקציה הראשית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49</a:t>
            </a:fld>
            <a:endParaRPr lang="he-IL"/>
          </a:p>
        </p:txBody>
      </p:sp>
    </p:spTree>
    <p:extLst>
      <p:ext uri="{BB962C8B-B14F-4D97-AF65-F5344CB8AC3E}">
        <p14:creationId xmlns:p14="http://schemas.microsoft.com/office/powerpoint/2010/main" val="61589300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err="1"/>
              <a:t>קמפול</a:t>
            </a:r>
            <a:r>
              <a:rPr lang="he-IL" dirty="0"/>
              <a:t>, הרצה </a:t>
            </a:r>
            <a:r>
              <a:rPr lang="he-IL" dirty="0" err="1"/>
              <a:t>ודיבוג</a:t>
            </a:r>
            <a:r>
              <a:rPr lang="he-IL" dirty="0"/>
              <a:t>  התכנית</a:t>
            </a:r>
          </a:p>
        </p:txBody>
      </p:sp>
      <p:sp>
        <p:nvSpPr>
          <p:cNvPr id="3" name="מציין מיקום תוכן 2"/>
          <p:cNvSpPr>
            <a:spLocks noGrp="1"/>
          </p:cNvSpPr>
          <p:nvPr>
            <p:ph idx="1"/>
          </p:nvPr>
        </p:nvSpPr>
        <p:spPr/>
        <p:txBody>
          <a:bodyPr/>
          <a:lstStyle/>
          <a:p>
            <a:r>
              <a:rPr lang="he-IL" dirty="0"/>
              <a:t>:</a:t>
            </a:r>
            <a:r>
              <a:rPr lang="en-US" dirty="0"/>
              <a:t> </a:t>
            </a:r>
            <a:endParaRPr lang="he-IL" dirty="0"/>
          </a:p>
          <a:p>
            <a:pPr algn="l" rtl="0"/>
            <a:r>
              <a:rPr lang="en-US" dirty="0"/>
              <a:t>nasm -f elf64 call_return_demo.asm -o </a:t>
            </a:r>
            <a:r>
              <a:rPr lang="en-US" dirty="0" err="1"/>
              <a:t>call_return_demo.o</a:t>
            </a:r>
            <a:r>
              <a:rPr lang="en-US" dirty="0"/>
              <a:t> </a:t>
            </a:r>
          </a:p>
          <a:p>
            <a:pPr algn="l" rtl="0"/>
            <a:r>
              <a:rPr lang="en-US" dirty="0"/>
              <a:t>gcc -no-pie </a:t>
            </a:r>
            <a:r>
              <a:rPr lang="en-US" dirty="0" err="1"/>
              <a:t>call_return_demo.o</a:t>
            </a:r>
            <a:r>
              <a:rPr lang="en-US" dirty="0"/>
              <a:t> -o </a:t>
            </a:r>
            <a:r>
              <a:rPr lang="en-US" dirty="0" err="1"/>
              <a:t>call_return_demo</a:t>
            </a:r>
            <a:endParaRPr lang="en-US" dirty="0"/>
          </a:p>
          <a:p>
            <a:pPr algn="l" rtl="0"/>
            <a:r>
              <a:rPr lang="en-US" dirty="0"/>
              <a:t>./</a:t>
            </a:r>
            <a:r>
              <a:rPr lang="en-US" dirty="0" err="1"/>
              <a:t>call_return_demo</a:t>
            </a:r>
            <a:endParaRPr lang="he-IL"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50</a:t>
            </a:fld>
            <a:endParaRPr lang="he-IL"/>
          </a:p>
        </p:txBody>
      </p:sp>
    </p:spTree>
    <p:extLst>
      <p:ext uri="{BB962C8B-B14F-4D97-AF65-F5344CB8AC3E}">
        <p14:creationId xmlns:p14="http://schemas.microsoft.com/office/powerpoint/2010/main" val="2992362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תכנית רקורסיבית לחישוב עצרת </a:t>
            </a:r>
          </a:p>
        </p:txBody>
      </p:sp>
      <p:sp>
        <p:nvSpPr>
          <p:cNvPr id="3" name="מציין מיקום תוכן 2"/>
          <p:cNvSpPr>
            <a:spLocks noGrp="1"/>
          </p:cNvSpPr>
          <p:nvPr>
            <p:ph idx="1"/>
          </p:nvPr>
        </p:nvSpPr>
        <p:spPr/>
        <p:txBody>
          <a:bodyPr/>
          <a:lstStyle/>
          <a:p>
            <a:r>
              <a:rPr lang="he-IL" dirty="0"/>
              <a:t>התכנית שנראה מחשבת את הערך של </a:t>
            </a:r>
            <a:r>
              <a:rPr lang="en-US" dirty="0"/>
              <a:t>5!</a:t>
            </a:r>
            <a:r>
              <a:rPr lang="he-IL" dirty="0"/>
              <a:t> תוך שימוש ברקורסיה.</a:t>
            </a:r>
          </a:p>
          <a:p>
            <a:r>
              <a:rPr lang="he-IL" dirty="0"/>
              <a:t>שם הקובץ </a:t>
            </a:r>
            <a:r>
              <a:rPr lang="en-US" dirty="0"/>
              <a:t>fact_recursive_demo.asm</a:t>
            </a:r>
            <a:endParaRPr lang="he-IL" dirty="0"/>
          </a:p>
          <a:p>
            <a:r>
              <a:rPr lang="he-IL" dirty="0"/>
              <a:t>כידוע,</a:t>
            </a:r>
            <a:r>
              <a:rPr lang="en-US" dirty="0"/>
              <a:t> N!=</a:t>
            </a:r>
            <a:r>
              <a:rPr lang="en-US" dirty="0" err="1"/>
              <a:t>Nx</a:t>
            </a:r>
            <a:r>
              <a:rPr lang="en-US" dirty="0"/>
              <a:t>(N-1)!   </a:t>
            </a:r>
            <a:r>
              <a:rPr lang="he-IL" dirty="0"/>
              <a:t>   ולכן זו הנוסחה של הורדת סדר כנהוג ברקורסיה</a:t>
            </a:r>
          </a:p>
          <a:p>
            <a:r>
              <a:rPr lang="he-IL" dirty="0"/>
              <a:t>תנאי העצירה : </a:t>
            </a:r>
            <a:r>
              <a:rPr lang="en-US" dirty="0"/>
              <a:t>0!=1</a:t>
            </a:r>
            <a:r>
              <a:rPr lang="he-IL" dirty="0"/>
              <a:t> או</a:t>
            </a:r>
            <a:r>
              <a:rPr lang="en-US" dirty="0"/>
              <a:t>   1!=1 </a:t>
            </a:r>
            <a:r>
              <a:rPr lang="he-IL" dirty="0"/>
              <a:t>במקרה שלנו בחרנו ב 1 כתנאי עצירה.</a:t>
            </a:r>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51</a:t>
            </a:fld>
            <a:endParaRPr lang="he-IL" dirty="0"/>
          </a:p>
        </p:txBody>
      </p:sp>
    </p:spTree>
    <p:extLst>
      <p:ext uri="{BB962C8B-B14F-4D97-AF65-F5344CB8AC3E}">
        <p14:creationId xmlns:p14="http://schemas.microsoft.com/office/powerpoint/2010/main" val="28423976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מבנה התכנית </a:t>
            </a:r>
          </a:p>
        </p:txBody>
      </p:sp>
      <p:sp>
        <p:nvSpPr>
          <p:cNvPr id="3" name="מציין מיקום תוכן 2"/>
          <p:cNvSpPr>
            <a:spLocks noGrp="1"/>
          </p:cNvSpPr>
          <p:nvPr>
            <p:ph idx="1"/>
          </p:nvPr>
        </p:nvSpPr>
        <p:spPr/>
        <p:txBody>
          <a:bodyPr/>
          <a:lstStyle/>
          <a:p>
            <a:r>
              <a:rPr lang="he-IL" dirty="0"/>
              <a:t>התכנית בנויה באופן הבא :</a:t>
            </a:r>
            <a:r>
              <a:rPr lang="en-US" dirty="0"/>
              <a:t> </a:t>
            </a:r>
            <a:endParaRPr lang="he-IL" dirty="0"/>
          </a:p>
          <a:p>
            <a:r>
              <a:rPr lang="he-IL" dirty="0"/>
              <a:t>1. החלק הראשון מכיל הגדרות מאקרו עבור </a:t>
            </a:r>
            <a:r>
              <a:rPr lang="en-US" dirty="0"/>
              <a:t>PUSH, POP , CALL , RETURN </a:t>
            </a:r>
          </a:p>
          <a:p>
            <a:r>
              <a:rPr lang="en-US" dirty="0"/>
              <a:t>2</a:t>
            </a:r>
            <a:r>
              <a:rPr lang="he-IL" dirty="0"/>
              <a:t>. פונקציה רקורסיבית </a:t>
            </a:r>
            <a:r>
              <a:rPr lang="en-US" dirty="0"/>
              <a:t>fact</a:t>
            </a:r>
            <a:r>
              <a:rPr lang="he-IL" dirty="0"/>
              <a:t> לחישוב העצרת</a:t>
            </a:r>
          </a:p>
          <a:p>
            <a:r>
              <a:rPr lang="he-IL" dirty="0"/>
              <a:t>3. פונקציה ראשית</a:t>
            </a:r>
            <a:r>
              <a:rPr lang="en-US" dirty="0"/>
              <a:t>main </a:t>
            </a:r>
            <a:r>
              <a:rPr lang="he-IL" dirty="0"/>
              <a:t> אשר מבצעת קריאה ל </a:t>
            </a:r>
            <a:r>
              <a:rPr lang="en-US" dirty="0"/>
              <a:t>fact</a:t>
            </a:r>
            <a:endParaRPr lang="he-IL" dirty="0"/>
          </a:p>
          <a:p>
            <a:r>
              <a:rPr lang="he-IL" dirty="0"/>
              <a:t>נתחיל לפרט בשקפים הבאים את כל החלקים</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52</a:t>
            </a:fld>
            <a:endParaRPr lang="he-IL"/>
          </a:p>
        </p:txBody>
      </p:sp>
    </p:spTree>
    <p:extLst>
      <p:ext uri="{BB962C8B-B14F-4D97-AF65-F5344CB8AC3E}">
        <p14:creationId xmlns:p14="http://schemas.microsoft.com/office/powerpoint/2010/main" val="16044609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err="1"/>
              <a:t>מאקרוס</a:t>
            </a:r>
            <a:r>
              <a:rPr lang="he-IL" dirty="0"/>
              <a:t> </a:t>
            </a:r>
          </a:p>
        </p:txBody>
      </p:sp>
      <p:sp>
        <p:nvSpPr>
          <p:cNvPr id="3" name="מציין מיקום תוכן 2"/>
          <p:cNvSpPr>
            <a:spLocks noGrp="1"/>
          </p:cNvSpPr>
          <p:nvPr>
            <p:ph idx="1"/>
          </p:nvPr>
        </p:nvSpPr>
        <p:spPr/>
        <p:txBody>
          <a:bodyPr/>
          <a:lstStyle/>
          <a:p>
            <a:pPr algn="l" rtl="0"/>
            <a:r>
              <a:rPr lang="en-US" dirty="0"/>
              <a:t>PUSH macro                                                          POP macro </a:t>
            </a:r>
          </a:p>
          <a:p>
            <a:pPr algn="l" rtl="0"/>
            <a:r>
              <a:rPr lang="en-US" b="1" dirty="0"/>
              <a:t>%macro PUSH 1                                                   %macro POP 1</a:t>
            </a:r>
          </a:p>
          <a:p>
            <a:pPr algn="l" rtl="0"/>
            <a:r>
              <a:rPr lang="en-US" b="1" dirty="0"/>
              <a:t>   sub </a:t>
            </a:r>
            <a:r>
              <a:rPr lang="en-US" b="1" dirty="0" err="1"/>
              <a:t>rsp</a:t>
            </a:r>
            <a:r>
              <a:rPr lang="en-US" b="1" dirty="0"/>
              <a:t>, 8                                                                 </a:t>
            </a:r>
            <a:r>
              <a:rPr lang="en-US" b="1" dirty="0" err="1"/>
              <a:t>mov</a:t>
            </a:r>
            <a:r>
              <a:rPr lang="en-US" b="1" dirty="0"/>
              <a:t> %1, qword [</a:t>
            </a:r>
            <a:r>
              <a:rPr lang="en-US" b="1" dirty="0" err="1"/>
              <a:t>rsp</a:t>
            </a:r>
            <a:r>
              <a:rPr lang="en-US" b="1" dirty="0"/>
              <a:t>]</a:t>
            </a:r>
          </a:p>
          <a:p>
            <a:pPr algn="l" rtl="0"/>
            <a:r>
              <a:rPr lang="en-US" b="1" dirty="0"/>
              <a:t>   </a:t>
            </a:r>
            <a:r>
              <a:rPr lang="en-US" b="1" dirty="0" err="1"/>
              <a:t>mov</a:t>
            </a:r>
            <a:r>
              <a:rPr lang="en-US" b="1" dirty="0"/>
              <a:t> qword [</a:t>
            </a:r>
            <a:r>
              <a:rPr lang="en-US" b="1" dirty="0" err="1"/>
              <a:t>rsp</a:t>
            </a:r>
            <a:r>
              <a:rPr lang="en-US" b="1" dirty="0"/>
              <a:t>], %1                                              add </a:t>
            </a:r>
            <a:r>
              <a:rPr lang="en-US" b="1" dirty="0" err="1"/>
              <a:t>rsp</a:t>
            </a:r>
            <a:r>
              <a:rPr lang="en-US" b="1" dirty="0"/>
              <a:t>, 8</a:t>
            </a:r>
          </a:p>
          <a:p>
            <a:pPr algn="l" rtl="0"/>
            <a:r>
              <a:rPr lang="en-US" b="1" dirty="0"/>
              <a:t>%</a:t>
            </a:r>
            <a:r>
              <a:rPr lang="en-US" b="1" dirty="0" err="1"/>
              <a:t>endmacro</a:t>
            </a:r>
            <a:r>
              <a:rPr lang="en-US" b="1" dirty="0"/>
              <a:t>                                                            %</a:t>
            </a:r>
            <a:r>
              <a:rPr lang="en-US" b="1" dirty="0" err="1"/>
              <a:t>endmacro</a:t>
            </a:r>
            <a:endParaRPr lang="en-US" b="1"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53</a:t>
            </a:fld>
            <a:endParaRPr lang="he-IL"/>
          </a:p>
        </p:txBody>
      </p:sp>
    </p:spTree>
    <p:extLst>
      <p:ext uri="{BB962C8B-B14F-4D97-AF65-F5344CB8AC3E}">
        <p14:creationId xmlns:p14="http://schemas.microsoft.com/office/powerpoint/2010/main" val="3792093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err="1"/>
              <a:t>מאקרוס</a:t>
            </a:r>
            <a:r>
              <a:rPr lang="he-IL" dirty="0"/>
              <a:t> המשך </a:t>
            </a:r>
          </a:p>
        </p:txBody>
      </p:sp>
      <p:sp>
        <p:nvSpPr>
          <p:cNvPr id="3" name="מציין מיקום תוכן 2"/>
          <p:cNvSpPr>
            <a:spLocks noGrp="1"/>
          </p:cNvSpPr>
          <p:nvPr>
            <p:ph idx="1"/>
          </p:nvPr>
        </p:nvSpPr>
        <p:spPr/>
        <p:txBody>
          <a:bodyPr/>
          <a:lstStyle/>
          <a:p>
            <a:pPr algn="l" rtl="0"/>
            <a:r>
              <a:rPr lang="en-US" dirty="0"/>
              <a:t>%macro CALL 1</a:t>
            </a:r>
          </a:p>
          <a:p>
            <a:pPr algn="l" rtl="0"/>
            <a:r>
              <a:rPr lang="en-US" dirty="0"/>
              <a:t>   lea  r11, [</a:t>
            </a:r>
            <a:r>
              <a:rPr lang="en-US" dirty="0" err="1"/>
              <a:t>rel</a:t>
            </a:r>
            <a:r>
              <a:rPr lang="en-US" dirty="0"/>
              <a:t> %%L]   ; r11 = return address</a:t>
            </a:r>
          </a:p>
          <a:p>
            <a:pPr algn="l" rtl="0"/>
            <a:r>
              <a:rPr lang="en-US" dirty="0"/>
              <a:t>   PUSH r11              ; push return address</a:t>
            </a:r>
          </a:p>
          <a:p>
            <a:pPr algn="l" rtl="0"/>
            <a:r>
              <a:rPr lang="en-US" dirty="0"/>
              <a:t>   </a:t>
            </a:r>
            <a:r>
              <a:rPr lang="en-US" dirty="0" err="1"/>
              <a:t>jmp</a:t>
            </a:r>
            <a:r>
              <a:rPr lang="en-US" dirty="0"/>
              <a:t> %1                ; jump to function</a:t>
            </a:r>
          </a:p>
          <a:p>
            <a:pPr algn="l" rtl="0"/>
            <a:r>
              <a:rPr lang="en-US" dirty="0"/>
              <a:t>%%L:</a:t>
            </a:r>
          </a:p>
          <a:p>
            <a:pPr algn="l" rtl="0"/>
            <a:r>
              <a:rPr lang="en-US" dirty="0"/>
              <a:t>%</a:t>
            </a:r>
            <a:r>
              <a:rPr lang="en-US" dirty="0" err="1"/>
              <a:t>endmacro</a:t>
            </a:r>
            <a:endParaRPr lang="en-US"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54</a:t>
            </a:fld>
            <a:endParaRPr lang="he-IL"/>
          </a:p>
        </p:txBody>
      </p:sp>
    </p:spTree>
    <p:extLst>
      <p:ext uri="{BB962C8B-B14F-4D97-AF65-F5344CB8AC3E}">
        <p14:creationId xmlns:p14="http://schemas.microsoft.com/office/powerpoint/2010/main" val="332989349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הסבר לגבי </a:t>
            </a:r>
            <a:r>
              <a:rPr lang="en-US" dirty="0"/>
              <a:t>CALL</a:t>
            </a:r>
            <a:endParaRPr lang="he-IL" dirty="0"/>
          </a:p>
        </p:txBody>
      </p:sp>
      <p:sp>
        <p:nvSpPr>
          <p:cNvPr id="3" name="מציין מיקום תוכן 2"/>
          <p:cNvSpPr>
            <a:spLocks noGrp="1"/>
          </p:cNvSpPr>
          <p:nvPr>
            <p:ph idx="1"/>
          </p:nvPr>
        </p:nvSpPr>
        <p:spPr/>
        <p:txBody>
          <a:bodyPr>
            <a:normAutofit fontScale="92500"/>
          </a:bodyPr>
          <a:lstStyle/>
          <a:p>
            <a:r>
              <a:rPr lang="he-IL" dirty="0"/>
              <a:t>המאקרו של </a:t>
            </a:r>
            <a:r>
              <a:rPr lang="en-US" dirty="0"/>
              <a:t>CALL</a:t>
            </a:r>
            <a:r>
              <a:rPr lang="he-IL" dirty="0"/>
              <a:t> מחשב את כתובת החזרה ע"י שימוש ב </a:t>
            </a:r>
            <a:r>
              <a:rPr lang="en-US" dirty="0"/>
              <a:t>%%L</a:t>
            </a:r>
            <a:endParaRPr lang="he-IL" dirty="0"/>
          </a:p>
          <a:p>
            <a:r>
              <a:rPr lang="he-IL" dirty="0"/>
              <a:t>בשלב השני שומרת במחסנית את כתובת החזרה </a:t>
            </a:r>
          </a:p>
          <a:p>
            <a:r>
              <a:rPr lang="he-IL" dirty="0"/>
              <a:t>בשלב השלישי עוברת לכתובת הראשונה  של הפקודה הראשונה של  הפונקציה שאותה יש לבצע.</a:t>
            </a:r>
          </a:p>
          <a:p>
            <a:r>
              <a:rPr lang="he-IL" dirty="0"/>
              <a:t>כשהפונקציה מסתיימת, המחשב יחזור אל אותה כתובת. </a:t>
            </a:r>
          </a:p>
          <a:p>
            <a:r>
              <a:rPr lang="he-IL" dirty="0"/>
              <a:t>הערה : משתמשים ב </a:t>
            </a:r>
            <a:r>
              <a:rPr lang="en-US" dirty="0"/>
              <a:t>R11</a:t>
            </a:r>
            <a:r>
              <a:rPr lang="he-IL" dirty="0"/>
              <a:t> ולא ב </a:t>
            </a:r>
            <a:r>
              <a:rPr lang="en-US" dirty="0" err="1"/>
              <a:t>rax</a:t>
            </a:r>
            <a:r>
              <a:rPr lang="he-IL" dirty="0"/>
              <a:t> משום שכל הקריאות לפונקציה משתמשות ב </a:t>
            </a:r>
            <a:r>
              <a:rPr lang="en-US" dirty="0" err="1"/>
              <a:t>rax</a:t>
            </a:r>
            <a:r>
              <a:rPr lang="he-IL" dirty="0"/>
              <a:t> לצורך החזרת תוצאות וכדי לא לדרוס את התוצאות משתמשים באוגר אחר. </a:t>
            </a:r>
          </a:p>
          <a:p>
            <a:r>
              <a:rPr lang="he-IL" dirty="0"/>
              <a:t>גם שימוש ב </a:t>
            </a:r>
            <a:r>
              <a:rPr lang="en-US" dirty="0"/>
              <a:t>R11</a:t>
            </a:r>
            <a:r>
              <a:rPr lang="he-IL" dirty="0"/>
              <a:t> אינו בטוח.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dirty="0"/>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55</a:t>
            </a:fld>
            <a:endParaRPr lang="he-IL"/>
          </a:p>
        </p:txBody>
      </p:sp>
    </p:spTree>
    <p:extLst>
      <p:ext uri="{BB962C8B-B14F-4D97-AF65-F5344CB8AC3E}">
        <p14:creationId xmlns:p14="http://schemas.microsoft.com/office/powerpoint/2010/main" val="37083269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en-US" dirty="0"/>
              <a:t>RETURN</a:t>
            </a:r>
            <a:r>
              <a:rPr lang="he-IL" dirty="0"/>
              <a:t> </a:t>
            </a:r>
            <a:r>
              <a:rPr lang="en-US" dirty="0"/>
              <a:t> macro </a:t>
            </a:r>
            <a:endParaRPr lang="he-IL" dirty="0"/>
          </a:p>
        </p:txBody>
      </p:sp>
      <p:sp>
        <p:nvSpPr>
          <p:cNvPr id="3" name="מציין מיקום תוכן 2"/>
          <p:cNvSpPr>
            <a:spLocks noGrp="1"/>
          </p:cNvSpPr>
          <p:nvPr>
            <p:ph idx="1"/>
          </p:nvPr>
        </p:nvSpPr>
        <p:spPr/>
        <p:txBody>
          <a:bodyPr/>
          <a:lstStyle/>
          <a:p>
            <a:pPr algn="l" rtl="0"/>
            <a:r>
              <a:rPr lang="pt-BR" b="1" dirty="0"/>
              <a:t>%macro RETURN 0</a:t>
            </a:r>
          </a:p>
          <a:p>
            <a:pPr algn="l" rtl="0"/>
            <a:r>
              <a:rPr lang="pt-BR" b="1" dirty="0"/>
              <a:t>   POP r11</a:t>
            </a:r>
          </a:p>
          <a:p>
            <a:pPr algn="l" rtl="0"/>
            <a:r>
              <a:rPr lang="pt-BR" b="1" dirty="0"/>
              <a:t>   jmp r11</a:t>
            </a:r>
          </a:p>
          <a:p>
            <a:pPr algn="l" rtl="0"/>
            <a:r>
              <a:rPr lang="pt-BR" b="1" dirty="0"/>
              <a:t>%endmacro</a:t>
            </a:r>
          </a:p>
          <a:p>
            <a:pPr algn="r"/>
            <a:r>
              <a:rPr lang="he-IL" dirty="0"/>
              <a:t>שולפת את כתובת החזרה מהמחסנית אל תוך </a:t>
            </a:r>
            <a:r>
              <a:rPr lang="en-US" dirty="0"/>
              <a:t>R11</a:t>
            </a:r>
            <a:endParaRPr lang="he-IL" dirty="0"/>
          </a:p>
          <a:p>
            <a:pPr algn="r"/>
            <a:r>
              <a:rPr lang="he-IL" dirty="0"/>
              <a:t>קופצת אל כתובת החזרה כדי להמשיך את הביצוע הרציף של התכנית</a:t>
            </a:r>
            <a:endParaRPr lang="pt-BR" dirty="0"/>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56</a:t>
            </a:fld>
            <a:endParaRPr lang="he-IL"/>
          </a:p>
        </p:txBody>
      </p:sp>
    </p:spTree>
    <p:extLst>
      <p:ext uri="{BB962C8B-B14F-4D97-AF65-F5344CB8AC3E}">
        <p14:creationId xmlns:p14="http://schemas.microsoft.com/office/powerpoint/2010/main" val="961626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פונקצית העצרת</a:t>
            </a:r>
          </a:p>
        </p:txBody>
      </p:sp>
      <p:sp>
        <p:nvSpPr>
          <p:cNvPr id="3" name="מציין מיקום תוכן 2"/>
          <p:cNvSpPr>
            <a:spLocks noGrp="1"/>
          </p:cNvSpPr>
          <p:nvPr>
            <p:ph idx="1"/>
          </p:nvPr>
        </p:nvSpPr>
        <p:spPr/>
        <p:txBody>
          <a:bodyPr>
            <a:normAutofit lnSpcReduction="10000"/>
          </a:bodyPr>
          <a:lstStyle/>
          <a:p>
            <a:r>
              <a:rPr lang="he-IL" dirty="0"/>
              <a:t>בשלב מקדים, נועצים נעץ במחסנית וזאת משום שפרט לכתובת החזרה, נשתמש במחסנית לצורך אחסון נתונים :</a:t>
            </a:r>
            <a:r>
              <a:rPr lang="en-US" dirty="0"/>
              <a:t> </a:t>
            </a:r>
            <a:endParaRPr lang="he-IL" dirty="0"/>
          </a:p>
          <a:p>
            <a:pPr algn="l" rtl="0"/>
            <a:r>
              <a:rPr lang="en-US" b="1" dirty="0"/>
              <a:t>fact:</a:t>
            </a:r>
          </a:p>
          <a:p>
            <a:pPr algn="l" rtl="0"/>
            <a:r>
              <a:rPr lang="en-US" b="1" dirty="0"/>
              <a:t>   enter 0,0</a:t>
            </a:r>
          </a:p>
          <a:p>
            <a:pPr algn="r"/>
            <a:r>
              <a:rPr lang="he-IL" b="1" dirty="0"/>
              <a:t>כזכור, </a:t>
            </a:r>
            <a:r>
              <a:rPr lang="en-US" b="1" dirty="0"/>
              <a:t>enter 0,0 </a:t>
            </a:r>
            <a:r>
              <a:rPr lang="he-IL" b="1" dirty="0"/>
              <a:t>  שקולה לביצוע שתי השורות הבאות :</a:t>
            </a:r>
            <a:r>
              <a:rPr lang="en-US" b="1" dirty="0"/>
              <a:t> </a:t>
            </a:r>
            <a:endParaRPr lang="he-IL" b="1" dirty="0"/>
          </a:p>
          <a:p>
            <a:pPr algn="l" rtl="0"/>
            <a:r>
              <a:rPr lang="en-US" b="1" dirty="0"/>
              <a:t>push </a:t>
            </a:r>
            <a:r>
              <a:rPr lang="en-US" b="1" dirty="0" err="1"/>
              <a:t>rbp</a:t>
            </a:r>
            <a:r>
              <a:rPr lang="en-US" b="1" dirty="0"/>
              <a:t> </a:t>
            </a:r>
          </a:p>
          <a:p>
            <a:pPr algn="l" rtl="0"/>
            <a:r>
              <a:rPr lang="en-US" b="1" dirty="0" err="1"/>
              <a:t>mov</a:t>
            </a:r>
            <a:r>
              <a:rPr lang="en-US" b="1" dirty="0"/>
              <a:t> </a:t>
            </a:r>
            <a:r>
              <a:rPr lang="en-US" b="1" dirty="0" err="1"/>
              <a:t>rbp</a:t>
            </a:r>
            <a:r>
              <a:rPr lang="en-US" b="1" dirty="0"/>
              <a:t>, </a:t>
            </a:r>
            <a:r>
              <a:rPr lang="en-US" b="1" dirty="0" err="1"/>
              <a:t>rsp</a:t>
            </a:r>
            <a:r>
              <a:rPr lang="en-US" b="1" dirty="0"/>
              <a:t> </a:t>
            </a:r>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57</a:t>
            </a:fld>
            <a:endParaRPr lang="he-IL"/>
          </a:p>
        </p:txBody>
      </p:sp>
    </p:spTree>
    <p:extLst>
      <p:ext uri="{BB962C8B-B14F-4D97-AF65-F5344CB8AC3E}">
        <p14:creationId xmlns:p14="http://schemas.microsoft.com/office/powerpoint/2010/main" val="317881218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פונקצית העצרת</a:t>
            </a:r>
          </a:p>
        </p:txBody>
      </p:sp>
      <p:sp>
        <p:nvSpPr>
          <p:cNvPr id="3" name="מציין מיקום תוכן 2"/>
          <p:cNvSpPr>
            <a:spLocks noGrp="1"/>
          </p:cNvSpPr>
          <p:nvPr>
            <p:ph idx="1"/>
          </p:nvPr>
        </p:nvSpPr>
        <p:spPr/>
        <p:txBody>
          <a:bodyPr>
            <a:normAutofit/>
          </a:bodyPr>
          <a:lstStyle/>
          <a:p>
            <a:r>
              <a:rPr lang="he-IL" dirty="0"/>
              <a:t>כעת עוברים לתנאי הבסיס – תנאי העצירה : </a:t>
            </a:r>
          </a:p>
          <a:p>
            <a:r>
              <a:rPr lang="he-IL" dirty="0"/>
              <a:t>בשלב ראשון בודקים אם </a:t>
            </a:r>
            <a:r>
              <a:rPr lang="en-US" dirty="0" err="1"/>
              <a:t>rdi</a:t>
            </a:r>
            <a:r>
              <a:rPr lang="he-IL" dirty="0"/>
              <a:t> אשר מהווה אוגר </a:t>
            </a:r>
            <a:r>
              <a:rPr lang="he-IL" dirty="0" err="1"/>
              <a:t>יעודי</a:t>
            </a:r>
            <a:r>
              <a:rPr lang="he-IL" dirty="0"/>
              <a:t> לחישוב העצרת הגיע לערך של 1. הדבר נעשה בהתאם לנוסחה </a:t>
            </a:r>
            <a:r>
              <a:rPr lang="en-US" dirty="0"/>
              <a:t> </a:t>
            </a:r>
            <a:r>
              <a:rPr lang="he-IL" dirty="0"/>
              <a:t> </a:t>
            </a:r>
            <a:r>
              <a:rPr lang="en-US" dirty="0"/>
              <a:t>N!=</a:t>
            </a:r>
            <a:r>
              <a:rPr lang="en-US" dirty="0" err="1"/>
              <a:t>Nx</a:t>
            </a:r>
            <a:r>
              <a:rPr lang="en-US" dirty="0"/>
              <a:t>(N-1)!</a:t>
            </a:r>
            <a:r>
              <a:rPr lang="he-IL" dirty="0"/>
              <a:t> כלומר החישוב  מחושב באופן יורד. </a:t>
            </a:r>
          </a:p>
          <a:p>
            <a:r>
              <a:rPr lang="he-IL" dirty="0"/>
              <a:t>במידה והערך גדול מ 1 , קופצים לתווית אשר החל ממנה מתחיל החישוב הרקורסיבי. </a:t>
            </a:r>
          </a:p>
          <a:p>
            <a:r>
              <a:rPr lang="he-IL" dirty="0"/>
              <a:t>במידה ושווה ל 1 מאחסנים ערך של 1 ב </a:t>
            </a:r>
            <a:r>
              <a:rPr lang="en-US" dirty="0" err="1"/>
              <a:t>rax</a:t>
            </a:r>
            <a:r>
              <a:rPr lang="he-IL" dirty="0"/>
              <a:t> </a:t>
            </a:r>
          </a:p>
          <a:p>
            <a:pPr algn="l" rtl="0"/>
            <a:r>
              <a:rPr lang="en-US" dirty="0"/>
              <a:t> </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58</a:t>
            </a:fld>
            <a:endParaRPr lang="he-IL"/>
          </a:p>
        </p:txBody>
      </p:sp>
    </p:spTree>
    <p:extLst>
      <p:ext uri="{BB962C8B-B14F-4D97-AF65-F5344CB8AC3E}">
        <p14:creationId xmlns:p14="http://schemas.microsoft.com/office/powerpoint/2010/main" val="53427171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קטע קוד של מקרה הבסיס </a:t>
            </a:r>
          </a:p>
        </p:txBody>
      </p:sp>
      <p:sp>
        <p:nvSpPr>
          <p:cNvPr id="3" name="מציין מיקום תוכן 2"/>
          <p:cNvSpPr>
            <a:spLocks noGrp="1"/>
          </p:cNvSpPr>
          <p:nvPr>
            <p:ph idx="1"/>
          </p:nvPr>
        </p:nvSpPr>
        <p:spPr/>
        <p:txBody>
          <a:bodyPr/>
          <a:lstStyle/>
          <a:p>
            <a:pPr algn="l" rtl="0"/>
            <a:r>
              <a:rPr lang="en-US" dirty="0"/>
              <a:t> </a:t>
            </a:r>
            <a:r>
              <a:rPr lang="en-US" b="1" dirty="0" err="1"/>
              <a:t>cmp</a:t>
            </a:r>
            <a:r>
              <a:rPr lang="en-US" b="1" dirty="0"/>
              <a:t> </a:t>
            </a:r>
            <a:r>
              <a:rPr lang="en-US" b="1" dirty="0" err="1"/>
              <a:t>rdi</a:t>
            </a:r>
            <a:r>
              <a:rPr lang="en-US" b="1" dirty="0"/>
              <a:t>, 1</a:t>
            </a:r>
          </a:p>
          <a:p>
            <a:pPr algn="l" rtl="0"/>
            <a:r>
              <a:rPr lang="en-US" b="1" dirty="0"/>
              <a:t>   </a:t>
            </a:r>
            <a:r>
              <a:rPr lang="en-US" b="1" dirty="0" err="1"/>
              <a:t>jg</a:t>
            </a:r>
            <a:r>
              <a:rPr lang="en-US" b="1" dirty="0"/>
              <a:t> .recursive</a:t>
            </a:r>
          </a:p>
          <a:p>
            <a:pPr algn="l" rtl="0"/>
            <a:r>
              <a:rPr lang="en-US" b="1" dirty="0"/>
              <a:t>   </a:t>
            </a:r>
            <a:r>
              <a:rPr lang="en-US" b="1" dirty="0" err="1"/>
              <a:t>mov</a:t>
            </a:r>
            <a:r>
              <a:rPr lang="en-US" b="1" dirty="0"/>
              <a:t> </a:t>
            </a:r>
            <a:r>
              <a:rPr lang="en-US" b="1" dirty="0" err="1"/>
              <a:t>rax</a:t>
            </a:r>
            <a:r>
              <a:rPr lang="en-US" b="1" dirty="0"/>
              <a:t>, 1</a:t>
            </a:r>
          </a:p>
          <a:p>
            <a:pPr algn="l" rtl="0"/>
            <a:r>
              <a:rPr lang="en-US" b="1" dirty="0"/>
              <a:t>   leave</a:t>
            </a:r>
          </a:p>
          <a:p>
            <a:pPr algn="l" rtl="0"/>
            <a:r>
              <a:rPr lang="en-US" b="1" dirty="0"/>
              <a:t>   RETURN</a:t>
            </a:r>
            <a:endParaRPr lang="he-IL" b="1"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59</a:t>
            </a:fld>
            <a:endParaRPr lang="he-IL"/>
          </a:p>
        </p:txBody>
      </p:sp>
    </p:spTree>
    <p:extLst>
      <p:ext uri="{BB962C8B-B14F-4D97-AF65-F5344CB8AC3E}">
        <p14:creationId xmlns:p14="http://schemas.microsoft.com/office/powerpoint/2010/main" val="26202807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הקטע הרקורסיבי </a:t>
            </a:r>
          </a:p>
        </p:txBody>
      </p:sp>
      <p:sp>
        <p:nvSpPr>
          <p:cNvPr id="3" name="מציין מיקום תוכן 2"/>
          <p:cNvSpPr>
            <a:spLocks noGrp="1"/>
          </p:cNvSpPr>
          <p:nvPr>
            <p:ph idx="1"/>
          </p:nvPr>
        </p:nvSpPr>
        <p:spPr/>
        <p:txBody>
          <a:bodyPr>
            <a:normAutofit fontScale="92500" lnSpcReduction="20000"/>
          </a:bodyPr>
          <a:lstStyle/>
          <a:p>
            <a:pPr algn="l" rtl="0"/>
            <a:r>
              <a:rPr lang="en-US" b="1" dirty="0"/>
              <a:t>.recursive:</a:t>
            </a:r>
          </a:p>
          <a:p>
            <a:pPr algn="l" rtl="0"/>
            <a:r>
              <a:rPr lang="en-US" b="1" dirty="0"/>
              <a:t>   PUSH </a:t>
            </a:r>
            <a:r>
              <a:rPr lang="en-US" b="1" dirty="0" err="1"/>
              <a:t>rdi</a:t>
            </a:r>
            <a:r>
              <a:rPr lang="en-US" b="1" dirty="0"/>
              <a:t>        ; save current n</a:t>
            </a:r>
          </a:p>
          <a:p>
            <a:pPr algn="l" rtl="0"/>
            <a:r>
              <a:rPr lang="en-US" b="1" dirty="0"/>
              <a:t>   </a:t>
            </a:r>
            <a:r>
              <a:rPr lang="en-US" b="1" dirty="0" err="1"/>
              <a:t>dec</a:t>
            </a:r>
            <a:r>
              <a:rPr lang="en-US" b="1" dirty="0"/>
              <a:t> </a:t>
            </a:r>
            <a:r>
              <a:rPr lang="en-US" b="1" dirty="0" err="1"/>
              <a:t>rdi</a:t>
            </a:r>
            <a:r>
              <a:rPr lang="en-US" b="1" dirty="0"/>
              <a:t>         ; compute n-1</a:t>
            </a:r>
          </a:p>
          <a:p>
            <a:pPr algn="l" rtl="0"/>
            <a:r>
              <a:rPr lang="en-US" b="1" dirty="0"/>
              <a:t>   CALL fact       ; compute fact(n-1)</a:t>
            </a:r>
          </a:p>
          <a:p>
            <a:pPr algn="l" rtl="0"/>
            <a:r>
              <a:rPr lang="en-US" b="1" dirty="0"/>
              <a:t>   POP </a:t>
            </a:r>
            <a:r>
              <a:rPr lang="en-US" b="1" dirty="0" err="1"/>
              <a:t>rdi</a:t>
            </a:r>
            <a:r>
              <a:rPr lang="en-US" b="1" dirty="0"/>
              <a:t>         ; restore n</a:t>
            </a:r>
          </a:p>
          <a:p>
            <a:pPr algn="l" rtl="0"/>
            <a:r>
              <a:rPr lang="en-US" b="1" dirty="0"/>
              <a:t>   </a:t>
            </a:r>
            <a:r>
              <a:rPr lang="en-US" b="1" dirty="0" err="1"/>
              <a:t>imul</a:t>
            </a:r>
            <a:r>
              <a:rPr lang="en-US" b="1" dirty="0"/>
              <a:t> </a:t>
            </a:r>
            <a:r>
              <a:rPr lang="en-US" b="1" dirty="0" err="1"/>
              <a:t>rax</a:t>
            </a:r>
            <a:r>
              <a:rPr lang="en-US" b="1" dirty="0"/>
              <a:t>, </a:t>
            </a:r>
            <a:r>
              <a:rPr lang="en-US" b="1" dirty="0" err="1"/>
              <a:t>rdi</a:t>
            </a:r>
            <a:r>
              <a:rPr lang="en-US" b="1" dirty="0"/>
              <a:t>   ; </a:t>
            </a:r>
            <a:r>
              <a:rPr lang="en-US" b="1" dirty="0" err="1"/>
              <a:t>rax</a:t>
            </a:r>
            <a:r>
              <a:rPr lang="en-US" b="1" dirty="0"/>
              <a:t> = </a:t>
            </a:r>
            <a:r>
              <a:rPr lang="en-US" b="1" dirty="0" err="1"/>
              <a:t>rdi</a:t>
            </a:r>
            <a:r>
              <a:rPr lang="en-US" b="1" dirty="0"/>
              <a:t> * </a:t>
            </a:r>
            <a:r>
              <a:rPr lang="en-US" b="1" dirty="0" err="1"/>
              <a:t>rax</a:t>
            </a:r>
            <a:endParaRPr lang="en-US" b="1" dirty="0"/>
          </a:p>
          <a:p>
            <a:pPr algn="l" rtl="0"/>
            <a:r>
              <a:rPr lang="en-US" b="1" dirty="0"/>
              <a:t>   leave</a:t>
            </a:r>
          </a:p>
          <a:p>
            <a:pPr algn="l" rtl="0"/>
            <a:r>
              <a:rPr lang="en-US" b="1" dirty="0"/>
              <a:t>   RETURN</a:t>
            </a:r>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60</a:t>
            </a:fld>
            <a:endParaRPr lang="he-IL"/>
          </a:p>
        </p:txBody>
      </p:sp>
    </p:spTree>
    <p:extLst>
      <p:ext uri="{BB962C8B-B14F-4D97-AF65-F5344CB8AC3E}">
        <p14:creationId xmlns:p14="http://schemas.microsoft.com/office/powerpoint/2010/main" val="194483524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הסבר </a:t>
            </a:r>
          </a:p>
        </p:txBody>
      </p:sp>
      <p:sp>
        <p:nvSpPr>
          <p:cNvPr id="3" name="מציין מיקום תוכן 2"/>
          <p:cNvSpPr>
            <a:spLocks noGrp="1"/>
          </p:cNvSpPr>
          <p:nvPr>
            <p:ph idx="1"/>
          </p:nvPr>
        </p:nvSpPr>
        <p:spPr/>
        <p:txBody>
          <a:bodyPr>
            <a:normAutofit lnSpcReduction="10000"/>
          </a:bodyPr>
          <a:lstStyle/>
          <a:p>
            <a:r>
              <a:rPr lang="he-IL" dirty="0"/>
              <a:t>1. שומרים את הערך של </a:t>
            </a:r>
            <a:r>
              <a:rPr lang="en-US" dirty="0"/>
              <a:t>n</a:t>
            </a:r>
            <a:r>
              <a:rPr lang="he-IL" dirty="0"/>
              <a:t> במחסנית (במקרה שלנו </a:t>
            </a:r>
            <a:r>
              <a:rPr lang="en-US" dirty="0"/>
              <a:t>n=5</a:t>
            </a:r>
            <a:r>
              <a:rPr lang="he-IL" dirty="0"/>
              <a:t>) וזאת ע"י  ביצוע הפקודה </a:t>
            </a:r>
          </a:p>
          <a:p>
            <a:pPr algn="r"/>
            <a:r>
              <a:rPr lang="he-IL" dirty="0"/>
              <a:t> </a:t>
            </a:r>
            <a:r>
              <a:rPr lang="en-US" dirty="0"/>
              <a:t>PUSH  </a:t>
            </a:r>
            <a:r>
              <a:rPr lang="en-US" dirty="0" err="1"/>
              <a:t>rdi</a:t>
            </a:r>
            <a:r>
              <a:rPr lang="he-IL" dirty="0"/>
              <a:t> </a:t>
            </a:r>
          </a:p>
          <a:p>
            <a:pPr algn="r"/>
            <a:r>
              <a:rPr lang="he-IL" dirty="0"/>
              <a:t>2. הערך של </a:t>
            </a:r>
            <a:r>
              <a:rPr lang="en-US" dirty="0"/>
              <a:t>n-1</a:t>
            </a:r>
            <a:r>
              <a:rPr lang="he-IL" dirty="0"/>
              <a:t> מחושב  ע"י </a:t>
            </a:r>
            <a:r>
              <a:rPr lang="en-US" dirty="0" err="1"/>
              <a:t>dec</a:t>
            </a:r>
            <a:r>
              <a:rPr lang="he-IL" dirty="0"/>
              <a:t> </a:t>
            </a:r>
          </a:p>
          <a:p>
            <a:pPr algn="r"/>
            <a:r>
              <a:rPr lang="he-IL" dirty="0"/>
              <a:t>3. קוראים ברקורסיה ל </a:t>
            </a:r>
            <a:r>
              <a:rPr lang="en-US" dirty="0"/>
              <a:t>fact</a:t>
            </a:r>
            <a:r>
              <a:rPr lang="he-IL" dirty="0"/>
              <a:t> עם הערך של </a:t>
            </a:r>
            <a:r>
              <a:rPr lang="en-US" dirty="0"/>
              <a:t>n-1</a:t>
            </a:r>
            <a:r>
              <a:rPr lang="he-IL" dirty="0"/>
              <a:t> והתהליך ממשיך עד אשר מגיעים לערך של </a:t>
            </a:r>
            <a:r>
              <a:rPr lang="en-US" dirty="0" err="1"/>
              <a:t>rdi</a:t>
            </a:r>
            <a:r>
              <a:rPr lang="en-US" dirty="0"/>
              <a:t>=1</a:t>
            </a:r>
            <a:r>
              <a:rPr lang="he-IL" dirty="0"/>
              <a:t>.</a:t>
            </a:r>
          </a:p>
          <a:p>
            <a:pPr algn="r"/>
            <a:r>
              <a:rPr lang="he-IL" dirty="0"/>
              <a:t>4. כשתנאי העצירה מתקיים , מתחיל תהליך שליפה של הערך האחרון במחסנית ומשם מתחיל תהליך של כפל </a:t>
            </a:r>
          </a:p>
          <a:p>
            <a:pPr algn="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61</a:t>
            </a:fld>
            <a:endParaRPr lang="he-IL"/>
          </a:p>
        </p:txBody>
      </p:sp>
    </p:spTree>
    <p:extLst>
      <p:ext uri="{BB962C8B-B14F-4D97-AF65-F5344CB8AC3E}">
        <p14:creationId xmlns:p14="http://schemas.microsoft.com/office/powerpoint/2010/main" val="24718493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הסבר </a:t>
            </a:r>
          </a:p>
        </p:txBody>
      </p:sp>
      <p:sp>
        <p:nvSpPr>
          <p:cNvPr id="3" name="מציין מיקום תוכן 2"/>
          <p:cNvSpPr>
            <a:spLocks noGrp="1"/>
          </p:cNvSpPr>
          <p:nvPr>
            <p:ph idx="1"/>
          </p:nvPr>
        </p:nvSpPr>
        <p:spPr/>
        <p:txBody>
          <a:bodyPr>
            <a:normAutofit fontScale="92500" lnSpcReduction="10000"/>
          </a:bodyPr>
          <a:lstStyle/>
          <a:p>
            <a:pPr algn="l" rtl="0"/>
            <a:r>
              <a:rPr lang="en-US" dirty="0"/>
              <a:t>fact(5) </a:t>
            </a:r>
            <a:r>
              <a:rPr lang="en-US" dirty="0">
                <a:sym typeface="Wingdings" panose="05000000000000000000" pitchFamily="2" charset="2"/>
              </a:rPr>
              <a:t> 5*fact(4)=5*24=120 </a:t>
            </a:r>
          </a:p>
          <a:p>
            <a:pPr algn="l" rtl="0"/>
            <a:r>
              <a:rPr lang="en-US" dirty="0">
                <a:sym typeface="Wingdings" panose="05000000000000000000" pitchFamily="2" charset="2"/>
              </a:rPr>
              <a:t>Fact(4)  4*fact(3)=4*6=24</a:t>
            </a:r>
          </a:p>
          <a:p>
            <a:pPr algn="l" rtl="0"/>
            <a:r>
              <a:rPr lang="en-US" dirty="0">
                <a:sym typeface="Wingdings" panose="05000000000000000000" pitchFamily="2" charset="2"/>
              </a:rPr>
              <a:t>Fact(3)  3*fact(2)=3*2=6</a:t>
            </a:r>
          </a:p>
          <a:p>
            <a:pPr algn="l" rtl="0"/>
            <a:r>
              <a:rPr lang="en-US" dirty="0">
                <a:sym typeface="Wingdings" panose="05000000000000000000" pitchFamily="2" charset="2"/>
              </a:rPr>
              <a:t>Fact(2)2*fact(1)   = 2*1=2 </a:t>
            </a:r>
          </a:p>
          <a:p>
            <a:pPr algn="l" rtl="0"/>
            <a:r>
              <a:rPr lang="en-US" dirty="0">
                <a:sym typeface="Wingdings" panose="05000000000000000000" pitchFamily="2" charset="2"/>
              </a:rPr>
              <a:t>Fact(1)=1</a:t>
            </a:r>
          </a:p>
          <a:p>
            <a:pPr algn="r"/>
            <a:r>
              <a:rPr lang="he-IL" dirty="0">
                <a:sym typeface="Wingdings" panose="05000000000000000000" pitchFamily="2" charset="2"/>
              </a:rPr>
              <a:t>כשתנאי העצירה מתקיים, כלומר כאשר </a:t>
            </a:r>
            <a:r>
              <a:rPr lang="en-US" dirty="0" err="1">
                <a:sym typeface="Wingdings" panose="05000000000000000000" pitchFamily="2" charset="2"/>
              </a:rPr>
              <a:t>rdi</a:t>
            </a:r>
            <a:r>
              <a:rPr lang="en-US" dirty="0">
                <a:sym typeface="Wingdings" panose="05000000000000000000" pitchFamily="2" charset="2"/>
              </a:rPr>
              <a:t>=1</a:t>
            </a:r>
            <a:r>
              <a:rPr lang="he-IL" dirty="0">
                <a:sym typeface="Wingdings" panose="05000000000000000000" pitchFamily="2" charset="2"/>
              </a:rPr>
              <a:t> אז </a:t>
            </a:r>
            <a:r>
              <a:rPr lang="en-US" dirty="0" err="1">
                <a:sym typeface="Wingdings" panose="05000000000000000000" pitchFamily="2" charset="2"/>
              </a:rPr>
              <a:t>rax</a:t>
            </a:r>
            <a:r>
              <a:rPr lang="en-US" dirty="0">
                <a:sym typeface="Wingdings" panose="05000000000000000000" pitchFamily="2" charset="2"/>
              </a:rPr>
              <a:t>=1 </a:t>
            </a:r>
            <a:r>
              <a:rPr lang="he-IL" dirty="0">
                <a:sym typeface="Wingdings" panose="05000000000000000000" pitchFamily="2" charset="2"/>
              </a:rPr>
              <a:t> וכן המחסנית מתרוקנת כך שראש המחסנית נשלף אל </a:t>
            </a:r>
            <a:r>
              <a:rPr lang="en-US" dirty="0" err="1">
                <a:sym typeface="Wingdings" panose="05000000000000000000" pitchFamily="2" charset="2"/>
              </a:rPr>
              <a:t>rdi</a:t>
            </a:r>
            <a:r>
              <a:rPr lang="he-IL" dirty="0">
                <a:sym typeface="Wingdings" panose="05000000000000000000" pitchFamily="2" charset="2"/>
              </a:rPr>
              <a:t> והוא מוכפל בערכו של </a:t>
            </a:r>
            <a:r>
              <a:rPr lang="en-US" dirty="0" err="1">
                <a:sym typeface="Wingdings" panose="05000000000000000000" pitchFamily="2" charset="2"/>
              </a:rPr>
              <a:t>rax</a:t>
            </a:r>
            <a:r>
              <a:rPr lang="he-IL" dirty="0">
                <a:sym typeface="Wingdings" panose="05000000000000000000" pitchFamily="2" charset="2"/>
              </a:rPr>
              <a:t>. כלומר </a:t>
            </a:r>
            <a:r>
              <a:rPr lang="en-US" dirty="0" err="1">
                <a:sym typeface="Wingdings" panose="05000000000000000000" pitchFamily="2" charset="2"/>
              </a:rPr>
              <a:t>rax</a:t>
            </a:r>
            <a:r>
              <a:rPr lang="en-US" dirty="0">
                <a:sym typeface="Wingdings" panose="05000000000000000000" pitchFamily="2" charset="2"/>
              </a:rPr>
              <a:t>   </a:t>
            </a:r>
            <a:r>
              <a:rPr lang="he-IL" dirty="0">
                <a:sym typeface="Wingdings" panose="05000000000000000000" pitchFamily="2" charset="2"/>
              </a:rPr>
              <a:t> שומר את הערך המצטבר של התוצאה בכל שלב </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62</a:t>
            </a:fld>
            <a:endParaRPr lang="he-IL"/>
          </a:p>
        </p:txBody>
      </p:sp>
    </p:spTree>
    <p:extLst>
      <p:ext uri="{BB962C8B-B14F-4D97-AF65-F5344CB8AC3E}">
        <p14:creationId xmlns:p14="http://schemas.microsoft.com/office/powerpoint/2010/main" val="40332171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התכנית הראשית והדפסת התוצאה למסך </a:t>
            </a:r>
          </a:p>
        </p:txBody>
      </p:sp>
      <p:sp>
        <p:nvSpPr>
          <p:cNvPr id="3" name="מציין מיקום תוכן 2"/>
          <p:cNvSpPr>
            <a:spLocks noGrp="1"/>
          </p:cNvSpPr>
          <p:nvPr>
            <p:ph idx="1"/>
          </p:nvPr>
        </p:nvSpPr>
        <p:spPr/>
        <p:txBody>
          <a:bodyPr>
            <a:normAutofit lnSpcReduction="10000"/>
          </a:bodyPr>
          <a:lstStyle/>
          <a:p>
            <a:r>
              <a:rPr lang="he-IL" dirty="0"/>
              <a:t>בשלב ראשון שומרים את הערך של חישוב העצרת – 5 באוגר </a:t>
            </a:r>
            <a:r>
              <a:rPr lang="en-US" dirty="0" err="1"/>
              <a:t>rdi</a:t>
            </a:r>
            <a:r>
              <a:rPr lang="he-IL" dirty="0"/>
              <a:t> (נראה בהמשך מדוע) ואז מבצעים את הקריאה הראשונה ל </a:t>
            </a:r>
            <a:r>
              <a:rPr lang="en-US" dirty="0"/>
              <a:t>fact</a:t>
            </a:r>
            <a:r>
              <a:rPr lang="he-IL" dirty="0"/>
              <a:t> :</a:t>
            </a:r>
            <a:r>
              <a:rPr lang="en-US" dirty="0"/>
              <a:t> </a:t>
            </a:r>
            <a:endParaRPr lang="he-IL" dirty="0"/>
          </a:p>
          <a:p>
            <a:pPr algn="l" rtl="0"/>
            <a:r>
              <a:rPr lang="en-US" b="1" dirty="0"/>
              <a:t>main:</a:t>
            </a:r>
          </a:p>
          <a:p>
            <a:pPr algn="l" rtl="0"/>
            <a:r>
              <a:rPr lang="en-US" b="1" dirty="0"/>
              <a:t>    enter 0,0</a:t>
            </a:r>
          </a:p>
          <a:p>
            <a:pPr algn="l" rtl="0"/>
            <a:r>
              <a:rPr lang="en-US" b="1" dirty="0"/>
              <a:t>    </a:t>
            </a:r>
            <a:r>
              <a:rPr lang="en-US" b="1" dirty="0" err="1"/>
              <a:t>mov</a:t>
            </a:r>
            <a:r>
              <a:rPr lang="en-US" b="1" dirty="0"/>
              <a:t> </a:t>
            </a:r>
            <a:r>
              <a:rPr lang="en-US" b="1" dirty="0" err="1"/>
              <a:t>rdi</a:t>
            </a:r>
            <a:r>
              <a:rPr lang="en-US" b="1" dirty="0"/>
              <a:t>, 5</a:t>
            </a:r>
          </a:p>
          <a:p>
            <a:pPr algn="l" rtl="0"/>
            <a:r>
              <a:rPr lang="en-US" b="1" dirty="0"/>
              <a:t>    </a:t>
            </a:r>
            <a:r>
              <a:rPr lang="en-US" b="1" dirty="0" err="1"/>
              <a:t>mov</a:t>
            </a:r>
            <a:r>
              <a:rPr lang="en-US" b="1" dirty="0"/>
              <a:t> r12, </a:t>
            </a:r>
            <a:r>
              <a:rPr lang="en-US" b="1" dirty="0" err="1"/>
              <a:t>rdi</a:t>
            </a:r>
            <a:r>
              <a:rPr lang="en-US" b="1" dirty="0"/>
              <a:t>        ; save 5</a:t>
            </a:r>
          </a:p>
          <a:p>
            <a:pPr algn="l" rtl="0"/>
            <a:r>
              <a:rPr lang="en-US" b="1" dirty="0"/>
              <a:t>    CALL fact           ; compute fact(5)</a:t>
            </a:r>
          </a:p>
          <a:p>
            <a:pPr algn="l" rtl="0"/>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63</a:t>
            </a:fld>
            <a:endParaRPr lang="he-IL"/>
          </a:p>
        </p:txBody>
      </p:sp>
    </p:spTree>
    <p:extLst>
      <p:ext uri="{BB962C8B-B14F-4D97-AF65-F5344CB8AC3E}">
        <p14:creationId xmlns:p14="http://schemas.microsoft.com/office/powerpoint/2010/main" val="13015432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a:t>
            </a:r>
          </a:p>
        </p:txBody>
      </p:sp>
      <p:sp>
        <p:nvSpPr>
          <p:cNvPr id="3" name="מציין מיקום תוכן 2"/>
          <p:cNvSpPr>
            <a:spLocks noGrp="1"/>
          </p:cNvSpPr>
          <p:nvPr>
            <p:ph idx="1"/>
          </p:nvPr>
        </p:nvSpPr>
        <p:spPr/>
        <p:txBody>
          <a:bodyPr/>
          <a:lstStyle/>
          <a:p>
            <a:r>
              <a:rPr lang="he-IL" dirty="0"/>
              <a:t>כעת , כדי לקבל ערך מודפס של תוצאה מהצורה </a:t>
            </a:r>
            <a:r>
              <a:rPr lang="en-US" dirty="0"/>
              <a:t>fact(5)=120</a:t>
            </a:r>
            <a:r>
              <a:rPr lang="he-IL" dirty="0"/>
              <a:t> ע"י שימוש במחרוזת של </a:t>
            </a:r>
            <a:r>
              <a:rPr lang="en-US" dirty="0" err="1"/>
              <a:t>fmt</a:t>
            </a:r>
            <a:r>
              <a:rPr lang="he-IL" dirty="0"/>
              <a:t> , נסביר כיצד פועלת הפקודה </a:t>
            </a:r>
            <a:r>
              <a:rPr lang="en-US" dirty="0" err="1"/>
              <a:t>printf</a:t>
            </a:r>
            <a:r>
              <a:rPr lang="he-IL" dirty="0"/>
              <a:t> משפת </a:t>
            </a:r>
            <a:r>
              <a:rPr lang="en-US" dirty="0"/>
              <a:t>C</a:t>
            </a:r>
            <a:r>
              <a:rPr lang="he-IL" dirty="0"/>
              <a:t> ואילו ארגומנטים עליה לקבל :</a:t>
            </a:r>
            <a:r>
              <a:rPr lang="en-US" dirty="0"/>
              <a:t> </a:t>
            </a:r>
            <a:endParaRPr lang="he-IL" dirty="0"/>
          </a:p>
          <a:p>
            <a:r>
              <a:rPr lang="he-IL" dirty="0"/>
              <a:t>במערכת </a:t>
            </a:r>
            <a:r>
              <a:rPr lang="en-US" dirty="0" err="1"/>
              <a:t>linux</a:t>
            </a:r>
            <a:r>
              <a:rPr lang="he-IL" dirty="0"/>
              <a:t> עם 64 ביטים, הארגומנטים אל פונקציה  עוברים דרך האוגרים ולא דרך המחסנית. </a:t>
            </a:r>
          </a:p>
          <a:p>
            <a:r>
              <a:rPr lang="he-IL" dirty="0"/>
              <a:t>לכן עבור </a:t>
            </a:r>
            <a:r>
              <a:rPr lang="en-US" dirty="0" err="1"/>
              <a:t>printf</a:t>
            </a:r>
            <a:r>
              <a:rPr lang="en-US" dirty="0"/>
              <a:t>(</a:t>
            </a:r>
            <a:r>
              <a:rPr lang="en-US" dirty="0" err="1"/>
              <a:t>fmt</a:t>
            </a:r>
            <a:r>
              <a:rPr lang="en-US" dirty="0"/>
              <a:t>, </a:t>
            </a:r>
            <a:r>
              <a:rPr lang="en-US" dirty="0" err="1"/>
              <a:t>a,b</a:t>
            </a:r>
            <a:r>
              <a:rPr lang="en-US" dirty="0"/>
              <a:t>)</a:t>
            </a:r>
            <a:r>
              <a:rPr lang="he-IL" dirty="0"/>
              <a:t> יש לערב את האוגרים הבאים :</a:t>
            </a:r>
            <a:r>
              <a:rPr lang="en-US" dirty="0"/>
              <a:t> </a:t>
            </a:r>
            <a:endParaRPr lang="he-IL" dirty="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64</a:t>
            </a:fld>
            <a:endParaRPr lang="he-IL"/>
          </a:p>
        </p:txBody>
      </p:sp>
    </p:spTree>
    <p:extLst>
      <p:ext uri="{BB962C8B-B14F-4D97-AF65-F5344CB8AC3E}">
        <p14:creationId xmlns:p14="http://schemas.microsoft.com/office/powerpoint/2010/main" val="23587949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a:t>
            </a:r>
          </a:p>
        </p:txBody>
      </p:sp>
      <p:sp>
        <p:nvSpPr>
          <p:cNvPr id="3" name="מציין מיקום תוכן 2"/>
          <p:cNvSpPr>
            <a:spLocks noGrp="1"/>
          </p:cNvSpPr>
          <p:nvPr>
            <p:ph idx="1"/>
          </p:nvPr>
        </p:nvSpPr>
        <p:spPr/>
        <p:txBody>
          <a:bodyPr/>
          <a:lstStyle/>
          <a:p>
            <a:pPr algn="l" rtl="0"/>
            <a:r>
              <a:rPr lang="en-US" dirty="0" err="1"/>
              <a:t>rdi</a:t>
            </a:r>
            <a:r>
              <a:rPr lang="en-US" dirty="0"/>
              <a:t> → pointer to the format string</a:t>
            </a:r>
          </a:p>
          <a:p>
            <a:pPr algn="l" rtl="0"/>
            <a:r>
              <a:rPr lang="en-US" dirty="0" err="1"/>
              <a:t>rsi</a:t>
            </a:r>
            <a:r>
              <a:rPr lang="en-US" dirty="0"/>
              <a:t> → first value to substitute into %d</a:t>
            </a:r>
          </a:p>
          <a:p>
            <a:pPr algn="l" rtl="0"/>
            <a:r>
              <a:rPr lang="en-US" dirty="0" err="1"/>
              <a:t>rdx</a:t>
            </a:r>
            <a:r>
              <a:rPr lang="en-US" dirty="0"/>
              <a:t> → second value to substitute into %d</a:t>
            </a:r>
          </a:p>
          <a:p>
            <a:pPr algn="l" rtl="0"/>
            <a:r>
              <a:rPr lang="en-US" dirty="0" err="1"/>
              <a:t>rcx</a:t>
            </a:r>
            <a:r>
              <a:rPr lang="en-US" dirty="0"/>
              <a:t> → third value</a:t>
            </a:r>
          </a:p>
          <a:p>
            <a:pPr algn="l" rtl="0"/>
            <a:r>
              <a:rPr lang="en-US" dirty="0"/>
              <a:t>r8 → fourth value</a:t>
            </a:r>
          </a:p>
          <a:p>
            <a:pPr algn="l" rtl="0"/>
            <a:r>
              <a:rPr lang="en-US" dirty="0"/>
              <a:t>r9 → fifth value</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65</a:t>
            </a:fld>
            <a:endParaRPr lang="he-IL"/>
          </a:p>
        </p:txBody>
      </p:sp>
    </p:spTree>
    <p:extLst>
      <p:ext uri="{BB962C8B-B14F-4D97-AF65-F5344CB8AC3E}">
        <p14:creationId xmlns:p14="http://schemas.microsoft.com/office/powerpoint/2010/main" val="318461304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המשך </a:t>
            </a:r>
          </a:p>
        </p:txBody>
      </p:sp>
      <p:sp>
        <p:nvSpPr>
          <p:cNvPr id="3" name="מציין מיקום תוכן 2"/>
          <p:cNvSpPr>
            <a:spLocks noGrp="1"/>
          </p:cNvSpPr>
          <p:nvPr>
            <p:ph idx="1"/>
          </p:nvPr>
        </p:nvSpPr>
        <p:spPr/>
        <p:txBody>
          <a:bodyPr/>
          <a:lstStyle/>
          <a:p>
            <a:r>
              <a:rPr lang="he-IL" dirty="0"/>
              <a:t>הפורמט שלנו הוא </a:t>
            </a:r>
            <a:r>
              <a:rPr lang="en-US" dirty="0" err="1"/>
              <a:t>printf</a:t>
            </a:r>
            <a:r>
              <a:rPr lang="en-US" dirty="0"/>
              <a:t>("fact (%d)=%d\n", 5, 120);</a:t>
            </a:r>
            <a:r>
              <a:rPr lang="he-IL" dirty="0"/>
              <a:t>  ולכן השימוש באוגרים יהיה כדלקמן :</a:t>
            </a:r>
            <a:r>
              <a:rPr lang="en-US" dirty="0"/>
              <a:t> </a:t>
            </a:r>
            <a:endParaRPr lang="he-IL" dirty="0"/>
          </a:p>
          <a:p>
            <a:r>
              <a:rPr lang="en-US" dirty="0" err="1"/>
              <a:t>rdi</a:t>
            </a:r>
            <a:r>
              <a:rPr lang="en-US" dirty="0"/>
              <a:t> </a:t>
            </a:r>
            <a:r>
              <a:rPr lang="he-IL" dirty="0"/>
              <a:t> - הכתובת של </a:t>
            </a:r>
            <a:r>
              <a:rPr lang="en-US" dirty="0"/>
              <a:t>"fact (%d)=%d\n"</a:t>
            </a:r>
            <a:r>
              <a:rPr lang="he-IL" dirty="0"/>
              <a:t>  </a:t>
            </a:r>
          </a:p>
          <a:p>
            <a:r>
              <a:rPr lang="en-US" dirty="0"/>
              <a:t>Rsi=5</a:t>
            </a:r>
            <a:endParaRPr lang="he-IL" dirty="0"/>
          </a:p>
          <a:p>
            <a:r>
              <a:rPr lang="en-US" dirty="0"/>
              <a:t>Rdx=120</a:t>
            </a:r>
            <a:endParaRPr lang="he-IL" dirty="0"/>
          </a:p>
          <a:p>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66</a:t>
            </a:fld>
            <a:endParaRPr lang="he-IL"/>
          </a:p>
        </p:txBody>
      </p:sp>
      <p:pic>
        <p:nvPicPr>
          <p:cNvPr id="6" name="תמונה 5"/>
          <p:cNvPicPr>
            <a:picLocks noChangeAspect="1"/>
          </p:cNvPicPr>
          <p:nvPr/>
        </p:nvPicPr>
        <p:blipFill>
          <a:blip r:embed="rId2"/>
          <a:stretch>
            <a:fillRect/>
          </a:stretch>
        </p:blipFill>
        <p:spPr>
          <a:xfrm>
            <a:off x="835539" y="4584107"/>
            <a:ext cx="8106906" cy="1219370"/>
          </a:xfrm>
          <a:prstGeom prst="rect">
            <a:avLst/>
          </a:prstGeom>
        </p:spPr>
      </p:pic>
    </p:spTree>
    <p:extLst>
      <p:ext uri="{BB962C8B-B14F-4D97-AF65-F5344CB8AC3E}">
        <p14:creationId xmlns:p14="http://schemas.microsoft.com/office/powerpoint/2010/main" val="148320202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הרצת התכנית </a:t>
            </a:r>
          </a:p>
        </p:txBody>
      </p:sp>
      <p:sp>
        <p:nvSpPr>
          <p:cNvPr id="3" name="מציין מיקום תוכן 2"/>
          <p:cNvSpPr>
            <a:spLocks noGrp="1"/>
          </p:cNvSpPr>
          <p:nvPr>
            <p:ph idx="1"/>
          </p:nvPr>
        </p:nvSpPr>
        <p:spPr/>
        <p:txBody>
          <a:bodyPr/>
          <a:lstStyle/>
          <a:p>
            <a:pPr algn="l" rtl="0"/>
            <a:r>
              <a:rPr lang="en-US" dirty="0"/>
              <a:t>nasm -f elf64 fact_recursive_demo.asm -o </a:t>
            </a:r>
            <a:r>
              <a:rPr lang="en-US" dirty="0" err="1"/>
              <a:t>fact_recursive_demo.o</a:t>
            </a:r>
            <a:endParaRPr lang="en-US" dirty="0"/>
          </a:p>
          <a:p>
            <a:pPr algn="l" rtl="0"/>
            <a:r>
              <a:rPr lang="pt-BR" dirty="0"/>
              <a:t>gcc -no-pie fact_recursive_demo.o -o fact_recursive_demo</a:t>
            </a:r>
          </a:p>
          <a:p>
            <a:pPr algn="l" rtl="0"/>
            <a:r>
              <a:rPr lang="en-US" dirty="0"/>
              <a:t>./</a:t>
            </a:r>
            <a:r>
              <a:rPr lang="en-US" dirty="0" err="1"/>
              <a:t>fact_recursive_demo</a:t>
            </a:r>
            <a:endParaRPr lang="he-IL" dirty="0"/>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67</a:t>
            </a:fld>
            <a:endParaRPr lang="he-IL"/>
          </a:p>
        </p:txBody>
      </p:sp>
    </p:spTree>
    <p:extLst>
      <p:ext uri="{BB962C8B-B14F-4D97-AF65-F5344CB8AC3E}">
        <p14:creationId xmlns:p14="http://schemas.microsoft.com/office/powerpoint/2010/main" val="22272313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a:t>לסיכום מה למדנו היום ? </a:t>
            </a:r>
          </a:p>
        </p:txBody>
      </p:sp>
      <p:sp>
        <p:nvSpPr>
          <p:cNvPr id="3" name="מציין מיקום תוכן 2"/>
          <p:cNvSpPr>
            <a:spLocks noGrp="1"/>
          </p:cNvSpPr>
          <p:nvPr>
            <p:ph idx="1"/>
          </p:nvPr>
        </p:nvSpPr>
        <p:spPr/>
        <p:txBody>
          <a:bodyPr/>
          <a:lstStyle/>
          <a:p>
            <a:r>
              <a:rPr lang="he-IL" dirty="0"/>
              <a:t>1. מהי מחסנית ובאילו פעולות היא תומכת</a:t>
            </a:r>
          </a:p>
          <a:p>
            <a:r>
              <a:rPr lang="he-IL" dirty="0"/>
              <a:t>2. מהו מאקרו , כיצד משתמשים בו ואיך משלבים אותו בתכניות לרבות ניואנסים כגון </a:t>
            </a:r>
            <a:r>
              <a:rPr lang="en-US" dirty="0"/>
              <a:t>%%L</a:t>
            </a:r>
            <a:r>
              <a:rPr lang="he-IL" dirty="0"/>
              <a:t> </a:t>
            </a:r>
          </a:p>
          <a:p>
            <a:r>
              <a:rPr lang="he-IL" dirty="0"/>
              <a:t>3. קריאות  וחזרות מפונקציה באמצעות </a:t>
            </a:r>
            <a:r>
              <a:rPr lang="he-IL" dirty="0" err="1"/>
              <a:t>מאקרוס</a:t>
            </a:r>
            <a:endParaRPr lang="he-IL" dirty="0"/>
          </a:p>
          <a:p>
            <a:r>
              <a:rPr lang="he-IL" dirty="0"/>
              <a:t>4. שילוב של פקודת </a:t>
            </a:r>
            <a:r>
              <a:rPr lang="en-US" dirty="0" err="1"/>
              <a:t>printf</a:t>
            </a:r>
            <a:r>
              <a:rPr lang="en-US" dirty="0"/>
              <a:t>  </a:t>
            </a:r>
            <a:r>
              <a:rPr lang="he-IL" dirty="0"/>
              <a:t>  משפת </a:t>
            </a:r>
            <a:r>
              <a:rPr lang="en-US" dirty="0"/>
              <a:t>C</a:t>
            </a:r>
            <a:r>
              <a:rPr lang="he-IL" dirty="0"/>
              <a:t>  וקריאה אליה באמצעות מאקרו</a:t>
            </a:r>
          </a:p>
          <a:p>
            <a:r>
              <a:rPr lang="he-IL" dirty="0"/>
              <a:t>5. רקורסיה ושילוב עבודת מחסנית </a:t>
            </a:r>
            <a:r>
              <a:rPr lang="he-IL" dirty="0" err="1"/>
              <a:t>איתה</a:t>
            </a:r>
            <a:r>
              <a:rPr lang="he-IL"/>
              <a:t>. </a:t>
            </a:r>
          </a:p>
        </p:txBody>
      </p:sp>
      <p:sp>
        <p:nvSpPr>
          <p:cNvPr id="4" name="מציין מיקום של תאריך 3"/>
          <p:cNvSpPr>
            <a:spLocks noGrp="1"/>
          </p:cNvSpPr>
          <p:nvPr>
            <p:ph type="dt" sz="half" idx="10"/>
          </p:nvPr>
        </p:nvSpPr>
        <p:spPr/>
        <p:txBody>
          <a:bodyPr/>
          <a:lstStyle/>
          <a:p>
            <a:fld id="{D22EEECC-0AEE-4AC1-AFAE-3DC0F2314C17}" type="datetime8">
              <a:rPr lang="he-IL" smtClean="0"/>
              <a:t>03 מאי 26</a:t>
            </a:fld>
            <a:endParaRPr lang="he-IL"/>
          </a:p>
        </p:txBody>
      </p:sp>
      <p:sp>
        <p:nvSpPr>
          <p:cNvPr id="5" name="מציין מיקום של מספר שקופית 4"/>
          <p:cNvSpPr>
            <a:spLocks noGrp="1"/>
          </p:cNvSpPr>
          <p:nvPr>
            <p:ph type="sldNum" sz="quarter" idx="12"/>
          </p:nvPr>
        </p:nvSpPr>
        <p:spPr/>
        <p:txBody>
          <a:bodyPr/>
          <a:lstStyle/>
          <a:p>
            <a:fld id="{0BB5907D-BD0F-43E0-A690-15B32A6F70AF}" type="slidenum">
              <a:rPr lang="he-IL" smtClean="0"/>
              <a:t>68</a:t>
            </a:fld>
            <a:endParaRPr lang="he-IL"/>
          </a:p>
        </p:txBody>
      </p:sp>
    </p:spTree>
    <p:extLst>
      <p:ext uri="{BB962C8B-B14F-4D97-AF65-F5344CB8AC3E}">
        <p14:creationId xmlns:p14="http://schemas.microsoft.com/office/powerpoint/2010/main" val="2444544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אורגני">
  <a:themeElements>
    <a:clrScheme name="אורגני">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אורגני">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אורגני">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1739</TotalTime>
  <Words>3709</Words>
  <Application>Microsoft Office PowerPoint</Application>
  <PresentationFormat>מסך רחב</PresentationFormat>
  <Paragraphs>508</Paragraphs>
  <Slides>68</Slides>
  <Notes>1</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68</vt:i4>
      </vt:variant>
    </vt:vector>
  </HeadingPairs>
  <TitlesOfParts>
    <vt:vector size="73" baseType="lpstr">
      <vt:lpstr>Arial</vt:lpstr>
      <vt:lpstr>Calibri</vt:lpstr>
      <vt:lpstr>Garamond</vt:lpstr>
      <vt:lpstr>Wingdings</vt:lpstr>
      <vt:lpstr>אורגני</vt:lpstr>
      <vt:lpstr>תרגול רביעי </vt:lpstr>
      <vt:lpstr>השערת Collatz </vt:lpstr>
      <vt:lpstr>תכנית Collatz</vt:lpstr>
      <vt:lpstr>מהלך התכנית</vt:lpstr>
      <vt:lpstr>מהלך התכנית</vt:lpstr>
      <vt:lpstr>הרצה + מעקב אחר המערך </vt:lpstr>
      <vt:lpstr>מחסנית הגדרה </vt:lpstr>
      <vt:lpstr>פעולות יסודיות במחסנית </vt:lpstr>
      <vt:lpstr>דחיפה למחסנית </vt:lpstr>
      <vt:lpstr>שליפה מהמחסנית </vt:lpstr>
      <vt:lpstr>מהו מאקרו ? </vt:lpstr>
      <vt:lpstr>NASM macro syntax</vt:lpstr>
      <vt:lpstr>דוגמא למאקרו </vt:lpstr>
      <vt:lpstr>המשך דוגמא </vt:lpstr>
      <vt:lpstr>push_pop_demo – Implementing PUSH/POP with macros</vt:lpstr>
      <vt:lpstr>דוגמא לתכנית שמשתמשת במאקרו </vt:lpstr>
      <vt:lpstr>דוגמא המשך</vt:lpstr>
      <vt:lpstr>הרצה ודיבוג של התכנית </vt:lpstr>
      <vt:lpstr>הרצה ודיבוג</vt:lpstr>
      <vt:lpstr>פקודות call and return </vt:lpstr>
      <vt:lpstr>שימוש במאקרו לצורך call/return </vt:lpstr>
      <vt:lpstr>שימוש במאקרו לצורך call/return</vt:lpstr>
      <vt:lpstr>תפקידו של %%L </vt:lpstr>
      <vt:lpstr>תפקידו של%%L </vt:lpstr>
      <vt:lpstr>תפקידו של %%L</vt:lpstr>
      <vt:lpstr>extern printf</vt:lpstr>
      <vt:lpstr>פקודת enter 0,0 </vt:lpstr>
      <vt:lpstr>המשך </vt:lpstr>
      <vt:lpstr>פקודת leave </vt:lpstr>
      <vt:lpstr>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מבנה המחסנית ביחס לדוגמא </vt:lpstr>
      <vt:lpstr>פקודת leave </vt:lpstr>
      <vt:lpstr>פקודת leave המשך </vt:lpstr>
      <vt:lpstr>פקודת Leave המשך </vt:lpstr>
      <vt:lpstr>פקודת  Leave המשך </vt:lpstr>
      <vt:lpstr>פקודת   Leave המשך </vt:lpstr>
      <vt:lpstr>פקודת ret </vt:lpstr>
      <vt:lpstr>Call_return_demo.asm</vt:lpstr>
      <vt:lpstr>אופן פעולת התכנית </vt:lpstr>
      <vt:lpstr>אופן פעולת התכנית </vt:lpstr>
      <vt:lpstr>אופן פעולת התכנית </vt:lpstr>
      <vt:lpstr>אופן פעולת התכנית </vt:lpstr>
      <vt:lpstr>קמפול, הרצה ודיבוג  התכנית</vt:lpstr>
      <vt:lpstr>תכנית רקורסיבית לחישוב עצרת </vt:lpstr>
      <vt:lpstr>מבנה התכנית </vt:lpstr>
      <vt:lpstr>מאקרוס </vt:lpstr>
      <vt:lpstr>מאקרוס המשך </vt:lpstr>
      <vt:lpstr>הסבר לגבי CALL</vt:lpstr>
      <vt:lpstr>RETURN  macro </vt:lpstr>
      <vt:lpstr>פונקצית העצרת</vt:lpstr>
      <vt:lpstr>פונקצית העצרת</vt:lpstr>
      <vt:lpstr>קטע קוד של מקרה הבסיס </vt:lpstr>
      <vt:lpstr>הקטע הרקורסיבי </vt:lpstr>
      <vt:lpstr>הסבר </vt:lpstr>
      <vt:lpstr>הסבר </vt:lpstr>
      <vt:lpstr>התכנית הראשית והדפסת התוצאה למסך </vt:lpstr>
      <vt:lpstr>המשך </vt:lpstr>
      <vt:lpstr>המשך </vt:lpstr>
      <vt:lpstr>המשך </vt:lpstr>
      <vt:lpstr>הרצת התכנית </vt:lpstr>
      <vt:lpstr>לסיכום מה למדנו היום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תרגול רביעי</dc:title>
  <dc:creator>אורן אליעזר</dc:creator>
  <cp:lastModifiedBy>אריאל ברוך ביתן</cp:lastModifiedBy>
  <cp:revision>57</cp:revision>
  <cp:lastPrinted>2026-03-14T10:42:02Z</cp:lastPrinted>
  <dcterms:created xsi:type="dcterms:W3CDTF">2026-03-12T19:50:22Z</dcterms:created>
  <dcterms:modified xsi:type="dcterms:W3CDTF">2026-05-03T06:41:05Z</dcterms:modified>
</cp:coreProperties>
</file>