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54"/>
  </p:notesMasterIdLst>
  <p:sldIdLst>
    <p:sldId id="256" r:id="rId2"/>
    <p:sldId id="257" r:id="rId3"/>
    <p:sldId id="258" r:id="rId4"/>
    <p:sldId id="259" r:id="rId5"/>
    <p:sldId id="260" r:id="rId6"/>
    <p:sldId id="261" r:id="rId7"/>
    <p:sldId id="305" r:id="rId8"/>
    <p:sldId id="262" r:id="rId9"/>
    <p:sldId id="263" r:id="rId10"/>
    <p:sldId id="306" r:id="rId11"/>
    <p:sldId id="307" r:id="rId12"/>
    <p:sldId id="309" r:id="rId13"/>
    <p:sldId id="310" r:id="rId14"/>
    <p:sldId id="264" r:id="rId15"/>
    <p:sldId id="265" r:id="rId16"/>
    <p:sldId id="266" r:id="rId17"/>
    <p:sldId id="267" r:id="rId18"/>
    <p:sldId id="308" r:id="rId19"/>
    <p:sldId id="268" r:id="rId20"/>
    <p:sldId id="269" r:id="rId21"/>
    <p:sldId id="270" r:id="rId22"/>
    <p:sldId id="271" r:id="rId23"/>
    <p:sldId id="272" r:id="rId24"/>
    <p:sldId id="273" r:id="rId25"/>
    <p:sldId id="277" r:id="rId26"/>
    <p:sldId id="278" r:id="rId27"/>
    <p:sldId id="281" r:id="rId28"/>
    <p:sldId id="279" r:id="rId29"/>
    <p:sldId id="282" r:id="rId30"/>
    <p:sldId id="280" r:id="rId31"/>
    <p:sldId id="283" r:id="rId32"/>
    <p:sldId id="284" r:id="rId33"/>
    <p:sldId id="285" r:id="rId34"/>
    <p:sldId id="287" r:id="rId35"/>
    <p:sldId id="286" r:id="rId36"/>
    <p:sldId id="297" r:id="rId37"/>
    <p:sldId id="303" r:id="rId38"/>
    <p:sldId id="289" r:id="rId39"/>
    <p:sldId id="288" r:id="rId40"/>
    <p:sldId id="300" r:id="rId41"/>
    <p:sldId id="301" r:id="rId42"/>
    <p:sldId id="302" r:id="rId43"/>
    <p:sldId id="295" r:id="rId44"/>
    <p:sldId id="292" r:id="rId45"/>
    <p:sldId id="296" r:id="rId46"/>
    <p:sldId id="291" r:id="rId47"/>
    <p:sldId id="299" r:id="rId48"/>
    <p:sldId id="293" r:id="rId49"/>
    <p:sldId id="294" r:id="rId50"/>
    <p:sldId id="298" r:id="rId51"/>
    <p:sldId id="311" r:id="rId52"/>
    <p:sldId id="304" r:id="rId53"/>
  </p:sldIdLst>
  <p:sldSz cx="12192000" cy="6858000"/>
  <p:notesSz cx="7104063" cy="10234613"/>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4025636" y="0"/>
            <a:ext cx="3078427" cy="513508"/>
          </a:xfrm>
          <a:prstGeom prst="rect">
            <a:avLst/>
          </a:prstGeom>
        </p:spPr>
        <p:txBody>
          <a:bodyPr vert="horz" lIns="99075" tIns="49538" rIns="99075" bIns="49538" rtlCol="1"/>
          <a:lstStyle>
            <a:lvl1pPr algn="r">
              <a:defRPr sz="1300"/>
            </a:lvl1pPr>
          </a:lstStyle>
          <a:p>
            <a:endParaRPr lang="he-IL"/>
          </a:p>
        </p:txBody>
      </p:sp>
      <p:sp>
        <p:nvSpPr>
          <p:cNvPr id="3" name="מציין מיקום של תאריך 2"/>
          <p:cNvSpPr>
            <a:spLocks noGrp="1"/>
          </p:cNvSpPr>
          <p:nvPr>
            <p:ph type="dt" idx="1"/>
          </p:nvPr>
        </p:nvSpPr>
        <p:spPr>
          <a:xfrm>
            <a:off x="1645" y="0"/>
            <a:ext cx="3078427" cy="513508"/>
          </a:xfrm>
          <a:prstGeom prst="rect">
            <a:avLst/>
          </a:prstGeom>
        </p:spPr>
        <p:txBody>
          <a:bodyPr vert="horz" lIns="99075" tIns="49538" rIns="99075" bIns="49538" rtlCol="1"/>
          <a:lstStyle>
            <a:lvl1pPr algn="l">
              <a:defRPr sz="1300"/>
            </a:lvl1pPr>
          </a:lstStyle>
          <a:p>
            <a:fld id="{9605123F-AE36-4C71-895F-E17BD5714E27}" type="datetimeFigureOut">
              <a:rPr lang="he-IL" smtClean="0"/>
              <a:t>ח'/סיון/תשפ"ו</a:t>
            </a:fld>
            <a:endParaRPr lang="he-IL"/>
          </a:p>
        </p:txBody>
      </p:sp>
      <p:sp>
        <p:nvSpPr>
          <p:cNvPr id="4" name="מציין מיקום של תמונת שקופית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1" anchor="ctr"/>
          <a:lstStyle/>
          <a:p>
            <a:endParaRPr lang="he-IL"/>
          </a:p>
        </p:txBody>
      </p:sp>
      <p:sp>
        <p:nvSpPr>
          <p:cNvPr id="5" name="מציין מיקום של הערות 4"/>
          <p:cNvSpPr>
            <a:spLocks noGrp="1"/>
          </p:cNvSpPr>
          <p:nvPr>
            <p:ph type="body" sz="quarter" idx="3"/>
          </p:nvPr>
        </p:nvSpPr>
        <p:spPr>
          <a:xfrm>
            <a:off x="710407" y="4925407"/>
            <a:ext cx="5683250" cy="4029879"/>
          </a:xfrm>
          <a:prstGeom prst="rect">
            <a:avLst/>
          </a:prstGeom>
        </p:spPr>
        <p:txBody>
          <a:bodyPr vert="horz" lIns="99075" tIns="49538" rIns="99075" bIns="49538"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4025636" y="9721107"/>
            <a:ext cx="3078427" cy="513507"/>
          </a:xfrm>
          <a:prstGeom prst="rect">
            <a:avLst/>
          </a:prstGeom>
        </p:spPr>
        <p:txBody>
          <a:bodyPr vert="horz" lIns="99075" tIns="49538" rIns="99075" bIns="49538" rtlCol="1" anchor="b"/>
          <a:lstStyle>
            <a:lvl1pPr algn="r">
              <a:defRPr sz="1300"/>
            </a:lvl1pPr>
          </a:lstStyle>
          <a:p>
            <a:endParaRPr lang="he-IL"/>
          </a:p>
        </p:txBody>
      </p:sp>
      <p:sp>
        <p:nvSpPr>
          <p:cNvPr id="7" name="מציין מיקום של מספר שקופית 6"/>
          <p:cNvSpPr>
            <a:spLocks noGrp="1"/>
          </p:cNvSpPr>
          <p:nvPr>
            <p:ph type="sldNum" sz="quarter" idx="5"/>
          </p:nvPr>
        </p:nvSpPr>
        <p:spPr>
          <a:xfrm>
            <a:off x="1645" y="9721107"/>
            <a:ext cx="3078427" cy="513507"/>
          </a:xfrm>
          <a:prstGeom prst="rect">
            <a:avLst/>
          </a:prstGeom>
        </p:spPr>
        <p:txBody>
          <a:bodyPr vert="horz" lIns="99075" tIns="49538" rIns="99075" bIns="49538" rtlCol="1" anchor="b"/>
          <a:lstStyle>
            <a:lvl1pPr algn="l">
              <a:defRPr sz="1300"/>
            </a:lvl1pPr>
          </a:lstStyle>
          <a:p>
            <a:fld id="{834F5DA0-66F7-4B16-8C81-6D08F1721523}" type="slidenum">
              <a:rPr lang="he-IL" smtClean="0"/>
              <a:t>‹#›</a:t>
            </a:fld>
            <a:endParaRPr lang="he-IL"/>
          </a:p>
        </p:txBody>
      </p:sp>
    </p:spTree>
    <p:extLst>
      <p:ext uri="{BB962C8B-B14F-4D97-AF65-F5344CB8AC3E}">
        <p14:creationId xmlns:p14="http://schemas.microsoft.com/office/powerpoint/2010/main" val="90082778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834F5DA0-66F7-4B16-8C81-6D08F1721523}" type="slidenum">
              <a:rPr lang="he-IL" smtClean="0"/>
              <a:t>3</a:t>
            </a:fld>
            <a:endParaRPr lang="he-IL"/>
          </a:p>
        </p:txBody>
      </p:sp>
    </p:spTree>
    <p:extLst>
      <p:ext uri="{BB962C8B-B14F-4D97-AF65-F5344CB8AC3E}">
        <p14:creationId xmlns:p14="http://schemas.microsoft.com/office/powerpoint/2010/main" val="9776884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00E2222-D74D-4EB2-AD20-2366CFC1F90F}" type="datetime8">
              <a:rPr lang="he-IL" smtClean="0"/>
              <a:t>24 מאי 26</a:t>
            </a:fld>
            <a:endParaRPr lang="he-IL"/>
          </a:p>
        </p:txBody>
      </p:sp>
      <p:sp>
        <p:nvSpPr>
          <p:cNvPr id="5" name="Footer Placeholder 4"/>
          <p:cNvSpPr>
            <a:spLocks noGrp="1"/>
          </p:cNvSpPr>
          <p:nvPr>
            <p:ph type="ftr" sz="quarter" idx="11"/>
          </p:nvPr>
        </p:nvSpPr>
        <p:spPr>
          <a:xfrm>
            <a:off x="2692397" y="5037663"/>
            <a:ext cx="5214635" cy="279400"/>
          </a:xfrm>
        </p:spPr>
        <p:txBody>
          <a:bodyPr/>
          <a:lstStyle/>
          <a:p>
            <a:endParaRPr lang="he-IL"/>
          </a:p>
        </p:txBody>
      </p:sp>
      <p:sp>
        <p:nvSpPr>
          <p:cNvPr id="6" name="Slide Number Placeholder 5"/>
          <p:cNvSpPr>
            <a:spLocks noGrp="1"/>
          </p:cNvSpPr>
          <p:nvPr>
            <p:ph type="sldNum" sz="quarter" idx="12"/>
          </p:nvPr>
        </p:nvSpPr>
        <p:spPr>
          <a:xfrm>
            <a:off x="8956900" y="5037663"/>
            <a:ext cx="551167" cy="279400"/>
          </a:xfrm>
        </p:spPr>
        <p:txBody>
          <a:bodyPr/>
          <a:lstStyle/>
          <a:p>
            <a:fld id="{7980F8D2-A28C-4059-A3B3-B4E5AB0091B4}" type="slidenum">
              <a:rPr lang="he-IL" smtClean="0"/>
              <a:t>‹#›</a:t>
            </a:fld>
            <a:endParaRPr lang="he-IL"/>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4622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C4B1D941-F349-4189-89D9-4CF4C09042D2}" type="datetime8">
              <a:rPr lang="he-IL" smtClean="0"/>
              <a:t>24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980F8D2-A28C-4059-A3B3-B4E5AB0091B4}" type="slidenum">
              <a:rPr lang="he-IL" smtClean="0"/>
              <a:t>‹#›</a:t>
            </a:fld>
            <a:endParaRPr lang="he-IL"/>
          </a:p>
        </p:txBody>
      </p:sp>
    </p:spTree>
    <p:extLst>
      <p:ext uri="{BB962C8B-B14F-4D97-AF65-F5344CB8AC3E}">
        <p14:creationId xmlns:p14="http://schemas.microsoft.com/office/powerpoint/2010/main" val="1328199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E6ECA3DD-AE8F-402B-A20F-786686274067}" type="datetime8">
              <a:rPr lang="he-IL" smtClean="0"/>
              <a:t>24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980F8D2-A28C-4059-A3B3-B4E5AB0091B4}" type="slidenum">
              <a:rPr lang="he-IL" smtClean="0"/>
              <a:t>‹#›</a:t>
            </a:fld>
            <a:endParaRPr lang="he-IL"/>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2664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C2CFD95B-AB3B-4732-A2D6-9863B723E053}" type="datetime8">
              <a:rPr lang="he-IL" smtClean="0"/>
              <a:t>24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980F8D2-A28C-4059-A3B3-B4E5AB0091B4}" type="slidenum">
              <a:rPr lang="he-IL" smtClean="0"/>
              <a:t>‹#›</a:t>
            </a:fld>
            <a:endParaRPr lang="he-IL"/>
          </a:p>
        </p:txBody>
      </p:sp>
    </p:spTree>
    <p:extLst>
      <p:ext uri="{BB962C8B-B14F-4D97-AF65-F5344CB8AC3E}">
        <p14:creationId xmlns:p14="http://schemas.microsoft.com/office/powerpoint/2010/main" val="624437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14596770-B730-4D99-BDE4-1EF543C812F4}" type="datetime8">
              <a:rPr lang="he-IL" smtClean="0"/>
              <a:t>24 מאי 26</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7980F8D2-A28C-4059-A3B3-B4E5AB0091B4}" type="slidenum">
              <a:rPr lang="he-IL" smtClean="0"/>
              <a:t>‹#›</a:t>
            </a:fld>
            <a:endParaRPr lang="he-IL"/>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3789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A7E3CDE6-B606-4508-8E16-EA3371C7B7BB}" type="datetime8">
              <a:rPr lang="he-IL" smtClean="0"/>
              <a:t>24 מאי 26</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7980F8D2-A28C-4059-A3B3-B4E5AB0091B4}" type="slidenum">
              <a:rPr lang="he-IL" smtClean="0"/>
              <a:t>‹#›</a:t>
            </a:fld>
            <a:endParaRPr lang="he-IL"/>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6899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4BF20C-560F-4179-B178-291CBC7858C5}" type="datetime8">
              <a:rPr lang="he-IL" smtClean="0"/>
              <a:t>24 מאי 26</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7980F8D2-A28C-4059-A3B3-B4E5AB0091B4}" type="slidenum">
              <a:rPr lang="he-IL" smtClean="0"/>
              <a:t>‹#›</a:t>
            </a:fld>
            <a:endParaRPr lang="he-IL"/>
          </a:p>
        </p:txBody>
      </p:sp>
    </p:spTree>
    <p:extLst>
      <p:ext uri="{BB962C8B-B14F-4D97-AF65-F5344CB8AC3E}">
        <p14:creationId xmlns:p14="http://schemas.microsoft.com/office/powerpoint/2010/main" val="1967550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1A83B37B-53DB-465F-A907-29D12985A352}" type="datetime8">
              <a:rPr lang="he-IL" smtClean="0"/>
              <a:t>24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980F8D2-A28C-4059-A3B3-B4E5AB0091B4}" type="slidenum">
              <a:rPr lang="he-IL" smtClean="0"/>
              <a:t>‹#›</a:t>
            </a:fld>
            <a:endParaRPr lang="he-IL"/>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3014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he-IL"/>
              <a:t>לחץ כדי לערוך סגנון כותרת של תבנית בסיס</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C02B7CB5-E34C-4076-A32F-A6C6217C96BF}" type="datetime8">
              <a:rPr lang="he-IL" smtClean="0"/>
              <a:t>24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980F8D2-A28C-4059-A3B3-B4E5AB0091B4}" type="slidenum">
              <a:rPr lang="he-IL" smtClean="0"/>
              <a:t>‹#›</a:t>
            </a:fld>
            <a:endParaRPr lang="he-IL"/>
          </a:p>
        </p:txBody>
      </p:sp>
    </p:spTree>
    <p:extLst>
      <p:ext uri="{BB962C8B-B14F-4D97-AF65-F5344CB8AC3E}">
        <p14:creationId xmlns:p14="http://schemas.microsoft.com/office/powerpoint/2010/main" val="4150635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131318C9-CC81-4CFB-8752-8F994ABBB297}" type="datetime8">
              <a:rPr lang="he-IL" smtClean="0"/>
              <a:t>24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980F8D2-A28C-4059-A3B3-B4E5AB0091B4}" type="slidenum">
              <a:rPr lang="he-IL" smtClean="0"/>
              <a:t>‹#›</a:t>
            </a:fld>
            <a:endParaRPr lang="he-IL"/>
          </a:p>
        </p:txBody>
      </p:sp>
    </p:spTree>
    <p:extLst>
      <p:ext uri="{BB962C8B-B14F-4D97-AF65-F5344CB8AC3E}">
        <p14:creationId xmlns:p14="http://schemas.microsoft.com/office/powerpoint/2010/main" val="634302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23BD050A-A1FA-4FE4-BAA3-E62BFBFF06C2}" type="datetime8">
              <a:rPr lang="he-IL" smtClean="0"/>
              <a:t>24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980F8D2-A28C-4059-A3B3-B4E5AB0091B4}" type="slidenum">
              <a:rPr lang="he-IL" smtClean="0"/>
              <a:t>‹#›</a:t>
            </a:fld>
            <a:endParaRPr lang="he-IL"/>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2883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he-IL"/>
              <a:t>לחץ כדי לערוך סגנון כותרת של תבנית בסיס</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09F87EF2-1A82-460C-81CB-0E17C8C44C65}" type="datetime8">
              <a:rPr lang="he-IL" smtClean="0"/>
              <a:t>24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980F8D2-A28C-4059-A3B3-B4E5AB0091B4}" type="slidenum">
              <a:rPr lang="he-IL" smtClean="0"/>
              <a:t>‹#›</a:t>
            </a:fld>
            <a:endParaRPr lang="he-IL"/>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94612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22AFFE1C-8987-4679-9E97-92752BA79DA3}" type="datetime8">
              <a:rPr lang="he-IL" smtClean="0"/>
              <a:t>24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980F8D2-A28C-4059-A3B3-B4E5AB0091B4}" type="slidenum">
              <a:rPr lang="he-IL" smtClean="0"/>
              <a:t>‹#›</a:t>
            </a:fld>
            <a:endParaRPr lang="he-IL"/>
          </a:p>
        </p:txBody>
      </p:sp>
    </p:spTree>
    <p:extLst>
      <p:ext uri="{BB962C8B-B14F-4D97-AF65-F5344CB8AC3E}">
        <p14:creationId xmlns:p14="http://schemas.microsoft.com/office/powerpoint/2010/main" val="10456979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he-IL"/>
              <a:t>לחץ כדי לערוך סגנון כותרת של תבנית בסיס</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F885594D-19D9-48CA-8F66-CAA073041170}" type="datetime8">
              <a:rPr lang="he-IL" smtClean="0"/>
              <a:t>24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980F8D2-A28C-4059-A3B3-B4E5AB0091B4}" type="slidenum">
              <a:rPr lang="he-IL" smtClean="0"/>
              <a:t>‹#›</a:t>
            </a:fld>
            <a:endParaRPr lang="he-IL"/>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6123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או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he-IL"/>
              <a:t>לחץ כדי לערוך סגנון כותרת של תבנית בסיס</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FEBB52BD-3DBF-4C7B-B055-69D31EE114F2}" type="datetime8">
              <a:rPr lang="he-IL" smtClean="0"/>
              <a:t>24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980F8D2-A28C-4059-A3B3-B4E5AB0091B4}" type="slidenum">
              <a:rPr lang="he-IL" smtClean="0"/>
              <a:t>‹#›</a:t>
            </a:fld>
            <a:endParaRPr lang="he-IL"/>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82712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D7F94600-10E6-49FE-86C0-653CE6F970CC}" type="datetime8">
              <a:rPr lang="he-IL" smtClean="0"/>
              <a:t>24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980F8D2-A28C-4059-A3B3-B4E5AB0091B4}" type="slidenum">
              <a:rPr lang="he-IL" smtClean="0"/>
              <a:t>‹#›</a:t>
            </a:fld>
            <a:endParaRPr lang="he-IL"/>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795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309BC362-18AF-4E22-A1A8-D9092E79CDB1}" type="datetime8">
              <a:rPr lang="he-IL" smtClean="0"/>
              <a:t>24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980F8D2-A28C-4059-A3B3-B4E5AB0091B4}" type="slidenum">
              <a:rPr lang="he-IL" smtClean="0"/>
              <a:t>‹#›</a:t>
            </a:fld>
            <a:endParaRPr lang="he-IL"/>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0001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993C23C-EEF2-45BE-86DE-1551C7A8EEF1}" type="datetime8">
              <a:rPr lang="he-IL" smtClean="0"/>
              <a:t>24 מאי 26</a:t>
            </a:fld>
            <a:endParaRPr lang="he-IL"/>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he-IL"/>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980F8D2-A28C-4059-A3B3-B4E5AB0091B4}" type="slidenum">
              <a:rPr lang="he-IL" smtClean="0"/>
              <a:t>‹#›</a:t>
            </a:fld>
            <a:endParaRPr lang="he-IL"/>
          </a:p>
        </p:txBody>
      </p:sp>
    </p:spTree>
    <p:extLst>
      <p:ext uri="{BB962C8B-B14F-4D97-AF65-F5344CB8AC3E}">
        <p14:creationId xmlns:p14="http://schemas.microsoft.com/office/powerpoint/2010/main" val="6168922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p:txStyles>
    <p:titleStyle>
      <a:lvl1pPr algn="ctr" defTabSz="457200" rtl="1"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r" defTabSz="457200" rtl="1"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r" defTabSz="457200" rtl="1"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r" defTabSz="457200" rtl="1"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p:txBody>
          <a:bodyPr/>
          <a:lstStyle/>
          <a:p>
            <a:r>
              <a:rPr lang="he-IL" dirty="0"/>
              <a:t>תרגול 7 </a:t>
            </a:r>
          </a:p>
        </p:txBody>
      </p:sp>
      <p:sp>
        <p:nvSpPr>
          <p:cNvPr id="3" name="כותרת משנה 2"/>
          <p:cNvSpPr>
            <a:spLocks noGrp="1"/>
          </p:cNvSpPr>
          <p:nvPr>
            <p:ph type="subTitle" idx="1"/>
          </p:nvPr>
        </p:nvSpPr>
        <p:spPr/>
        <p:txBody>
          <a:bodyPr/>
          <a:lstStyle/>
          <a:p>
            <a:r>
              <a:rPr lang="he-IL" dirty="0"/>
              <a:t>תכנות מתקדם </a:t>
            </a:r>
            <a:r>
              <a:rPr lang="he-IL" dirty="0" err="1"/>
              <a:t>באסמבלי</a:t>
            </a:r>
            <a:r>
              <a:rPr lang="he-IL" dirty="0"/>
              <a:t> עם קריאות מערכת של לינוקס </a:t>
            </a:r>
          </a:p>
        </p:txBody>
      </p:sp>
      <p:sp>
        <p:nvSpPr>
          <p:cNvPr id="4" name="מציין מיקום של תאריך 3"/>
          <p:cNvSpPr>
            <a:spLocks noGrp="1"/>
          </p:cNvSpPr>
          <p:nvPr>
            <p:ph type="dt" sz="half" idx="10"/>
          </p:nvPr>
        </p:nvSpPr>
        <p:spPr/>
        <p:txBody>
          <a:bodyPr/>
          <a:lstStyle/>
          <a:p>
            <a:fld id="{81D2EA7B-DAB9-46E3-9ECE-FAB8E2D0518B}"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1</a:t>
            </a:fld>
            <a:endParaRPr lang="he-IL"/>
          </a:p>
        </p:txBody>
      </p:sp>
    </p:spTree>
    <p:extLst>
      <p:ext uri="{BB962C8B-B14F-4D97-AF65-F5344CB8AC3E}">
        <p14:creationId xmlns:p14="http://schemas.microsoft.com/office/powerpoint/2010/main" val="3577178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רקע  - קריאות מערכת </a:t>
            </a:r>
          </a:p>
        </p:txBody>
      </p:sp>
      <p:sp>
        <p:nvSpPr>
          <p:cNvPr id="3" name="מציין מיקום תוכן 2"/>
          <p:cNvSpPr>
            <a:spLocks noGrp="1"/>
          </p:cNvSpPr>
          <p:nvPr>
            <p:ph idx="1"/>
          </p:nvPr>
        </p:nvSpPr>
        <p:spPr/>
        <p:txBody>
          <a:bodyPr>
            <a:normAutofit fontScale="92500" lnSpcReduction="20000"/>
          </a:bodyPr>
          <a:lstStyle/>
          <a:p>
            <a:r>
              <a:rPr lang="he-IL" dirty="0"/>
              <a:t>מערכות הפעלה מודרניות מבדילות ביצוע של פונקציות ופקודות לשתי קטגוריות :</a:t>
            </a:r>
            <a:r>
              <a:rPr lang="en-US" dirty="0"/>
              <a:t> </a:t>
            </a:r>
            <a:endParaRPr lang="he-IL" dirty="0"/>
          </a:p>
          <a:p>
            <a:r>
              <a:rPr lang="en-US" dirty="0"/>
              <a:t>Ring 0</a:t>
            </a:r>
            <a:r>
              <a:rPr lang="he-IL" dirty="0"/>
              <a:t> – גרעין מערכת ההפעלה אשר מאפשר גישה ישירה לחומרה </a:t>
            </a:r>
          </a:p>
          <a:p>
            <a:r>
              <a:rPr lang="en-US" dirty="0"/>
              <a:t>Ring 3</a:t>
            </a:r>
            <a:r>
              <a:rPr lang="he-IL" dirty="0"/>
              <a:t> – תכניות משתמש </a:t>
            </a:r>
          </a:p>
          <a:p>
            <a:r>
              <a:rPr lang="he-IL" dirty="0"/>
              <a:t>בהרצאה למדתם כי קריאות מערכת הן רוטינות  בסיסיות של קלט פלט  וכן עבור ניהול משאבים, כמו כן קריאות מערכת מערבות עבודה עם גרעין מערכת ההפעלה.</a:t>
            </a:r>
          </a:p>
          <a:p>
            <a:r>
              <a:rPr lang="he-IL" dirty="0"/>
              <a:t>פירושו שהמשתמש אינו יכול לגשת ישירות אל החומרה , ותכניות שהמשתמש כותב מחויבות לפנות אל הגרעין כדי לקבל שירות </a:t>
            </a:r>
          </a:p>
          <a:p>
            <a:r>
              <a:rPr lang="he-IL" dirty="0"/>
              <a:t>בקשת שירות זו נקראת קריאת מערכת או </a:t>
            </a:r>
            <a:r>
              <a:rPr lang="en-US" dirty="0"/>
              <a:t>system call </a:t>
            </a:r>
            <a:r>
              <a:rPr lang="he-IL" dirty="0"/>
              <a:t> ותפקידה הוא להגן על המערכת בפני פעולות מוטעות בעלות השלכות שעלולות להיות קשות</a:t>
            </a:r>
          </a:p>
        </p:txBody>
      </p:sp>
      <p:sp>
        <p:nvSpPr>
          <p:cNvPr id="4" name="מציין מיקום של תאריך 3"/>
          <p:cNvSpPr>
            <a:spLocks noGrp="1"/>
          </p:cNvSpPr>
          <p:nvPr>
            <p:ph type="dt" sz="half" idx="10"/>
          </p:nvPr>
        </p:nvSpPr>
        <p:spPr/>
        <p:txBody>
          <a:bodyPr/>
          <a:lstStyle/>
          <a:p>
            <a:fld id="{BE5CC6E8-5AE6-426E-8E47-795E4D61396A}"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2</a:t>
            </a:fld>
            <a:endParaRPr lang="he-IL"/>
          </a:p>
        </p:txBody>
      </p:sp>
    </p:spTree>
    <p:extLst>
      <p:ext uri="{BB962C8B-B14F-4D97-AF65-F5344CB8AC3E}">
        <p14:creationId xmlns:p14="http://schemas.microsoft.com/office/powerpoint/2010/main" val="3703702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איך </a:t>
            </a:r>
            <a:r>
              <a:rPr lang="en-US" dirty="0" err="1"/>
              <a:t>syscall</a:t>
            </a:r>
            <a:r>
              <a:rPr lang="en-US" dirty="0"/>
              <a:t> </a:t>
            </a:r>
            <a:r>
              <a:rPr lang="he-IL" dirty="0"/>
              <a:t> פועלת </a:t>
            </a:r>
          </a:p>
        </p:txBody>
      </p:sp>
      <p:sp>
        <p:nvSpPr>
          <p:cNvPr id="3" name="מציין מיקום תוכן 2"/>
          <p:cNvSpPr>
            <a:spLocks noGrp="1"/>
          </p:cNvSpPr>
          <p:nvPr>
            <p:ph idx="1"/>
          </p:nvPr>
        </p:nvSpPr>
        <p:spPr/>
        <p:txBody>
          <a:bodyPr>
            <a:normAutofit lnSpcReduction="10000"/>
          </a:bodyPr>
          <a:lstStyle/>
          <a:p>
            <a:r>
              <a:rPr lang="he-IL" dirty="0"/>
              <a:t>כאשר המשתמש מפעיל פקודת </a:t>
            </a:r>
            <a:r>
              <a:rPr lang="en-US" dirty="0" err="1"/>
              <a:t>syscall</a:t>
            </a:r>
            <a:r>
              <a:rPr lang="he-IL" dirty="0"/>
              <a:t> מתרחש התהליך הבא :</a:t>
            </a:r>
            <a:r>
              <a:rPr lang="en-US" dirty="0"/>
              <a:t> </a:t>
            </a:r>
            <a:endParaRPr lang="he-IL" dirty="0"/>
          </a:p>
          <a:p>
            <a:r>
              <a:rPr lang="he-IL" dirty="0"/>
              <a:t>1. המעבד עובר ממצב </a:t>
            </a:r>
            <a:r>
              <a:rPr lang="en-US" dirty="0"/>
              <a:t>ring 3 </a:t>
            </a:r>
            <a:r>
              <a:rPr lang="he-IL" dirty="0"/>
              <a:t> למצב </a:t>
            </a:r>
            <a:r>
              <a:rPr lang="en-US" dirty="0"/>
              <a:t>ring 0</a:t>
            </a:r>
            <a:r>
              <a:rPr lang="he-IL" dirty="0"/>
              <a:t> </a:t>
            </a:r>
          </a:p>
          <a:p>
            <a:r>
              <a:rPr lang="he-IL" dirty="0"/>
              <a:t>2. המעבד שומר את תוכנו של אוגר </a:t>
            </a:r>
            <a:r>
              <a:rPr lang="en-US" dirty="0"/>
              <a:t>RIP</a:t>
            </a:r>
            <a:r>
              <a:rPr lang="he-IL" dirty="0"/>
              <a:t> בתוך </a:t>
            </a:r>
            <a:r>
              <a:rPr lang="en-US" dirty="0"/>
              <a:t>RCX</a:t>
            </a:r>
            <a:r>
              <a:rPr lang="he-IL" dirty="0"/>
              <a:t> וכן את </a:t>
            </a:r>
            <a:r>
              <a:rPr lang="en-US" dirty="0"/>
              <a:t>RFLAGS </a:t>
            </a:r>
            <a:r>
              <a:rPr lang="he-IL" dirty="0"/>
              <a:t> בתוך </a:t>
            </a:r>
            <a:r>
              <a:rPr lang="en-US" dirty="0"/>
              <a:t>R11</a:t>
            </a:r>
            <a:r>
              <a:rPr lang="he-IL" dirty="0"/>
              <a:t> </a:t>
            </a:r>
          </a:p>
          <a:p>
            <a:r>
              <a:rPr lang="he-IL" dirty="0"/>
              <a:t>3. המעבד קופץ אל התהליך אשר מנהל את קריאת המערכת בגרעין </a:t>
            </a:r>
          </a:p>
          <a:p>
            <a:r>
              <a:rPr lang="he-IL" dirty="0"/>
              <a:t>4. הגרעין מבצע את התהליך </a:t>
            </a:r>
          </a:p>
          <a:p>
            <a:r>
              <a:rPr lang="he-IL" dirty="0"/>
              <a:t>5. עם סיום הפעולה הגרעין מחזיר את הביצוע השוטף לתכנית הקוראת באמצעות </a:t>
            </a:r>
            <a:r>
              <a:rPr lang="en-US" dirty="0" err="1"/>
              <a:t>sysret</a:t>
            </a:r>
            <a:r>
              <a:rPr lang="he-IL" dirty="0"/>
              <a:t> </a:t>
            </a:r>
          </a:p>
          <a:p>
            <a:r>
              <a:rPr lang="he-IL" dirty="0"/>
              <a:t>6. המעבד משחזר את תכנם של </a:t>
            </a:r>
            <a:r>
              <a:rPr lang="en-US" dirty="0"/>
              <a:t>RIP</a:t>
            </a:r>
            <a:r>
              <a:rPr lang="he-IL" dirty="0"/>
              <a:t> ושל </a:t>
            </a:r>
            <a:r>
              <a:rPr lang="en-US" dirty="0"/>
              <a:t>RFLAGS</a:t>
            </a:r>
            <a:r>
              <a:rPr lang="he-IL" dirty="0"/>
              <a:t> אשר נשמרו קודם לכן בשלב 2 </a:t>
            </a:r>
          </a:p>
        </p:txBody>
      </p:sp>
      <p:sp>
        <p:nvSpPr>
          <p:cNvPr id="4" name="מציין מיקום של תאריך 3"/>
          <p:cNvSpPr>
            <a:spLocks noGrp="1"/>
          </p:cNvSpPr>
          <p:nvPr>
            <p:ph type="dt" sz="half" idx="10"/>
          </p:nvPr>
        </p:nvSpPr>
        <p:spPr/>
        <p:txBody>
          <a:bodyPr/>
          <a:lstStyle/>
          <a:p>
            <a:fld id="{E62B8BD3-8BAE-4FCD-9184-0902555D38DF}"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3</a:t>
            </a:fld>
            <a:endParaRPr lang="he-IL"/>
          </a:p>
        </p:txBody>
      </p:sp>
    </p:spTree>
    <p:extLst>
      <p:ext uri="{BB962C8B-B14F-4D97-AF65-F5344CB8AC3E}">
        <p14:creationId xmlns:p14="http://schemas.microsoft.com/office/powerpoint/2010/main" val="244924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Linux x86‑64 System Call ABI</a:t>
            </a:r>
            <a:endParaRPr lang="he-IL" dirty="0"/>
          </a:p>
        </p:txBody>
      </p:sp>
      <p:sp>
        <p:nvSpPr>
          <p:cNvPr id="3" name="מציין מיקום תוכן 2"/>
          <p:cNvSpPr>
            <a:spLocks noGrp="1"/>
          </p:cNvSpPr>
          <p:nvPr>
            <p:ph idx="1"/>
          </p:nvPr>
        </p:nvSpPr>
        <p:spPr>
          <a:xfrm>
            <a:off x="1295402" y="2059299"/>
            <a:ext cx="9714721" cy="4189101"/>
          </a:xfrm>
        </p:spPr>
        <p:txBody>
          <a:bodyPr>
            <a:normAutofit lnSpcReduction="10000"/>
          </a:bodyPr>
          <a:lstStyle/>
          <a:p>
            <a:endParaRPr lang="he-IL" dirty="0"/>
          </a:p>
          <a:p>
            <a:pPr marL="0" indent="0">
              <a:buNone/>
            </a:pPr>
            <a:r>
              <a:rPr lang="he-IL" dirty="0"/>
              <a:t>כדי לבצע כהלכה פקודת </a:t>
            </a:r>
            <a:r>
              <a:rPr lang="en-US" dirty="0" err="1"/>
              <a:t>syscall</a:t>
            </a:r>
            <a:r>
              <a:rPr lang="he-IL" dirty="0"/>
              <a:t> האוגרים צריכים להכיל את התכנים הבאים כדי להכין את הפעולה לביצוע :</a:t>
            </a:r>
            <a:r>
              <a:rPr lang="en-US" dirty="0"/>
              <a:t> </a:t>
            </a:r>
            <a:endParaRPr lang="he-IL" dirty="0"/>
          </a:p>
          <a:p>
            <a:endParaRPr lang="he-IL" dirty="0"/>
          </a:p>
          <a:p>
            <a:endParaRPr lang="he-IL" dirty="0"/>
          </a:p>
          <a:p>
            <a:endParaRPr lang="he-IL" dirty="0"/>
          </a:p>
          <a:p>
            <a:endParaRPr lang="he-IL" dirty="0"/>
          </a:p>
          <a:p>
            <a:endParaRPr lang="he-IL" b="1" dirty="0"/>
          </a:p>
          <a:p>
            <a:r>
              <a:rPr lang="he-IL" b="1" dirty="0"/>
              <a:t>הערה</a:t>
            </a:r>
            <a:r>
              <a:rPr lang="he-IL" dirty="0"/>
              <a:t> – כארגומנט רביעי נשתמש ב</a:t>
            </a:r>
            <a:r>
              <a:rPr lang="en-US" dirty="0"/>
              <a:t>R</a:t>
            </a:r>
            <a:r>
              <a:rPr lang="he-IL" dirty="0"/>
              <a:t>10 מאחר ו</a:t>
            </a:r>
            <a:r>
              <a:rPr lang="en-US" dirty="0"/>
              <a:t>RCX</a:t>
            </a:r>
            <a:r>
              <a:rPr lang="he-IL" dirty="0"/>
              <a:t> משמש לשמירת </a:t>
            </a:r>
            <a:r>
              <a:rPr lang="en-US" dirty="0"/>
              <a:t>RIP</a:t>
            </a:r>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4</a:t>
            </a:fld>
            <a:endParaRPr lang="he-IL"/>
          </a:p>
        </p:txBody>
      </p:sp>
      <p:pic>
        <p:nvPicPr>
          <p:cNvPr id="6" name="תמונה 5"/>
          <p:cNvPicPr>
            <a:picLocks noChangeAspect="1"/>
          </p:cNvPicPr>
          <p:nvPr/>
        </p:nvPicPr>
        <p:blipFill>
          <a:blip r:embed="rId2"/>
          <a:stretch>
            <a:fillRect/>
          </a:stretch>
        </p:blipFill>
        <p:spPr>
          <a:xfrm>
            <a:off x="3412521" y="3239411"/>
            <a:ext cx="7484077" cy="2430696"/>
          </a:xfrm>
          <a:prstGeom prst="rect">
            <a:avLst/>
          </a:prstGeom>
        </p:spPr>
      </p:pic>
    </p:spTree>
    <p:extLst>
      <p:ext uri="{BB962C8B-B14F-4D97-AF65-F5344CB8AC3E}">
        <p14:creationId xmlns:p14="http://schemas.microsoft.com/office/powerpoint/2010/main" val="1989680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ערכים מוכרים לעבודה עם </a:t>
            </a:r>
            <a:r>
              <a:rPr lang="en-US" dirty="0" err="1"/>
              <a:t>syscall</a:t>
            </a:r>
            <a:endParaRPr lang="he-IL" dirty="0"/>
          </a:p>
        </p:txBody>
      </p:sp>
      <p:sp>
        <p:nvSpPr>
          <p:cNvPr id="3" name="מציין מיקום תוכן 2"/>
          <p:cNvSpPr>
            <a:spLocks noGrp="1"/>
          </p:cNvSpPr>
          <p:nvPr>
            <p:ph idx="1"/>
          </p:nvPr>
        </p:nvSpPr>
        <p:spPr/>
        <p:txBody>
          <a:bodyPr/>
          <a:lstStyle/>
          <a:p>
            <a:pPr algn="l" rtl="0"/>
            <a:r>
              <a:rPr lang="en-US" dirty="0"/>
              <a:t>0 → </a:t>
            </a:r>
            <a:r>
              <a:rPr lang="en-US" dirty="0" err="1"/>
              <a:t>sys_read</a:t>
            </a:r>
            <a:endParaRPr lang="en-US" dirty="0"/>
          </a:p>
          <a:p>
            <a:pPr algn="l" rtl="0"/>
            <a:r>
              <a:rPr lang="en-US" dirty="0"/>
              <a:t>1 → </a:t>
            </a:r>
            <a:r>
              <a:rPr lang="en-US" dirty="0" err="1"/>
              <a:t>sys_write</a:t>
            </a:r>
            <a:endParaRPr lang="en-US" dirty="0"/>
          </a:p>
          <a:p>
            <a:pPr algn="l" rtl="0"/>
            <a:r>
              <a:rPr lang="en-US" dirty="0"/>
              <a:t>2 → </a:t>
            </a:r>
            <a:r>
              <a:rPr lang="en-US" dirty="0" err="1"/>
              <a:t>sys_open</a:t>
            </a:r>
            <a:endParaRPr lang="en-US" dirty="0"/>
          </a:p>
          <a:p>
            <a:pPr algn="l" rtl="0"/>
            <a:r>
              <a:rPr lang="en-US" dirty="0"/>
              <a:t>3 → </a:t>
            </a:r>
            <a:r>
              <a:rPr lang="en-US" dirty="0" err="1"/>
              <a:t>sys_close</a:t>
            </a:r>
            <a:endParaRPr lang="en-US" dirty="0"/>
          </a:p>
          <a:p>
            <a:pPr algn="l" rtl="0"/>
            <a:r>
              <a:rPr lang="en-US" dirty="0"/>
              <a:t>59 → </a:t>
            </a:r>
            <a:r>
              <a:rPr lang="en-US" dirty="0" err="1"/>
              <a:t>sys_execve</a:t>
            </a:r>
            <a:endParaRPr lang="en-US" dirty="0"/>
          </a:p>
          <a:p>
            <a:pPr algn="l" rtl="0"/>
            <a:r>
              <a:rPr lang="en-US" dirty="0"/>
              <a:t>60 → </a:t>
            </a:r>
            <a:r>
              <a:rPr lang="en-US" dirty="0" err="1"/>
              <a:t>sys_exit</a:t>
            </a:r>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5</a:t>
            </a:fld>
            <a:endParaRPr lang="he-IL"/>
          </a:p>
        </p:txBody>
      </p:sp>
    </p:spTree>
    <p:extLst>
      <p:ext uri="{BB962C8B-B14F-4D97-AF65-F5344CB8AC3E}">
        <p14:creationId xmlns:p14="http://schemas.microsoft.com/office/powerpoint/2010/main" val="2343401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down)">
                                      <p:cBhvr>
                                        <p:cTn id="23" dur="580">
                                          <p:stCondLst>
                                            <p:cond delay="0"/>
                                          </p:stCondLst>
                                        </p:cTn>
                                        <p:tgtEl>
                                          <p:spTgt spid="3">
                                            <p:txEl>
                                              <p:pRg st="1" end="1"/>
                                            </p:txEl>
                                          </p:spTgt>
                                        </p:tgtEl>
                                      </p:cBhvr>
                                    </p:animEffect>
                                    <p:anim calcmode="lin" valueType="num">
                                      <p:cBhvr>
                                        <p:cTn id="2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1" end="1"/>
                                            </p:txEl>
                                          </p:spTgt>
                                        </p:tgtEl>
                                      </p:cBhvr>
                                      <p:to x="100000" y="60000"/>
                                    </p:animScale>
                                    <p:animScale>
                                      <p:cBhvr>
                                        <p:cTn id="30" dur="166" decel="50000">
                                          <p:stCondLst>
                                            <p:cond delay="676"/>
                                          </p:stCondLst>
                                        </p:cTn>
                                        <p:tgtEl>
                                          <p:spTgt spid="3">
                                            <p:txEl>
                                              <p:pRg st="1" end="1"/>
                                            </p:txEl>
                                          </p:spTgt>
                                        </p:tgtEl>
                                      </p:cBhvr>
                                      <p:to x="100000" y="100000"/>
                                    </p:animScale>
                                    <p:animScale>
                                      <p:cBhvr>
                                        <p:cTn id="31" dur="26">
                                          <p:stCondLst>
                                            <p:cond delay="1312"/>
                                          </p:stCondLst>
                                        </p:cTn>
                                        <p:tgtEl>
                                          <p:spTgt spid="3">
                                            <p:txEl>
                                              <p:pRg st="1" end="1"/>
                                            </p:txEl>
                                          </p:spTgt>
                                        </p:tgtEl>
                                      </p:cBhvr>
                                      <p:to x="100000" y="80000"/>
                                    </p:animScale>
                                    <p:animScale>
                                      <p:cBhvr>
                                        <p:cTn id="32" dur="166" decel="50000">
                                          <p:stCondLst>
                                            <p:cond delay="1338"/>
                                          </p:stCondLst>
                                        </p:cTn>
                                        <p:tgtEl>
                                          <p:spTgt spid="3">
                                            <p:txEl>
                                              <p:pRg st="1" end="1"/>
                                            </p:txEl>
                                          </p:spTgt>
                                        </p:tgtEl>
                                      </p:cBhvr>
                                      <p:to x="100000" y="100000"/>
                                    </p:animScale>
                                    <p:animScale>
                                      <p:cBhvr>
                                        <p:cTn id="33" dur="26">
                                          <p:stCondLst>
                                            <p:cond delay="1642"/>
                                          </p:stCondLst>
                                        </p:cTn>
                                        <p:tgtEl>
                                          <p:spTgt spid="3">
                                            <p:txEl>
                                              <p:pRg st="1" end="1"/>
                                            </p:txEl>
                                          </p:spTgt>
                                        </p:tgtEl>
                                      </p:cBhvr>
                                      <p:to x="100000" y="90000"/>
                                    </p:animScale>
                                    <p:animScale>
                                      <p:cBhvr>
                                        <p:cTn id="34" dur="166" decel="50000">
                                          <p:stCondLst>
                                            <p:cond delay="1668"/>
                                          </p:stCondLst>
                                        </p:cTn>
                                        <p:tgtEl>
                                          <p:spTgt spid="3">
                                            <p:txEl>
                                              <p:pRg st="1" end="1"/>
                                            </p:txEl>
                                          </p:spTgt>
                                        </p:tgtEl>
                                      </p:cBhvr>
                                      <p:to x="100000" y="100000"/>
                                    </p:animScale>
                                    <p:animScale>
                                      <p:cBhvr>
                                        <p:cTn id="35" dur="26">
                                          <p:stCondLst>
                                            <p:cond delay="1808"/>
                                          </p:stCondLst>
                                        </p:cTn>
                                        <p:tgtEl>
                                          <p:spTgt spid="3">
                                            <p:txEl>
                                              <p:pRg st="1" end="1"/>
                                            </p:txEl>
                                          </p:spTgt>
                                        </p:tgtEl>
                                      </p:cBhvr>
                                      <p:to x="100000" y="95000"/>
                                    </p:animScale>
                                    <p:animScale>
                                      <p:cBhvr>
                                        <p:cTn id="36" dur="166" decel="50000">
                                          <p:stCondLst>
                                            <p:cond delay="1834"/>
                                          </p:stCondLst>
                                        </p:cTn>
                                        <p:tgtEl>
                                          <p:spTgt spid="3">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wipe(down)">
                                      <p:cBhvr>
                                        <p:cTn id="39" dur="580">
                                          <p:stCondLst>
                                            <p:cond delay="0"/>
                                          </p:stCondLst>
                                        </p:cTn>
                                        <p:tgtEl>
                                          <p:spTgt spid="3">
                                            <p:txEl>
                                              <p:pRg st="2" end="2"/>
                                            </p:txEl>
                                          </p:spTgt>
                                        </p:tgtEl>
                                      </p:cBhvr>
                                    </p:animEffect>
                                    <p:anim calcmode="lin" valueType="num">
                                      <p:cBhvr>
                                        <p:cTn id="4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2" end="2"/>
                                            </p:txEl>
                                          </p:spTgt>
                                        </p:tgtEl>
                                      </p:cBhvr>
                                      <p:to x="100000" y="60000"/>
                                    </p:animScale>
                                    <p:animScale>
                                      <p:cBhvr>
                                        <p:cTn id="46" dur="166" decel="50000">
                                          <p:stCondLst>
                                            <p:cond delay="676"/>
                                          </p:stCondLst>
                                        </p:cTn>
                                        <p:tgtEl>
                                          <p:spTgt spid="3">
                                            <p:txEl>
                                              <p:pRg st="2" end="2"/>
                                            </p:txEl>
                                          </p:spTgt>
                                        </p:tgtEl>
                                      </p:cBhvr>
                                      <p:to x="100000" y="100000"/>
                                    </p:animScale>
                                    <p:animScale>
                                      <p:cBhvr>
                                        <p:cTn id="47" dur="26">
                                          <p:stCondLst>
                                            <p:cond delay="1312"/>
                                          </p:stCondLst>
                                        </p:cTn>
                                        <p:tgtEl>
                                          <p:spTgt spid="3">
                                            <p:txEl>
                                              <p:pRg st="2" end="2"/>
                                            </p:txEl>
                                          </p:spTgt>
                                        </p:tgtEl>
                                      </p:cBhvr>
                                      <p:to x="100000" y="80000"/>
                                    </p:animScale>
                                    <p:animScale>
                                      <p:cBhvr>
                                        <p:cTn id="48" dur="166" decel="50000">
                                          <p:stCondLst>
                                            <p:cond delay="1338"/>
                                          </p:stCondLst>
                                        </p:cTn>
                                        <p:tgtEl>
                                          <p:spTgt spid="3">
                                            <p:txEl>
                                              <p:pRg st="2" end="2"/>
                                            </p:txEl>
                                          </p:spTgt>
                                        </p:tgtEl>
                                      </p:cBhvr>
                                      <p:to x="100000" y="100000"/>
                                    </p:animScale>
                                    <p:animScale>
                                      <p:cBhvr>
                                        <p:cTn id="49" dur="26">
                                          <p:stCondLst>
                                            <p:cond delay="1642"/>
                                          </p:stCondLst>
                                        </p:cTn>
                                        <p:tgtEl>
                                          <p:spTgt spid="3">
                                            <p:txEl>
                                              <p:pRg st="2" end="2"/>
                                            </p:txEl>
                                          </p:spTgt>
                                        </p:tgtEl>
                                      </p:cBhvr>
                                      <p:to x="100000" y="90000"/>
                                    </p:animScale>
                                    <p:animScale>
                                      <p:cBhvr>
                                        <p:cTn id="50" dur="166" decel="50000">
                                          <p:stCondLst>
                                            <p:cond delay="1668"/>
                                          </p:stCondLst>
                                        </p:cTn>
                                        <p:tgtEl>
                                          <p:spTgt spid="3">
                                            <p:txEl>
                                              <p:pRg st="2" end="2"/>
                                            </p:txEl>
                                          </p:spTgt>
                                        </p:tgtEl>
                                      </p:cBhvr>
                                      <p:to x="100000" y="100000"/>
                                    </p:animScale>
                                    <p:animScale>
                                      <p:cBhvr>
                                        <p:cTn id="51" dur="26">
                                          <p:stCondLst>
                                            <p:cond delay="1808"/>
                                          </p:stCondLst>
                                        </p:cTn>
                                        <p:tgtEl>
                                          <p:spTgt spid="3">
                                            <p:txEl>
                                              <p:pRg st="2" end="2"/>
                                            </p:txEl>
                                          </p:spTgt>
                                        </p:tgtEl>
                                      </p:cBhvr>
                                      <p:to x="100000" y="95000"/>
                                    </p:animScale>
                                    <p:animScale>
                                      <p:cBhvr>
                                        <p:cTn id="52" dur="166" decel="50000">
                                          <p:stCondLst>
                                            <p:cond delay="1834"/>
                                          </p:stCondLst>
                                        </p:cTn>
                                        <p:tgtEl>
                                          <p:spTgt spid="3">
                                            <p:txEl>
                                              <p:pRg st="2" end="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animEffect transition="in" filter="wipe(down)">
                                      <p:cBhvr>
                                        <p:cTn id="55" dur="580">
                                          <p:stCondLst>
                                            <p:cond delay="0"/>
                                          </p:stCondLst>
                                        </p:cTn>
                                        <p:tgtEl>
                                          <p:spTgt spid="3">
                                            <p:txEl>
                                              <p:pRg st="3" end="3"/>
                                            </p:txEl>
                                          </p:spTgt>
                                        </p:tgtEl>
                                      </p:cBhvr>
                                    </p:animEffect>
                                    <p:anim calcmode="lin" valueType="num">
                                      <p:cBhvr>
                                        <p:cTn id="5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3" end="3"/>
                                            </p:txEl>
                                          </p:spTgt>
                                        </p:tgtEl>
                                      </p:cBhvr>
                                      <p:to x="100000" y="60000"/>
                                    </p:animScale>
                                    <p:animScale>
                                      <p:cBhvr>
                                        <p:cTn id="62" dur="166" decel="50000">
                                          <p:stCondLst>
                                            <p:cond delay="676"/>
                                          </p:stCondLst>
                                        </p:cTn>
                                        <p:tgtEl>
                                          <p:spTgt spid="3">
                                            <p:txEl>
                                              <p:pRg st="3" end="3"/>
                                            </p:txEl>
                                          </p:spTgt>
                                        </p:tgtEl>
                                      </p:cBhvr>
                                      <p:to x="100000" y="100000"/>
                                    </p:animScale>
                                    <p:animScale>
                                      <p:cBhvr>
                                        <p:cTn id="63" dur="26">
                                          <p:stCondLst>
                                            <p:cond delay="1312"/>
                                          </p:stCondLst>
                                        </p:cTn>
                                        <p:tgtEl>
                                          <p:spTgt spid="3">
                                            <p:txEl>
                                              <p:pRg st="3" end="3"/>
                                            </p:txEl>
                                          </p:spTgt>
                                        </p:tgtEl>
                                      </p:cBhvr>
                                      <p:to x="100000" y="80000"/>
                                    </p:animScale>
                                    <p:animScale>
                                      <p:cBhvr>
                                        <p:cTn id="64" dur="166" decel="50000">
                                          <p:stCondLst>
                                            <p:cond delay="1338"/>
                                          </p:stCondLst>
                                        </p:cTn>
                                        <p:tgtEl>
                                          <p:spTgt spid="3">
                                            <p:txEl>
                                              <p:pRg st="3" end="3"/>
                                            </p:txEl>
                                          </p:spTgt>
                                        </p:tgtEl>
                                      </p:cBhvr>
                                      <p:to x="100000" y="100000"/>
                                    </p:animScale>
                                    <p:animScale>
                                      <p:cBhvr>
                                        <p:cTn id="65" dur="26">
                                          <p:stCondLst>
                                            <p:cond delay="1642"/>
                                          </p:stCondLst>
                                        </p:cTn>
                                        <p:tgtEl>
                                          <p:spTgt spid="3">
                                            <p:txEl>
                                              <p:pRg st="3" end="3"/>
                                            </p:txEl>
                                          </p:spTgt>
                                        </p:tgtEl>
                                      </p:cBhvr>
                                      <p:to x="100000" y="90000"/>
                                    </p:animScale>
                                    <p:animScale>
                                      <p:cBhvr>
                                        <p:cTn id="66" dur="166" decel="50000">
                                          <p:stCondLst>
                                            <p:cond delay="1668"/>
                                          </p:stCondLst>
                                        </p:cTn>
                                        <p:tgtEl>
                                          <p:spTgt spid="3">
                                            <p:txEl>
                                              <p:pRg st="3" end="3"/>
                                            </p:txEl>
                                          </p:spTgt>
                                        </p:tgtEl>
                                      </p:cBhvr>
                                      <p:to x="100000" y="100000"/>
                                    </p:animScale>
                                    <p:animScale>
                                      <p:cBhvr>
                                        <p:cTn id="67" dur="26">
                                          <p:stCondLst>
                                            <p:cond delay="1808"/>
                                          </p:stCondLst>
                                        </p:cTn>
                                        <p:tgtEl>
                                          <p:spTgt spid="3">
                                            <p:txEl>
                                              <p:pRg st="3" end="3"/>
                                            </p:txEl>
                                          </p:spTgt>
                                        </p:tgtEl>
                                      </p:cBhvr>
                                      <p:to x="100000" y="95000"/>
                                    </p:animScale>
                                    <p:animScale>
                                      <p:cBhvr>
                                        <p:cTn id="68" dur="166" decel="50000">
                                          <p:stCondLst>
                                            <p:cond delay="1834"/>
                                          </p:stCondLst>
                                        </p:cTn>
                                        <p:tgtEl>
                                          <p:spTgt spid="3">
                                            <p:txEl>
                                              <p:pRg st="3" end="3"/>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3">
                                            <p:txEl>
                                              <p:pRg st="4" end="4"/>
                                            </p:txEl>
                                          </p:spTgt>
                                        </p:tgtEl>
                                        <p:attrNameLst>
                                          <p:attrName>style.visibility</p:attrName>
                                        </p:attrNameLst>
                                      </p:cBhvr>
                                      <p:to>
                                        <p:strVal val="visible"/>
                                      </p:to>
                                    </p:set>
                                    <p:animEffect transition="in" filter="wipe(down)">
                                      <p:cBhvr>
                                        <p:cTn id="71" dur="580">
                                          <p:stCondLst>
                                            <p:cond delay="0"/>
                                          </p:stCondLst>
                                        </p:cTn>
                                        <p:tgtEl>
                                          <p:spTgt spid="3">
                                            <p:txEl>
                                              <p:pRg st="4" end="4"/>
                                            </p:txEl>
                                          </p:spTgt>
                                        </p:tgtEl>
                                      </p:cBhvr>
                                    </p:animEffect>
                                    <p:anim calcmode="lin" valueType="num">
                                      <p:cBhvr>
                                        <p:cTn id="7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3">
                                            <p:txEl>
                                              <p:pRg st="4" end="4"/>
                                            </p:txEl>
                                          </p:spTgt>
                                        </p:tgtEl>
                                      </p:cBhvr>
                                      <p:to x="100000" y="60000"/>
                                    </p:animScale>
                                    <p:animScale>
                                      <p:cBhvr>
                                        <p:cTn id="78" dur="166" decel="50000">
                                          <p:stCondLst>
                                            <p:cond delay="676"/>
                                          </p:stCondLst>
                                        </p:cTn>
                                        <p:tgtEl>
                                          <p:spTgt spid="3">
                                            <p:txEl>
                                              <p:pRg st="4" end="4"/>
                                            </p:txEl>
                                          </p:spTgt>
                                        </p:tgtEl>
                                      </p:cBhvr>
                                      <p:to x="100000" y="100000"/>
                                    </p:animScale>
                                    <p:animScale>
                                      <p:cBhvr>
                                        <p:cTn id="79" dur="26">
                                          <p:stCondLst>
                                            <p:cond delay="1312"/>
                                          </p:stCondLst>
                                        </p:cTn>
                                        <p:tgtEl>
                                          <p:spTgt spid="3">
                                            <p:txEl>
                                              <p:pRg st="4" end="4"/>
                                            </p:txEl>
                                          </p:spTgt>
                                        </p:tgtEl>
                                      </p:cBhvr>
                                      <p:to x="100000" y="80000"/>
                                    </p:animScale>
                                    <p:animScale>
                                      <p:cBhvr>
                                        <p:cTn id="80" dur="166" decel="50000">
                                          <p:stCondLst>
                                            <p:cond delay="1338"/>
                                          </p:stCondLst>
                                        </p:cTn>
                                        <p:tgtEl>
                                          <p:spTgt spid="3">
                                            <p:txEl>
                                              <p:pRg st="4" end="4"/>
                                            </p:txEl>
                                          </p:spTgt>
                                        </p:tgtEl>
                                      </p:cBhvr>
                                      <p:to x="100000" y="100000"/>
                                    </p:animScale>
                                    <p:animScale>
                                      <p:cBhvr>
                                        <p:cTn id="81" dur="26">
                                          <p:stCondLst>
                                            <p:cond delay="1642"/>
                                          </p:stCondLst>
                                        </p:cTn>
                                        <p:tgtEl>
                                          <p:spTgt spid="3">
                                            <p:txEl>
                                              <p:pRg st="4" end="4"/>
                                            </p:txEl>
                                          </p:spTgt>
                                        </p:tgtEl>
                                      </p:cBhvr>
                                      <p:to x="100000" y="90000"/>
                                    </p:animScale>
                                    <p:animScale>
                                      <p:cBhvr>
                                        <p:cTn id="82" dur="166" decel="50000">
                                          <p:stCondLst>
                                            <p:cond delay="1668"/>
                                          </p:stCondLst>
                                        </p:cTn>
                                        <p:tgtEl>
                                          <p:spTgt spid="3">
                                            <p:txEl>
                                              <p:pRg st="4" end="4"/>
                                            </p:txEl>
                                          </p:spTgt>
                                        </p:tgtEl>
                                      </p:cBhvr>
                                      <p:to x="100000" y="100000"/>
                                    </p:animScale>
                                    <p:animScale>
                                      <p:cBhvr>
                                        <p:cTn id="83" dur="26">
                                          <p:stCondLst>
                                            <p:cond delay="1808"/>
                                          </p:stCondLst>
                                        </p:cTn>
                                        <p:tgtEl>
                                          <p:spTgt spid="3">
                                            <p:txEl>
                                              <p:pRg st="4" end="4"/>
                                            </p:txEl>
                                          </p:spTgt>
                                        </p:tgtEl>
                                      </p:cBhvr>
                                      <p:to x="100000" y="95000"/>
                                    </p:animScale>
                                    <p:animScale>
                                      <p:cBhvr>
                                        <p:cTn id="84" dur="166" decel="50000">
                                          <p:stCondLst>
                                            <p:cond delay="1834"/>
                                          </p:stCondLst>
                                        </p:cTn>
                                        <p:tgtEl>
                                          <p:spTgt spid="3">
                                            <p:txEl>
                                              <p:pRg st="4" end="4"/>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3">
                                            <p:txEl>
                                              <p:pRg st="5" end="5"/>
                                            </p:txEl>
                                          </p:spTgt>
                                        </p:tgtEl>
                                        <p:attrNameLst>
                                          <p:attrName>style.visibility</p:attrName>
                                        </p:attrNameLst>
                                      </p:cBhvr>
                                      <p:to>
                                        <p:strVal val="visible"/>
                                      </p:to>
                                    </p:set>
                                    <p:animEffect transition="in" filter="wipe(down)">
                                      <p:cBhvr>
                                        <p:cTn id="87" dur="580">
                                          <p:stCondLst>
                                            <p:cond delay="0"/>
                                          </p:stCondLst>
                                        </p:cTn>
                                        <p:tgtEl>
                                          <p:spTgt spid="3">
                                            <p:txEl>
                                              <p:pRg st="5" end="5"/>
                                            </p:txEl>
                                          </p:spTgt>
                                        </p:tgtEl>
                                      </p:cBhvr>
                                    </p:animEffect>
                                    <p:anim calcmode="lin" valueType="num">
                                      <p:cBhvr>
                                        <p:cTn id="8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3">
                                            <p:txEl>
                                              <p:pRg st="5" end="5"/>
                                            </p:txEl>
                                          </p:spTgt>
                                        </p:tgtEl>
                                      </p:cBhvr>
                                      <p:to x="100000" y="60000"/>
                                    </p:animScale>
                                    <p:animScale>
                                      <p:cBhvr>
                                        <p:cTn id="94" dur="166" decel="50000">
                                          <p:stCondLst>
                                            <p:cond delay="676"/>
                                          </p:stCondLst>
                                        </p:cTn>
                                        <p:tgtEl>
                                          <p:spTgt spid="3">
                                            <p:txEl>
                                              <p:pRg st="5" end="5"/>
                                            </p:txEl>
                                          </p:spTgt>
                                        </p:tgtEl>
                                      </p:cBhvr>
                                      <p:to x="100000" y="100000"/>
                                    </p:animScale>
                                    <p:animScale>
                                      <p:cBhvr>
                                        <p:cTn id="95" dur="26">
                                          <p:stCondLst>
                                            <p:cond delay="1312"/>
                                          </p:stCondLst>
                                        </p:cTn>
                                        <p:tgtEl>
                                          <p:spTgt spid="3">
                                            <p:txEl>
                                              <p:pRg st="5" end="5"/>
                                            </p:txEl>
                                          </p:spTgt>
                                        </p:tgtEl>
                                      </p:cBhvr>
                                      <p:to x="100000" y="80000"/>
                                    </p:animScale>
                                    <p:animScale>
                                      <p:cBhvr>
                                        <p:cTn id="96" dur="166" decel="50000">
                                          <p:stCondLst>
                                            <p:cond delay="1338"/>
                                          </p:stCondLst>
                                        </p:cTn>
                                        <p:tgtEl>
                                          <p:spTgt spid="3">
                                            <p:txEl>
                                              <p:pRg st="5" end="5"/>
                                            </p:txEl>
                                          </p:spTgt>
                                        </p:tgtEl>
                                      </p:cBhvr>
                                      <p:to x="100000" y="100000"/>
                                    </p:animScale>
                                    <p:animScale>
                                      <p:cBhvr>
                                        <p:cTn id="97" dur="26">
                                          <p:stCondLst>
                                            <p:cond delay="1642"/>
                                          </p:stCondLst>
                                        </p:cTn>
                                        <p:tgtEl>
                                          <p:spTgt spid="3">
                                            <p:txEl>
                                              <p:pRg st="5" end="5"/>
                                            </p:txEl>
                                          </p:spTgt>
                                        </p:tgtEl>
                                      </p:cBhvr>
                                      <p:to x="100000" y="90000"/>
                                    </p:animScale>
                                    <p:animScale>
                                      <p:cBhvr>
                                        <p:cTn id="98" dur="166" decel="50000">
                                          <p:stCondLst>
                                            <p:cond delay="1668"/>
                                          </p:stCondLst>
                                        </p:cTn>
                                        <p:tgtEl>
                                          <p:spTgt spid="3">
                                            <p:txEl>
                                              <p:pRg st="5" end="5"/>
                                            </p:txEl>
                                          </p:spTgt>
                                        </p:tgtEl>
                                      </p:cBhvr>
                                      <p:to x="100000" y="100000"/>
                                    </p:animScale>
                                    <p:animScale>
                                      <p:cBhvr>
                                        <p:cTn id="99" dur="26">
                                          <p:stCondLst>
                                            <p:cond delay="1808"/>
                                          </p:stCondLst>
                                        </p:cTn>
                                        <p:tgtEl>
                                          <p:spTgt spid="3">
                                            <p:txEl>
                                              <p:pRg st="5" end="5"/>
                                            </p:txEl>
                                          </p:spTgt>
                                        </p:tgtEl>
                                      </p:cBhvr>
                                      <p:to x="100000" y="95000"/>
                                    </p:animScale>
                                    <p:animScale>
                                      <p:cBhvr>
                                        <p:cTn id="10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Example 1: File Copy Utility</a:t>
            </a:r>
            <a:endParaRPr lang="he-IL" dirty="0"/>
          </a:p>
        </p:txBody>
      </p:sp>
      <p:sp>
        <p:nvSpPr>
          <p:cNvPr id="3" name="מציין מיקום תוכן 2"/>
          <p:cNvSpPr>
            <a:spLocks noGrp="1"/>
          </p:cNvSpPr>
          <p:nvPr>
            <p:ph idx="1"/>
          </p:nvPr>
        </p:nvSpPr>
        <p:spPr/>
        <p:txBody>
          <a:bodyPr>
            <a:normAutofit fontScale="92500" lnSpcReduction="20000"/>
          </a:bodyPr>
          <a:lstStyle/>
          <a:p>
            <a:pPr marL="0" indent="0">
              <a:buNone/>
            </a:pPr>
            <a:r>
              <a:rPr lang="he-IL" dirty="0"/>
              <a:t>שם הקובץ : </a:t>
            </a:r>
            <a:r>
              <a:rPr lang="en-US" dirty="0"/>
              <a:t>cp.asm</a:t>
            </a:r>
            <a:r>
              <a:rPr lang="he-IL" dirty="0"/>
              <a:t> </a:t>
            </a:r>
          </a:p>
          <a:p>
            <a:pPr marL="0" indent="0">
              <a:buNone/>
            </a:pPr>
            <a:r>
              <a:rPr lang="he-IL" dirty="0"/>
              <a:t>בדוגמא זו נמחיש כיצד מעתיקים קובץ באמצעות שילוב של  : </a:t>
            </a:r>
          </a:p>
          <a:p>
            <a:pPr marL="0" indent="0">
              <a:buNone/>
            </a:pPr>
            <a:r>
              <a:rPr lang="he-IL" dirty="0"/>
              <a:t>1. קריאות מערכת  </a:t>
            </a:r>
            <a:r>
              <a:rPr lang="en-US" dirty="0"/>
              <a:t>(</a:t>
            </a:r>
            <a:r>
              <a:rPr lang="en-US" dirty="0" err="1"/>
              <a:t>syscalls</a:t>
            </a:r>
            <a:r>
              <a:rPr lang="en-US" dirty="0"/>
              <a:t>)</a:t>
            </a:r>
            <a:r>
              <a:rPr lang="he-IL" dirty="0"/>
              <a:t> : </a:t>
            </a:r>
            <a:r>
              <a:rPr lang="en-US" dirty="0"/>
              <a:t>open, read, write, close</a:t>
            </a:r>
          </a:p>
          <a:p>
            <a:pPr marL="0" indent="0">
              <a:buNone/>
            </a:pPr>
            <a:r>
              <a:rPr lang="he-IL" dirty="0"/>
              <a:t>2. פונקציות ספריה של </a:t>
            </a:r>
            <a:r>
              <a:rPr lang="en-US" dirty="0"/>
              <a:t>C</a:t>
            </a:r>
            <a:r>
              <a:rPr lang="he-IL" dirty="0"/>
              <a:t> : </a:t>
            </a:r>
            <a:r>
              <a:rPr lang="en-US" dirty="0" err="1"/>
              <a:t>printf</a:t>
            </a:r>
            <a:r>
              <a:rPr lang="en-US" dirty="0"/>
              <a:t>, </a:t>
            </a:r>
            <a:r>
              <a:rPr lang="en-US" dirty="0" err="1"/>
              <a:t>fprintf</a:t>
            </a:r>
            <a:r>
              <a:rPr lang="en-US" dirty="0"/>
              <a:t>, exit</a:t>
            </a:r>
            <a:endParaRPr lang="he-IL" dirty="0"/>
          </a:p>
          <a:p>
            <a:pPr marL="0" indent="0">
              <a:buNone/>
            </a:pPr>
            <a:r>
              <a:rPr lang="he-IL" dirty="0"/>
              <a:t>3. ניהול מחסנית ידני – </a:t>
            </a:r>
            <a:r>
              <a:rPr lang="en-US" dirty="0"/>
              <a:t>activation frame</a:t>
            </a:r>
            <a:r>
              <a:rPr lang="he-IL" dirty="0"/>
              <a:t> </a:t>
            </a:r>
          </a:p>
          <a:p>
            <a:pPr marL="0" indent="0">
              <a:buNone/>
            </a:pPr>
            <a:r>
              <a:rPr lang="he-IL" dirty="0"/>
              <a:t>התכנית מצפה לקבל שני ארגומנטים :</a:t>
            </a:r>
            <a:r>
              <a:rPr lang="en-US" dirty="0"/>
              <a:t> </a:t>
            </a:r>
            <a:endParaRPr lang="he-IL" dirty="0"/>
          </a:p>
          <a:p>
            <a:pPr marL="457200" indent="-457200">
              <a:buAutoNum type="arabicPeriod"/>
            </a:pPr>
            <a:r>
              <a:rPr lang="he-IL" dirty="0"/>
              <a:t>קובץ מקור – </a:t>
            </a:r>
            <a:r>
              <a:rPr lang="en-US" dirty="0"/>
              <a:t>source</a:t>
            </a:r>
            <a:r>
              <a:rPr lang="he-IL" dirty="0"/>
              <a:t> ממנו יש לקרוא (ולכן יש להכין אותו עם תוכן משמעותי)</a:t>
            </a:r>
          </a:p>
          <a:p>
            <a:pPr marL="457200" indent="-457200">
              <a:buAutoNum type="arabicPeriod"/>
            </a:pPr>
            <a:r>
              <a:rPr lang="he-IL" dirty="0"/>
              <a:t>קובץ יעד – </a:t>
            </a:r>
            <a:r>
              <a:rPr lang="en-US" dirty="0"/>
              <a:t>destination</a:t>
            </a:r>
            <a:r>
              <a:rPr lang="he-IL" dirty="0"/>
              <a:t>.</a:t>
            </a:r>
            <a:endParaRPr lang="en-US" dirty="0"/>
          </a:p>
          <a:p>
            <a:pPr marL="457200" indent="-457200">
              <a:buAutoNum type="arabicPeriod"/>
            </a:pPr>
            <a:endParaRPr lang="en-US"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6</a:t>
            </a:fld>
            <a:endParaRPr lang="he-IL"/>
          </a:p>
        </p:txBody>
      </p:sp>
    </p:spTree>
    <p:extLst>
      <p:ext uri="{BB962C8B-B14F-4D97-AF65-F5344CB8AC3E}">
        <p14:creationId xmlns:p14="http://schemas.microsoft.com/office/powerpoint/2010/main" val="426317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Example 1: File Copy Utility</a:t>
            </a:r>
            <a:endParaRPr lang="he-IL" dirty="0"/>
          </a:p>
        </p:txBody>
      </p:sp>
      <p:sp>
        <p:nvSpPr>
          <p:cNvPr id="3" name="מציין מיקום תוכן 2"/>
          <p:cNvSpPr>
            <a:spLocks noGrp="1"/>
          </p:cNvSpPr>
          <p:nvPr>
            <p:ph idx="1"/>
          </p:nvPr>
        </p:nvSpPr>
        <p:spPr/>
        <p:txBody>
          <a:bodyPr>
            <a:normAutofit lnSpcReduction="10000"/>
          </a:bodyPr>
          <a:lstStyle/>
          <a:p>
            <a:r>
              <a:rPr lang="he-IL" dirty="0"/>
              <a:t>התכנית : </a:t>
            </a:r>
          </a:p>
          <a:p>
            <a:r>
              <a:rPr lang="he-IL" dirty="0"/>
              <a:t>פותחת קובץ מקור לקריאה </a:t>
            </a:r>
          </a:p>
          <a:p>
            <a:r>
              <a:rPr lang="he-IL" dirty="0"/>
              <a:t>יוצרת ופותחת קובץ יעד לכתיבה</a:t>
            </a:r>
          </a:p>
          <a:p>
            <a:r>
              <a:rPr lang="he-IL" dirty="0"/>
              <a:t>קוראת נתחים של 1024 בתים כל אחד </a:t>
            </a:r>
          </a:p>
          <a:p>
            <a:r>
              <a:rPr lang="he-IL" dirty="0"/>
              <a:t>כותבת אותם לקובץ היעד</a:t>
            </a:r>
          </a:p>
          <a:p>
            <a:r>
              <a:rPr lang="he-IL" dirty="0"/>
              <a:t>מדפיסה כמה בתים הועתקו</a:t>
            </a:r>
          </a:p>
          <a:p>
            <a:r>
              <a:rPr lang="he-IL" dirty="0"/>
              <a:t>מטפלת בשגיאות בצורה מסודרת</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7</a:t>
            </a:fld>
            <a:endParaRPr lang="he-IL"/>
          </a:p>
        </p:txBody>
      </p:sp>
    </p:spTree>
    <p:extLst>
      <p:ext uri="{BB962C8B-B14F-4D97-AF65-F5344CB8AC3E}">
        <p14:creationId xmlns:p14="http://schemas.microsoft.com/office/powerpoint/2010/main" val="205619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Command‑line arguments and main</a:t>
            </a:r>
            <a:endParaRPr lang="he-IL" dirty="0"/>
          </a:p>
        </p:txBody>
      </p:sp>
      <p:sp>
        <p:nvSpPr>
          <p:cNvPr id="3" name="מציין מיקום תוכן 2"/>
          <p:cNvSpPr>
            <a:spLocks noGrp="1"/>
          </p:cNvSpPr>
          <p:nvPr>
            <p:ph idx="1"/>
          </p:nvPr>
        </p:nvSpPr>
        <p:spPr/>
        <p:txBody>
          <a:bodyPr/>
          <a:lstStyle/>
          <a:p>
            <a:r>
              <a:rPr lang="he-IL" dirty="0"/>
              <a:t>בתכנית זו  נקודת הכניסה היא :</a:t>
            </a:r>
          </a:p>
          <a:p>
            <a:pPr algn="l" rtl="0"/>
            <a:r>
              <a:rPr lang="en-US" b="1" dirty="0"/>
              <a:t>global main</a:t>
            </a:r>
          </a:p>
          <a:p>
            <a:pPr algn="l" rtl="0"/>
            <a:r>
              <a:rPr lang="en-US" b="1" dirty="0"/>
              <a:t>        main:</a:t>
            </a:r>
          </a:p>
          <a:p>
            <a:pPr algn="r"/>
            <a:r>
              <a:rPr lang="he-IL" dirty="0"/>
              <a:t>לפי </a:t>
            </a:r>
            <a:r>
              <a:rPr lang="en-US" dirty="0"/>
              <a:t>ABI</a:t>
            </a:r>
            <a:r>
              <a:rPr lang="he-IL" dirty="0"/>
              <a:t> של לינוקס :</a:t>
            </a:r>
            <a:r>
              <a:rPr lang="en-US" dirty="0"/>
              <a:t> </a:t>
            </a:r>
            <a:endParaRPr lang="he-IL" dirty="0"/>
          </a:p>
          <a:p>
            <a:pPr algn="l" rtl="0"/>
            <a:r>
              <a:rPr lang="en-US" dirty="0" err="1"/>
              <a:t>rdi</a:t>
            </a:r>
            <a:r>
              <a:rPr lang="en-US" dirty="0"/>
              <a:t> = </a:t>
            </a:r>
            <a:r>
              <a:rPr lang="en-US" dirty="0" err="1"/>
              <a:t>argc</a:t>
            </a:r>
            <a:endParaRPr lang="en-US" dirty="0"/>
          </a:p>
          <a:p>
            <a:pPr algn="l" rtl="0"/>
            <a:r>
              <a:rPr lang="en-US" dirty="0" err="1"/>
              <a:t>rsi</a:t>
            </a:r>
            <a:r>
              <a:rPr lang="en-US" dirty="0"/>
              <a:t> = </a:t>
            </a:r>
            <a:r>
              <a:rPr lang="en-US" dirty="0" err="1"/>
              <a:t>argv</a:t>
            </a:r>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8</a:t>
            </a:fld>
            <a:endParaRPr lang="he-IL"/>
          </a:p>
        </p:txBody>
      </p:sp>
    </p:spTree>
    <p:extLst>
      <p:ext uri="{BB962C8B-B14F-4D97-AF65-F5344CB8AC3E}">
        <p14:creationId xmlns:p14="http://schemas.microsoft.com/office/powerpoint/2010/main" val="197330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80">
                                          <p:stCondLst>
                                            <p:cond delay="0"/>
                                          </p:stCondLst>
                                        </p:cTn>
                                        <p:tgtEl>
                                          <p:spTgt spid="3">
                                            <p:txEl>
                                              <p:pRg st="2" end="2"/>
                                            </p:txEl>
                                          </p:spTgt>
                                        </p:tgtEl>
                                      </p:cBhvr>
                                    </p:animEffect>
                                    <p:anim calcmode="lin" valueType="num">
                                      <p:cBhvr>
                                        <p:cTn id="2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2" end="2"/>
                                            </p:txEl>
                                          </p:spTgt>
                                        </p:tgtEl>
                                      </p:cBhvr>
                                      <p:to x="100000" y="60000"/>
                                    </p:animScale>
                                    <p:animScale>
                                      <p:cBhvr>
                                        <p:cTn id="30" dur="166" decel="50000">
                                          <p:stCondLst>
                                            <p:cond delay="676"/>
                                          </p:stCondLst>
                                        </p:cTn>
                                        <p:tgtEl>
                                          <p:spTgt spid="3">
                                            <p:txEl>
                                              <p:pRg st="2" end="2"/>
                                            </p:txEl>
                                          </p:spTgt>
                                        </p:tgtEl>
                                      </p:cBhvr>
                                      <p:to x="100000" y="100000"/>
                                    </p:animScale>
                                    <p:animScale>
                                      <p:cBhvr>
                                        <p:cTn id="31" dur="26">
                                          <p:stCondLst>
                                            <p:cond delay="1312"/>
                                          </p:stCondLst>
                                        </p:cTn>
                                        <p:tgtEl>
                                          <p:spTgt spid="3">
                                            <p:txEl>
                                              <p:pRg st="2" end="2"/>
                                            </p:txEl>
                                          </p:spTgt>
                                        </p:tgtEl>
                                      </p:cBhvr>
                                      <p:to x="100000" y="80000"/>
                                    </p:animScale>
                                    <p:animScale>
                                      <p:cBhvr>
                                        <p:cTn id="32" dur="166" decel="50000">
                                          <p:stCondLst>
                                            <p:cond delay="1338"/>
                                          </p:stCondLst>
                                        </p:cTn>
                                        <p:tgtEl>
                                          <p:spTgt spid="3">
                                            <p:txEl>
                                              <p:pRg st="2" end="2"/>
                                            </p:txEl>
                                          </p:spTgt>
                                        </p:tgtEl>
                                      </p:cBhvr>
                                      <p:to x="100000" y="100000"/>
                                    </p:animScale>
                                    <p:animScale>
                                      <p:cBhvr>
                                        <p:cTn id="33" dur="26">
                                          <p:stCondLst>
                                            <p:cond delay="1642"/>
                                          </p:stCondLst>
                                        </p:cTn>
                                        <p:tgtEl>
                                          <p:spTgt spid="3">
                                            <p:txEl>
                                              <p:pRg st="2" end="2"/>
                                            </p:txEl>
                                          </p:spTgt>
                                        </p:tgtEl>
                                      </p:cBhvr>
                                      <p:to x="100000" y="90000"/>
                                    </p:animScale>
                                    <p:animScale>
                                      <p:cBhvr>
                                        <p:cTn id="34" dur="166" decel="50000">
                                          <p:stCondLst>
                                            <p:cond delay="1668"/>
                                          </p:stCondLst>
                                        </p:cTn>
                                        <p:tgtEl>
                                          <p:spTgt spid="3">
                                            <p:txEl>
                                              <p:pRg st="2" end="2"/>
                                            </p:txEl>
                                          </p:spTgt>
                                        </p:tgtEl>
                                      </p:cBhvr>
                                      <p:to x="100000" y="100000"/>
                                    </p:animScale>
                                    <p:animScale>
                                      <p:cBhvr>
                                        <p:cTn id="35" dur="26">
                                          <p:stCondLst>
                                            <p:cond delay="1808"/>
                                          </p:stCondLst>
                                        </p:cTn>
                                        <p:tgtEl>
                                          <p:spTgt spid="3">
                                            <p:txEl>
                                              <p:pRg st="2" end="2"/>
                                            </p:txEl>
                                          </p:spTgt>
                                        </p:tgtEl>
                                      </p:cBhvr>
                                      <p:to x="100000" y="95000"/>
                                    </p:animScale>
                                    <p:animScale>
                                      <p:cBhvr>
                                        <p:cTn id="36" dur="166" decel="50000">
                                          <p:stCondLst>
                                            <p:cond delay="1834"/>
                                          </p:stCondLst>
                                        </p:cTn>
                                        <p:tgtEl>
                                          <p:spTgt spid="3">
                                            <p:txEl>
                                              <p:pRg st="2" end="2"/>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wipe(down)">
                                      <p:cBhvr>
                                        <p:cTn id="39" dur="580">
                                          <p:stCondLst>
                                            <p:cond delay="0"/>
                                          </p:stCondLst>
                                        </p:cTn>
                                        <p:tgtEl>
                                          <p:spTgt spid="3">
                                            <p:txEl>
                                              <p:pRg st="3" end="3"/>
                                            </p:txEl>
                                          </p:spTgt>
                                        </p:tgtEl>
                                      </p:cBhvr>
                                    </p:animEffect>
                                    <p:anim calcmode="lin" valueType="num">
                                      <p:cBhvr>
                                        <p:cTn id="4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3" end="3"/>
                                            </p:txEl>
                                          </p:spTgt>
                                        </p:tgtEl>
                                      </p:cBhvr>
                                      <p:to x="100000" y="60000"/>
                                    </p:animScale>
                                    <p:animScale>
                                      <p:cBhvr>
                                        <p:cTn id="46" dur="166" decel="50000">
                                          <p:stCondLst>
                                            <p:cond delay="676"/>
                                          </p:stCondLst>
                                        </p:cTn>
                                        <p:tgtEl>
                                          <p:spTgt spid="3">
                                            <p:txEl>
                                              <p:pRg st="3" end="3"/>
                                            </p:txEl>
                                          </p:spTgt>
                                        </p:tgtEl>
                                      </p:cBhvr>
                                      <p:to x="100000" y="100000"/>
                                    </p:animScale>
                                    <p:animScale>
                                      <p:cBhvr>
                                        <p:cTn id="47" dur="26">
                                          <p:stCondLst>
                                            <p:cond delay="1312"/>
                                          </p:stCondLst>
                                        </p:cTn>
                                        <p:tgtEl>
                                          <p:spTgt spid="3">
                                            <p:txEl>
                                              <p:pRg st="3" end="3"/>
                                            </p:txEl>
                                          </p:spTgt>
                                        </p:tgtEl>
                                      </p:cBhvr>
                                      <p:to x="100000" y="80000"/>
                                    </p:animScale>
                                    <p:animScale>
                                      <p:cBhvr>
                                        <p:cTn id="48" dur="166" decel="50000">
                                          <p:stCondLst>
                                            <p:cond delay="1338"/>
                                          </p:stCondLst>
                                        </p:cTn>
                                        <p:tgtEl>
                                          <p:spTgt spid="3">
                                            <p:txEl>
                                              <p:pRg st="3" end="3"/>
                                            </p:txEl>
                                          </p:spTgt>
                                        </p:tgtEl>
                                      </p:cBhvr>
                                      <p:to x="100000" y="100000"/>
                                    </p:animScale>
                                    <p:animScale>
                                      <p:cBhvr>
                                        <p:cTn id="49" dur="26">
                                          <p:stCondLst>
                                            <p:cond delay="1642"/>
                                          </p:stCondLst>
                                        </p:cTn>
                                        <p:tgtEl>
                                          <p:spTgt spid="3">
                                            <p:txEl>
                                              <p:pRg st="3" end="3"/>
                                            </p:txEl>
                                          </p:spTgt>
                                        </p:tgtEl>
                                      </p:cBhvr>
                                      <p:to x="100000" y="90000"/>
                                    </p:animScale>
                                    <p:animScale>
                                      <p:cBhvr>
                                        <p:cTn id="50" dur="166" decel="50000">
                                          <p:stCondLst>
                                            <p:cond delay="1668"/>
                                          </p:stCondLst>
                                        </p:cTn>
                                        <p:tgtEl>
                                          <p:spTgt spid="3">
                                            <p:txEl>
                                              <p:pRg st="3" end="3"/>
                                            </p:txEl>
                                          </p:spTgt>
                                        </p:tgtEl>
                                      </p:cBhvr>
                                      <p:to x="100000" y="100000"/>
                                    </p:animScale>
                                    <p:animScale>
                                      <p:cBhvr>
                                        <p:cTn id="51" dur="26">
                                          <p:stCondLst>
                                            <p:cond delay="1808"/>
                                          </p:stCondLst>
                                        </p:cTn>
                                        <p:tgtEl>
                                          <p:spTgt spid="3">
                                            <p:txEl>
                                              <p:pRg st="3" end="3"/>
                                            </p:txEl>
                                          </p:spTgt>
                                        </p:tgtEl>
                                      </p:cBhvr>
                                      <p:to x="100000" y="95000"/>
                                    </p:animScale>
                                    <p:animScale>
                                      <p:cBhvr>
                                        <p:cTn id="52" dur="166" decel="50000">
                                          <p:stCondLst>
                                            <p:cond delay="1834"/>
                                          </p:stCondLst>
                                        </p:cTn>
                                        <p:tgtEl>
                                          <p:spTgt spid="3">
                                            <p:txEl>
                                              <p:pRg st="3" end="3"/>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Effect transition="in" filter="wipe(down)">
                                      <p:cBhvr>
                                        <p:cTn id="55" dur="580">
                                          <p:stCondLst>
                                            <p:cond delay="0"/>
                                          </p:stCondLst>
                                        </p:cTn>
                                        <p:tgtEl>
                                          <p:spTgt spid="3">
                                            <p:txEl>
                                              <p:pRg st="4" end="4"/>
                                            </p:txEl>
                                          </p:spTgt>
                                        </p:tgtEl>
                                      </p:cBhvr>
                                    </p:animEffect>
                                    <p:anim calcmode="lin" valueType="num">
                                      <p:cBhvr>
                                        <p:cTn id="56"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4" end="4"/>
                                            </p:txEl>
                                          </p:spTgt>
                                        </p:tgtEl>
                                      </p:cBhvr>
                                      <p:to x="100000" y="60000"/>
                                    </p:animScale>
                                    <p:animScale>
                                      <p:cBhvr>
                                        <p:cTn id="62" dur="166" decel="50000">
                                          <p:stCondLst>
                                            <p:cond delay="676"/>
                                          </p:stCondLst>
                                        </p:cTn>
                                        <p:tgtEl>
                                          <p:spTgt spid="3">
                                            <p:txEl>
                                              <p:pRg st="4" end="4"/>
                                            </p:txEl>
                                          </p:spTgt>
                                        </p:tgtEl>
                                      </p:cBhvr>
                                      <p:to x="100000" y="100000"/>
                                    </p:animScale>
                                    <p:animScale>
                                      <p:cBhvr>
                                        <p:cTn id="63" dur="26">
                                          <p:stCondLst>
                                            <p:cond delay="1312"/>
                                          </p:stCondLst>
                                        </p:cTn>
                                        <p:tgtEl>
                                          <p:spTgt spid="3">
                                            <p:txEl>
                                              <p:pRg st="4" end="4"/>
                                            </p:txEl>
                                          </p:spTgt>
                                        </p:tgtEl>
                                      </p:cBhvr>
                                      <p:to x="100000" y="80000"/>
                                    </p:animScale>
                                    <p:animScale>
                                      <p:cBhvr>
                                        <p:cTn id="64" dur="166" decel="50000">
                                          <p:stCondLst>
                                            <p:cond delay="1338"/>
                                          </p:stCondLst>
                                        </p:cTn>
                                        <p:tgtEl>
                                          <p:spTgt spid="3">
                                            <p:txEl>
                                              <p:pRg st="4" end="4"/>
                                            </p:txEl>
                                          </p:spTgt>
                                        </p:tgtEl>
                                      </p:cBhvr>
                                      <p:to x="100000" y="100000"/>
                                    </p:animScale>
                                    <p:animScale>
                                      <p:cBhvr>
                                        <p:cTn id="65" dur="26">
                                          <p:stCondLst>
                                            <p:cond delay="1642"/>
                                          </p:stCondLst>
                                        </p:cTn>
                                        <p:tgtEl>
                                          <p:spTgt spid="3">
                                            <p:txEl>
                                              <p:pRg st="4" end="4"/>
                                            </p:txEl>
                                          </p:spTgt>
                                        </p:tgtEl>
                                      </p:cBhvr>
                                      <p:to x="100000" y="90000"/>
                                    </p:animScale>
                                    <p:animScale>
                                      <p:cBhvr>
                                        <p:cTn id="66" dur="166" decel="50000">
                                          <p:stCondLst>
                                            <p:cond delay="1668"/>
                                          </p:stCondLst>
                                        </p:cTn>
                                        <p:tgtEl>
                                          <p:spTgt spid="3">
                                            <p:txEl>
                                              <p:pRg st="4" end="4"/>
                                            </p:txEl>
                                          </p:spTgt>
                                        </p:tgtEl>
                                      </p:cBhvr>
                                      <p:to x="100000" y="100000"/>
                                    </p:animScale>
                                    <p:animScale>
                                      <p:cBhvr>
                                        <p:cTn id="67" dur="26">
                                          <p:stCondLst>
                                            <p:cond delay="1808"/>
                                          </p:stCondLst>
                                        </p:cTn>
                                        <p:tgtEl>
                                          <p:spTgt spid="3">
                                            <p:txEl>
                                              <p:pRg st="4" end="4"/>
                                            </p:txEl>
                                          </p:spTgt>
                                        </p:tgtEl>
                                      </p:cBhvr>
                                      <p:to x="100000" y="95000"/>
                                    </p:animScale>
                                    <p:animScale>
                                      <p:cBhvr>
                                        <p:cTn id="68" dur="166" decel="50000">
                                          <p:stCondLst>
                                            <p:cond delay="1834"/>
                                          </p:stCondLst>
                                        </p:cTn>
                                        <p:tgtEl>
                                          <p:spTgt spid="3">
                                            <p:txEl>
                                              <p:pRg st="4" end="4"/>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3">
                                            <p:txEl>
                                              <p:pRg st="5" end="5"/>
                                            </p:txEl>
                                          </p:spTgt>
                                        </p:tgtEl>
                                        <p:attrNameLst>
                                          <p:attrName>style.visibility</p:attrName>
                                        </p:attrNameLst>
                                      </p:cBhvr>
                                      <p:to>
                                        <p:strVal val="visible"/>
                                      </p:to>
                                    </p:set>
                                    <p:animEffect transition="in" filter="wipe(down)">
                                      <p:cBhvr>
                                        <p:cTn id="71" dur="580">
                                          <p:stCondLst>
                                            <p:cond delay="0"/>
                                          </p:stCondLst>
                                        </p:cTn>
                                        <p:tgtEl>
                                          <p:spTgt spid="3">
                                            <p:txEl>
                                              <p:pRg st="5" end="5"/>
                                            </p:txEl>
                                          </p:spTgt>
                                        </p:tgtEl>
                                      </p:cBhvr>
                                    </p:animEffect>
                                    <p:anim calcmode="lin" valueType="num">
                                      <p:cBhvr>
                                        <p:cTn id="72"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3">
                                            <p:txEl>
                                              <p:pRg st="5" end="5"/>
                                            </p:txEl>
                                          </p:spTgt>
                                        </p:tgtEl>
                                      </p:cBhvr>
                                      <p:to x="100000" y="60000"/>
                                    </p:animScale>
                                    <p:animScale>
                                      <p:cBhvr>
                                        <p:cTn id="78" dur="166" decel="50000">
                                          <p:stCondLst>
                                            <p:cond delay="676"/>
                                          </p:stCondLst>
                                        </p:cTn>
                                        <p:tgtEl>
                                          <p:spTgt spid="3">
                                            <p:txEl>
                                              <p:pRg st="5" end="5"/>
                                            </p:txEl>
                                          </p:spTgt>
                                        </p:tgtEl>
                                      </p:cBhvr>
                                      <p:to x="100000" y="100000"/>
                                    </p:animScale>
                                    <p:animScale>
                                      <p:cBhvr>
                                        <p:cTn id="79" dur="26">
                                          <p:stCondLst>
                                            <p:cond delay="1312"/>
                                          </p:stCondLst>
                                        </p:cTn>
                                        <p:tgtEl>
                                          <p:spTgt spid="3">
                                            <p:txEl>
                                              <p:pRg st="5" end="5"/>
                                            </p:txEl>
                                          </p:spTgt>
                                        </p:tgtEl>
                                      </p:cBhvr>
                                      <p:to x="100000" y="80000"/>
                                    </p:animScale>
                                    <p:animScale>
                                      <p:cBhvr>
                                        <p:cTn id="80" dur="166" decel="50000">
                                          <p:stCondLst>
                                            <p:cond delay="1338"/>
                                          </p:stCondLst>
                                        </p:cTn>
                                        <p:tgtEl>
                                          <p:spTgt spid="3">
                                            <p:txEl>
                                              <p:pRg st="5" end="5"/>
                                            </p:txEl>
                                          </p:spTgt>
                                        </p:tgtEl>
                                      </p:cBhvr>
                                      <p:to x="100000" y="100000"/>
                                    </p:animScale>
                                    <p:animScale>
                                      <p:cBhvr>
                                        <p:cTn id="81" dur="26">
                                          <p:stCondLst>
                                            <p:cond delay="1642"/>
                                          </p:stCondLst>
                                        </p:cTn>
                                        <p:tgtEl>
                                          <p:spTgt spid="3">
                                            <p:txEl>
                                              <p:pRg st="5" end="5"/>
                                            </p:txEl>
                                          </p:spTgt>
                                        </p:tgtEl>
                                      </p:cBhvr>
                                      <p:to x="100000" y="90000"/>
                                    </p:animScale>
                                    <p:animScale>
                                      <p:cBhvr>
                                        <p:cTn id="82" dur="166" decel="50000">
                                          <p:stCondLst>
                                            <p:cond delay="1668"/>
                                          </p:stCondLst>
                                        </p:cTn>
                                        <p:tgtEl>
                                          <p:spTgt spid="3">
                                            <p:txEl>
                                              <p:pRg st="5" end="5"/>
                                            </p:txEl>
                                          </p:spTgt>
                                        </p:tgtEl>
                                      </p:cBhvr>
                                      <p:to x="100000" y="100000"/>
                                    </p:animScale>
                                    <p:animScale>
                                      <p:cBhvr>
                                        <p:cTn id="83" dur="26">
                                          <p:stCondLst>
                                            <p:cond delay="1808"/>
                                          </p:stCondLst>
                                        </p:cTn>
                                        <p:tgtEl>
                                          <p:spTgt spid="3">
                                            <p:txEl>
                                              <p:pRg st="5" end="5"/>
                                            </p:txEl>
                                          </p:spTgt>
                                        </p:tgtEl>
                                      </p:cBhvr>
                                      <p:to x="100000" y="95000"/>
                                    </p:animScale>
                                    <p:animScale>
                                      <p:cBhvr>
                                        <p:cTn id="84"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Command‑line arguments and main</a:t>
            </a:r>
            <a:endParaRPr lang="he-IL" dirty="0"/>
          </a:p>
        </p:txBody>
      </p:sp>
      <p:sp>
        <p:nvSpPr>
          <p:cNvPr id="3" name="מציין מיקום תוכן 2"/>
          <p:cNvSpPr>
            <a:spLocks noGrp="1"/>
          </p:cNvSpPr>
          <p:nvPr>
            <p:ph idx="1"/>
          </p:nvPr>
        </p:nvSpPr>
        <p:spPr/>
        <p:txBody>
          <a:bodyPr>
            <a:normAutofit/>
          </a:bodyPr>
          <a:lstStyle/>
          <a:p>
            <a:r>
              <a:rPr lang="he-IL" dirty="0"/>
              <a:t>על כן שתי השורות הבאות בודקות  כי התכנית אכן מקבלת שני ארגומנטים:   </a:t>
            </a:r>
          </a:p>
          <a:p>
            <a:pPr algn="l" rtl="0"/>
            <a:r>
              <a:rPr lang="en-US" b="1" dirty="0" err="1"/>
              <a:t>cmp</a:t>
            </a:r>
            <a:r>
              <a:rPr lang="en-US" b="1" dirty="0"/>
              <a:t> </a:t>
            </a:r>
            <a:r>
              <a:rPr lang="en-US" b="1" dirty="0" err="1"/>
              <a:t>rdi</a:t>
            </a:r>
            <a:r>
              <a:rPr lang="en-US" b="1" dirty="0"/>
              <a:t>, 3</a:t>
            </a:r>
          </a:p>
          <a:p>
            <a:pPr algn="l" rtl="0"/>
            <a:r>
              <a:rPr lang="en-US" b="1" dirty="0" err="1"/>
              <a:t>jne</a:t>
            </a:r>
            <a:r>
              <a:rPr lang="en-US" b="1" dirty="0"/>
              <a:t> .usage</a:t>
            </a:r>
          </a:p>
          <a:p>
            <a:pPr algn="l" rtl="0"/>
            <a:endParaRPr lang="en-US" dirty="0"/>
          </a:p>
          <a:p>
            <a:pPr algn="r"/>
            <a:endParaRPr lang="en-US" b="1" dirty="0"/>
          </a:p>
          <a:p>
            <a:pPr algn="l" rtl="0"/>
            <a:endParaRPr lang="en-US" dirty="0"/>
          </a:p>
          <a:p>
            <a:pPr algn="l" rtl="0"/>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9</a:t>
            </a:fld>
            <a:endParaRPr lang="he-IL"/>
          </a:p>
        </p:txBody>
      </p:sp>
    </p:spTree>
    <p:extLst>
      <p:ext uri="{BB962C8B-B14F-4D97-AF65-F5344CB8AC3E}">
        <p14:creationId xmlns:p14="http://schemas.microsoft.com/office/powerpoint/2010/main" val="241855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80">
                                          <p:stCondLst>
                                            <p:cond delay="0"/>
                                          </p:stCondLst>
                                        </p:cTn>
                                        <p:tgtEl>
                                          <p:spTgt spid="3">
                                            <p:txEl>
                                              <p:pRg st="1" end="1"/>
                                            </p:txEl>
                                          </p:spTgt>
                                        </p:tgtEl>
                                      </p:cBhvr>
                                    </p:animEffect>
                                    <p:anim calcmode="lin" valueType="num">
                                      <p:cBhvr>
                                        <p:cTn id="1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1" end="1"/>
                                            </p:txEl>
                                          </p:spTgt>
                                        </p:tgtEl>
                                      </p:cBhvr>
                                      <p:to x="100000" y="60000"/>
                                    </p:animScale>
                                    <p:animScale>
                                      <p:cBhvr>
                                        <p:cTn id="20" dur="166" decel="50000">
                                          <p:stCondLst>
                                            <p:cond delay="676"/>
                                          </p:stCondLst>
                                        </p:cTn>
                                        <p:tgtEl>
                                          <p:spTgt spid="3">
                                            <p:txEl>
                                              <p:pRg st="1" end="1"/>
                                            </p:txEl>
                                          </p:spTgt>
                                        </p:tgtEl>
                                      </p:cBhvr>
                                      <p:to x="100000" y="100000"/>
                                    </p:animScale>
                                    <p:animScale>
                                      <p:cBhvr>
                                        <p:cTn id="21" dur="26">
                                          <p:stCondLst>
                                            <p:cond delay="1312"/>
                                          </p:stCondLst>
                                        </p:cTn>
                                        <p:tgtEl>
                                          <p:spTgt spid="3">
                                            <p:txEl>
                                              <p:pRg st="1" end="1"/>
                                            </p:txEl>
                                          </p:spTgt>
                                        </p:tgtEl>
                                      </p:cBhvr>
                                      <p:to x="100000" y="80000"/>
                                    </p:animScale>
                                    <p:animScale>
                                      <p:cBhvr>
                                        <p:cTn id="22" dur="166" decel="50000">
                                          <p:stCondLst>
                                            <p:cond delay="1338"/>
                                          </p:stCondLst>
                                        </p:cTn>
                                        <p:tgtEl>
                                          <p:spTgt spid="3">
                                            <p:txEl>
                                              <p:pRg st="1" end="1"/>
                                            </p:txEl>
                                          </p:spTgt>
                                        </p:tgtEl>
                                      </p:cBhvr>
                                      <p:to x="100000" y="100000"/>
                                    </p:animScale>
                                    <p:animScale>
                                      <p:cBhvr>
                                        <p:cTn id="23" dur="26">
                                          <p:stCondLst>
                                            <p:cond delay="1642"/>
                                          </p:stCondLst>
                                        </p:cTn>
                                        <p:tgtEl>
                                          <p:spTgt spid="3">
                                            <p:txEl>
                                              <p:pRg st="1" end="1"/>
                                            </p:txEl>
                                          </p:spTgt>
                                        </p:tgtEl>
                                      </p:cBhvr>
                                      <p:to x="100000" y="90000"/>
                                    </p:animScale>
                                    <p:animScale>
                                      <p:cBhvr>
                                        <p:cTn id="24" dur="166" decel="50000">
                                          <p:stCondLst>
                                            <p:cond delay="1668"/>
                                          </p:stCondLst>
                                        </p:cTn>
                                        <p:tgtEl>
                                          <p:spTgt spid="3">
                                            <p:txEl>
                                              <p:pRg st="1" end="1"/>
                                            </p:txEl>
                                          </p:spTgt>
                                        </p:tgtEl>
                                      </p:cBhvr>
                                      <p:to x="100000" y="100000"/>
                                    </p:animScale>
                                    <p:animScale>
                                      <p:cBhvr>
                                        <p:cTn id="25" dur="26">
                                          <p:stCondLst>
                                            <p:cond delay="1808"/>
                                          </p:stCondLst>
                                        </p:cTn>
                                        <p:tgtEl>
                                          <p:spTgt spid="3">
                                            <p:txEl>
                                              <p:pRg st="1" end="1"/>
                                            </p:txEl>
                                          </p:spTgt>
                                        </p:tgtEl>
                                      </p:cBhvr>
                                      <p:to x="100000" y="95000"/>
                                    </p:animScale>
                                    <p:animScale>
                                      <p:cBhvr>
                                        <p:cTn id="26" dur="166" decel="50000">
                                          <p:stCondLst>
                                            <p:cond delay="1834"/>
                                          </p:stCondLst>
                                        </p:cTn>
                                        <p:tgtEl>
                                          <p:spTgt spid="3">
                                            <p:txEl>
                                              <p:pRg st="1" end="1"/>
                                            </p:txEl>
                                          </p:spTgt>
                                        </p:tgtEl>
                                      </p:cBhvr>
                                      <p:to x="100000" y="100000"/>
                                    </p:animScale>
                                  </p:childTnLst>
                                </p:cTn>
                              </p:par>
                              <p:par>
                                <p:cTn id="27" presetID="26" presetClass="entr" presetSubtype="0" fill="hold" grpId="0"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ipe(down)">
                                      <p:cBhvr>
                                        <p:cTn id="29" dur="580">
                                          <p:stCondLst>
                                            <p:cond delay="0"/>
                                          </p:stCondLst>
                                        </p:cTn>
                                        <p:tgtEl>
                                          <p:spTgt spid="3">
                                            <p:txEl>
                                              <p:pRg st="2" end="2"/>
                                            </p:txEl>
                                          </p:spTgt>
                                        </p:tgtEl>
                                      </p:cBhvr>
                                    </p:animEffect>
                                    <p:anim calcmode="lin" valueType="num">
                                      <p:cBhvr>
                                        <p:cTn id="3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3">
                                            <p:txEl>
                                              <p:pRg st="2" end="2"/>
                                            </p:txEl>
                                          </p:spTgt>
                                        </p:tgtEl>
                                      </p:cBhvr>
                                      <p:to x="100000" y="60000"/>
                                    </p:animScale>
                                    <p:animScale>
                                      <p:cBhvr>
                                        <p:cTn id="36" dur="166" decel="50000">
                                          <p:stCondLst>
                                            <p:cond delay="676"/>
                                          </p:stCondLst>
                                        </p:cTn>
                                        <p:tgtEl>
                                          <p:spTgt spid="3">
                                            <p:txEl>
                                              <p:pRg st="2" end="2"/>
                                            </p:txEl>
                                          </p:spTgt>
                                        </p:tgtEl>
                                      </p:cBhvr>
                                      <p:to x="100000" y="100000"/>
                                    </p:animScale>
                                    <p:animScale>
                                      <p:cBhvr>
                                        <p:cTn id="37" dur="26">
                                          <p:stCondLst>
                                            <p:cond delay="1312"/>
                                          </p:stCondLst>
                                        </p:cTn>
                                        <p:tgtEl>
                                          <p:spTgt spid="3">
                                            <p:txEl>
                                              <p:pRg st="2" end="2"/>
                                            </p:txEl>
                                          </p:spTgt>
                                        </p:tgtEl>
                                      </p:cBhvr>
                                      <p:to x="100000" y="80000"/>
                                    </p:animScale>
                                    <p:animScale>
                                      <p:cBhvr>
                                        <p:cTn id="38" dur="166" decel="50000">
                                          <p:stCondLst>
                                            <p:cond delay="1338"/>
                                          </p:stCondLst>
                                        </p:cTn>
                                        <p:tgtEl>
                                          <p:spTgt spid="3">
                                            <p:txEl>
                                              <p:pRg st="2" end="2"/>
                                            </p:txEl>
                                          </p:spTgt>
                                        </p:tgtEl>
                                      </p:cBhvr>
                                      <p:to x="100000" y="100000"/>
                                    </p:animScale>
                                    <p:animScale>
                                      <p:cBhvr>
                                        <p:cTn id="39" dur="26">
                                          <p:stCondLst>
                                            <p:cond delay="1642"/>
                                          </p:stCondLst>
                                        </p:cTn>
                                        <p:tgtEl>
                                          <p:spTgt spid="3">
                                            <p:txEl>
                                              <p:pRg st="2" end="2"/>
                                            </p:txEl>
                                          </p:spTgt>
                                        </p:tgtEl>
                                      </p:cBhvr>
                                      <p:to x="100000" y="90000"/>
                                    </p:animScale>
                                    <p:animScale>
                                      <p:cBhvr>
                                        <p:cTn id="40" dur="166" decel="50000">
                                          <p:stCondLst>
                                            <p:cond delay="1668"/>
                                          </p:stCondLst>
                                        </p:cTn>
                                        <p:tgtEl>
                                          <p:spTgt spid="3">
                                            <p:txEl>
                                              <p:pRg st="2" end="2"/>
                                            </p:txEl>
                                          </p:spTgt>
                                        </p:tgtEl>
                                      </p:cBhvr>
                                      <p:to x="100000" y="100000"/>
                                    </p:animScale>
                                    <p:animScale>
                                      <p:cBhvr>
                                        <p:cTn id="41" dur="26">
                                          <p:stCondLst>
                                            <p:cond delay="1808"/>
                                          </p:stCondLst>
                                        </p:cTn>
                                        <p:tgtEl>
                                          <p:spTgt spid="3">
                                            <p:txEl>
                                              <p:pRg st="2" end="2"/>
                                            </p:txEl>
                                          </p:spTgt>
                                        </p:tgtEl>
                                      </p:cBhvr>
                                      <p:to x="100000" y="95000"/>
                                    </p:animScale>
                                    <p:animScale>
                                      <p:cBhvr>
                                        <p:cTn id="42"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The Activation Frame</a:t>
            </a:r>
            <a:endParaRPr lang="he-IL" dirty="0"/>
          </a:p>
        </p:txBody>
      </p:sp>
      <p:sp>
        <p:nvSpPr>
          <p:cNvPr id="3" name="מציין מיקום תוכן 2"/>
          <p:cNvSpPr>
            <a:spLocks noGrp="1"/>
          </p:cNvSpPr>
          <p:nvPr>
            <p:ph idx="1"/>
          </p:nvPr>
        </p:nvSpPr>
        <p:spPr/>
        <p:txBody>
          <a:bodyPr/>
          <a:lstStyle/>
          <a:p>
            <a:r>
              <a:rPr lang="he-IL" dirty="0"/>
              <a:t>התכנית מקצה 5 משתנים לוקליים :</a:t>
            </a:r>
            <a:r>
              <a:rPr lang="en-US" dirty="0"/>
              <a:t> </a:t>
            </a:r>
            <a:endParaRPr lang="he-IL" dirty="0"/>
          </a:p>
          <a:p>
            <a:pPr algn="l" rtl="0"/>
            <a:r>
              <a:rPr lang="en-US" b="1" dirty="0"/>
              <a:t>sub </a:t>
            </a:r>
            <a:r>
              <a:rPr lang="en-US" b="1" dirty="0" err="1"/>
              <a:t>rsp</a:t>
            </a:r>
            <a:r>
              <a:rPr lang="en-US" b="1" dirty="0"/>
              <a:t>, 8*5</a:t>
            </a:r>
          </a:p>
          <a:p>
            <a:pPr algn="l" rtl="0"/>
            <a:r>
              <a:rPr lang="en-US" b="1" dirty="0"/>
              <a:t>and </a:t>
            </a:r>
            <a:r>
              <a:rPr lang="en-US" b="1" dirty="0" err="1"/>
              <a:t>rsp</a:t>
            </a:r>
            <a:r>
              <a:rPr lang="en-US" b="1" dirty="0"/>
              <a:t>, -16</a:t>
            </a:r>
          </a:p>
          <a:p>
            <a:pPr algn="r"/>
            <a:r>
              <a:rPr lang="he-IL" dirty="0"/>
              <a:t>המשתנים :</a:t>
            </a:r>
            <a:r>
              <a:rPr lang="en-US" dirty="0"/>
              <a:t> </a:t>
            </a:r>
            <a:endParaRPr lang="he-IL" dirty="0"/>
          </a:p>
          <a:p>
            <a:pPr algn="r"/>
            <a:endParaRPr lang="en-US" dirty="0"/>
          </a:p>
          <a:p>
            <a:pPr algn="l" rtl="0"/>
            <a:endParaRPr lang="he-IL" dirty="0"/>
          </a:p>
          <a:p>
            <a:pPr algn="l" rtl="0"/>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10</a:t>
            </a:fld>
            <a:endParaRPr lang="he-IL"/>
          </a:p>
        </p:txBody>
      </p:sp>
      <p:pic>
        <p:nvPicPr>
          <p:cNvPr id="6" name="תמונה 5"/>
          <p:cNvPicPr>
            <a:picLocks noChangeAspect="1"/>
          </p:cNvPicPr>
          <p:nvPr/>
        </p:nvPicPr>
        <p:blipFill>
          <a:blip r:embed="rId2"/>
          <a:stretch>
            <a:fillRect/>
          </a:stretch>
        </p:blipFill>
        <p:spPr>
          <a:xfrm>
            <a:off x="3642151" y="3375588"/>
            <a:ext cx="5216100" cy="2500280"/>
          </a:xfrm>
          <a:prstGeom prst="rect">
            <a:avLst/>
          </a:prstGeom>
        </p:spPr>
      </p:pic>
    </p:spTree>
    <p:extLst>
      <p:ext uri="{BB962C8B-B14F-4D97-AF65-F5344CB8AC3E}">
        <p14:creationId xmlns:p14="http://schemas.microsoft.com/office/powerpoint/2010/main" val="255859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80">
                                          <p:stCondLst>
                                            <p:cond delay="0"/>
                                          </p:stCondLst>
                                        </p:cTn>
                                        <p:tgtEl>
                                          <p:spTgt spid="3">
                                            <p:txEl>
                                              <p:pRg st="1" end="1"/>
                                            </p:txEl>
                                          </p:spTgt>
                                        </p:tgtEl>
                                      </p:cBhvr>
                                    </p:animEffect>
                                    <p:anim calcmode="lin" valueType="num">
                                      <p:cBhvr>
                                        <p:cTn id="1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1" end="1"/>
                                            </p:txEl>
                                          </p:spTgt>
                                        </p:tgtEl>
                                      </p:cBhvr>
                                      <p:to x="100000" y="60000"/>
                                    </p:animScale>
                                    <p:animScale>
                                      <p:cBhvr>
                                        <p:cTn id="20" dur="166" decel="50000">
                                          <p:stCondLst>
                                            <p:cond delay="676"/>
                                          </p:stCondLst>
                                        </p:cTn>
                                        <p:tgtEl>
                                          <p:spTgt spid="3">
                                            <p:txEl>
                                              <p:pRg st="1" end="1"/>
                                            </p:txEl>
                                          </p:spTgt>
                                        </p:tgtEl>
                                      </p:cBhvr>
                                      <p:to x="100000" y="100000"/>
                                    </p:animScale>
                                    <p:animScale>
                                      <p:cBhvr>
                                        <p:cTn id="21" dur="26">
                                          <p:stCondLst>
                                            <p:cond delay="1312"/>
                                          </p:stCondLst>
                                        </p:cTn>
                                        <p:tgtEl>
                                          <p:spTgt spid="3">
                                            <p:txEl>
                                              <p:pRg st="1" end="1"/>
                                            </p:txEl>
                                          </p:spTgt>
                                        </p:tgtEl>
                                      </p:cBhvr>
                                      <p:to x="100000" y="80000"/>
                                    </p:animScale>
                                    <p:animScale>
                                      <p:cBhvr>
                                        <p:cTn id="22" dur="166" decel="50000">
                                          <p:stCondLst>
                                            <p:cond delay="1338"/>
                                          </p:stCondLst>
                                        </p:cTn>
                                        <p:tgtEl>
                                          <p:spTgt spid="3">
                                            <p:txEl>
                                              <p:pRg st="1" end="1"/>
                                            </p:txEl>
                                          </p:spTgt>
                                        </p:tgtEl>
                                      </p:cBhvr>
                                      <p:to x="100000" y="100000"/>
                                    </p:animScale>
                                    <p:animScale>
                                      <p:cBhvr>
                                        <p:cTn id="23" dur="26">
                                          <p:stCondLst>
                                            <p:cond delay="1642"/>
                                          </p:stCondLst>
                                        </p:cTn>
                                        <p:tgtEl>
                                          <p:spTgt spid="3">
                                            <p:txEl>
                                              <p:pRg st="1" end="1"/>
                                            </p:txEl>
                                          </p:spTgt>
                                        </p:tgtEl>
                                      </p:cBhvr>
                                      <p:to x="100000" y="90000"/>
                                    </p:animScale>
                                    <p:animScale>
                                      <p:cBhvr>
                                        <p:cTn id="24" dur="166" decel="50000">
                                          <p:stCondLst>
                                            <p:cond delay="1668"/>
                                          </p:stCondLst>
                                        </p:cTn>
                                        <p:tgtEl>
                                          <p:spTgt spid="3">
                                            <p:txEl>
                                              <p:pRg st="1" end="1"/>
                                            </p:txEl>
                                          </p:spTgt>
                                        </p:tgtEl>
                                      </p:cBhvr>
                                      <p:to x="100000" y="100000"/>
                                    </p:animScale>
                                    <p:animScale>
                                      <p:cBhvr>
                                        <p:cTn id="25" dur="26">
                                          <p:stCondLst>
                                            <p:cond delay="1808"/>
                                          </p:stCondLst>
                                        </p:cTn>
                                        <p:tgtEl>
                                          <p:spTgt spid="3">
                                            <p:txEl>
                                              <p:pRg st="1" end="1"/>
                                            </p:txEl>
                                          </p:spTgt>
                                        </p:tgtEl>
                                      </p:cBhvr>
                                      <p:to x="100000" y="95000"/>
                                    </p:animScale>
                                    <p:animScale>
                                      <p:cBhvr>
                                        <p:cTn id="26" dur="166" decel="50000">
                                          <p:stCondLst>
                                            <p:cond delay="1834"/>
                                          </p:stCondLst>
                                        </p:cTn>
                                        <p:tgtEl>
                                          <p:spTgt spid="3">
                                            <p:txEl>
                                              <p:pRg st="1" end="1"/>
                                            </p:txEl>
                                          </p:spTgt>
                                        </p:tgtEl>
                                      </p:cBhvr>
                                      <p:to x="100000" y="100000"/>
                                    </p:animScale>
                                  </p:childTnLst>
                                </p:cTn>
                              </p:par>
                              <p:par>
                                <p:cTn id="27" presetID="26" presetClass="entr" presetSubtype="0" fill="hold"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ipe(down)">
                                      <p:cBhvr>
                                        <p:cTn id="29" dur="580">
                                          <p:stCondLst>
                                            <p:cond delay="0"/>
                                          </p:stCondLst>
                                        </p:cTn>
                                        <p:tgtEl>
                                          <p:spTgt spid="3">
                                            <p:txEl>
                                              <p:pRg st="2" end="2"/>
                                            </p:txEl>
                                          </p:spTgt>
                                        </p:tgtEl>
                                      </p:cBhvr>
                                    </p:animEffect>
                                    <p:anim calcmode="lin" valueType="num">
                                      <p:cBhvr>
                                        <p:cTn id="3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3">
                                            <p:txEl>
                                              <p:pRg st="2" end="2"/>
                                            </p:txEl>
                                          </p:spTgt>
                                        </p:tgtEl>
                                      </p:cBhvr>
                                      <p:to x="100000" y="60000"/>
                                    </p:animScale>
                                    <p:animScale>
                                      <p:cBhvr>
                                        <p:cTn id="36" dur="166" decel="50000">
                                          <p:stCondLst>
                                            <p:cond delay="676"/>
                                          </p:stCondLst>
                                        </p:cTn>
                                        <p:tgtEl>
                                          <p:spTgt spid="3">
                                            <p:txEl>
                                              <p:pRg st="2" end="2"/>
                                            </p:txEl>
                                          </p:spTgt>
                                        </p:tgtEl>
                                      </p:cBhvr>
                                      <p:to x="100000" y="100000"/>
                                    </p:animScale>
                                    <p:animScale>
                                      <p:cBhvr>
                                        <p:cTn id="37" dur="26">
                                          <p:stCondLst>
                                            <p:cond delay="1312"/>
                                          </p:stCondLst>
                                        </p:cTn>
                                        <p:tgtEl>
                                          <p:spTgt spid="3">
                                            <p:txEl>
                                              <p:pRg st="2" end="2"/>
                                            </p:txEl>
                                          </p:spTgt>
                                        </p:tgtEl>
                                      </p:cBhvr>
                                      <p:to x="100000" y="80000"/>
                                    </p:animScale>
                                    <p:animScale>
                                      <p:cBhvr>
                                        <p:cTn id="38" dur="166" decel="50000">
                                          <p:stCondLst>
                                            <p:cond delay="1338"/>
                                          </p:stCondLst>
                                        </p:cTn>
                                        <p:tgtEl>
                                          <p:spTgt spid="3">
                                            <p:txEl>
                                              <p:pRg st="2" end="2"/>
                                            </p:txEl>
                                          </p:spTgt>
                                        </p:tgtEl>
                                      </p:cBhvr>
                                      <p:to x="100000" y="100000"/>
                                    </p:animScale>
                                    <p:animScale>
                                      <p:cBhvr>
                                        <p:cTn id="39" dur="26">
                                          <p:stCondLst>
                                            <p:cond delay="1642"/>
                                          </p:stCondLst>
                                        </p:cTn>
                                        <p:tgtEl>
                                          <p:spTgt spid="3">
                                            <p:txEl>
                                              <p:pRg st="2" end="2"/>
                                            </p:txEl>
                                          </p:spTgt>
                                        </p:tgtEl>
                                      </p:cBhvr>
                                      <p:to x="100000" y="90000"/>
                                    </p:animScale>
                                    <p:animScale>
                                      <p:cBhvr>
                                        <p:cTn id="40" dur="166" decel="50000">
                                          <p:stCondLst>
                                            <p:cond delay="1668"/>
                                          </p:stCondLst>
                                        </p:cTn>
                                        <p:tgtEl>
                                          <p:spTgt spid="3">
                                            <p:txEl>
                                              <p:pRg st="2" end="2"/>
                                            </p:txEl>
                                          </p:spTgt>
                                        </p:tgtEl>
                                      </p:cBhvr>
                                      <p:to x="100000" y="100000"/>
                                    </p:animScale>
                                    <p:animScale>
                                      <p:cBhvr>
                                        <p:cTn id="41" dur="26">
                                          <p:stCondLst>
                                            <p:cond delay="1808"/>
                                          </p:stCondLst>
                                        </p:cTn>
                                        <p:tgtEl>
                                          <p:spTgt spid="3">
                                            <p:txEl>
                                              <p:pRg st="2" end="2"/>
                                            </p:txEl>
                                          </p:spTgt>
                                        </p:tgtEl>
                                      </p:cBhvr>
                                      <p:to x="100000" y="95000"/>
                                    </p:animScale>
                                    <p:animScale>
                                      <p:cBhvr>
                                        <p:cTn id="42" dur="166" decel="50000">
                                          <p:stCondLst>
                                            <p:cond delay="1834"/>
                                          </p:stCondLst>
                                        </p:cTn>
                                        <p:tgtEl>
                                          <p:spTgt spid="3">
                                            <p:txEl>
                                              <p:pRg st="2" end="2"/>
                                            </p:txEl>
                                          </p:spTgt>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down)">
                                      <p:cBhvr>
                                        <p:cTn id="47" dur="580">
                                          <p:stCondLst>
                                            <p:cond delay="0"/>
                                          </p:stCondLst>
                                        </p:cTn>
                                        <p:tgtEl>
                                          <p:spTgt spid="6"/>
                                        </p:tgtEl>
                                      </p:cBhvr>
                                    </p:animEffect>
                                    <p:anim calcmode="lin" valueType="num">
                                      <p:cBhvr>
                                        <p:cTn id="4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53" dur="26">
                                          <p:stCondLst>
                                            <p:cond delay="650"/>
                                          </p:stCondLst>
                                        </p:cTn>
                                        <p:tgtEl>
                                          <p:spTgt spid="6"/>
                                        </p:tgtEl>
                                      </p:cBhvr>
                                      <p:to x="100000" y="60000"/>
                                    </p:animScale>
                                    <p:animScale>
                                      <p:cBhvr>
                                        <p:cTn id="54" dur="166" decel="50000">
                                          <p:stCondLst>
                                            <p:cond delay="676"/>
                                          </p:stCondLst>
                                        </p:cTn>
                                        <p:tgtEl>
                                          <p:spTgt spid="6"/>
                                        </p:tgtEl>
                                      </p:cBhvr>
                                      <p:to x="100000" y="100000"/>
                                    </p:animScale>
                                    <p:animScale>
                                      <p:cBhvr>
                                        <p:cTn id="55" dur="26">
                                          <p:stCondLst>
                                            <p:cond delay="1312"/>
                                          </p:stCondLst>
                                        </p:cTn>
                                        <p:tgtEl>
                                          <p:spTgt spid="6"/>
                                        </p:tgtEl>
                                      </p:cBhvr>
                                      <p:to x="100000" y="80000"/>
                                    </p:animScale>
                                    <p:animScale>
                                      <p:cBhvr>
                                        <p:cTn id="56" dur="166" decel="50000">
                                          <p:stCondLst>
                                            <p:cond delay="1338"/>
                                          </p:stCondLst>
                                        </p:cTn>
                                        <p:tgtEl>
                                          <p:spTgt spid="6"/>
                                        </p:tgtEl>
                                      </p:cBhvr>
                                      <p:to x="100000" y="100000"/>
                                    </p:animScale>
                                    <p:animScale>
                                      <p:cBhvr>
                                        <p:cTn id="57" dur="26">
                                          <p:stCondLst>
                                            <p:cond delay="1642"/>
                                          </p:stCondLst>
                                        </p:cTn>
                                        <p:tgtEl>
                                          <p:spTgt spid="6"/>
                                        </p:tgtEl>
                                      </p:cBhvr>
                                      <p:to x="100000" y="90000"/>
                                    </p:animScale>
                                    <p:animScale>
                                      <p:cBhvr>
                                        <p:cTn id="58" dur="166" decel="50000">
                                          <p:stCondLst>
                                            <p:cond delay="1668"/>
                                          </p:stCondLst>
                                        </p:cTn>
                                        <p:tgtEl>
                                          <p:spTgt spid="6"/>
                                        </p:tgtEl>
                                      </p:cBhvr>
                                      <p:to x="100000" y="100000"/>
                                    </p:animScale>
                                    <p:animScale>
                                      <p:cBhvr>
                                        <p:cTn id="59" dur="26">
                                          <p:stCondLst>
                                            <p:cond delay="1808"/>
                                          </p:stCondLst>
                                        </p:cTn>
                                        <p:tgtEl>
                                          <p:spTgt spid="6"/>
                                        </p:tgtEl>
                                      </p:cBhvr>
                                      <p:to x="100000" y="95000"/>
                                    </p:animScale>
                                    <p:animScale>
                                      <p:cBhvr>
                                        <p:cTn id="6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The Activation Frame</a:t>
            </a:r>
            <a:endParaRPr lang="he-IL" dirty="0"/>
          </a:p>
        </p:txBody>
      </p:sp>
      <p:sp>
        <p:nvSpPr>
          <p:cNvPr id="3" name="מציין מיקום תוכן 2"/>
          <p:cNvSpPr>
            <a:spLocks noGrp="1"/>
          </p:cNvSpPr>
          <p:nvPr>
            <p:ph idx="1"/>
          </p:nvPr>
        </p:nvSpPr>
        <p:spPr/>
        <p:txBody>
          <a:bodyPr/>
          <a:lstStyle/>
          <a:p>
            <a:r>
              <a:rPr lang="he-IL" dirty="0"/>
              <a:t>הסיבה לכך : </a:t>
            </a:r>
          </a:p>
          <a:p>
            <a:r>
              <a:rPr lang="he-IL" dirty="0"/>
              <a:t>הפקודות </a:t>
            </a:r>
            <a:r>
              <a:rPr lang="en-US" dirty="0" err="1"/>
              <a:t>printf</a:t>
            </a:r>
            <a:r>
              <a:rPr lang="he-IL" dirty="0"/>
              <a:t> וכן </a:t>
            </a:r>
            <a:r>
              <a:rPr lang="en-US" dirty="0" err="1"/>
              <a:t>fprintf</a:t>
            </a:r>
            <a:r>
              <a:rPr lang="he-IL" dirty="0"/>
              <a:t> דורשות יישור של המחסנית  עם כתובות של 16 בתים.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11</a:t>
            </a:fld>
            <a:endParaRPr lang="he-IL"/>
          </a:p>
        </p:txBody>
      </p:sp>
    </p:spTree>
    <p:extLst>
      <p:ext uri="{BB962C8B-B14F-4D97-AF65-F5344CB8AC3E}">
        <p14:creationId xmlns:p14="http://schemas.microsoft.com/office/powerpoint/2010/main" val="120119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anim calcmode="lin" valueType="num">
                                      <p:cBhvr>
                                        <p:cTn id="8"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1CEAA-C4D7-C84A-6839-D46490D79E9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369867C-9F8B-A825-B0E5-D7ABE8CC437C}"/>
              </a:ext>
            </a:extLst>
          </p:cNvPr>
          <p:cNvSpPr>
            <a:spLocks noGrp="1"/>
          </p:cNvSpPr>
          <p:nvPr>
            <p:ph type="title"/>
          </p:nvPr>
        </p:nvSpPr>
        <p:spPr/>
        <p:txBody>
          <a:bodyPr/>
          <a:lstStyle/>
          <a:p>
            <a:r>
              <a:rPr lang="en-US" dirty="0"/>
              <a:t>The Activation Frame</a:t>
            </a:r>
            <a:endParaRPr lang="he-IL" dirty="0"/>
          </a:p>
        </p:txBody>
      </p:sp>
      <p:sp>
        <p:nvSpPr>
          <p:cNvPr id="4" name="מציין מיקום של תאריך 3">
            <a:extLst>
              <a:ext uri="{FF2B5EF4-FFF2-40B4-BE49-F238E27FC236}">
                <a16:creationId xmlns:a16="http://schemas.microsoft.com/office/drawing/2014/main" id="{22E33694-B519-B9D1-F13A-90E7956D58BD}"/>
              </a:ext>
            </a:extLst>
          </p:cNvPr>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a:extLst>
              <a:ext uri="{FF2B5EF4-FFF2-40B4-BE49-F238E27FC236}">
                <a16:creationId xmlns:a16="http://schemas.microsoft.com/office/drawing/2014/main" id="{25C2D4F0-4FAC-E5C8-CF33-9D725F6D7978}"/>
              </a:ext>
            </a:extLst>
          </p:cNvPr>
          <p:cNvSpPr>
            <a:spLocks noGrp="1"/>
          </p:cNvSpPr>
          <p:nvPr>
            <p:ph type="sldNum" sz="quarter" idx="12"/>
          </p:nvPr>
        </p:nvSpPr>
        <p:spPr/>
        <p:txBody>
          <a:bodyPr/>
          <a:lstStyle/>
          <a:p>
            <a:fld id="{7980F8D2-A28C-4059-A3B3-B4E5AB0091B4}" type="slidenum">
              <a:rPr lang="he-IL" smtClean="0"/>
              <a:t>12</a:t>
            </a:fld>
            <a:endParaRPr lang="he-IL"/>
          </a:p>
        </p:txBody>
      </p:sp>
      <p:sp>
        <p:nvSpPr>
          <p:cNvPr id="7" name="מציין מיקום תוכן 2">
            <a:extLst>
              <a:ext uri="{FF2B5EF4-FFF2-40B4-BE49-F238E27FC236}">
                <a16:creationId xmlns:a16="http://schemas.microsoft.com/office/drawing/2014/main" id="{88464256-EDC9-0166-C548-70188703D526}"/>
              </a:ext>
            </a:extLst>
          </p:cNvPr>
          <p:cNvSpPr>
            <a:spLocks noGrp="1"/>
          </p:cNvSpPr>
          <p:nvPr>
            <p:ph idx="1"/>
          </p:nvPr>
        </p:nvSpPr>
        <p:spPr>
          <a:xfrm>
            <a:off x="1295401" y="2556932"/>
            <a:ext cx="9601196" cy="3318936"/>
          </a:xfrm>
        </p:spPr>
        <p:txBody>
          <a:bodyPr>
            <a:normAutofit/>
          </a:bodyPr>
          <a:lstStyle/>
          <a:p>
            <a:pPr algn="r"/>
            <a:r>
              <a:rPr lang="he-IL" dirty="0"/>
              <a:t>הקטע שמגיע לאחר מכן  מציב במשתנים המקומיים את הנתיבים של שני הקבצים: </a:t>
            </a:r>
          </a:p>
          <a:p>
            <a:pPr algn="l" rtl="0"/>
            <a:r>
              <a:rPr lang="en-US" b="1" dirty="0"/>
              <a:t>mov </a:t>
            </a:r>
            <a:r>
              <a:rPr lang="en-US" b="1" dirty="0" err="1"/>
              <a:t>rbx</a:t>
            </a:r>
            <a:r>
              <a:rPr lang="en-US" b="1" dirty="0"/>
              <a:t>, qword [</a:t>
            </a:r>
            <a:r>
              <a:rPr lang="en-US" b="1" dirty="0" err="1"/>
              <a:t>rsi</a:t>
            </a:r>
            <a:r>
              <a:rPr lang="en-US" b="1" dirty="0"/>
              <a:t> + 8*1]	</a:t>
            </a:r>
          </a:p>
          <a:p>
            <a:pPr algn="l" rtl="0"/>
            <a:r>
              <a:rPr lang="en-US" b="1" dirty="0"/>
              <a:t>mov qword [</a:t>
            </a:r>
            <a:r>
              <a:rPr lang="en-US" b="1" dirty="0" err="1"/>
              <a:t>rbp</a:t>
            </a:r>
            <a:r>
              <a:rPr lang="en-US" b="1" dirty="0"/>
              <a:t> - 8*1], </a:t>
            </a:r>
            <a:r>
              <a:rPr lang="en-US" b="1" dirty="0" err="1"/>
              <a:t>rbx</a:t>
            </a:r>
            <a:r>
              <a:rPr lang="en-US" b="1" dirty="0"/>
              <a:t> ; </a:t>
            </a:r>
            <a:r>
              <a:rPr lang="en-US" b="1" dirty="0" err="1"/>
              <a:t>file_in</a:t>
            </a:r>
            <a:r>
              <a:rPr lang="en-US" b="1" dirty="0"/>
              <a:t>	</a:t>
            </a:r>
          </a:p>
          <a:p>
            <a:pPr algn="l" rtl="0"/>
            <a:r>
              <a:rPr lang="en-US" b="1" dirty="0"/>
              <a:t>mov </a:t>
            </a:r>
            <a:r>
              <a:rPr lang="en-US" b="1" dirty="0" err="1"/>
              <a:t>rbx</a:t>
            </a:r>
            <a:r>
              <a:rPr lang="en-US" b="1" dirty="0"/>
              <a:t>, qword [</a:t>
            </a:r>
            <a:r>
              <a:rPr lang="en-US" b="1" dirty="0" err="1"/>
              <a:t>rsi</a:t>
            </a:r>
            <a:r>
              <a:rPr lang="en-US" b="1" dirty="0"/>
              <a:t> + 8*2]	</a:t>
            </a:r>
          </a:p>
          <a:p>
            <a:pPr algn="l" rtl="0"/>
            <a:r>
              <a:rPr lang="en-US" b="1" dirty="0"/>
              <a:t>mov qword [</a:t>
            </a:r>
            <a:r>
              <a:rPr lang="en-US" b="1" dirty="0" err="1"/>
              <a:t>rbp</a:t>
            </a:r>
            <a:r>
              <a:rPr lang="en-US" b="1" dirty="0"/>
              <a:t> - 8*2], </a:t>
            </a:r>
            <a:r>
              <a:rPr lang="en-US" b="1" dirty="0" err="1"/>
              <a:t>rbx</a:t>
            </a:r>
            <a:r>
              <a:rPr lang="en-US" b="1" dirty="0"/>
              <a:t> ; </a:t>
            </a:r>
            <a:r>
              <a:rPr lang="en-US" b="1" dirty="0" err="1"/>
              <a:t>file_out</a:t>
            </a:r>
            <a:endParaRPr lang="en-US" dirty="0"/>
          </a:p>
          <a:p>
            <a:pPr algn="r"/>
            <a:endParaRPr lang="en-US" b="1" dirty="0"/>
          </a:p>
          <a:p>
            <a:pPr algn="l" rtl="0"/>
            <a:endParaRPr lang="en-US" dirty="0"/>
          </a:p>
          <a:p>
            <a:pPr algn="l" rtl="0"/>
            <a:endParaRPr lang="he-IL" dirty="0"/>
          </a:p>
        </p:txBody>
      </p:sp>
    </p:spTree>
    <p:extLst>
      <p:ext uri="{BB962C8B-B14F-4D97-AF65-F5344CB8AC3E}">
        <p14:creationId xmlns:p14="http://schemas.microsoft.com/office/powerpoint/2010/main" val="4219788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D90C8-CF1B-8AD2-3F82-911CE923358E}"/>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425A2B5-463A-C561-DEF5-01803E208CE2}"/>
              </a:ext>
            </a:extLst>
          </p:cNvPr>
          <p:cNvSpPr>
            <a:spLocks noGrp="1"/>
          </p:cNvSpPr>
          <p:nvPr>
            <p:ph type="title"/>
          </p:nvPr>
        </p:nvSpPr>
        <p:spPr/>
        <p:txBody>
          <a:bodyPr/>
          <a:lstStyle/>
          <a:p>
            <a:r>
              <a:rPr lang="he-IL" dirty="0"/>
              <a:t>הדפסת הודעת מערכת</a:t>
            </a:r>
          </a:p>
        </p:txBody>
      </p:sp>
      <p:sp>
        <p:nvSpPr>
          <p:cNvPr id="3" name="מציין מיקום תוכן 2">
            <a:extLst>
              <a:ext uri="{FF2B5EF4-FFF2-40B4-BE49-F238E27FC236}">
                <a16:creationId xmlns:a16="http://schemas.microsoft.com/office/drawing/2014/main" id="{2F3D67E8-5DA9-1ADE-4451-9AADC97C2687}"/>
              </a:ext>
            </a:extLst>
          </p:cNvPr>
          <p:cNvSpPr>
            <a:spLocks noGrp="1"/>
          </p:cNvSpPr>
          <p:nvPr>
            <p:ph idx="1"/>
          </p:nvPr>
        </p:nvSpPr>
        <p:spPr/>
        <p:txBody>
          <a:bodyPr/>
          <a:lstStyle/>
          <a:p>
            <a:pPr algn="l" rtl="0"/>
            <a:r>
              <a:rPr lang="en-US" dirty="0"/>
              <a:t>mov </a:t>
            </a:r>
            <a:r>
              <a:rPr lang="en-US" dirty="0" err="1"/>
              <a:t>rdi</a:t>
            </a:r>
            <a:r>
              <a:rPr lang="en-US" dirty="0"/>
              <a:t>, </a:t>
            </a:r>
            <a:r>
              <a:rPr lang="en-US" dirty="0" err="1"/>
              <a:t>fmt_cp_report</a:t>
            </a:r>
            <a:r>
              <a:rPr lang="en-US" dirty="0"/>
              <a:t>	; `Copying \"%s\" to \"%s\"...\n\0`</a:t>
            </a:r>
          </a:p>
          <a:p>
            <a:pPr algn="l" rtl="0"/>
            <a:r>
              <a:rPr lang="en-US" dirty="0"/>
              <a:t>mov </a:t>
            </a:r>
            <a:r>
              <a:rPr lang="en-US" dirty="0" err="1"/>
              <a:t>rsi</a:t>
            </a:r>
            <a:r>
              <a:rPr lang="en-US" dirty="0"/>
              <a:t>, qword [</a:t>
            </a:r>
            <a:r>
              <a:rPr lang="en-US" dirty="0" err="1"/>
              <a:t>rbp</a:t>
            </a:r>
            <a:r>
              <a:rPr lang="en-US" dirty="0"/>
              <a:t> - 8*1]	</a:t>
            </a:r>
          </a:p>
          <a:p>
            <a:pPr algn="l" rtl="0"/>
            <a:r>
              <a:rPr lang="en-US" dirty="0"/>
              <a:t>mov </a:t>
            </a:r>
            <a:r>
              <a:rPr lang="en-US" dirty="0" err="1"/>
              <a:t>rdx</a:t>
            </a:r>
            <a:r>
              <a:rPr lang="en-US" dirty="0"/>
              <a:t>, qword [</a:t>
            </a:r>
            <a:r>
              <a:rPr lang="en-US" dirty="0" err="1"/>
              <a:t>rbp</a:t>
            </a:r>
            <a:r>
              <a:rPr lang="en-US" dirty="0"/>
              <a:t> - 8*2]	</a:t>
            </a:r>
          </a:p>
          <a:p>
            <a:pPr algn="l" rtl="0"/>
            <a:r>
              <a:rPr lang="en-US" dirty="0"/>
              <a:t>mov </a:t>
            </a:r>
            <a:r>
              <a:rPr lang="en-US" dirty="0" err="1"/>
              <a:t>rax</a:t>
            </a:r>
            <a:r>
              <a:rPr lang="en-US" dirty="0"/>
              <a:t>, 0	</a:t>
            </a:r>
          </a:p>
          <a:p>
            <a:pPr algn="l" rtl="0"/>
            <a:r>
              <a:rPr lang="en-US" dirty="0"/>
              <a:t>call </a:t>
            </a:r>
            <a:r>
              <a:rPr lang="en-US" dirty="0" err="1"/>
              <a:t>printf</a:t>
            </a:r>
            <a:endParaRPr lang="he-IL" dirty="0"/>
          </a:p>
        </p:txBody>
      </p:sp>
      <p:sp>
        <p:nvSpPr>
          <p:cNvPr id="4" name="מציין מיקום של תאריך 3">
            <a:extLst>
              <a:ext uri="{FF2B5EF4-FFF2-40B4-BE49-F238E27FC236}">
                <a16:creationId xmlns:a16="http://schemas.microsoft.com/office/drawing/2014/main" id="{20DA6191-CA5A-681D-965A-9020F7F48853}"/>
              </a:ext>
            </a:extLst>
          </p:cNvPr>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a:extLst>
              <a:ext uri="{FF2B5EF4-FFF2-40B4-BE49-F238E27FC236}">
                <a16:creationId xmlns:a16="http://schemas.microsoft.com/office/drawing/2014/main" id="{4F357A6C-52A7-11E6-AC73-D9C85E4D99AA}"/>
              </a:ext>
            </a:extLst>
          </p:cNvPr>
          <p:cNvSpPr>
            <a:spLocks noGrp="1"/>
          </p:cNvSpPr>
          <p:nvPr>
            <p:ph type="sldNum" sz="quarter" idx="12"/>
          </p:nvPr>
        </p:nvSpPr>
        <p:spPr/>
        <p:txBody>
          <a:bodyPr/>
          <a:lstStyle/>
          <a:p>
            <a:fld id="{7980F8D2-A28C-4059-A3B3-B4E5AB0091B4}" type="slidenum">
              <a:rPr lang="he-IL" smtClean="0"/>
              <a:t>13</a:t>
            </a:fld>
            <a:endParaRPr lang="he-IL"/>
          </a:p>
        </p:txBody>
      </p:sp>
    </p:spTree>
    <p:extLst>
      <p:ext uri="{BB962C8B-B14F-4D97-AF65-F5344CB8AC3E}">
        <p14:creationId xmlns:p14="http://schemas.microsoft.com/office/powerpoint/2010/main" val="2124455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3">
                                            <p:txEl>
                                              <p:pRg st="4" end="4"/>
                                            </p:txEl>
                                          </p:spTgt>
                                        </p:tgtEl>
                                        <p:attrNameLst>
                                          <p:attrName>style.visibility</p:attrName>
                                        </p:attrNameLst>
                                      </p:cBhvr>
                                      <p:to>
                                        <p:strVal val="visible"/>
                                      </p:to>
                                    </p:set>
                                    <p:animEffect transition="in" filter="wipe(down)">
                                      <p:cBhvr>
                                        <p:cTn id="79" dur="580">
                                          <p:stCondLst>
                                            <p:cond delay="0"/>
                                          </p:stCondLst>
                                        </p:cTn>
                                        <p:tgtEl>
                                          <p:spTgt spid="3">
                                            <p:txEl>
                                              <p:pRg st="4" end="4"/>
                                            </p:txEl>
                                          </p:spTgt>
                                        </p:tgtEl>
                                      </p:cBhvr>
                                    </p:animEffect>
                                    <p:anim calcmode="lin" valueType="num">
                                      <p:cBhvr>
                                        <p:cTn id="80"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4" end="4"/>
                                            </p:txEl>
                                          </p:spTgt>
                                        </p:tgtEl>
                                      </p:cBhvr>
                                      <p:to x="100000" y="60000"/>
                                    </p:animScale>
                                    <p:animScale>
                                      <p:cBhvr>
                                        <p:cTn id="86" dur="166" decel="50000">
                                          <p:stCondLst>
                                            <p:cond delay="676"/>
                                          </p:stCondLst>
                                        </p:cTn>
                                        <p:tgtEl>
                                          <p:spTgt spid="3">
                                            <p:txEl>
                                              <p:pRg st="4" end="4"/>
                                            </p:txEl>
                                          </p:spTgt>
                                        </p:tgtEl>
                                      </p:cBhvr>
                                      <p:to x="100000" y="100000"/>
                                    </p:animScale>
                                    <p:animScale>
                                      <p:cBhvr>
                                        <p:cTn id="87" dur="26">
                                          <p:stCondLst>
                                            <p:cond delay="1312"/>
                                          </p:stCondLst>
                                        </p:cTn>
                                        <p:tgtEl>
                                          <p:spTgt spid="3">
                                            <p:txEl>
                                              <p:pRg st="4" end="4"/>
                                            </p:txEl>
                                          </p:spTgt>
                                        </p:tgtEl>
                                      </p:cBhvr>
                                      <p:to x="100000" y="80000"/>
                                    </p:animScale>
                                    <p:animScale>
                                      <p:cBhvr>
                                        <p:cTn id="88" dur="166" decel="50000">
                                          <p:stCondLst>
                                            <p:cond delay="1338"/>
                                          </p:stCondLst>
                                        </p:cTn>
                                        <p:tgtEl>
                                          <p:spTgt spid="3">
                                            <p:txEl>
                                              <p:pRg st="4" end="4"/>
                                            </p:txEl>
                                          </p:spTgt>
                                        </p:tgtEl>
                                      </p:cBhvr>
                                      <p:to x="100000" y="100000"/>
                                    </p:animScale>
                                    <p:animScale>
                                      <p:cBhvr>
                                        <p:cTn id="89" dur="26">
                                          <p:stCondLst>
                                            <p:cond delay="1642"/>
                                          </p:stCondLst>
                                        </p:cTn>
                                        <p:tgtEl>
                                          <p:spTgt spid="3">
                                            <p:txEl>
                                              <p:pRg st="4" end="4"/>
                                            </p:txEl>
                                          </p:spTgt>
                                        </p:tgtEl>
                                      </p:cBhvr>
                                      <p:to x="100000" y="90000"/>
                                    </p:animScale>
                                    <p:animScale>
                                      <p:cBhvr>
                                        <p:cTn id="90" dur="166" decel="50000">
                                          <p:stCondLst>
                                            <p:cond delay="1668"/>
                                          </p:stCondLst>
                                        </p:cTn>
                                        <p:tgtEl>
                                          <p:spTgt spid="3">
                                            <p:txEl>
                                              <p:pRg st="4" end="4"/>
                                            </p:txEl>
                                          </p:spTgt>
                                        </p:tgtEl>
                                      </p:cBhvr>
                                      <p:to x="100000" y="100000"/>
                                    </p:animScale>
                                    <p:animScale>
                                      <p:cBhvr>
                                        <p:cTn id="91" dur="26">
                                          <p:stCondLst>
                                            <p:cond delay="1808"/>
                                          </p:stCondLst>
                                        </p:cTn>
                                        <p:tgtEl>
                                          <p:spTgt spid="3">
                                            <p:txEl>
                                              <p:pRg st="4" end="4"/>
                                            </p:txEl>
                                          </p:spTgt>
                                        </p:tgtEl>
                                      </p:cBhvr>
                                      <p:to x="100000" y="95000"/>
                                    </p:animScale>
                                    <p:animScale>
                                      <p:cBhvr>
                                        <p:cTn id="92" dur="166" decel="50000">
                                          <p:stCondLst>
                                            <p:cond delay="1834"/>
                                          </p:stCondLst>
                                        </p:cTn>
                                        <p:tgtEl>
                                          <p:spTgt spid="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פתיחת הקובץ שממנו רוצים לקרוא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14</a:t>
            </a:fld>
            <a:endParaRPr lang="he-IL"/>
          </a:p>
        </p:txBody>
      </p:sp>
      <p:sp>
        <p:nvSpPr>
          <p:cNvPr id="9" name="מציין מיקום תוכן 8">
            <a:extLst>
              <a:ext uri="{FF2B5EF4-FFF2-40B4-BE49-F238E27FC236}">
                <a16:creationId xmlns:a16="http://schemas.microsoft.com/office/drawing/2014/main" id="{3C66F2FE-7B72-B02F-4920-14735E96F609}"/>
              </a:ext>
            </a:extLst>
          </p:cNvPr>
          <p:cNvSpPr>
            <a:spLocks noGrp="1"/>
          </p:cNvSpPr>
          <p:nvPr>
            <p:ph idx="1"/>
          </p:nvPr>
        </p:nvSpPr>
        <p:spPr/>
        <p:txBody>
          <a:bodyPr/>
          <a:lstStyle/>
          <a:p>
            <a:endParaRPr lang="he-IL"/>
          </a:p>
        </p:txBody>
      </p:sp>
      <p:pic>
        <p:nvPicPr>
          <p:cNvPr id="11" name="תמונה 10">
            <a:extLst>
              <a:ext uri="{FF2B5EF4-FFF2-40B4-BE49-F238E27FC236}">
                <a16:creationId xmlns:a16="http://schemas.microsoft.com/office/drawing/2014/main" id="{0ED23352-3270-0CBD-F81E-8AA81682CBFF}"/>
              </a:ext>
            </a:extLst>
          </p:cNvPr>
          <p:cNvPicPr>
            <a:picLocks noChangeAspect="1"/>
          </p:cNvPicPr>
          <p:nvPr/>
        </p:nvPicPr>
        <p:blipFill>
          <a:blip r:embed="rId2"/>
          <a:stretch>
            <a:fillRect/>
          </a:stretch>
        </p:blipFill>
        <p:spPr>
          <a:xfrm>
            <a:off x="1390969" y="2556932"/>
            <a:ext cx="7954485" cy="3019846"/>
          </a:xfrm>
          <a:prstGeom prst="rect">
            <a:avLst/>
          </a:prstGeom>
        </p:spPr>
      </p:pic>
    </p:spTree>
    <p:extLst>
      <p:ext uri="{BB962C8B-B14F-4D97-AF65-F5344CB8AC3E}">
        <p14:creationId xmlns:p14="http://schemas.microsoft.com/office/powerpoint/2010/main" val="1962860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פתיחת הקובץ שממנו רוצים לקרוא </a:t>
            </a:r>
          </a:p>
        </p:txBody>
      </p:sp>
      <p:sp>
        <p:nvSpPr>
          <p:cNvPr id="3" name="מציין מיקום תוכן 2"/>
          <p:cNvSpPr>
            <a:spLocks noGrp="1"/>
          </p:cNvSpPr>
          <p:nvPr>
            <p:ph idx="1"/>
          </p:nvPr>
        </p:nvSpPr>
        <p:spPr/>
        <p:txBody>
          <a:bodyPr>
            <a:normAutofit/>
          </a:bodyPr>
          <a:lstStyle/>
          <a:p>
            <a:r>
              <a:rPr lang="en-US" dirty="0" err="1"/>
              <a:t>Rax</a:t>
            </a:r>
            <a:r>
              <a:rPr lang="en-US" dirty="0"/>
              <a:t>=2</a:t>
            </a:r>
            <a:r>
              <a:rPr lang="he-IL" dirty="0"/>
              <a:t> משום שזהו הקוד עבור </a:t>
            </a:r>
            <a:r>
              <a:rPr lang="en-US" dirty="0" err="1"/>
              <a:t>syscall</a:t>
            </a:r>
            <a:r>
              <a:rPr lang="en-US" dirty="0"/>
              <a:t> </a:t>
            </a:r>
            <a:r>
              <a:rPr lang="he-IL" dirty="0"/>
              <a:t> המיועד לקריאה</a:t>
            </a:r>
          </a:p>
          <a:p>
            <a:r>
              <a:rPr lang="en-US" dirty="0" err="1"/>
              <a:t>rdi</a:t>
            </a:r>
            <a:r>
              <a:rPr lang="en-US" dirty="0"/>
              <a:t> </a:t>
            </a:r>
            <a:r>
              <a:rPr lang="he-IL" dirty="0"/>
              <a:t> מצביע על  הארגומנט הראשון - </a:t>
            </a:r>
            <a:r>
              <a:rPr lang="en-US" dirty="0"/>
              <a:t> </a:t>
            </a:r>
            <a:r>
              <a:rPr lang="en-US" dirty="0" err="1"/>
              <a:t>const</a:t>
            </a:r>
            <a:r>
              <a:rPr lang="en-US" dirty="0"/>
              <a:t> char *filename</a:t>
            </a:r>
            <a:endParaRPr lang="he-IL" dirty="0"/>
          </a:p>
          <a:p>
            <a:r>
              <a:rPr lang="en-US" dirty="0" err="1"/>
              <a:t>Syscall</a:t>
            </a:r>
            <a:r>
              <a:rPr lang="he-IL" dirty="0"/>
              <a:t> כעת נכנסת אל הגרעין ובמידה ונכנסה בהצלחה היא תחזיר את </a:t>
            </a:r>
            <a:r>
              <a:rPr lang="en-US" dirty="0" err="1"/>
              <a:t>fd</a:t>
            </a:r>
            <a:r>
              <a:rPr lang="he-IL" b="1" dirty="0"/>
              <a:t> </a:t>
            </a:r>
            <a:r>
              <a:rPr lang="he-IL" dirty="0"/>
              <a:t>אל </a:t>
            </a:r>
            <a:r>
              <a:rPr lang="en-US" dirty="0" err="1"/>
              <a:t>rax</a:t>
            </a:r>
            <a:r>
              <a:rPr lang="he-IL" dirty="0"/>
              <a:t> </a:t>
            </a:r>
          </a:p>
          <a:p>
            <a:r>
              <a:rPr lang="he-IL" dirty="0"/>
              <a:t>אם </a:t>
            </a:r>
            <a:r>
              <a:rPr lang="en-US" dirty="0" err="1"/>
              <a:t>rax</a:t>
            </a:r>
            <a:r>
              <a:rPr lang="en-US" dirty="0"/>
              <a:t>&lt;0</a:t>
            </a:r>
            <a:r>
              <a:rPr lang="he-IL" dirty="0"/>
              <a:t> זוהי שגיאה אחרת - </a:t>
            </a:r>
            <a:r>
              <a:rPr lang="en-US" b="1" dirty="0" err="1"/>
              <a:t>mov</a:t>
            </a:r>
            <a:r>
              <a:rPr lang="en-US" b="1" dirty="0"/>
              <a:t> [</a:t>
            </a:r>
            <a:r>
              <a:rPr lang="en-US" b="1" dirty="0" err="1"/>
              <a:t>rbp</a:t>
            </a:r>
            <a:r>
              <a:rPr lang="en-US" b="1" dirty="0"/>
              <a:t> - 8*3], </a:t>
            </a:r>
            <a:r>
              <a:rPr lang="en-US" b="1" dirty="0" err="1"/>
              <a:t>rax</a:t>
            </a:r>
            <a:r>
              <a:rPr lang="en-US" b="1" dirty="0"/>
              <a:t>   ; </a:t>
            </a:r>
            <a:r>
              <a:rPr lang="en-US" b="1" dirty="0" err="1"/>
              <a:t>fd_in</a:t>
            </a:r>
            <a:endParaRPr lang="he-IL" b="1" dirty="0"/>
          </a:p>
          <a:p>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15</a:t>
            </a:fld>
            <a:endParaRPr lang="he-IL"/>
          </a:p>
        </p:txBody>
      </p:sp>
    </p:spTree>
    <p:extLst>
      <p:ext uri="{BB962C8B-B14F-4D97-AF65-F5344CB8AC3E}">
        <p14:creationId xmlns:p14="http://schemas.microsoft.com/office/powerpoint/2010/main" val="332039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dirty="0"/>
              <a:t>פתיחה ויצירה של קובץ היעד (הקובץ לכתיבה)</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16</a:t>
            </a:fld>
            <a:endParaRPr lang="he-IL"/>
          </a:p>
        </p:txBody>
      </p:sp>
      <p:pic>
        <p:nvPicPr>
          <p:cNvPr id="7" name="תמונה 6">
            <a:extLst>
              <a:ext uri="{FF2B5EF4-FFF2-40B4-BE49-F238E27FC236}">
                <a16:creationId xmlns:a16="http://schemas.microsoft.com/office/drawing/2014/main" id="{34E8F7E5-FE4D-01B5-9A1D-827B6DC7D675}"/>
              </a:ext>
            </a:extLst>
          </p:cNvPr>
          <p:cNvPicPr>
            <a:picLocks noChangeAspect="1"/>
          </p:cNvPicPr>
          <p:nvPr/>
        </p:nvPicPr>
        <p:blipFill>
          <a:blip r:embed="rId2"/>
          <a:stretch>
            <a:fillRect/>
          </a:stretch>
        </p:blipFill>
        <p:spPr>
          <a:xfrm>
            <a:off x="1295402" y="2665208"/>
            <a:ext cx="8211696" cy="2924583"/>
          </a:xfrm>
          <a:prstGeom prst="rect">
            <a:avLst/>
          </a:prstGeom>
        </p:spPr>
      </p:pic>
    </p:spTree>
    <p:extLst>
      <p:ext uri="{BB962C8B-B14F-4D97-AF65-F5344CB8AC3E}">
        <p14:creationId xmlns:p14="http://schemas.microsoft.com/office/powerpoint/2010/main" val="3791278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פתיחה ויצירה של קובץ היעד</a:t>
            </a:r>
          </a:p>
        </p:txBody>
      </p:sp>
      <p:sp>
        <p:nvSpPr>
          <p:cNvPr id="3" name="מציין מיקום תוכן 2"/>
          <p:cNvSpPr>
            <a:spLocks noGrp="1"/>
          </p:cNvSpPr>
          <p:nvPr>
            <p:ph idx="1"/>
          </p:nvPr>
        </p:nvSpPr>
        <p:spPr/>
        <p:txBody>
          <a:bodyPr>
            <a:normAutofit fontScale="92500" lnSpcReduction="20000"/>
          </a:bodyPr>
          <a:lstStyle/>
          <a:p>
            <a:r>
              <a:rPr lang="he-IL" dirty="0"/>
              <a:t>להלן הסבר לקטע הקוד האחרון :</a:t>
            </a:r>
            <a:r>
              <a:rPr lang="en-US" dirty="0"/>
              <a:t> </a:t>
            </a:r>
            <a:endParaRPr lang="he-IL" dirty="0"/>
          </a:p>
          <a:p>
            <a:r>
              <a:rPr lang="he-IL" dirty="0"/>
              <a:t>משתמשים שוב ב </a:t>
            </a:r>
            <a:r>
              <a:rPr lang="en-US" dirty="0" err="1"/>
              <a:t>sys_open</a:t>
            </a:r>
            <a:r>
              <a:rPr lang="he-IL" dirty="0"/>
              <a:t> עם שינויים בהשוואה לקריאה :</a:t>
            </a:r>
            <a:r>
              <a:rPr lang="en-US" dirty="0"/>
              <a:t> </a:t>
            </a:r>
            <a:endParaRPr lang="he-IL" dirty="0"/>
          </a:p>
          <a:p>
            <a:pPr algn="l" rtl="0"/>
            <a:r>
              <a:rPr lang="en-US" dirty="0" err="1"/>
              <a:t>rdi</a:t>
            </a:r>
            <a:r>
              <a:rPr lang="en-US" dirty="0"/>
              <a:t> = </a:t>
            </a:r>
            <a:r>
              <a:rPr lang="en-US" dirty="0" err="1"/>
              <a:t>dest</a:t>
            </a:r>
            <a:r>
              <a:rPr lang="en-US" dirty="0"/>
              <a:t> filename</a:t>
            </a:r>
          </a:p>
          <a:p>
            <a:pPr algn="l" rtl="0"/>
            <a:r>
              <a:rPr lang="en-US" dirty="0" err="1"/>
              <a:t>rsi</a:t>
            </a:r>
            <a:r>
              <a:rPr lang="en-US" dirty="0"/>
              <a:t> = 0x241 → bitwise OR of flags:</a:t>
            </a:r>
          </a:p>
          <a:p>
            <a:pPr algn="l" rtl="0"/>
            <a:r>
              <a:rPr lang="en-US" dirty="0"/>
              <a:t>   O_WRONLY (1)</a:t>
            </a:r>
          </a:p>
          <a:p>
            <a:pPr algn="l" rtl="0"/>
            <a:r>
              <a:rPr lang="en-US" dirty="0"/>
              <a:t>   O_CREAT (64)</a:t>
            </a:r>
          </a:p>
          <a:p>
            <a:pPr algn="l" rtl="0"/>
            <a:r>
              <a:rPr lang="en-US" dirty="0"/>
              <a:t>   O_TRUNC (512)</a:t>
            </a:r>
          </a:p>
          <a:p>
            <a:pPr algn="l" rtl="0"/>
            <a:r>
              <a:rPr lang="en-US" dirty="0" err="1"/>
              <a:t>rdx</a:t>
            </a:r>
            <a:r>
              <a:rPr lang="en-US" dirty="0"/>
              <a:t> = 0644 → file permissions if the file is created</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17</a:t>
            </a:fld>
            <a:endParaRPr lang="he-IL"/>
          </a:p>
        </p:txBody>
      </p:sp>
    </p:spTree>
    <p:extLst>
      <p:ext uri="{BB962C8B-B14F-4D97-AF65-F5344CB8AC3E}">
        <p14:creationId xmlns:p14="http://schemas.microsoft.com/office/powerpoint/2010/main" val="3013742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פתיחה ויצירה של קובץ היעד</a:t>
            </a:r>
          </a:p>
        </p:txBody>
      </p:sp>
      <p:sp>
        <p:nvSpPr>
          <p:cNvPr id="3" name="מציין מיקום תוכן 2"/>
          <p:cNvSpPr>
            <a:spLocks noGrp="1"/>
          </p:cNvSpPr>
          <p:nvPr>
            <p:ph idx="1"/>
          </p:nvPr>
        </p:nvSpPr>
        <p:spPr/>
        <p:txBody>
          <a:bodyPr/>
          <a:lstStyle/>
          <a:p>
            <a:r>
              <a:rPr lang="he-IL" dirty="0"/>
              <a:t>במידה ו </a:t>
            </a:r>
            <a:r>
              <a:rPr lang="en-US" dirty="0" err="1"/>
              <a:t>rax</a:t>
            </a:r>
            <a:r>
              <a:rPr lang="en-US" dirty="0"/>
              <a:t>&lt;0</a:t>
            </a:r>
            <a:r>
              <a:rPr lang="he-IL" dirty="0"/>
              <a:t> מדובר בשגיאה </a:t>
            </a:r>
          </a:p>
          <a:p>
            <a:r>
              <a:rPr lang="he-IL" dirty="0"/>
              <a:t>אחרת :</a:t>
            </a:r>
            <a:r>
              <a:rPr lang="en-US" dirty="0"/>
              <a:t> </a:t>
            </a:r>
            <a:endParaRPr lang="he-IL" dirty="0"/>
          </a:p>
          <a:p>
            <a:pPr algn="l" rtl="0"/>
            <a:r>
              <a:rPr lang="en-US" b="1" dirty="0" err="1"/>
              <a:t>mov</a:t>
            </a:r>
            <a:r>
              <a:rPr lang="en-US" b="1" dirty="0"/>
              <a:t> [</a:t>
            </a:r>
            <a:r>
              <a:rPr lang="en-US" b="1" dirty="0" err="1"/>
              <a:t>rbp</a:t>
            </a:r>
            <a:r>
              <a:rPr lang="en-US" b="1" dirty="0"/>
              <a:t> - 8*4], </a:t>
            </a:r>
            <a:r>
              <a:rPr lang="en-US" b="1" dirty="0" err="1"/>
              <a:t>rax</a:t>
            </a:r>
            <a:r>
              <a:rPr lang="en-US" b="1" dirty="0"/>
              <a:t>   ; </a:t>
            </a:r>
            <a:r>
              <a:rPr lang="en-US" b="1" dirty="0" err="1"/>
              <a:t>fd_out</a:t>
            </a:r>
            <a:endParaRPr lang="en-US" b="1" dirty="0"/>
          </a:p>
          <a:p>
            <a:r>
              <a:rPr lang="he-IL" dirty="0"/>
              <a:t> בנוסף, מאפסים את מונה התווים:</a:t>
            </a:r>
          </a:p>
          <a:p>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18</a:t>
            </a:fld>
            <a:endParaRPr lang="he-IL"/>
          </a:p>
        </p:txBody>
      </p:sp>
      <p:pic>
        <p:nvPicPr>
          <p:cNvPr id="7" name="תמונה 6">
            <a:extLst>
              <a:ext uri="{FF2B5EF4-FFF2-40B4-BE49-F238E27FC236}">
                <a16:creationId xmlns:a16="http://schemas.microsoft.com/office/drawing/2014/main" id="{CA196D0E-C05A-CC5F-E479-DE4C5BEC3D9E}"/>
              </a:ext>
            </a:extLst>
          </p:cNvPr>
          <p:cNvPicPr>
            <a:picLocks noChangeAspect="1"/>
          </p:cNvPicPr>
          <p:nvPr/>
        </p:nvPicPr>
        <p:blipFill>
          <a:blip r:embed="rId2"/>
          <a:stretch>
            <a:fillRect/>
          </a:stretch>
        </p:blipFill>
        <p:spPr>
          <a:xfrm>
            <a:off x="1295401" y="4776850"/>
            <a:ext cx="6592220" cy="495369"/>
          </a:xfrm>
          <a:prstGeom prst="rect">
            <a:avLst/>
          </a:prstGeom>
        </p:spPr>
      </p:pic>
    </p:spTree>
    <p:extLst>
      <p:ext uri="{BB962C8B-B14F-4D97-AF65-F5344CB8AC3E}">
        <p14:creationId xmlns:p14="http://schemas.microsoft.com/office/powerpoint/2010/main" val="3409239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220757" y="609600"/>
            <a:ext cx="9601196" cy="1303867"/>
          </a:xfrm>
        </p:spPr>
        <p:txBody>
          <a:bodyPr/>
          <a:lstStyle/>
          <a:p>
            <a:r>
              <a:rPr lang="he-IL" dirty="0"/>
              <a:t>הלולאה המרכזית</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19</a:t>
            </a:fld>
            <a:endParaRPr lang="he-IL"/>
          </a:p>
        </p:txBody>
      </p:sp>
      <p:pic>
        <p:nvPicPr>
          <p:cNvPr id="7" name="תמונה 6">
            <a:extLst>
              <a:ext uri="{FF2B5EF4-FFF2-40B4-BE49-F238E27FC236}">
                <a16:creationId xmlns:a16="http://schemas.microsoft.com/office/drawing/2014/main" id="{84FD4BB8-9A40-2308-1FC3-1408BE511786}"/>
              </a:ext>
            </a:extLst>
          </p:cNvPr>
          <p:cNvPicPr>
            <a:picLocks noChangeAspect="1"/>
          </p:cNvPicPr>
          <p:nvPr/>
        </p:nvPicPr>
        <p:blipFill>
          <a:blip r:embed="rId2"/>
          <a:stretch>
            <a:fillRect/>
          </a:stretch>
        </p:blipFill>
        <p:spPr>
          <a:xfrm>
            <a:off x="1073921" y="2474751"/>
            <a:ext cx="3833981" cy="3869591"/>
          </a:xfrm>
          <a:prstGeom prst="rect">
            <a:avLst/>
          </a:prstGeom>
        </p:spPr>
      </p:pic>
      <p:sp>
        <p:nvSpPr>
          <p:cNvPr id="10" name="תיבת טקסט 9">
            <a:extLst>
              <a:ext uri="{FF2B5EF4-FFF2-40B4-BE49-F238E27FC236}">
                <a16:creationId xmlns:a16="http://schemas.microsoft.com/office/drawing/2014/main" id="{1D490EFA-8778-25DB-613C-67BE645F408A}"/>
              </a:ext>
            </a:extLst>
          </p:cNvPr>
          <p:cNvSpPr txBox="1"/>
          <p:nvPr/>
        </p:nvSpPr>
        <p:spPr>
          <a:xfrm>
            <a:off x="4509033" y="2474751"/>
            <a:ext cx="6116216" cy="369332"/>
          </a:xfrm>
          <a:prstGeom prst="rect">
            <a:avLst/>
          </a:prstGeom>
          <a:noFill/>
        </p:spPr>
        <p:txBody>
          <a:bodyPr wrap="square">
            <a:spAutoFit/>
          </a:bodyPr>
          <a:lstStyle/>
          <a:p>
            <a:r>
              <a:rPr lang="he-IL" dirty="0"/>
              <a:t>הלולאה המרכזית מעתיקה את הערכים מקובץ הקריאה אל קובץ הכתיבה: </a:t>
            </a:r>
          </a:p>
        </p:txBody>
      </p:sp>
      <p:pic>
        <p:nvPicPr>
          <p:cNvPr id="12" name="תמונה 11">
            <a:extLst>
              <a:ext uri="{FF2B5EF4-FFF2-40B4-BE49-F238E27FC236}">
                <a16:creationId xmlns:a16="http://schemas.microsoft.com/office/drawing/2014/main" id="{4DCFE82B-7347-AD1D-A2E4-515B3772A309}"/>
              </a:ext>
            </a:extLst>
          </p:cNvPr>
          <p:cNvPicPr>
            <a:picLocks noChangeAspect="1"/>
          </p:cNvPicPr>
          <p:nvPr/>
        </p:nvPicPr>
        <p:blipFill>
          <a:blip r:embed="rId3"/>
          <a:stretch>
            <a:fillRect/>
          </a:stretch>
        </p:blipFill>
        <p:spPr>
          <a:xfrm>
            <a:off x="5457776" y="3146181"/>
            <a:ext cx="4346251" cy="2526730"/>
          </a:xfrm>
          <a:prstGeom prst="rect">
            <a:avLst/>
          </a:prstGeom>
        </p:spPr>
      </p:pic>
    </p:spTree>
    <p:extLst>
      <p:ext uri="{BB962C8B-B14F-4D97-AF65-F5344CB8AC3E}">
        <p14:creationId xmlns:p14="http://schemas.microsoft.com/office/powerpoint/2010/main" val="1435563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הלולאה המרכזית הסבר </a:t>
            </a:r>
          </a:p>
        </p:txBody>
      </p:sp>
      <p:sp>
        <p:nvSpPr>
          <p:cNvPr id="3" name="מציין מיקום תוכן 2"/>
          <p:cNvSpPr>
            <a:spLocks noGrp="1"/>
          </p:cNvSpPr>
          <p:nvPr>
            <p:ph idx="1"/>
          </p:nvPr>
        </p:nvSpPr>
        <p:spPr/>
        <p:txBody>
          <a:bodyPr/>
          <a:lstStyle/>
          <a:p>
            <a:r>
              <a:rPr lang="he-IL" dirty="0"/>
              <a:t>נביט במערך הנתונים של </a:t>
            </a:r>
            <a:r>
              <a:rPr lang="en-US" dirty="0" err="1"/>
              <a:t>sys_read</a:t>
            </a:r>
            <a:r>
              <a:rPr lang="he-IL" dirty="0"/>
              <a:t> :</a:t>
            </a:r>
            <a:r>
              <a:rPr lang="en-US" dirty="0"/>
              <a:t> </a:t>
            </a:r>
            <a:endParaRPr lang="he-IL" dirty="0"/>
          </a:p>
          <a:p>
            <a:r>
              <a:rPr lang="en-US" dirty="0"/>
              <a:t>      </a:t>
            </a:r>
            <a:r>
              <a:rPr lang="he-IL" dirty="0"/>
              <a:t> </a:t>
            </a:r>
            <a:r>
              <a:rPr lang="en-US" dirty="0" err="1"/>
              <a:t>rax</a:t>
            </a:r>
            <a:r>
              <a:rPr lang="en-US" dirty="0"/>
              <a:t>=0</a:t>
            </a:r>
            <a:r>
              <a:rPr lang="he-IL" dirty="0"/>
              <a:t> </a:t>
            </a:r>
            <a:r>
              <a:rPr lang="en-US" dirty="0"/>
              <a:t> </a:t>
            </a:r>
            <a:r>
              <a:rPr lang="he-IL" dirty="0"/>
              <a:t>מכוון לפעולת קריאה </a:t>
            </a:r>
          </a:p>
          <a:p>
            <a:r>
              <a:rPr lang="he-IL" dirty="0"/>
              <a:t>       </a:t>
            </a:r>
            <a:r>
              <a:rPr lang="en-US" dirty="0" err="1"/>
              <a:t>rdi</a:t>
            </a:r>
            <a:r>
              <a:rPr lang="he-IL" dirty="0"/>
              <a:t> מכיל את ה </a:t>
            </a:r>
            <a:r>
              <a:rPr lang="en-US" dirty="0"/>
              <a:t>file </a:t>
            </a:r>
            <a:r>
              <a:rPr lang="en-US" dirty="0" err="1"/>
              <a:t>dsecriptor</a:t>
            </a:r>
            <a:r>
              <a:rPr lang="he-IL" dirty="0"/>
              <a:t> של הקובץ שממנו קוראים</a:t>
            </a:r>
          </a:p>
          <a:p>
            <a:r>
              <a:rPr lang="he-IL" dirty="0"/>
              <a:t>      </a:t>
            </a:r>
            <a:r>
              <a:rPr lang="en-US" dirty="0" err="1"/>
              <a:t>rsi</a:t>
            </a:r>
            <a:r>
              <a:rPr lang="en-US" dirty="0"/>
              <a:t>=buffer</a:t>
            </a:r>
            <a:r>
              <a:rPr lang="he-IL" dirty="0"/>
              <a:t> – חוצץ נתונים אשר אוגר בתוכו את הנתונים במעבר מקובץ לקובץ</a:t>
            </a:r>
          </a:p>
          <a:p>
            <a:r>
              <a:rPr lang="he-IL" dirty="0"/>
              <a:t>      </a:t>
            </a:r>
            <a:r>
              <a:rPr lang="en-US" dirty="0" err="1"/>
              <a:t>rdx</a:t>
            </a:r>
            <a:r>
              <a:rPr lang="en-US" dirty="0"/>
              <a:t>=1024</a:t>
            </a:r>
            <a:r>
              <a:rPr lang="he-IL" dirty="0"/>
              <a:t> – כמות הנתונים שנקראת בכל סבב</a:t>
            </a:r>
          </a:p>
          <a:p>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20</a:t>
            </a:fld>
            <a:endParaRPr lang="he-IL"/>
          </a:p>
        </p:txBody>
      </p:sp>
      <p:pic>
        <p:nvPicPr>
          <p:cNvPr id="7" name="תמונה 6">
            <a:extLst>
              <a:ext uri="{FF2B5EF4-FFF2-40B4-BE49-F238E27FC236}">
                <a16:creationId xmlns:a16="http://schemas.microsoft.com/office/drawing/2014/main" id="{5C3056DE-FAB3-2D2C-0784-CFF4D893C660}"/>
              </a:ext>
            </a:extLst>
          </p:cNvPr>
          <p:cNvPicPr>
            <a:picLocks noChangeAspect="1"/>
          </p:cNvPicPr>
          <p:nvPr/>
        </p:nvPicPr>
        <p:blipFill>
          <a:blip r:embed="rId2"/>
          <a:stretch>
            <a:fillRect/>
          </a:stretch>
        </p:blipFill>
        <p:spPr>
          <a:xfrm>
            <a:off x="1398529" y="2556932"/>
            <a:ext cx="2676899" cy="924054"/>
          </a:xfrm>
          <a:prstGeom prst="rect">
            <a:avLst/>
          </a:prstGeom>
        </p:spPr>
      </p:pic>
    </p:spTree>
    <p:extLst>
      <p:ext uri="{BB962C8B-B14F-4D97-AF65-F5344CB8AC3E}">
        <p14:creationId xmlns:p14="http://schemas.microsoft.com/office/powerpoint/2010/main" val="424574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הלולאה המרכזית המשך</a:t>
            </a:r>
          </a:p>
        </p:txBody>
      </p:sp>
      <p:sp>
        <p:nvSpPr>
          <p:cNvPr id="3" name="מציין מיקום תוכן 2"/>
          <p:cNvSpPr>
            <a:spLocks noGrp="1"/>
          </p:cNvSpPr>
          <p:nvPr>
            <p:ph idx="1"/>
          </p:nvPr>
        </p:nvSpPr>
        <p:spPr/>
        <p:txBody>
          <a:bodyPr/>
          <a:lstStyle/>
          <a:p>
            <a:r>
              <a:rPr lang="he-IL" dirty="0"/>
              <a:t>עם סיומו של החלק הראשון נבדק תוכנו של </a:t>
            </a:r>
            <a:r>
              <a:rPr lang="en-US" dirty="0" err="1"/>
              <a:t>rax</a:t>
            </a:r>
            <a:r>
              <a:rPr lang="he-IL" dirty="0"/>
              <a:t> :</a:t>
            </a:r>
          </a:p>
          <a:p>
            <a:r>
              <a:rPr lang="he-IL" dirty="0"/>
              <a:t>    אם  </a:t>
            </a:r>
            <a:r>
              <a:rPr lang="en-US" dirty="0" err="1"/>
              <a:t>rax</a:t>
            </a:r>
            <a:r>
              <a:rPr lang="en-US" dirty="0"/>
              <a:t>&lt;SIZE</a:t>
            </a:r>
            <a:r>
              <a:rPr lang="he-IL" dirty="0"/>
              <a:t>  אזי </a:t>
            </a:r>
            <a:r>
              <a:rPr lang="en-US" dirty="0" err="1"/>
              <a:t>rax</a:t>
            </a:r>
            <a:r>
              <a:rPr lang="he-IL" dirty="0"/>
              <a:t> , הגענו ל1024 בייט האחרונים בקובץ</a:t>
            </a:r>
          </a:p>
          <a:p>
            <a:r>
              <a:rPr lang="he-IL" dirty="0"/>
              <a:t>    אם </a:t>
            </a:r>
            <a:r>
              <a:rPr lang="en-US" dirty="0" err="1"/>
              <a:t>rax</a:t>
            </a:r>
            <a:r>
              <a:rPr lang="en-US" dirty="0"/>
              <a:t>=0 </a:t>
            </a:r>
            <a:r>
              <a:rPr lang="he-IL" dirty="0"/>
              <a:t>  זהו סימן ל </a:t>
            </a:r>
            <a:r>
              <a:rPr lang="en-US" dirty="0"/>
              <a:t>EOF</a:t>
            </a:r>
            <a:r>
              <a:rPr lang="he-IL" dirty="0"/>
              <a:t> </a:t>
            </a:r>
          </a:p>
          <a:p>
            <a:r>
              <a:rPr lang="he-IL" dirty="0"/>
              <a:t>    אם </a:t>
            </a:r>
            <a:r>
              <a:rPr lang="en-US" dirty="0" err="1"/>
              <a:t>rax</a:t>
            </a:r>
            <a:r>
              <a:rPr lang="en-US" dirty="0"/>
              <a:t>&lt;0</a:t>
            </a:r>
            <a:r>
              <a:rPr lang="he-IL" dirty="0"/>
              <a:t> פירושו שקיימת שגיאה. בתכנית זו התעלמנו מכך</a:t>
            </a:r>
          </a:p>
          <a:p>
            <a:r>
              <a:rPr lang="he-IL" dirty="0"/>
              <a:t>במידה ואכן </a:t>
            </a:r>
            <a:r>
              <a:rPr lang="en-US" dirty="0" err="1"/>
              <a:t>rax</a:t>
            </a:r>
            <a:r>
              <a:rPr lang="en-US" dirty="0"/>
              <a:t>=0</a:t>
            </a:r>
            <a:r>
              <a:rPr lang="he-IL" dirty="0"/>
              <a:t> , קופצים לסיום – אשר מתפרש כ </a:t>
            </a:r>
            <a:r>
              <a:rPr lang="en-US" dirty="0"/>
              <a:t>end of file</a:t>
            </a:r>
            <a:r>
              <a:rPr lang="he-IL" dirty="0"/>
              <a:t>. אחרת – </a:t>
            </a:r>
            <a:r>
              <a:rPr lang="en-US" dirty="0" err="1"/>
              <a:t>rax</a:t>
            </a:r>
            <a:r>
              <a:rPr lang="en-US" dirty="0"/>
              <a:t>&gt;0</a:t>
            </a:r>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21</a:t>
            </a:fld>
            <a:endParaRPr lang="he-IL"/>
          </a:p>
        </p:txBody>
      </p:sp>
      <p:pic>
        <p:nvPicPr>
          <p:cNvPr id="7" name="תמונה 6">
            <a:extLst>
              <a:ext uri="{FF2B5EF4-FFF2-40B4-BE49-F238E27FC236}">
                <a16:creationId xmlns:a16="http://schemas.microsoft.com/office/drawing/2014/main" id="{2C8E32B1-852F-FF0C-6C0E-E05985B55F0B}"/>
              </a:ext>
            </a:extLst>
          </p:cNvPr>
          <p:cNvPicPr>
            <a:picLocks noChangeAspect="1"/>
          </p:cNvPicPr>
          <p:nvPr/>
        </p:nvPicPr>
        <p:blipFill>
          <a:blip r:embed="rId2"/>
          <a:stretch>
            <a:fillRect/>
          </a:stretch>
        </p:blipFill>
        <p:spPr>
          <a:xfrm>
            <a:off x="1167222" y="2609736"/>
            <a:ext cx="2486372" cy="819264"/>
          </a:xfrm>
          <a:prstGeom prst="rect">
            <a:avLst/>
          </a:prstGeom>
        </p:spPr>
      </p:pic>
    </p:spTree>
    <p:extLst>
      <p:ext uri="{BB962C8B-B14F-4D97-AF65-F5344CB8AC3E}">
        <p14:creationId xmlns:p14="http://schemas.microsoft.com/office/powerpoint/2010/main" val="191246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הלולאה המרכזית המשך</a:t>
            </a:r>
          </a:p>
        </p:txBody>
      </p:sp>
      <p:sp>
        <p:nvSpPr>
          <p:cNvPr id="3" name="מציין מיקום תוכן 2"/>
          <p:cNvSpPr>
            <a:spLocks noGrp="1"/>
          </p:cNvSpPr>
          <p:nvPr>
            <p:ph idx="1"/>
          </p:nvPr>
        </p:nvSpPr>
        <p:spPr/>
        <p:txBody>
          <a:bodyPr>
            <a:normAutofit fontScale="92500"/>
          </a:bodyPr>
          <a:lstStyle/>
          <a:p>
            <a:r>
              <a:rPr lang="he-IL" dirty="0"/>
              <a:t>בחלק השני מבצעים </a:t>
            </a:r>
            <a:r>
              <a:rPr lang="en-US" dirty="0" err="1"/>
              <a:t>sys_write</a:t>
            </a:r>
            <a:r>
              <a:rPr lang="he-IL" dirty="0"/>
              <a:t> – כתיבה אל קובץ היעד: </a:t>
            </a:r>
          </a:p>
          <a:p>
            <a:r>
              <a:rPr lang="he-IL" dirty="0"/>
              <a:t>   </a:t>
            </a:r>
            <a:r>
              <a:rPr lang="en-US" dirty="0" err="1"/>
              <a:t>rax</a:t>
            </a:r>
            <a:r>
              <a:rPr lang="en-US" dirty="0"/>
              <a:t>=1</a:t>
            </a:r>
            <a:r>
              <a:rPr lang="he-IL" dirty="0"/>
              <a:t> מציין כי מדובר בפעולת כתיבה </a:t>
            </a:r>
          </a:p>
          <a:p>
            <a:r>
              <a:rPr lang="he-IL" dirty="0"/>
              <a:t>   </a:t>
            </a:r>
            <a:r>
              <a:rPr lang="en-US" dirty="0" err="1"/>
              <a:t>rdi</a:t>
            </a:r>
            <a:r>
              <a:rPr lang="he-IL" dirty="0"/>
              <a:t> מצביע על </a:t>
            </a:r>
            <a:r>
              <a:rPr lang="en-US" dirty="0"/>
              <a:t>file descriptor </a:t>
            </a:r>
            <a:r>
              <a:rPr lang="he-IL" dirty="0"/>
              <a:t> של קובץ היעד </a:t>
            </a:r>
          </a:p>
          <a:p>
            <a:r>
              <a:rPr lang="he-IL" dirty="0"/>
              <a:t>  </a:t>
            </a:r>
            <a:r>
              <a:rPr lang="en-US" dirty="0" err="1"/>
              <a:t>rsi</a:t>
            </a:r>
            <a:r>
              <a:rPr lang="en-US" dirty="0"/>
              <a:t> </a:t>
            </a:r>
            <a:r>
              <a:rPr lang="he-IL" dirty="0"/>
              <a:t> מצביע על חוצץ הנתונים</a:t>
            </a:r>
          </a:p>
          <a:p>
            <a:r>
              <a:rPr lang="he-IL" dirty="0"/>
              <a:t>   </a:t>
            </a:r>
            <a:r>
              <a:rPr lang="en-US" dirty="0" err="1"/>
              <a:t>rdx</a:t>
            </a:r>
            <a:r>
              <a:rPr lang="he-IL" dirty="0"/>
              <a:t> מאחסן בתוכו את כמות הנתונים שנקראה </a:t>
            </a:r>
          </a:p>
          <a:p>
            <a:r>
              <a:rPr lang="he-IL" dirty="0"/>
              <a:t>המידע שנכתב הוא בדיוק אותו מידע שנקרא קודם לכן</a:t>
            </a:r>
          </a:p>
          <a:p>
            <a:r>
              <a:rPr lang="he-IL" dirty="0"/>
              <a:t>בשלב הבא חוזרים אל ראשית הלולאה – קוראים מחדש וכותבים מחדש את הנתונים החדשים</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22</a:t>
            </a:fld>
            <a:endParaRPr lang="he-IL"/>
          </a:p>
        </p:txBody>
      </p:sp>
      <p:pic>
        <p:nvPicPr>
          <p:cNvPr id="7" name="תמונה 6">
            <a:extLst>
              <a:ext uri="{FF2B5EF4-FFF2-40B4-BE49-F238E27FC236}">
                <a16:creationId xmlns:a16="http://schemas.microsoft.com/office/drawing/2014/main" id="{FAF69F7F-DC3E-8E40-571A-EDAA362400F3}"/>
              </a:ext>
            </a:extLst>
          </p:cNvPr>
          <p:cNvPicPr>
            <a:picLocks noChangeAspect="1"/>
          </p:cNvPicPr>
          <p:nvPr/>
        </p:nvPicPr>
        <p:blipFill>
          <a:blip r:embed="rId2"/>
          <a:stretch>
            <a:fillRect/>
          </a:stretch>
        </p:blipFill>
        <p:spPr>
          <a:xfrm>
            <a:off x="1295401" y="2463800"/>
            <a:ext cx="2829320" cy="2010056"/>
          </a:xfrm>
          <a:prstGeom prst="rect">
            <a:avLst/>
          </a:prstGeom>
        </p:spPr>
      </p:pic>
    </p:spTree>
    <p:extLst>
      <p:ext uri="{BB962C8B-B14F-4D97-AF65-F5344CB8AC3E}">
        <p14:creationId xmlns:p14="http://schemas.microsoft.com/office/powerpoint/2010/main" val="1313994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סגירת הקבצים וסיום התכנית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23</a:t>
            </a:fld>
            <a:endParaRPr lang="he-IL"/>
          </a:p>
        </p:txBody>
      </p:sp>
      <p:sp>
        <p:nvSpPr>
          <p:cNvPr id="7" name="TextBox 6"/>
          <p:cNvSpPr txBox="1"/>
          <p:nvPr/>
        </p:nvSpPr>
        <p:spPr>
          <a:xfrm>
            <a:off x="5190246" y="3236789"/>
            <a:ext cx="3794759" cy="830997"/>
          </a:xfrm>
          <a:prstGeom prst="rect">
            <a:avLst/>
          </a:prstGeom>
          <a:noFill/>
        </p:spPr>
        <p:txBody>
          <a:bodyPr wrap="square" rtlCol="1">
            <a:spAutoFit/>
          </a:bodyPr>
          <a:lstStyle/>
          <a:p>
            <a:pPr algn="l" rtl="0"/>
            <a:r>
              <a:rPr lang="en-US" sz="2400" dirty="0"/>
              <a:t>-&gt; </a:t>
            </a:r>
            <a:r>
              <a:rPr lang="en-US" sz="2400" dirty="0" err="1"/>
              <a:t>sys_close</a:t>
            </a:r>
            <a:r>
              <a:rPr lang="en-US" sz="2400" dirty="0"/>
              <a:t>(</a:t>
            </a:r>
            <a:r>
              <a:rPr lang="en-US" sz="2400" dirty="0" err="1"/>
              <a:t>src_fd</a:t>
            </a:r>
            <a:r>
              <a:rPr lang="en-US" sz="2400" dirty="0"/>
              <a:t>)</a:t>
            </a:r>
          </a:p>
          <a:p>
            <a:pPr algn="l" rtl="0"/>
            <a:r>
              <a:rPr lang="en-US" sz="2400" dirty="0"/>
              <a:t>-&gt; </a:t>
            </a:r>
            <a:r>
              <a:rPr lang="en-US" sz="2400" dirty="0" err="1"/>
              <a:t>sys_close</a:t>
            </a:r>
            <a:r>
              <a:rPr lang="en-US" sz="2400" dirty="0"/>
              <a:t>(</a:t>
            </a:r>
            <a:r>
              <a:rPr lang="en-US" sz="2400" dirty="0" err="1"/>
              <a:t>dst_fd</a:t>
            </a:r>
            <a:r>
              <a:rPr lang="en-US" sz="2400" dirty="0"/>
              <a:t>)</a:t>
            </a:r>
          </a:p>
        </p:txBody>
      </p:sp>
      <p:pic>
        <p:nvPicPr>
          <p:cNvPr id="10" name="מציין מיקום תוכן 9">
            <a:extLst>
              <a:ext uri="{FF2B5EF4-FFF2-40B4-BE49-F238E27FC236}">
                <a16:creationId xmlns:a16="http://schemas.microsoft.com/office/drawing/2014/main" id="{7EB3D439-1348-7409-4C29-96E35BF96F5C}"/>
              </a:ext>
            </a:extLst>
          </p:cNvPr>
          <p:cNvPicPr>
            <a:picLocks noGrp="1" noChangeAspect="1"/>
          </p:cNvPicPr>
          <p:nvPr>
            <p:ph idx="1"/>
          </p:nvPr>
        </p:nvPicPr>
        <p:blipFill>
          <a:blip r:embed="rId2"/>
          <a:stretch>
            <a:fillRect/>
          </a:stretch>
        </p:blipFill>
        <p:spPr>
          <a:xfrm>
            <a:off x="1466615" y="2426835"/>
            <a:ext cx="3473790" cy="3317875"/>
          </a:xfrm>
          <a:prstGeom prst="rect">
            <a:avLst/>
          </a:prstGeom>
        </p:spPr>
      </p:pic>
    </p:spTree>
    <p:extLst>
      <p:ext uri="{BB962C8B-B14F-4D97-AF65-F5344CB8AC3E}">
        <p14:creationId xmlns:p14="http://schemas.microsoft.com/office/powerpoint/2010/main" val="3296754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anim calcmode="lin" valueType="num">
                                      <p:cBhvr>
                                        <p:cTn id="8" dur="2000" fill="hold"/>
                                        <p:tgtEl>
                                          <p:spTgt spid="7">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2000"/>
                                        <p:tgtEl>
                                          <p:spTgt spid="7">
                                            <p:txEl>
                                              <p:pRg st="1" end="1"/>
                                            </p:txEl>
                                          </p:spTgt>
                                        </p:tgtEl>
                                      </p:cBhvr>
                                    </p:animEffect>
                                    <p:anim calcmode="lin" valueType="num">
                                      <p:cBhvr>
                                        <p:cTn id="15" dur="2000" fill="hold"/>
                                        <p:tgtEl>
                                          <p:spTgt spid="7">
                                            <p:txEl>
                                              <p:pRg st="1" end="1"/>
                                            </p:txEl>
                                          </p:spTgt>
                                        </p:tgtEl>
                                        <p:attrNameLst>
                                          <p:attrName>ppt_w</p:attrName>
                                        </p:attrNameLst>
                                      </p:cBhvr>
                                      <p:tavLst>
                                        <p:tav tm="0" fmla="#ppt_w*sin(2.5*pi*$)">
                                          <p:val>
                                            <p:fltVal val="0"/>
                                          </p:val>
                                        </p:tav>
                                        <p:tav tm="100000">
                                          <p:val>
                                            <p:fltVal val="1"/>
                                          </p:val>
                                        </p:tav>
                                      </p:tavLst>
                                    </p:anim>
                                    <p:anim calcmode="lin" valueType="num">
                                      <p:cBhvr>
                                        <p:cTn id="16" dur="2000" fill="hold"/>
                                        <p:tgtEl>
                                          <p:spTgt spid="7">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איך מריצים ? </a:t>
            </a:r>
          </a:p>
        </p:txBody>
      </p:sp>
      <p:sp>
        <p:nvSpPr>
          <p:cNvPr id="3" name="מציין מיקום תוכן 2"/>
          <p:cNvSpPr>
            <a:spLocks noGrp="1"/>
          </p:cNvSpPr>
          <p:nvPr>
            <p:ph idx="1"/>
          </p:nvPr>
        </p:nvSpPr>
        <p:spPr/>
        <p:txBody>
          <a:bodyPr>
            <a:normAutofit/>
          </a:bodyPr>
          <a:lstStyle/>
          <a:p>
            <a:r>
              <a:rPr lang="he-IL" dirty="0"/>
              <a:t>1. 	:יש להכין את הקובץ שממנו קוראים </a:t>
            </a:r>
          </a:p>
          <a:p>
            <a:r>
              <a:rPr lang="he-IL" dirty="0"/>
              <a:t> </a:t>
            </a:r>
            <a:r>
              <a:rPr lang="en-US" b="1" dirty="0"/>
              <a:t>echo "Hello students! This is a test file." &gt; source.txt</a:t>
            </a:r>
          </a:p>
          <a:p>
            <a:pPr marL="0" indent="0">
              <a:buNone/>
            </a:pPr>
            <a:r>
              <a:rPr lang="he-IL" b="1" dirty="0"/>
              <a:t>2</a:t>
            </a:r>
            <a:r>
              <a:rPr lang="he-IL" dirty="0"/>
              <a:t>. ביצוע קומפילציה :    </a:t>
            </a:r>
            <a:r>
              <a:rPr lang="en-US" b="1" dirty="0" err="1"/>
              <a:t>nasm</a:t>
            </a:r>
            <a:r>
              <a:rPr lang="en-US" b="1" dirty="0"/>
              <a:t> -f elf64 cp.asm -o </a:t>
            </a:r>
            <a:r>
              <a:rPr lang="en-US" b="1" dirty="0" err="1"/>
              <a:t>cp.o</a:t>
            </a:r>
            <a:endParaRPr lang="he-IL" b="1" dirty="0"/>
          </a:p>
          <a:p>
            <a:r>
              <a:rPr lang="he-IL" b="1" dirty="0"/>
              <a:t>3. </a:t>
            </a:r>
            <a:r>
              <a:rPr lang="he-IL" dirty="0"/>
              <a:t>ביצוע </a:t>
            </a:r>
            <a:r>
              <a:rPr lang="en-US" dirty="0"/>
              <a:t>linking</a:t>
            </a:r>
            <a:r>
              <a:rPr lang="he-IL" dirty="0"/>
              <a:t>        </a:t>
            </a:r>
            <a:r>
              <a:rPr lang="en-US" b="1" dirty="0" err="1"/>
              <a:t>gcc</a:t>
            </a:r>
            <a:r>
              <a:rPr lang="en-US" b="1" dirty="0"/>
              <a:t> –no-pie </a:t>
            </a:r>
            <a:r>
              <a:rPr lang="en-US" b="1" dirty="0" err="1"/>
              <a:t>cp.o</a:t>
            </a:r>
            <a:r>
              <a:rPr lang="en-US" b="1" dirty="0"/>
              <a:t> -o cp</a:t>
            </a:r>
            <a:endParaRPr lang="he-IL" b="1" dirty="0"/>
          </a:p>
          <a:p>
            <a:r>
              <a:rPr lang="he-IL" b="1" dirty="0"/>
              <a:t>4. הרצה :        </a:t>
            </a:r>
            <a:r>
              <a:rPr lang="en-US" b="1" dirty="0"/>
              <a:t> ./</a:t>
            </a:r>
            <a:r>
              <a:rPr lang="en-US" b="1" dirty="0" err="1"/>
              <a:t>cp</a:t>
            </a:r>
            <a:r>
              <a:rPr lang="en-US" b="1" dirty="0"/>
              <a:t> source.txt dest.txt</a:t>
            </a:r>
            <a:r>
              <a:rPr lang="he-IL" b="1" dirty="0"/>
              <a:t>     </a:t>
            </a:r>
          </a:p>
          <a:p>
            <a:r>
              <a:rPr lang="he-IL" b="1" dirty="0"/>
              <a:t>5. </a:t>
            </a:r>
            <a:r>
              <a:rPr lang="he-IL" dirty="0"/>
              <a:t>בדיקה : </a:t>
            </a:r>
            <a:r>
              <a:rPr lang="en-US" b="1" dirty="0"/>
              <a:t>cat dest.txt     </a:t>
            </a:r>
            <a:endParaRPr lang="he-IL" b="1" dirty="0"/>
          </a:p>
          <a:p>
            <a:endParaRPr lang="he-IL" b="1"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24</a:t>
            </a:fld>
            <a:endParaRPr lang="he-IL"/>
          </a:p>
        </p:txBody>
      </p:sp>
    </p:spTree>
    <p:extLst>
      <p:ext uri="{BB962C8B-B14F-4D97-AF65-F5344CB8AC3E}">
        <p14:creationId xmlns:p14="http://schemas.microsoft.com/office/powerpoint/2010/main" val="426295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down)">
                                      <p:cBhvr>
                                        <p:cTn id="25" dur="580">
                                          <p:stCondLst>
                                            <p:cond delay="0"/>
                                          </p:stCondLst>
                                        </p:cTn>
                                        <p:tgtEl>
                                          <p:spTgt spid="3">
                                            <p:txEl>
                                              <p:pRg st="2" end="2"/>
                                            </p:txEl>
                                          </p:spTgt>
                                        </p:tgtEl>
                                      </p:cBhvr>
                                    </p:animEffect>
                                    <p:anim calcmode="lin" valueType="num">
                                      <p:cBhvr>
                                        <p:cTn id="26"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2" end="2"/>
                                            </p:txEl>
                                          </p:spTgt>
                                        </p:tgtEl>
                                      </p:cBhvr>
                                      <p:to x="100000" y="60000"/>
                                    </p:animScale>
                                    <p:animScale>
                                      <p:cBhvr>
                                        <p:cTn id="32" dur="166" decel="50000">
                                          <p:stCondLst>
                                            <p:cond delay="676"/>
                                          </p:stCondLst>
                                        </p:cTn>
                                        <p:tgtEl>
                                          <p:spTgt spid="3">
                                            <p:txEl>
                                              <p:pRg st="2" end="2"/>
                                            </p:txEl>
                                          </p:spTgt>
                                        </p:tgtEl>
                                      </p:cBhvr>
                                      <p:to x="100000" y="100000"/>
                                    </p:animScale>
                                    <p:animScale>
                                      <p:cBhvr>
                                        <p:cTn id="33" dur="26">
                                          <p:stCondLst>
                                            <p:cond delay="1312"/>
                                          </p:stCondLst>
                                        </p:cTn>
                                        <p:tgtEl>
                                          <p:spTgt spid="3">
                                            <p:txEl>
                                              <p:pRg st="2" end="2"/>
                                            </p:txEl>
                                          </p:spTgt>
                                        </p:tgtEl>
                                      </p:cBhvr>
                                      <p:to x="100000" y="80000"/>
                                    </p:animScale>
                                    <p:animScale>
                                      <p:cBhvr>
                                        <p:cTn id="34" dur="166" decel="50000">
                                          <p:stCondLst>
                                            <p:cond delay="1338"/>
                                          </p:stCondLst>
                                        </p:cTn>
                                        <p:tgtEl>
                                          <p:spTgt spid="3">
                                            <p:txEl>
                                              <p:pRg st="2" end="2"/>
                                            </p:txEl>
                                          </p:spTgt>
                                        </p:tgtEl>
                                      </p:cBhvr>
                                      <p:to x="100000" y="100000"/>
                                    </p:animScale>
                                    <p:animScale>
                                      <p:cBhvr>
                                        <p:cTn id="35" dur="26">
                                          <p:stCondLst>
                                            <p:cond delay="1642"/>
                                          </p:stCondLst>
                                        </p:cTn>
                                        <p:tgtEl>
                                          <p:spTgt spid="3">
                                            <p:txEl>
                                              <p:pRg st="2" end="2"/>
                                            </p:txEl>
                                          </p:spTgt>
                                        </p:tgtEl>
                                      </p:cBhvr>
                                      <p:to x="100000" y="90000"/>
                                    </p:animScale>
                                    <p:animScale>
                                      <p:cBhvr>
                                        <p:cTn id="36" dur="166" decel="50000">
                                          <p:stCondLst>
                                            <p:cond delay="1668"/>
                                          </p:stCondLst>
                                        </p:cTn>
                                        <p:tgtEl>
                                          <p:spTgt spid="3">
                                            <p:txEl>
                                              <p:pRg st="2" end="2"/>
                                            </p:txEl>
                                          </p:spTgt>
                                        </p:tgtEl>
                                      </p:cBhvr>
                                      <p:to x="100000" y="100000"/>
                                    </p:animScale>
                                    <p:animScale>
                                      <p:cBhvr>
                                        <p:cTn id="37" dur="26">
                                          <p:stCondLst>
                                            <p:cond delay="1808"/>
                                          </p:stCondLst>
                                        </p:cTn>
                                        <p:tgtEl>
                                          <p:spTgt spid="3">
                                            <p:txEl>
                                              <p:pRg st="2" end="2"/>
                                            </p:txEl>
                                          </p:spTgt>
                                        </p:tgtEl>
                                      </p:cBhvr>
                                      <p:to x="100000" y="95000"/>
                                    </p:animScale>
                                    <p:animScale>
                                      <p:cBhvr>
                                        <p:cTn id="38" dur="166" decel="50000">
                                          <p:stCondLst>
                                            <p:cond delay="1834"/>
                                          </p:stCondLst>
                                        </p:cTn>
                                        <p:tgtEl>
                                          <p:spTgt spid="3">
                                            <p:txEl>
                                              <p:pRg st="2" end="2"/>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additive="base">
                                        <p:cTn id="4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 calcmode="lin" valueType="num">
                                      <p:cBhvr additive="base">
                                        <p:cTn id="4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 calcmode="lin" valueType="num">
                                      <p:cBhvr additive="base">
                                        <p:cTn id="5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היפוך מחרוזת </a:t>
            </a:r>
            <a:r>
              <a:rPr lang="en-US" dirty="0"/>
              <a:t>(reverse.asm)</a:t>
            </a:r>
            <a:r>
              <a:rPr lang="he-IL" dirty="0"/>
              <a:t> </a:t>
            </a:r>
          </a:p>
        </p:txBody>
      </p:sp>
      <p:sp>
        <p:nvSpPr>
          <p:cNvPr id="3" name="מציין מיקום תוכן 2"/>
          <p:cNvSpPr>
            <a:spLocks noGrp="1"/>
          </p:cNvSpPr>
          <p:nvPr>
            <p:ph idx="1"/>
          </p:nvPr>
        </p:nvSpPr>
        <p:spPr/>
        <p:txBody>
          <a:bodyPr/>
          <a:lstStyle/>
          <a:p>
            <a:r>
              <a:rPr lang="he-IL" dirty="0"/>
              <a:t>נראה בדוגמא זו  :</a:t>
            </a:r>
          </a:p>
          <a:p>
            <a:r>
              <a:rPr lang="he-IL" dirty="0"/>
              <a:t> איך מארגנים את המחסנית </a:t>
            </a:r>
          </a:p>
          <a:p>
            <a:r>
              <a:rPr lang="he-IL" dirty="0"/>
              <a:t>כיצד עובדים עם משתנים לוקליים </a:t>
            </a:r>
          </a:p>
          <a:p>
            <a:r>
              <a:rPr lang="he-IL" dirty="0"/>
              <a:t>חישוב ידני של אורך המחרוזת </a:t>
            </a:r>
          </a:p>
          <a:p>
            <a:r>
              <a:rPr lang="he-IL" dirty="0"/>
              <a:t>ביצוע היפוך מחרוזת ללא הקצאת זיכרון נוסף</a:t>
            </a:r>
          </a:p>
          <a:p>
            <a:r>
              <a:rPr lang="he-IL" dirty="0"/>
              <a:t>שימוש ב </a:t>
            </a:r>
            <a:r>
              <a:rPr lang="en-US" dirty="0" err="1"/>
              <a:t>syscall</a:t>
            </a:r>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25</a:t>
            </a:fld>
            <a:endParaRPr lang="he-IL"/>
          </a:p>
        </p:txBody>
      </p:sp>
    </p:spTree>
    <p:extLst>
      <p:ext uri="{BB962C8B-B14F-4D97-AF65-F5344CB8AC3E}">
        <p14:creationId xmlns:p14="http://schemas.microsoft.com/office/powerpoint/2010/main" val="402313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היפוך מחרוזת (</a:t>
            </a:r>
            <a:r>
              <a:rPr lang="en-US" dirty="0"/>
              <a:t>reverse.asm</a:t>
            </a:r>
            <a:r>
              <a:rPr lang="he-IL" dirty="0"/>
              <a:t>)</a:t>
            </a:r>
          </a:p>
        </p:txBody>
      </p:sp>
      <p:sp>
        <p:nvSpPr>
          <p:cNvPr id="3" name="מציין מיקום תוכן 2"/>
          <p:cNvSpPr>
            <a:spLocks noGrp="1"/>
          </p:cNvSpPr>
          <p:nvPr>
            <p:ph idx="1"/>
          </p:nvPr>
        </p:nvSpPr>
        <p:spPr/>
        <p:txBody>
          <a:bodyPr/>
          <a:lstStyle/>
          <a:p>
            <a:r>
              <a:rPr lang="he-IL" dirty="0"/>
              <a:t>שלבי האלגוריתם הינם :</a:t>
            </a:r>
            <a:r>
              <a:rPr lang="en-US" dirty="0"/>
              <a:t> </a:t>
            </a:r>
          </a:p>
          <a:p>
            <a:r>
              <a:rPr lang="he-IL" dirty="0"/>
              <a:t>1. קריאת תווי מקלדת מהמקלדת אל תוך חוצץ </a:t>
            </a:r>
            <a:r>
              <a:rPr lang="en-US" dirty="0"/>
              <a:t>buffer</a:t>
            </a:r>
            <a:endParaRPr lang="he-IL" dirty="0"/>
          </a:p>
          <a:p>
            <a:r>
              <a:rPr lang="he-IL" dirty="0"/>
              <a:t>2. היפוך התווים מהאחרון לראשון ללא הקצאת זיכרון נוסף</a:t>
            </a:r>
          </a:p>
          <a:p>
            <a:r>
              <a:rPr lang="he-IL" dirty="0"/>
              <a:t>3. כתיבת המחרוזת ההפוכה אל המסך</a:t>
            </a:r>
          </a:p>
          <a:p>
            <a:r>
              <a:rPr lang="he-IL" dirty="0"/>
              <a:t>4. יציאה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26</a:t>
            </a:fld>
            <a:endParaRPr lang="he-IL"/>
          </a:p>
        </p:txBody>
      </p:sp>
    </p:spTree>
    <p:extLst>
      <p:ext uri="{BB962C8B-B14F-4D97-AF65-F5344CB8AC3E}">
        <p14:creationId xmlns:p14="http://schemas.microsoft.com/office/powerpoint/2010/main" val="3052626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solidFill>
                  <a:prstClr val="black">
                    <a:lumMod val="85000"/>
                    <a:lumOff val="15000"/>
                  </a:prstClr>
                </a:solidFill>
              </a:rPr>
              <a:t>היפוך מחרוזת (</a:t>
            </a:r>
            <a:r>
              <a:rPr lang="en-US" dirty="0">
                <a:solidFill>
                  <a:prstClr val="black">
                    <a:lumMod val="85000"/>
                    <a:lumOff val="15000"/>
                  </a:prstClr>
                </a:solidFill>
              </a:rPr>
              <a:t>reverse.asm</a:t>
            </a:r>
            <a:r>
              <a:rPr lang="he-IL" dirty="0">
                <a:solidFill>
                  <a:prstClr val="black">
                    <a:lumMod val="85000"/>
                    <a:lumOff val="15000"/>
                  </a:prstClr>
                </a:solidFill>
              </a:rPr>
              <a:t>)</a:t>
            </a:r>
            <a:endParaRPr lang="he-IL" dirty="0"/>
          </a:p>
        </p:txBody>
      </p:sp>
      <p:sp>
        <p:nvSpPr>
          <p:cNvPr id="3" name="מציין מיקום תוכן 2"/>
          <p:cNvSpPr>
            <a:spLocks noGrp="1"/>
          </p:cNvSpPr>
          <p:nvPr>
            <p:ph idx="1"/>
          </p:nvPr>
        </p:nvSpPr>
        <p:spPr/>
        <p:txBody>
          <a:bodyPr/>
          <a:lstStyle/>
          <a:p>
            <a:r>
              <a:rPr lang="he-IL" dirty="0"/>
              <a:t>הערת – בתוכנית הזאת אין נעיצת נעץ במחסנית : </a:t>
            </a:r>
          </a:p>
          <a:p>
            <a:pPr algn="l" rtl="0"/>
            <a:r>
              <a:rPr lang="en-US" b="1" dirty="0"/>
              <a:t>push </a:t>
            </a:r>
            <a:r>
              <a:rPr lang="en-US" b="1" dirty="0" err="1"/>
              <a:t>rbp</a:t>
            </a:r>
            <a:endParaRPr lang="en-US" b="1" dirty="0"/>
          </a:p>
          <a:p>
            <a:pPr algn="l" rtl="0"/>
            <a:r>
              <a:rPr lang="en-US" b="1" dirty="0" err="1"/>
              <a:t>mov</a:t>
            </a:r>
            <a:r>
              <a:rPr lang="en-US" b="1" dirty="0"/>
              <a:t> </a:t>
            </a:r>
            <a:r>
              <a:rPr lang="en-US" b="1" dirty="0" err="1"/>
              <a:t>rbp</a:t>
            </a:r>
            <a:r>
              <a:rPr lang="en-US" b="1" dirty="0"/>
              <a:t>, </a:t>
            </a:r>
            <a:r>
              <a:rPr lang="en-US" b="1" dirty="0" err="1"/>
              <a:t>rsp</a:t>
            </a:r>
            <a:endParaRPr lang="en-US" b="1" dirty="0"/>
          </a:p>
          <a:p>
            <a:pPr algn="r"/>
            <a:r>
              <a:rPr lang="he-IL" dirty="0"/>
              <a:t>מאחר ואנחנו עובדים עם התווית של תחילת תוכנית </a:t>
            </a:r>
            <a:r>
              <a:rPr lang="en-US" dirty="0"/>
              <a:t>_start</a:t>
            </a:r>
            <a:r>
              <a:rPr lang="he-IL" dirty="0"/>
              <a:t>, אנחנו לא הגענו מפונקציה אחרת שבגללה צריך לשמור את </a:t>
            </a:r>
            <a:r>
              <a:rPr lang="en-US" dirty="0"/>
              <a:t>RBP</a:t>
            </a:r>
            <a:r>
              <a:rPr lang="he-IL" dirty="0"/>
              <a:t>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27</a:t>
            </a:fld>
            <a:endParaRPr lang="he-IL"/>
          </a:p>
        </p:txBody>
      </p:sp>
    </p:spTree>
    <p:extLst>
      <p:ext uri="{BB962C8B-B14F-4D97-AF65-F5344CB8AC3E}">
        <p14:creationId xmlns:p14="http://schemas.microsoft.com/office/powerpoint/2010/main" val="302190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anim calcmode="lin" valueType="num">
                                      <p:cBhvr>
                                        <p:cTn id="8"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1" end="1"/>
                                            </p:txEl>
                                          </p:spTgt>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anim calcmode="lin" valueType="num">
                                      <p:cBhvr>
                                        <p:cTn id="13"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solidFill>
                  <a:prstClr val="black">
                    <a:lumMod val="85000"/>
                    <a:lumOff val="15000"/>
                  </a:prstClr>
                </a:solidFill>
              </a:rPr>
              <a:t>היפוך מחרוזת (</a:t>
            </a:r>
            <a:r>
              <a:rPr lang="en-US" dirty="0">
                <a:solidFill>
                  <a:prstClr val="black">
                    <a:lumMod val="85000"/>
                    <a:lumOff val="15000"/>
                  </a:prstClr>
                </a:solidFill>
              </a:rPr>
              <a:t>reverse.asm</a:t>
            </a:r>
            <a:r>
              <a:rPr lang="he-IL" dirty="0">
                <a:solidFill>
                  <a:prstClr val="black">
                    <a:lumMod val="85000"/>
                    <a:lumOff val="15000"/>
                  </a:prstClr>
                </a:solidFill>
              </a:rPr>
              <a:t>)</a:t>
            </a:r>
            <a:endParaRPr lang="he-IL" dirty="0"/>
          </a:p>
        </p:txBody>
      </p:sp>
      <p:sp>
        <p:nvSpPr>
          <p:cNvPr id="3" name="מציין מיקום תוכן 2"/>
          <p:cNvSpPr>
            <a:spLocks noGrp="1"/>
          </p:cNvSpPr>
          <p:nvPr>
            <p:ph idx="1"/>
          </p:nvPr>
        </p:nvSpPr>
        <p:spPr/>
        <p:txBody>
          <a:bodyPr>
            <a:normAutofit fontScale="92500" lnSpcReduction="10000"/>
          </a:bodyPr>
          <a:lstStyle/>
          <a:p>
            <a:r>
              <a:rPr lang="he-IL" dirty="0"/>
              <a:t>הקטע הראשון בתכנית – מבצע קריאה מהמקלדת ושומר ב</a:t>
            </a:r>
            <a:r>
              <a:rPr lang="en-US" dirty="0"/>
              <a:t>RDX</a:t>
            </a:r>
            <a:r>
              <a:rPr lang="he-IL" dirty="0"/>
              <a:t> את כמות התווים שקראנו :</a:t>
            </a:r>
            <a:r>
              <a:rPr lang="en-US" dirty="0"/>
              <a:t> </a:t>
            </a:r>
            <a:endParaRPr lang="he-IL" dirty="0"/>
          </a:p>
          <a:p>
            <a:pPr algn="l" rtl="0"/>
            <a:r>
              <a:rPr lang="en-US" b="1" dirty="0" err="1"/>
              <a:t>mov</a:t>
            </a:r>
            <a:r>
              <a:rPr lang="en-US" b="1" dirty="0"/>
              <a:t> </a:t>
            </a:r>
            <a:r>
              <a:rPr lang="en-US" b="1" dirty="0" err="1"/>
              <a:t>rax</a:t>
            </a:r>
            <a:r>
              <a:rPr lang="en-US" b="1" dirty="0"/>
              <a:t>, 0</a:t>
            </a:r>
          </a:p>
          <a:p>
            <a:pPr algn="l" rtl="0"/>
            <a:r>
              <a:rPr lang="en-US" b="1" dirty="0" err="1"/>
              <a:t>mov</a:t>
            </a:r>
            <a:r>
              <a:rPr lang="en-US" b="1" dirty="0"/>
              <a:t> </a:t>
            </a:r>
            <a:r>
              <a:rPr lang="en-US" b="1" dirty="0" err="1"/>
              <a:t>rdi</a:t>
            </a:r>
            <a:r>
              <a:rPr lang="en-US" b="1" dirty="0"/>
              <a:t>, 0</a:t>
            </a:r>
          </a:p>
          <a:p>
            <a:pPr algn="l" rtl="0"/>
            <a:r>
              <a:rPr lang="en-US" b="1" dirty="0" err="1"/>
              <a:t>mov</a:t>
            </a:r>
            <a:r>
              <a:rPr lang="en-US" b="1" dirty="0"/>
              <a:t> </a:t>
            </a:r>
            <a:r>
              <a:rPr lang="en-US" b="1" dirty="0" err="1"/>
              <a:t>rsi</a:t>
            </a:r>
            <a:r>
              <a:rPr lang="en-US" b="1" dirty="0"/>
              <a:t>, </a:t>
            </a:r>
            <a:r>
              <a:rPr lang="en-US" b="1" dirty="0" err="1"/>
              <a:t>buf</a:t>
            </a:r>
            <a:endParaRPr lang="en-US" b="1" dirty="0"/>
          </a:p>
          <a:p>
            <a:pPr algn="l" rtl="0"/>
            <a:r>
              <a:rPr lang="en-US" b="1" dirty="0" err="1"/>
              <a:t>mov</a:t>
            </a:r>
            <a:r>
              <a:rPr lang="en-US" b="1" dirty="0"/>
              <a:t> </a:t>
            </a:r>
            <a:r>
              <a:rPr lang="en-US" b="1" dirty="0" err="1"/>
              <a:t>rdx</a:t>
            </a:r>
            <a:r>
              <a:rPr lang="en-US" b="1" dirty="0"/>
              <a:t>, 256</a:t>
            </a:r>
          </a:p>
          <a:p>
            <a:pPr algn="l" rtl="0"/>
            <a:r>
              <a:rPr lang="en-US" b="1" dirty="0" err="1"/>
              <a:t>syscall</a:t>
            </a:r>
            <a:endParaRPr lang="en-US" b="1" dirty="0"/>
          </a:p>
          <a:p>
            <a:pPr algn="l" rtl="0"/>
            <a:r>
              <a:rPr lang="en-US" b="1" dirty="0"/>
              <a:t>mov </a:t>
            </a:r>
            <a:r>
              <a:rPr lang="en-US" b="1" dirty="0" err="1"/>
              <a:t>rdx</a:t>
            </a:r>
            <a:r>
              <a:rPr lang="en-US" b="1" dirty="0"/>
              <a:t>, </a:t>
            </a:r>
            <a:r>
              <a:rPr lang="en-US" b="1" dirty="0" err="1"/>
              <a:t>rax</a:t>
            </a:r>
            <a:r>
              <a:rPr lang="en-US" b="1" dirty="0"/>
              <a:t>          ; length</a:t>
            </a:r>
          </a:p>
          <a:p>
            <a:pPr algn="l" rtl="0"/>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28</a:t>
            </a:fld>
            <a:endParaRPr lang="he-IL"/>
          </a:p>
        </p:txBody>
      </p:sp>
    </p:spTree>
    <p:extLst>
      <p:ext uri="{BB962C8B-B14F-4D97-AF65-F5344CB8AC3E}">
        <p14:creationId xmlns:p14="http://schemas.microsoft.com/office/powerpoint/2010/main" val="46985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80">
                                          <p:stCondLst>
                                            <p:cond delay="0"/>
                                          </p:stCondLst>
                                        </p:cTn>
                                        <p:tgtEl>
                                          <p:spTgt spid="3">
                                            <p:txEl>
                                              <p:pRg st="2" end="2"/>
                                            </p:txEl>
                                          </p:spTgt>
                                        </p:tgtEl>
                                      </p:cBhvr>
                                    </p:animEffect>
                                    <p:anim calcmode="lin" valueType="num">
                                      <p:cBhvr>
                                        <p:cTn id="2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2" end="2"/>
                                            </p:txEl>
                                          </p:spTgt>
                                        </p:tgtEl>
                                      </p:cBhvr>
                                      <p:to x="100000" y="60000"/>
                                    </p:animScale>
                                    <p:animScale>
                                      <p:cBhvr>
                                        <p:cTn id="30" dur="166" decel="50000">
                                          <p:stCondLst>
                                            <p:cond delay="676"/>
                                          </p:stCondLst>
                                        </p:cTn>
                                        <p:tgtEl>
                                          <p:spTgt spid="3">
                                            <p:txEl>
                                              <p:pRg st="2" end="2"/>
                                            </p:txEl>
                                          </p:spTgt>
                                        </p:tgtEl>
                                      </p:cBhvr>
                                      <p:to x="100000" y="100000"/>
                                    </p:animScale>
                                    <p:animScale>
                                      <p:cBhvr>
                                        <p:cTn id="31" dur="26">
                                          <p:stCondLst>
                                            <p:cond delay="1312"/>
                                          </p:stCondLst>
                                        </p:cTn>
                                        <p:tgtEl>
                                          <p:spTgt spid="3">
                                            <p:txEl>
                                              <p:pRg st="2" end="2"/>
                                            </p:txEl>
                                          </p:spTgt>
                                        </p:tgtEl>
                                      </p:cBhvr>
                                      <p:to x="100000" y="80000"/>
                                    </p:animScale>
                                    <p:animScale>
                                      <p:cBhvr>
                                        <p:cTn id="32" dur="166" decel="50000">
                                          <p:stCondLst>
                                            <p:cond delay="1338"/>
                                          </p:stCondLst>
                                        </p:cTn>
                                        <p:tgtEl>
                                          <p:spTgt spid="3">
                                            <p:txEl>
                                              <p:pRg st="2" end="2"/>
                                            </p:txEl>
                                          </p:spTgt>
                                        </p:tgtEl>
                                      </p:cBhvr>
                                      <p:to x="100000" y="100000"/>
                                    </p:animScale>
                                    <p:animScale>
                                      <p:cBhvr>
                                        <p:cTn id="33" dur="26">
                                          <p:stCondLst>
                                            <p:cond delay="1642"/>
                                          </p:stCondLst>
                                        </p:cTn>
                                        <p:tgtEl>
                                          <p:spTgt spid="3">
                                            <p:txEl>
                                              <p:pRg st="2" end="2"/>
                                            </p:txEl>
                                          </p:spTgt>
                                        </p:tgtEl>
                                      </p:cBhvr>
                                      <p:to x="100000" y="90000"/>
                                    </p:animScale>
                                    <p:animScale>
                                      <p:cBhvr>
                                        <p:cTn id="34" dur="166" decel="50000">
                                          <p:stCondLst>
                                            <p:cond delay="1668"/>
                                          </p:stCondLst>
                                        </p:cTn>
                                        <p:tgtEl>
                                          <p:spTgt spid="3">
                                            <p:txEl>
                                              <p:pRg st="2" end="2"/>
                                            </p:txEl>
                                          </p:spTgt>
                                        </p:tgtEl>
                                      </p:cBhvr>
                                      <p:to x="100000" y="100000"/>
                                    </p:animScale>
                                    <p:animScale>
                                      <p:cBhvr>
                                        <p:cTn id="35" dur="26">
                                          <p:stCondLst>
                                            <p:cond delay="1808"/>
                                          </p:stCondLst>
                                        </p:cTn>
                                        <p:tgtEl>
                                          <p:spTgt spid="3">
                                            <p:txEl>
                                              <p:pRg st="2" end="2"/>
                                            </p:txEl>
                                          </p:spTgt>
                                        </p:tgtEl>
                                      </p:cBhvr>
                                      <p:to x="100000" y="95000"/>
                                    </p:animScale>
                                    <p:animScale>
                                      <p:cBhvr>
                                        <p:cTn id="36" dur="166" decel="50000">
                                          <p:stCondLst>
                                            <p:cond delay="1834"/>
                                          </p:stCondLst>
                                        </p:cTn>
                                        <p:tgtEl>
                                          <p:spTgt spid="3">
                                            <p:txEl>
                                              <p:pRg st="2" end="2"/>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wipe(down)">
                                      <p:cBhvr>
                                        <p:cTn id="39" dur="580">
                                          <p:stCondLst>
                                            <p:cond delay="0"/>
                                          </p:stCondLst>
                                        </p:cTn>
                                        <p:tgtEl>
                                          <p:spTgt spid="3">
                                            <p:txEl>
                                              <p:pRg st="3" end="3"/>
                                            </p:txEl>
                                          </p:spTgt>
                                        </p:tgtEl>
                                      </p:cBhvr>
                                    </p:animEffect>
                                    <p:anim calcmode="lin" valueType="num">
                                      <p:cBhvr>
                                        <p:cTn id="4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3" end="3"/>
                                            </p:txEl>
                                          </p:spTgt>
                                        </p:tgtEl>
                                      </p:cBhvr>
                                      <p:to x="100000" y="60000"/>
                                    </p:animScale>
                                    <p:animScale>
                                      <p:cBhvr>
                                        <p:cTn id="46" dur="166" decel="50000">
                                          <p:stCondLst>
                                            <p:cond delay="676"/>
                                          </p:stCondLst>
                                        </p:cTn>
                                        <p:tgtEl>
                                          <p:spTgt spid="3">
                                            <p:txEl>
                                              <p:pRg st="3" end="3"/>
                                            </p:txEl>
                                          </p:spTgt>
                                        </p:tgtEl>
                                      </p:cBhvr>
                                      <p:to x="100000" y="100000"/>
                                    </p:animScale>
                                    <p:animScale>
                                      <p:cBhvr>
                                        <p:cTn id="47" dur="26">
                                          <p:stCondLst>
                                            <p:cond delay="1312"/>
                                          </p:stCondLst>
                                        </p:cTn>
                                        <p:tgtEl>
                                          <p:spTgt spid="3">
                                            <p:txEl>
                                              <p:pRg st="3" end="3"/>
                                            </p:txEl>
                                          </p:spTgt>
                                        </p:tgtEl>
                                      </p:cBhvr>
                                      <p:to x="100000" y="80000"/>
                                    </p:animScale>
                                    <p:animScale>
                                      <p:cBhvr>
                                        <p:cTn id="48" dur="166" decel="50000">
                                          <p:stCondLst>
                                            <p:cond delay="1338"/>
                                          </p:stCondLst>
                                        </p:cTn>
                                        <p:tgtEl>
                                          <p:spTgt spid="3">
                                            <p:txEl>
                                              <p:pRg st="3" end="3"/>
                                            </p:txEl>
                                          </p:spTgt>
                                        </p:tgtEl>
                                      </p:cBhvr>
                                      <p:to x="100000" y="100000"/>
                                    </p:animScale>
                                    <p:animScale>
                                      <p:cBhvr>
                                        <p:cTn id="49" dur="26">
                                          <p:stCondLst>
                                            <p:cond delay="1642"/>
                                          </p:stCondLst>
                                        </p:cTn>
                                        <p:tgtEl>
                                          <p:spTgt spid="3">
                                            <p:txEl>
                                              <p:pRg st="3" end="3"/>
                                            </p:txEl>
                                          </p:spTgt>
                                        </p:tgtEl>
                                      </p:cBhvr>
                                      <p:to x="100000" y="90000"/>
                                    </p:animScale>
                                    <p:animScale>
                                      <p:cBhvr>
                                        <p:cTn id="50" dur="166" decel="50000">
                                          <p:stCondLst>
                                            <p:cond delay="1668"/>
                                          </p:stCondLst>
                                        </p:cTn>
                                        <p:tgtEl>
                                          <p:spTgt spid="3">
                                            <p:txEl>
                                              <p:pRg st="3" end="3"/>
                                            </p:txEl>
                                          </p:spTgt>
                                        </p:tgtEl>
                                      </p:cBhvr>
                                      <p:to x="100000" y="100000"/>
                                    </p:animScale>
                                    <p:animScale>
                                      <p:cBhvr>
                                        <p:cTn id="51" dur="26">
                                          <p:stCondLst>
                                            <p:cond delay="1808"/>
                                          </p:stCondLst>
                                        </p:cTn>
                                        <p:tgtEl>
                                          <p:spTgt spid="3">
                                            <p:txEl>
                                              <p:pRg st="3" end="3"/>
                                            </p:txEl>
                                          </p:spTgt>
                                        </p:tgtEl>
                                      </p:cBhvr>
                                      <p:to x="100000" y="95000"/>
                                    </p:animScale>
                                    <p:animScale>
                                      <p:cBhvr>
                                        <p:cTn id="52" dur="166" decel="50000">
                                          <p:stCondLst>
                                            <p:cond delay="1834"/>
                                          </p:stCondLst>
                                        </p:cTn>
                                        <p:tgtEl>
                                          <p:spTgt spid="3">
                                            <p:txEl>
                                              <p:pRg st="3" end="3"/>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Effect transition="in" filter="wipe(down)">
                                      <p:cBhvr>
                                        <p:cTn id="55" dur="580">
                                          <p:stCondLst>
                                            <p:cond delay="0"/>
                                          </p:stCondLst>
                                        </p:cTn>
                                        <p:tgtEl>
                                          <p:spTgt spid="3">
                                            <p:txEl>
                                              <p:pRg st="4" end="4"/>
                                            </p:txEl>
                                          </p:spTgt>
                                        </p:tgtEl>
                                      </p:cBhvr>
                                    </p:animEffect>
                                    <p:anim calcmode="lin" valueType="num">
                                      <p:cBhvr>
                                        <p:cTn id="56"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4" end="4"/>
                                            </p:txEl>
                                          </p:spTgt>
                                        </p:tgtEl>
                                      </p:cBhvr>
                                      <p:to x="100000" y="60000"/>
                                    </p:animScale>
                                    <p:animScale>
                                      <p:cBhvr>
                                        <p:cTn id="62" dur="166" decel="50000">
                                          <p:stCondLst>
                                            <p:cond delay="676"/>
                                          </p:stCondLst>
                                        </p:cTn>
                                        <p:tgtEl>
                                          <p:spTgt spid="3">
                                            <p:txEl>
                                              <p:pRg st="4" end="4"/>
                                            </p:txEl>
                                          </p:spTgt>
                                        </p:tgtEl>
                                      </p:cBhvr>
                                      <p:to x="100000" y="100000"/>
                                    </p:animScale>
                                    <p:animScale>
                                      <p:cBhvr>
                                        <p:cTn id="63" dur="26">
                                          <p:stCondLst>
                                            <p:cond delay="1312"/>
                                          </p:stCondLst>
                                        </p:cTn>
                                        <p:tgtEl>
                                          <p:spTgt spid="3">
                                            <p:txEl>
                                              <p:pRg st="4" end="4"/>
                                            </p:txEl>
                                          </p:spTgt>
                                        </p:tgtEl>
                                      </p:cBhvr>
                                      <p:to x="100000" y="80000"/>
                                    </p:animScale>
                                    <p:animScale>
                                      <p:cBhvr>
                                        <p:cTn id="64" dur="166" decel="50000">
                                          <p:stCondLst>
                                            <p:cond delay="1338"/>
                                          </p:stCondLst>
                                        </p:cTn>
                                        <p:tgtEl>
                                          <p:spTgt spid="3">
                                            <p:txEl>
                                              <p:pRg st="4" end="4"/>
                                            </p:txEl>
                                          </p:spTgt>
                                        </p:tgtEl>
                                      </p:cBhvr>
                                      <p:to x="100000" y="100000"/>
                                    </p:animScale>
                                    <p:animScale>
                                      <p:cBhvr>
                                        <p:cTn id="65" dur="26">
                                          <p:stCondLst>
                                            <p:cond delay="1642"/>
                                          </p:stCondLst>
                                        </p:cTn>
                                        <p:tgtEl>
                                          <p:spTgt spid="3">
                                            <p:txEl>
                                              <p:pRg st="4" end="4"/>
                                            </p:txEl>
                                          </p:spTgt>
                                        </p:tgtEl>
                                      </p:cBhvr>
                                      <p:to x="100000" y="90000"/>
                                    </p:animScale>
                                    <p:animScale>
                                      <p:cBhvr>
                                        <p:cTn id="66" dur="166" decel="50000">
                                          <p:stCondLst>
                                            <p:cond delay="1668"/>
                                          </p:stCondLst>
                                        </p:cTn>
                                        <p:tgtEl>
                                          <p:spTgt spid="3">
                                            <p:txEl>
                                              <p:pRg st="4" end="4"/>
                                            </p:txEl>
                                          </p:spTgt>
                                        </p:tgtEl>
                                      </p:cBhvr>
                                      <p:to x="100000" y="100000"/>
                                    </p:animScale>
                                    <p:animScale>
                                      <p:cBhvr>
                                        <p:cTn id="67" dur="26">
                                          <p:stCondLst>
                                            <p:cond delay="1808"/>
                                          </p:stCondLst>
                                        </p:cTn>
                                        <p:tgtEl>
                                          <p:spTgt spid="3">
                                            <p:txEl>
                                              <p:pRg st="4" end="4"/>
                                            </p:txEl>
                                          </p:spTgt>
                                        </p:tgtEl>
                                      </p:cBhvr>
                                      <p:to x="100000" y="95000"/>
                                    </p:animScale>
                                    <p:animScale>
                                      <p:cBhvr>
                                        <p:cTn id="68" dur="166" decel="50000">
                                          <p:stCondLst>
                                            <p:cond delay="1834"/>
                                          </p:stCondLst>
                                        </p:cTn>
                                        <p:tgtEl>
                                          <p:spTgt spid="3">
                                            <p:txEl>
                                              <p:pRg st="4" end="4"/>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3">
                                            <p:txEl>
                                              <p:pRg st="5" end="5"/>
                                            </p:txEl>
                                          </p:spTgt>
                                        </p:tgtEl>
                                        <p:attrNameLst>
                                          <p:attrName>style.visibility</p:attrName>
                                        </p:attrNameLst>
                                      </p:cBhvr>
                                      <p:to>
                                        <p:strVal val="visible"/>
                                      </p:to>
                                    </p:set>
                                    <p:animEffect transition="in" filter="wipe(down)">
                                      <p:cBhvr>
                                        <p:cTn id="71" dur="580">
                                          <p:stCondLst>
                                            <p:cond delay="0"/>
                                          </p:stCondLst>
                                        </p:cTn>
                                        <p:tgtEl>
                                          <p:spTgt spid="3">
                                            <p:txEl>
                                              <p:pRg st="5" end="5"/>
                                            </p:txEl>
                                          </p:spTgt>
                                        </p:tgtEl>
                                      </p:cBhvr>
                                    </p:animEffect>
                                    <p:anim calcmode="lin" valueType="num">
                                      <p:cBhvr>
                                        <p:cTn id="72"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3">
                                            <p:txEl>
                                              <p:pRg st="5" end="5"/>
                                            </p:txEl>
                                          </p:spTgt>
                                        </p:tgtEl>
                                      </p:cBhvr>
                                      <p:to x="100000" y="60000"/>
                                    </p:animScale>
                                    <p:animScale>
                                      <p:cBhvr>
                                        <p:cTn id="78" dur="166" decel="50000">
                                          <p:stCondLst>
                                            <p:cond delay="676"/>
                                          </p:stCondLst>
                                        </p:cTn>
                                        <p:tgtEl>
                                          <p:spTgt spid="3">
                                            <p:txEl>
                                              <p:pRg st="5" end="5"/>
                                            </p:txEl>
                                          </p:spTgt>
                                        </p:tgtEl>
                                      </p:cBhvr>
                                      <p:to x="100000" y="100000"/>
                                    </p:animScale>
                                    <p:animScale>
                                      <p:cBhvr>
                                        <p:cTn id="79" dur="26">
                                          <p:stCondLst>
                                            <p:cond delay="1312"/>
                                          </p:stCondLst>
                                        </p:cTn>
                                        <p:tgtEl>
                                          <p:spTgt spid="3">
                                            <p:txEl>
                                              <p:pRg st="5" end="5"/>
                                            </p:txEl>
                                          </p:spTgt>
                                        </p:tgtEl>
                                      </p:cBhvr>
                                      <p:to x="100000" y="80000"/>
                                    </p:animScale>
                                    <p:animScale>
                                      <p:cBhvr>
                                        <p:cTn id="80" dur="166" decel="50000">
                                          <p:stCondLst>
                                            <p:cond delay="1338"/>
                                          </p:stCondLst>
                                        </p:cTn>
                                        <p:tgtEl>
                                          <p:spTgt spid="3">
                                            <p:txEl>
                                              <p:pRg st="5" end="5"/>
                                            </p:txEl>
                                          </p:spTgt>
                                        </p:tgtEl>
                                      </p:cBhvr>
                                      <p:to x="100000" y="100000"/>
                                    </p:animScale>
                                    <p:animScale>
                                      <p:cBhvr>
                                        <p:cTn id="81" dur="26">
                                          <p:stCondLst>
                                            <p:cond delay="1642"/>
                                          </p:stCondLst>
                                        </p:cTn>
                                        <p:tgtEl>
                                          <p:spTgt spid="3">
                                            <p:txEl>
                                              <p:pRg st="5" end="5"/>
                                            </p:txEl>
                                          </p:spTgt>
                                        </p:tgtEl>
                                      </p:cBhvr>
                                      <p:to x="100000" y="90000"/>
                                    </p:animScale>
                                    <p:animScale>
                                      <p:cBhvr>
                                        <p:cTn id="82" dur="166" decel="50000">
                                          <p:stCondLst>
                                            <p:cond delay="1668"/>
                                          </p:stCondLst>
                                        </p:cTn>
                                        <p:tgtEl>
                                          <p:spTgt spid="3">
                                            <p:txEl>
                                              <p:pRg st="5" end="5"/>
                                            </p:txEl>
                                          </p:spTgt>
                                        </p:tgtEl>
                                      </p:cBhvr>
                                      <p:to x="100000" y="100000"/>
                                    </p:animScale>
                                    <p:animScale>
                                      <p:cBhvr>
                                        <p:cTn id="83" dur="26">
                                          <p:stCondLst>
                                            <p:cond delay="1808"/>
                                          </p:stCondLst>
                                        </p:cTn>
                                        <p:tgtEl>
                                          <p:spTgt spid="3">
                                            <p:txEl>
                                              <p:pRg st="5" end="5"/>
                                            </p:txEl>
                                          </p:spTgt>
                                        </p:tgtEl>
                                      </p:cBhvr>
                                      <p:to x="100000" y="95000"/>
                                    </p:animScale>
                                    <p:animScale>
                                      <p:cBhvr>
                                        <p:cTn id="84" dur="166" decel="50000">
                                          <p:stCondLst>
                                            <p:cond delay="1834"/>
                                          </p:stCondLst>
                                        </p:cTn>
                                        <p:tgtEl>
                                          <p:spTgt spid="3">
                                            <p:txEl>
                                              <p:pRg st="5" end="5"/>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3">
                                            <p:txEl>
                                              <p:pRg st="6" end="6"/>
                                            </p:txEl>
                                          </p:spTgt>
                                        </p:tgtEl>
                                        <p:attrNameLst>
                                          <p:attrName>style.visibility</p:attrName>
                                        </p:attrNameLst>
                                      </p:cBhvr>
                                      <p:to>
                                        <p:strVal val="visible"/>
                                      </p:to>
                                    </p:set>
                                    <p:animEffect transition="in" filter="wipe(down)">
                                      <p:cBhvr>
                                        <p:cTn id="87" dur="580">
                                          <p:stCondLst>
                                            <p:cond delay="0"/>
                                          </p:stCondLst>
                                        </p:cTn>
                                        <p:tgtEl>
                                          <p:spTgt spid="3">
                                            <p:txEl>
                                              <p:pRg st="6" end="6"/>
                                            </p:txEl>
                                          </p:spTgt>
                                        </p:tgtEl>
                                      </p:cBhvr>
                                    </p:animEffect>
                                    <p:anim calcmode="lin" valueType="num">
                                      <p:cBhvr>
                                        <p:cTn id="88"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3">
                                            <p:txEl>
                                              <p:pRg st="6" end="6"/>
                                            </p:txEl>
                                          </p:spTgt>
                                        </p:tgtEl>
                                      </p:cBhvr>
                                      <p:to x="100000" y="60000"/>
                                    </p:animScale>
                                    <p:animScale>
                                      <p:cBhvr>
                                        <p:cTn id="94" dur="166" decel="50000">
                                          <p:stCondLst>
                                            <p:cond delay="676"/>
                                          </p:stCondLst>
                                        </p:cTn>
                                        <p:tgtEl>
                                          <p:spTgt spid="3">
                                            <p:txEl>
                                              <p:pRg st="6" end="6"/>
                                            </p:txEl>
                                          </p:spTgt>
                                        </p:tgtEl>
                                      </p:cBhvr>
                                      <p:to x="100000" y="100000"/>
                                    </p:animScale>
                                    <p:animScale>
                                      <p:cBhvr>
                                        <p:cTn id="95" dur="26">
                                          <p:stCondLst>
                                            <p:cond delay="1312"/>
                                          </p:stCondLst>
                                        </p:cTn>
                                        <p:tgtEl>
                                          <p:spTgt spid="3">
                                            <p:txEl>
                                              <p:pRg st="6" end="6"/>
                                            </p:txEl>
                                          </p:spTgt>
                                        </p:tgtEl>
                                      </p:cBhvr>
                                      <p:to x="100000" y="80000"/>
                                    </p:animScale>
                                    <p:animScale>
                                      <p:cBhvr>
                                        <p:cTn id="96" dur="166" decel="50000">
                                          <p:stCondLst>
                                            <p:cond delay="1338"/>
                                          </p:stCondLst>
                                        </p:cTn>
                                        <p:tgtEl>
                                          <p:spTgt spid="3">
                                            <p:txEl>
                                              <p:pRg st="6" end="6"/>
                                            </p:txEl>
                                          </p:spTgt>
                                        </p:tgtEl>
                                      </p:cBhvr>
                                      <p:to x="100000" y="100000"/>
                                    </p:animScale>
                                    <p:animScale>
                                      <p:cBhvr>
                                        <p:cTn id="97" dur="26">
                                          <p:stCondLst>
                                            <p:cond delay="1642"/>
                                          </p:stCondLst>
                                        </p:cTn>
                                        <p:tgtEl>
                                          <p:spTgt spid="3">
                                            <p:txEl>
                                              <p:pRg st="6" end="6"/>
                                            </p:txEl>
                                          </p:spTgt>
                                        </p:tgtEl>
                                      </p:cBhvr>
                                      <p:to x="100000" y="90000"/>
                                    </p:animScale>
                                    <p:animScale>
                                      <p:cBhvr>
                                        <p:cTn id="98" dur="166" decel="50000">
                                          <p:stCondLst>
                                            <p:cond delay="1668"/>
                                          </p:stCondLst>
                                        </p:cTn>
                                        <p:tgtEl>
                                          <p:spTgt spid="3">
                                            <p:txEl>
                                              <p:pRg st="6" end="6"/>
                                            </p:txEl>
                                          </p:spTgt>
                                        </p:tgtEl>
                                      </p:cBhvr>
                                      <p:to x="100000" y="100000"/>
                                    </p:animScale>
                                    <p:animScale>
                                      <p:cBhvr>
                                        <p:cTn id="99" dur="26">
                                          <p:stCondLst>
                                            <p:cond delay="1808"/>
                                          </p:stCondLst>
                                        </p:cTn>
                                        <p:tgtEl>
                                          <p:spTgt spid="3">
                                            <p:txEl>
                                              <p:pRg st="6" end="6"/>
                                            </p:txEl>
                                          </p:spTgt>
                                        </p:tgtEl>
                                      </p:cBhvr>
                                      <p:to x="100000" y="95000"/>
                                    </p:animScale>
                                    <p:animScale>
                                      <p:cBhvr>
                                        <p:cTn id="100" dur="166" decel="50000">
                                          <p:stCondLst>
                                            <p:cond delay="1834"/>
                                          </p:stCondLst>
                                        </p:cTn>
                                        <p:tgtEl>
                                          <p:spTgt spid="3">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solidFill>
                  <a:prstClr val="black">
                    <a:lumMod val="85000"/>
                    <a:lumOff val="15000"/>
                  </a:prstClr>
                </a:solidFill>
              </a:rPr>
              <a:t>היפוך מחרוזת (</a:t>
            </a:r>
            <a:r>
              <a:rPr lang="en-US" dirty="0">
                <a:solidFill>
                  <a:prstClr val="black">
                    <a:lumMod val="85000"/>
                    <a:lumOff val="15000"/>
                  </a:prstClr>
                </a:solidFill>
              </a:rPr>
              <a:t>reverse.asm</a:t>
            </a:r>
            <a:r>
              <a:rPr lang="he-IL" dirty="0">
                <a:solidFill>
                  <a:prstClr val="black">
                    <a:lumMod val="85000"/>
                    <a:lumOff val="15000"/>
                  </a:prstClr>
                </a:solidFill>
              </a:rPr>
              <a:t>)</a:t>
            </a:r>
            <a:endParaRPr lang="he-IL" dirty="0"/>
          </a:p>
        </p:txBody>
      </p:sp>
      <p:sp>
        <p:nvSpPr>
          <p:cNvPr id="3" name="מציין מיקום תוכן 2"/>
          <p:cNvSpPr>
            <a:spLocks noGrp="1"/>
          </p:cNvSpPr>
          <p:nvPr>
            <p:ph idx="1"/>
          </p:nvPr>
        </p:nvSpPr>
        <p:spPr/>
        <p:txBody>
          <a:bodyPr>
            <a:normAutofit fontScale="92500" lnSpcReduction="10000"/>
          </a:bodyPr>
          <a:lstStyle/>
          <a:p>
            <a:r>
              <a:rPr lang="he-IL" dirty="0"/>
              <a:t>מאחר ואנחנו עוקבים אחר מחרוזת שנקלטת, יש לאתחל אינדקסים :</a:t>
            </a:r>
            <a:r>
              <a:rPr lang="en-US" dirty="0"/>
              <a:t> </a:t>
            </a:r>
            <a:endParaRPr lang="he-IL" dirty="0"/>
          </a:p>
          <a:p>
            <a:pPr algn="l" rtl="0"/>
            <a:r>
              <a:rPr lang="en-US" b="1" dirty="0" err="1"/>
              <a:t>xor</a:t>
            </a:r>
            <a:r>
              <a:rPr lang="en-US" b="1" dirty="0"/>
              <a:t> </a:t>
            </a:r>
            <a:r>
              <a:rPr lang="en-US" b="1" dirty="0" err="1"/>
              <a:t>rcx</a:t>
            </a:r>
            <a:r>
              <a:rPr lang="en-US" b="1" dirty="0"/>
              <a:t>, </a:t>
            </a:r>
            <a:r>
              <a:rPr lang="en-US" b="1" dirty="0" err="1"/>
              <a:t>rcx</a:t>
            </a:r>
            <a:r>
              <a:rPr lang="en-US" b="1" dirty="0"/>
              <a:t>          ; </a:t>
            </a:r>
            <a:r>
              <a:rPr lang="en-US" b="1" dirty="0" err="1"/>
              <a:t>i</a:t>
            </a:r>
            <a:r>
              <a:rPr lang="en-US" b="1" dirty="0"/>
              <a:t> = 0</a:t>
            </a:r>
          </a:p>
          <a:p>
            <a:pPr algn="l" rtl="0"/>
            <a:r>
              <a:rPr lang="en-US" b="1" dirty="0"/>
              <a:t>dec </a:t>
            </a:r>
            <a:r>
              <a:rPr lang="en-US" b="1" dirty="0" err="1"/>
              <a:t>rdx</a:t>
            </a:r>
            <a:r>
              <a:rPr lang="en-US" b="1" dirty="0"/>
              <a:t>               ; j = length – 1</a:t>
            </a:r>
          </a:p>
          <a:p>
            <a:pPr algn="r"/>
            <a:r>
              <a:rPr lang="he-IL" dirty="0"/>
              <a:t>אוגר </a:t>
            </a:r>
            <a:r>
              <a:rPr lang="en-US" dirty="0" err="1"/>
              <a:t>rcx</a:t>
            </a:r>
            <a:r>
              <a:rPr lang="he-IL" dirty="0"/>
              <a:t> מחזיק את האינדקס של תחילת המחרוזת ואילו </a:t>
            </a:r>
            <a:r>
              <a:rPr lang="en-US" dirty="0" err="1"/>
              <a:t>rdx</a:t>
            </a:r>
            <a:r>
              <a:rPr lang="he-IL" dirty="0"/>
              <a:t> את האינדקס של התו האחרון</a:t>
            </a:r>
          </a:p>
          <a:p>
            <a:r>
              <a:rPr lang="he-IL" dirty="0"/>
              <a:t>הערה – חיסרנו מ</a:t>
            </a:r>
            <a:r>
              <a:rPr lang="en-US" dirty="0"/>
              <a:t> </a:t>
            </a:r>
            <a:r>
              <a:rPr lang="en-US" dirty="0" err="1"/>
              <a:t>rdx</a:t>
            </a:r>
            <a:r>
              <a:rPr lang="he-IL" dirty="0"/>
              <a:t>1 כי המספר הוא 1 יותר כי אנחנו מתחילים לספור מ0</a:t>
            </a:r>
          </a:p>
          <a:p>
            <a:pPr algn="r"/>
            <a:r>
              <a:rPr lang="he-IL" dirty="0"/>
              <a:t>אנחנו נבצע החלפה בין </a:t>
            </a:r>
            <a:r>
              <a:rPr lang="en-US" dirty="0" err="1"/>
              <a:t>buf</a:t>
            </a:r>
            <a:r>
              <a:rPr lang="en-US" dirty="0"/>
              <a:t>[</a:t>
            </a:r>
            <a:r>
              <a:rPr lang="en-US" dirty="0" err="1"/>
              <a:t>i</a:t>
            </a:r>
            <a:r>
              <a:rPr lang="en-US" dirty="0"/>
              <a:t>]</a:t>
            </a:r>
            <a:r>
              <a:rPr lang="he-IL" dirty="0"/>
              <a:t> לבין </a:t>
            </a:r>
            <a:r>
              <a:rPr lang="en-US" dirty="0" err="1"/>
              <a:t>buf</a:t>
            </a:r>
            <a:r>
              <a:rPr lang="en-US" dirty="0"/>
              <a:t>[j]</a:t>
            </a:r>
            <a:r>
              <a:rPr lang="he-IL" dirty="0"/>
              <a:t>  כל עוד </a:t>
            </a:r>
            <a:r>
              <a:rPr lang="en-US" dirty="0" err="1"/>
              <a:t>i</a:t>
            </a:r>
            <a:r>
              <a:rPr lang="en-US" dirty="0"/>
              <a:t>&lt;j</a:t>
            </a:r>
            <a:r>
              <a:rPr lang="he-IL" dirty="0"/>
              <a:t> </a:t>
            </a:r>
          </a:p>
          <a:p>
            <a:r>
              <a:rPr lang="he-IL" dirty="0"/>
              <a:t>בנוסף, נשמור את הערך של </a:t>
            </a:r>
            <a:r>
              <a:rPr lang="en-US" dirty="0" err="1"/>
              <a:t>rax</a:t>
            </a:r>
            <a:r>
              <a:rPr lang="he-IL" dirty="0"/>
              <a:t> גם ב</a:t>
            </a:r>
            <a:r>
              <a:rPr lang="en-US" dirty="0"/>
              <a:t> r12</a:t>
            </a:r>
            <a:r>
              <a:rPr lang="he-IL" dirty="0"/>
              <a:t>להמשך -                                       </a:t>
            </a:r>
            <a:r>
              <a:rPr lang="he-IL" b="1" dirty="0"/>
              <a:t> </a:t>
            </a:r>
            <a:r>
              <a:rPr lang="en-US" b="1" dirty="0"/>
              <a:t>mov r12, </a:t>
            </a:r>
            <a:r>
              <a:rPr lang="en-US" b="1" dirty="0" err="1"/>
              <a:t>rax</a:t>
            </a:r>
            <a:endParaRPr lang="en-US" dirty="0"/>
          </a:p>
          <a:p>
            <a:pPr algn="l" rtl="0"/>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29</a:t>
            </a:fld>
            <a:endParaRPr lang="he-IL"/>
          </a:p>
        </p:txBody>
      </p:sp>
    </p:spTree>
    <p:extLst>
      <p:ext uri="{BB962C8B-B14F-4D97-AF65-F5344CB8AC3E}">
        <p14:creationId xmlns:p14="http://schemas.microsoft.com/office/powerpoint/2010/main" val="430757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80">
                                          <p:stCondLst>
                                            <p:cond delay="0"/>
                                          </p:stCondLst>
                                        </p:cTn>
                                        <p:tgtEl>
                                          <p:spTgt spid="3">
                                            <p:txEl>
                                              <p:pRg st="1" end="1"/>
                                            </p:txEl>
                                          </p:spTgt>
                                        </p:tgtEl>
                                      </p:cBhvr>
                                    </p:animEffect>
                                    <p:anim calcmode="lin" valueType="num">
                                      <p:cBhvr>
                                        <p:cTn id="1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1" end="1"/>
                                            </p:txEl>
                                          </p:spTgt>
                                        </p:tgtEl>
                                      </p:cBhvr>
                                      <p:to x="100000" y="60000"/>
                                    </p:animScale>
                                    <p:animScale>
                                      <p:cBhvr>
                                        <p:cTn id="20" dur="166" decel="50000">
                                          <p:stCondLst>
                                            <p:cond delay="676"/>
                                          </p:stCondLst>
                                        </p:cTn>
                                        <p:tgtEl>
                                          <p:spTgt spid="3">
                                            <p:txEl>
                                              <p:pRg st="1" end="1"/>
                                            </p:txEl>
                                          </p:spTgt>
                                        </p:tgtEl>
                                      </p:cBhvr>
                                      <p:to x="100000" y="100000"/>
                                    </p:animScale>
                                    <p:animScale>
                                      <p:cBhvr>
                                        <p:cTn id="21" dur="26">
                                          <p:stCondLst>
                                            <p:cond delay="1312"/>
                                          </p:stCondLst>
                                        </p:cTn>
                                        <p:tgtEl>
                                          <p:spTgt spid="3">
                                            <p:txEl>
                                              <p:pRg st="1" end="1"/>
                                            </p:txEl>
                                          </p:spTgt>
                                        </p:tgtEl>
                                      </p:cBhvr>
                                      <p:to x="100000" y="80000"/>
                                    </p:animScale>
                                    <p:animScale>
                                      <p:cBhvr>
                                        <p:cTn id="22" dur="166" decel="50000">
                                          <p:stCondLst>
                                            <p:cond delay="1338"/>
                                          </p:stCondLst>
                                        </p:cTn>
                                        <p:tgtEl>
                                          <p:spTgt spid="3">
                                            <p:txEl>
                                              <p:pRg st="1" end="1"/>
                                            </p:txEl>
                                          </p:spTgt>
                                        </p:tgtEl>
                                      </p:cBhvr>
                                      <p:to x="100000" y="100000"/>
                                    </p:animScale>
                                    <p:animScale>
                                      <p:cBhvr>
                                        <p:cTn id="23" dur="26">
                                          <p:stCondLst>
                                            <p:cond delay="1642"/>
                                          </p:stCondLst>
                                        </p:cTn>
                                        <p:tgtEl>
                                          <p:spTgt spid="3">
                                            <p:txEl>
                                              <p:pRg st="1" end="1"/>
                                            </p:txEl>
                                          </p:spTgt>
                                        </p:tgtEl>
                                      </p:cBhvr>
                                      <p:to x="100000" y="90000"/>
                                    </p:animScale>
                                    <p:animScale>
                                      <p:cBhvr>
                                        <p:cTn id="24" dur="166" decel="50000">
                                          <p:stCondLst>
                                            <p:cond delay="1668"/>
                                          </p:stCondLst>
                                        </p:cTn>
                                        <p:tgtEl>
                                          <p:spTgt spid="3">
                                            <p:txEl>
                                              <p:pRg st="1" end="1"/>
                                            </p:txEl>
                                          </p:spTgt>
                                        </p:tgtEl>
                                      </p:cBhvr>
                                      <p:to x="100000" y="100000"/>
                                    </p:animScale>
                                    <p:animScale>
                                      <p:cBhvr>
                                        <p:cTn id="25" dur="26">
                                          <p:stCondLst>
                                            <p:cond delay="1808"/>
                                          </p:stCondLst>
                                        </p:cTn>
                                        <p:tgtEl>
                                          <p:spTgt spid="3">
                                            <p:txEl>
                                              <p:pRg st="1" end="1"/>
                                            </p:txEl>
                                          </p:spTgt>
                                        </p:tgtEl>
                                      </p:cBhvr>
                                      <p:to x="100000" y="95000"/>
                                    </p:animScale>
                                    <p:animScale>
                                      <p:cBhvr>
                                        <p:cTn id="26" dur="166" decel="50000">
                                          <p:stCondLst>
                                            <p:cond delay="1834"/>
                                          </p:stCondLst>
                                        </p:cTn>
                                        <p:tgtEl>
                                          <p:spTgt spid="3">
                                            <p:txEl>
                                              <p:pRg st="1" end="1"/>
                                            </p:txEl>
                                          </p:spTgt>
                                        </p:tgtEl>
                                      </p:cBhvr>
                                      <p:to x="100000" y="100000"/>
                                    </p:animScale>
                                  </p:childTnLst>
                                </p:cTn>
                              </p:par>
                              <p:par>
                                <p:cTn id="27" presetID="26" presetClass="entr" presetSubtype="0" fill="hold" grpId="0"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ipe(down)">
                                      <p:cBhvr>
                                        <p:cTn id="29" dur="580">
                                          <p:stCondLst>
                                            <p:cond delay="0"/>
                                          </p:stCondLst>
                                        </p:cTn>
                                        <p:tgtEl>
                                          <p:spTgt spid="3">
                                            <p:txEl>
                                              <p:pRg st="2" end="2"/>
                                            </p:txEl>
                                          </p:spTgt>
                                        </p:tgtEl>
                                      </p:cBhvr>
                                    </p:animEffect>
                                    <p:anim calcmode="lin" valueType="num">
                                      <p:cBhvr>
                                        <p:cTn id="3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3">
                                            <p:txEl>
                                              <p:pRg st="2" end="2"/>
                                            </p:txEl>
                                          </p:spTgt>
                                        </p:tgtEl>
                                      </p:cBhvr>
                                      <p:to x="100000" y="60000"/>
                                    </p:animScale>
                                    <p:animScale>
                                      <p:cBhvr>
                                        <p:cTn id="36" dur="166" decel="50000">
                                          <p:stCondLst>
                                            <p:cond delay="676"/>
                                          </p:stCondLst>
                                        </p:cTn>
                                        <p:tgtEl>
                                          <p:spTgt spid="3">
                                            <p:txEl>
                                              <p:pRg st="2" end="2"/>
                                            </p:txEl>
                                          </p:spTgt>
                                        </p:tgtEl>
                                      </p:cBhvr>
                                      <p:to x="100000" y="100000"/>
                                    </p:animScale>
                                    <p:animScale>
                                      <p:cBhvr>
                                        <p:cTn id="37" dur="26">
                                          <p:stCondLst>
                                            <p:cond delay="1312"/>
                                          </p:stCondLst>
                                        </p:cTn>
                                        <p:tgtEl>
                                          <p:spTgt spid="3">
                                            <p:txEl>
                                              <p:pRg st="2" end="2"/>
                                            </p:txEl>
                                          </p:spTgt>
                                        </p:tgtEl>
                                      </p:cBhvr>
                                      <p:to x="100000" y="80000"/>
                                    </p:animScale>
                                    <p:animScale>
                                      <p:cBhvr>
                                        <p:cTn id="38" dur="166" decel="50000">
                                          <p:stCondLst>
                                            <p:cond delay="1338"/>
                                          </p:stCondLst>
                                        </p:cTn>
                                        <p:tgtEl>
                                          <p:spTgt spid="3">
                                            <p:txEl>
                                              <p:pRg st="2" end="2"/>
                                            </p:txEl>
                                          </p:spTgt>
                                        </p:tgtEl>
                                      </p:cBhvr>
                                      <p:to x="100000" y="100000"/>
                                    </p:animScale>
                                    <p:animScale>
                                      <p:cBhvr>
                                        <p:cTn id="39" dur="26">
                                          <p:stCondLst>
                                            <p:cond delay="1642"/>
                                          </p:stCondLst>
                                        </p:cTn>
                                        <p:tgtEl>
                                          <p:spTgt spid="3">
                                            <p:txEl>
                                              <p:pRg st="2" end="2"/>
                                            </p:txEl>
                                          </p:spTgt>
                                        </p:tgtEl>
                                      </p:cBhvr>
                                      <p:to x="100000" y="90000"/>
                                    </p:animScale>
                                    <p:animScale>
                                      <p:cBhvr>
                                        <p:cTn id="40" dur="166" decel="50000">
                                          <p:stCondLst>
                                            <p:cond delay="1668"/>
                                          </p:stCondLst>
                                        </p:cTn>
                                        <p:tgtEl>
                                          <p:spTgt spid="3">
                                            <p:txEl>
                                              <p:pRg st="2" end="2"/>
                                            </p:txEl>
                                          </p:spTgt>
                                        </p:tgtEl>
                                      </p:cBhvr>
                                      <p:to x="100000" y="100000"/>
                                    </p:animScale>
                                    <p:animScale>
                                      <p:cBhvr>
                                        <p:cTn id="41" dur="26">
                                          <p:stCondLst>
                                            <p:cond delay="1808"/>
                                          </p:stCondLst>
                                        </p:cTn>
                                        <p:tgtEl>
                                          <p:spTgt spid="3">
                                            <p:txEl>
                                              <p:pRg st="2" end="2"/>
                                            </p:txEl>
                                          </p:spTgt>
                                        </p:tgtEl>
                                      </p:cBhvr>
                                      <p:to x="100000" y="95000"/>
                                    </p:animScale>
                                    <p:animScale>
                                      <p:cBhvr>
                                        <p:cTn id="42" dur="166" decel="50000">
                                          <p:stCondLst>
                                            <p:cond delay="1834"/>
                                          </p:stCondLst>
                                        </p:cTn>
                                        <p:tgtEl>
                                          <p:spTgt spid="3">
                                            <p:txEl>
                                              <p:pRg st="2" end="2"/>
                                            </p:txEl>
                                          </p:spTgt>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additive="base">
                                        <p:cTn id="4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anim calcmode="lin" valueType="num">
                                      <p:cBhvr additive="base">
                                        <p:cTn id="5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anim calcmode="lin" valueType="num">
                                      <p:cBhvr additive="base">
                                        <p:cTn id="5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
                                            <p:txEl>
                                              <p:pRg st="6" end="6"/>
                                            </p:txEl>
                                          </p:spTgt>
                                        </p:tgtEl>
                                        <p:attrNameLst>
                                          <p:attrName>style.visibility</p:attrName>
                                        </p:attrNameLst>
                                      </p:cBhvr>
                                      <p:to>
                                        <p:strVal val="visible"/>
                                      </p:to>
                                    </p:set>
                                    <p:anim calcmode="lin" valueType="num">
                                      <p:cBhvr additive="base">
                                        <p:cTn id="6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solidFill>
                  <a:prstClr val="black">
                    <a:lumMod val="85000"/>
                    <a:lumOff val="15000"/>
                  </a:prstClr>
                </a:solidFill>
              </a:rPr>
              <a:t>היפוך מחרוזת (</a:t>
            </a:r>
            <a:r>
              <a:rPr lang="en-US" dirty="0">
                <a:solidFill>
                  <a:prstClr val="black">
                    <a:lumMod val="85000"/>
                    <a:lumOff val="15000"/>
                  </a:prstClr>
                </a:solidFill>
              </a:rPr>
              <a:t>reverse.asm</a:t>
            </a:r>
            <a:r>
              <a:rPr lang="he-IL" dirty="0">
                <a:solidFill>
                  <a:prstClr val="black">
                    <a:lumMod val="85000"/>
                    <a:lumOff val="15000"/>
                  </a:prstClr>
                </a:solidFill>
              </a:rPr>
              <a:t>)</a:t>
            </a:r>
            <a:endParaRPr lang="he-IL" dirty="0"/>
          </a:p>
        </p:txBody>
      </p:sp>
      <p:sp>
        <p:nvSpPr>
          <p:cNvPr id="3" name="מציין מיקום תוכן 2"/>
          <p:cNvSpPr>
            <a:spLocks noGrp="1"/>
          </p:cNvSpPr>
          <p:nvPr>
            <p:ph idx="1"/>
          </p:nvPr>
        </p:nvSpPr>
        <p:spPr/>
        <p:txBody>
          <a:bodyPr/>
          <a:lstStyle/>
          <a:p>
            <a:r>
              <a:rPr lang="he-IL" dirty="0"/>
              <a:t>מתבצעת קריאה מהמקלדת באמצעות </a:t>
            </a:r>
            <a:r>
              <a:rPr lang="en-US" b="1" dirty="0" err="1"/>
              <a:t>sys_read</a:t>
            </a:r>
            <a:r>
              <a:rPr lang="en-US" b="1" dirty="0"/>
              <a:t>(0, </a:t>
            </a:r>
            <a:r>
              <a:rPr lang="en-US" b="1" dirty="0" err="1"/>
              <a:t>buf</a:t>
            </a:r>
            <a:r>
              <a:rPr lang="en-US" b="1" dirty="0"/>
              <a:t>, 256)</a:t>
            </a:r>
            <a:r>
              <a:rPr lang="he-IL" b="1" dirty="0"/>
              <a:t> </a:t>
            </a:r>
          </a:p>
          <a:p>
            <a:r>
              <a:rPr lang="he-IL" dirty="0"/>
              <a:t>אוגר </a:t>
            </a:r>
            <a:r>
              <a:rPr lang="en-US" dirty="0" err="1"/>
              <a:t>rax</a:t>
            </a:r>
            <a:r>
              <a:rPr lang="he-IL" dirty="0"/>
              <a:t> מחזיק בתוכו את כמות הבתים שנקראה  (כמות התווים במחרוזת)</a:t>
            </a:r>
          </a:p>
          <a:p>
            <a:r>
              <a:rPr lang="he-IL" dirty="0"/>
              <a:t>אוגר </a:t>
            </a:r>
            <a:r>
              <a:rPr lang="en-US" dirty="0" err="1"/>
              <a:t>rdx</a:t>
            </a:r>
            <a:r>
              <a:rPr lang="he-IL" dirty="0"/>
              <a:t> שומר בתוכו את התוכן של </a:t>
            </a:r>
            <a:r>
              <a:rPr lang="en-US" dirty="0" err="1"/>
              <a:t>rax</a:t>
            </a:r>
            <a:r>
              <a:rPr lang="he-IL" dirty="0"/>
              <a:t> </a:t>
            </a:r>
          </a:p>
          <a:p>
            <a:endParaRPr lang="he-IL" dirty="0"/>
          </a:p>
          <a:p>
            <a:endParaRPr lang="he-IL" dirty="0"/>
          </a:p>
          <a:p>
            <a:endParaRPr lang="he-IL" b="1"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30</a:t>
            </a:fld>
            <a:endParaRPr lang="he-IL"/>
          </a:p>
        </p:txBody>
      </p:sp>
    </p:spTree>
    <p:extLst>
      <p:ext uri="{BB962C8B-B14F-4D97-AF65-F5344CB8AC3E}">
        <p14:creationId xmlns:p14="http://schemas.microsoft.com/office/powerpoint/2010/main" val="1636921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solidFill>
                  <a:prstClr val="black">
                    <a:lumMod val="85000"/>
                    <a:lumOff val="15000"/>
                  </a:prstClr>
                </a:solidFill>
              </a:rPr>
              <a:t>היפוך מחרוזת (</a:t>
            </a:r>
            <a:r>
              <a:rPr lang="en-US" dirty="0">
                <a:solidFill>
                  <a:prstClr val="black">
                    <a:lumMod val="85000"/>
                    <a:lumOff val="15000"/>
                  </a:prstClr>
                </a:solidFill>
              </a:rPr>
              <a:t>reverse.asm</a:t>
            </a:r>
            <a:r>
              <a:rPr lang="he-IL" dirty="0">
                <a:solidFill>
                  <a:prstClr val="black">
                    <a:lumMod val="85000"/>
                    <a:lumOff val="15000"/>
                  </a:prstClr>
                </a:solidFill>
              </a:rPr>
              <a:t>)</a:t>
            </a:r>
            <a:endParaRPr lang="he-IL" dirty="0"/>
          </a:p>
        </p:txBody>
      </p:sp>
      <p:sp>
        <p:nvSpPr>
          <p:cNvPr id="3" name="מציין מיקום תוכן 2"/>
          <p:cNvSpPr>
            <a:spLocks noGrp="1"/>
          </p:cNvSpPr>
          <p:nvPr>
            <p:ph idx="1"/>
          </p:nvPr>
        </p:nvSpPr>
        <p:spPr/>
        <p:txBody>
          <a:bodyPr/>
          <a:lstStyle/>
          <a:p>
            <a:r>
              <a:rPr lang="he-IL" dirty="0"/>
              <a:t>להלן לולאת ההיפוך :</a:t>
            </a:r>
            <a:r>
              <a:rPr lang="en-US" dirty="0"/>
              <a:t> </a:t>
            </a:r>
            <a:endParaRPr lang="he-IL" dirty="0"/>
          </a:p>
          <a:p>
            <a:pPr algn="l" rtl="0"/>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31</a:t>
            </a:fld>
            <a:endParaRPr lang="he-IL"/>
          </a:p>
        </p:txBody>
      </p:sp>
      <p:pic>
        <p:nvPicPr>
          <p:cNvPr id="10" name="תמונה 9">
            <a:extLst>
              <a:ext uri="{FF2B5EF4-FFF2-40B4-BE49-F238E27FC236}">
                <a16:creationId xmlns:a16="http://schemas.microsoft.com/office/drawing/2014/main" id="{E3AA5ED1-81A7-5EBD-8452-AA753EC8853D}"/>
              </a:ext>
            </a:extLst>
          </p:cNvPr>
          <p:cNvPicPr>
            <a:picLocks noChangeAspect="1"/>
          </p:cNvPicPr>
          <p:nvPr/>
        </p:nvPicPr>
        <p:blipFill>
          <a:blip r:embed="rId2"/>
          <a:stretch>
            <a:fillRect/>
          </a:stretch>
        </p:blipFill>
        <p:spPr>
          <a:xfrm>
            <a:off x="1424110" y="2556932"/>
            <a:ext cx="3820058" cy="3629532"/>
          </a:xfrm>
          <a:prstGeom prst="rect">
            <a:avLst/>
          </a:prstGeom>
        </p:spPr>
      </p:pic>
    </p:spTree>
    <p:extLst>
      <p:ext uri="{BB962C8B-B14F-4D97-AF65-F5344CB8AC3E}">
        <p14:creationId xmlns:p14="http://schemas.microsoft.com/office/powerpoint/2010/main" val="38231159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solidFill>
                  <a:prstClr val="black">
                    <a:lumMod val="85000"/>
                    <a:lumOff val="15000"/>
                  </a:prstClr>
                </a:solidFill>
              </a:rPr>
              <a:t>היפוך מחרוזת - </a:t>
            </a:r>
            <a:r>
              <a:rPr lang="he-IL" dirty="0"/>
              <a:t>היציאה מהתוכנית</a:t>
            </a:r>
          </a:p>
        </p:txBody>
      </p:sp>
      <p:sp>
        <p:nvSpPr>
          <p:cNvPr id="3" name="מציין מיקום תוכן 2"/>
          <p:cNvSpPr>
            <a:spLocks noGrp="1"/>
          </p:cNvSpPr>
          <p:nvPr>
            <p:ph idx="1"/>
          </p:nvPr>
        </p:nvSpPr>
        <p:spPr/>
        <p:txBody>
          <a:bodyPr/>
          <a:lstStyle/>
          <a:p>
            <a:r>
              <a:rPr lang="he-IL" dirty="0"/>
              <a:t>החלק הראשון מדפיס את המחרוזת ההפוכה באמצעות </a:t>
            </a:r>
            <a:r>
              <a:rPr lang="en-US" dirty="0" err="1"/>
              <a:t>syscall</a:t>
            </a:r>
            <a:r>
              <a:rPr lang="he-IL" dirty="0"/>
              <a:t> :</a:t>
            </a:r>
          </a:p>
          <a:p>
            <a:r>
              <a:rPr lang="en-US" dirty="0" err="1"/>
              <a:t>sys_write</a:t>
            </a:r>
            <a:r>
              <a:rPr lang="en-US" dirty="0"/>
              <a:t>(1, </a:t>
            </a:r>
            <a:r>
              <a:rPr lang="en-US" dirty="0" err="1"/>
              <a:t>buf</a:t>
            </a:r>
            <a:r>
              <a:rPr lang="en-US" dirty="0"/>
              <a:t>, length)</a:t>
            </a:r>
            <a:r>
              <a:rPr lang="he-IL" dirty="0"/>
              <a:t> </a:t>
            </a:r>
          </a:p>
          <a:p>
            <a:r>
              <a:rPr lang="he-IL" dirty="0"/>
              <a:t>החלק השני עם ערך של 60 בתוך </a:t>
            </a:r>
            <a:r>
              <a:rPr lang="en-US" dirty="0" err="1"/>
              <a:t>rax</a:t>
            </a:r>
            <a:r>
              <a:rPr lang="he-IL" dirty="0"/>
              <a:t> יוצא החוצה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32</a:t>
            </a:fld>
            <a:endParaRPr lang="he-IL"/>
          </a:p>
        </p:txBody>
      </p:sp>
      <p:pic>
        <p:nvPicPr>
          <p:cNvPr id="7" name="תמונה 6">
            <a:extLst>
              <a:ext uri="{FF2B5EF4-FFF2-40B4-BE49-F238E27FC236}">
                <a16:creationId xmlns:a16="http://schemas.microsoft.com/office/drawing/2014/main" id="{BFA8A15C-DBDE-88A3-9DC9-ED0D86F2DD65}"/>
              </a:ext>
            </a:extLst>
          </p:cNvPr>
          <p:cNvPicPr>
            <a:picLocks noChangeAspect="1"/>
          </p:cNvPicPr>
          <p:nvPr/>
        </p:nvPicPr>
        <p:blipFill>
          <a:blip r:embed="rId2"/>
          <a:stretch>
            <a:fillRect/>
          </a:stretch>
        </p:blipFill>
        <p:spPr>
          <a:xfrm>
            <a:off x="1566872" y="3076132"/>
            <a:ext cx="2638793" cy="3172268"/>
          </a:xfrm>
          <a:prstGeom prst="rect">
            <a:avLst/>
          </a:prstGeom>
        </p:spPr>
      </p:pic>
    </p:spTree>
    <p:extLst>
      <p:ext uri="{BB962C8B-B14F-4D97-AF65-F5344CB8AC3E}">
        <p14:creationId xmlns:p14="http://schemas.microsoft.com/office/powerpoint/2010/main" val="339326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הרצת התכנית </a:t>
            </a:r>
          </a:p>
        </p:txBody>
      </p:sp>
      <p:sp>
        <p:nvSpPr>
          <p:cNvPr id="3" name="מציין מיקום תוכן 2"/>
          <p:cNvSpPr>
            <a:spLocks noGrp="1"/>
          </p:cNvSpPr>
          <p:nvPr>
            <p:ph idx="1"/>
          </p:nvPr>
        </p:nvSpPr>
        <p:spPr/>
        <p:txBody>
          <a:bodyPr/>
          <a:lstStyle/>
          <a:p>
            <a:pPr algn="l" rtl="0"/>
            <a:r>
              <a:rPr lang="en-US" b="1" dirty="0" err="1"/>
              <a:t>nasm</a:t>
            </a:r>
            <a:r>
              <a:rPr lang="en-US" b="1" dirty="0"/>
              <a:t> –f elf64 reverse.asm –o </a:t>
            </a:r>
            <a:r>
              <a:rPr lang="en-US" b="1" dirty="0" err="1"/>
              <a:t>reverse.o</a:t>
            </a:r>
            <a:endParaRPr lang="en-US" b="1" dirty="0"/>
          </a:p>
          <a:p>
            <a:pPr algn="l" rtl="0"/>
            <a:r>
              <a:rPr lang="en-US" b="1" dirty="0" err="1"/>
              <a:t>ld</a:t>
            </a:r>
            <a:r>
              <a:rPr lang="en-US" b="1" dirty="0"/>
              <a:t> </a:t>
            </a:r>
            <a:r>
              <a:rPr lang="en-US" b="1" dirty="0" err="1"/>
              <a:t>reverse.o</a:t>
            </a:r>
            <a:r>
              <a:rPr lang="en-US" b="1" dirty="0"/>
              <a:t> –o reverse</a:t>
            </a:r>
          </a:p>
          <a:p>
            <a:pPr algn="l" rtl="0"/>
            <a:r>
              <a:rPr lang="en-US" b="1" dirty="0"/>
              <a:t>./reverse</a:t>
            </a:r>
          </a:p>
          <a:p>
            <a:r>
              <a:rPr lang="he-IL" dirty="0"/>
              <a:t>כאן </a:t>
            </a:r>
            <a:r>
              <a:rPr lang="he-IL" dirty="0" err="1"/>
              <a:t>קימפלנו</a:t>
            </a:r>
            <a:r>
              <a:rPr lang="he-IL" dirty="0"/>
              <a:t> עם </a:t>
            </a:r>
            <a:r>
              <a:rPr lang="en-US" b="1" dirty="0" err="1"/>
              <a:t>ld</a:t>
            </a:r>
            <a:r>
              <a:rPr lang="he-IL" b="1" dirty="0"/>
              <a:t> </a:t>
            </a:r>
            <a:r>
              <a:rPr lang="he-IL" dirty="0"/>
              <a:t>כי עשינו שימוש בתווית </a:t>
            </a:r>
            <a:r>
              <a:rPr lang="en-US" dirty="0"/>
              <a:t>_start</a:t>
            </a:r>
            <a:endParaRPr lang="he-IL" dirty="0"/>
          </a:p>
          <a:p>
            <a:r>
              <a:rPr lang="he-IL" b="1" dirty="0"/>
              <a:t>יכולנו לקמפל עם </a:t>
            </a:r>
            <a:r>
              <a:rPr lang="en-US" dirty="0" err="1"/>
              <a:t>ld</a:t>
            </a:r>
            <a:r>
              <a:rPr lang="he-IL" b="1" dirty="0"/>
              <a:t> כי לא השתמשנו בפונקציות של </a:t>
            </a:r>
            <a:r>
              <a:rPr lang="en-US" b="1" dirty="0"/>
              <a:t>C</a:t>
            </a:r>
            <a:r>
              <a:rPr lang="he-IL" b="1" dirty="0"/>
              <a:t>, </a:t>
            </a:r>
            <a:r>
              <a:rPr lang="he-IL" dirty="0"/>
              <a:t>אחרת היינו צריכים להוסיף כל שפרייה שהשתמשנו בה</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33</a:t>
            </a:fld>
            <a:endParaRPr lang="he-IL"/>
          </a:p>
        </p:txBody>
      </p:sp>
    </p:spTree>
    <p:extLst>
      <p:ext uri="{BB962C8B-B14F-4D97-AF65-F5344CB8AC3E}">
        <p14:creationId xmlns:p14="http://schemas.microsoft.com/office/powerpoint/2010/main" val="375144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down)">
                                      <p:cBhvr>
                                        <p:cTn id="23" dur="580">
                                          <p:stCondLst>
                                            <p:cond delay="0"/>
                                          </p:stCondLst>
                                        </p:cTn>
                                        <p:tgtEl>
                                          <p:spTgt spid="3">
                                            <p:txEl>
                                              <p:pRg st="1" end="1"/>
                                            </p:txEl>
                                          </p:spTgt>
                                        </p:tgtEl>
                                      </p:cBhvr>
                                    </p:animEffect>
                                    <p:anim calcmode="lin" valueType="num">
                                      <p:cBhvr>
                                        <p:cTn id="2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1" end="1"/>
                                            </p:txEl>
                                          </p:spTgt>
                                        </p:tgtEl>
                                      </p:cBhvr>
                                      <p:to x="100000" y="60000"/>
                                    </p:animScale>
                                    <p:animScale>
                                      <p:cBhvr>
                                        <p:cTn id="30" dur="166" decel="50000">
                                          <p:stCondLst>
                                            <p:cond delay="676"/>
                                          </p:stCondLst>
                                        </p:cTn>
                                        <p:tgtEl>
                                          <p:spTgt spid="3">
                                            <p:txEl>
                                              <p:pRg st="1" end="1"/>
                                            </p:txEl>
                                          </p:spTgt>
                                        </p:tgtEl>
                                      </p:cBhvr>
                                      <p:to x="100000" y="100000"/>
                                    </p:animScale>
                                    <p:animScale>
                                      <p:cBhvr>
                                        <p:cTn id="31" dur="26">
                                          <p:stCondLst>
                                            <p:cond delay="1312"/>
                                          </p:stCondLst>
                                        </p:cTn>
                                        <p:tgtEl>
                                          <p:spTgt spid="3">
                                            <p:txEl>
                                              <p:pRg st="1" end="1"/>
                                            </p:txEl>
                                          </p:spTgt>
                                        </p:tgtEl>
                                      </p:cBhvr>
                                      <p:to x="100000" y="80000"/>
                                    </p:animScale>
                                    <p:animScale>
                                      <p:cBhvr>
                                        <p:cTn id="32" dur="166" decel="50000">
                                          <p:stCondLst>
                                            <p:cond delay="1338"/>
                                          </p:stCondLst>
                                        </p:cTn>
                                        <p:tgtEl>
                                          <p:spTgt spid="3">
                                            <p:txEl>
                                              <p:pRg st="1" end="1"/>
                                            </p:txEl>
                                          </p:spTgt>
                                        </p:tgtEl>
                                      </p:cBhvr>
                                      <p:to x="100000" y="100000"/>
                                    </p:animScale>
                                    <p:animScale>
                                      <p:cBhvr>
                                        <p:cTn id="33" dur="26">
                                          <p:stCondLst>
                                            <p:cond delay="1642"/>
                                          </p:stCondLst>
                                        </p:cTn>
                                        <p:tgtEl>
                                          <p:spTgt spid="3">
                                            <p:txEl>
                                              <p:pRg st="1" end="1"/>
                                            </p:txEl>
                                          </p:spTgt>
                                        </p:tgtEl>
                                      </p:cBhvr>
                                      <p:to x="100000" y="90000"/>
                                    </p:animScale>
                                    <p:animScale>
                                      <p:cBhvr>
                                        <p:cTn id="34" dur="166" decel="50000">
                                          <p:stCondLst>
                                            <p:cond delay="1668"/>
                                          </p:stCondLst>
                                        </p:cTn>
                                        <p:tgtEl>
                                          <p:spTgt spid="3">
                                            <p:txEl>
                                              <p:pRg st="1" end="1"/>
                                            </p:txEl>
                                          </p:spTgt>
                                        </p:tgtEl>
                                      </p:cBhvr>
                                      <p:to x="100000" y="100000"/>
                                    </p:animScale>
                                    <p:animScale>
                                      <p:cBhvr>
                                        <p:cTn id="35" dur="26">
                                          <p:stCondLst>
                                            <p:cond delay="1808"/>
                                          </p:stCondLst>
                                        </p:cTn>
                                        <p:tgtEl>
                                          <p:spTgt spid="3">
                                            <p:txEl>
                                              <p:pRg st="1" end="1"/>
                                            </p:txEl>
                                          </p:spTgt>
                                        </p:tgtEl>
                                      </p:cBhvr>
                                      <p:to x="100000" y="95000"/>
                                    </p:animScale>
                                    <p:animScale>
                                      <p:cBhvr>
                                        <p:cTn id="36" dur="166" decel="50000">
                                          <p:stCondLst>
                                            <p:cond delay="1834"/>
                                          </p:stCondLst>
                                        </p:cTn>
                                        <p:tgtEl>
                                          <p:spTgt spid="3">
                                            <p:txEl>
                                              <p:pRg st="1" end="1"/>
                                            </p:txEl>
                                          </p:spTgt>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wipe(down)">
                                      <p:cBhvr>
                                        <p:cTn id="39" dur="580">
                                          <p:stCondLst>
                                            <p:cond delay="0"/>
                                          </p:stCondLst>
                                        </p:cTn>
                                        <p:tgtEl>
                                          <p:spTgt spid="3">
                                            <p:txEl>
                                              <p:pRg st="2" end="2"/>
                                            </p:txEl>
                                          </p:spTgt>
                                        </p:tgtEl>
                                      </p:cBhvr>
                                    </p:animEffect>
                                    <p:anim calcmode="lin" valueType="num">
                                      <p:cBhvr>
                                        <p:cTn id="4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2" end="2"/>
                                            </p:txEl>
                                          </p:spTgt>
                                        </p:tgtEl>
                                      </p:cBhvr>
                                      <p:to x="100000" y="60000"/>
                                    </p:animScale>
                                    <p:animScale>
                                      <p:cBhvr>
                                        <p:cTn id="46" dur="166" decel="50000">
                                          <p:stCondLst>
                                            <p:cond delay="676"/>
                                          </p:stCondLst>
                                        </p:cTn>
                                        <p:tgtEl>
                                          <p:spTgt spid="3">
                                            <p:txEl>
                                              <p:pRg st="2" end="2"/>
                                            </p:txEl>
                                          </p:spTgt>
                                        </p:tgtEl>
                                      </p:cBhvr>
                                      <p:to x="100000" y="100000"/>
                                    </p:animScale>
                                    <p:animScale>
                                      <p:cBhvr>
                                        <p:cTn id="47" dur="26">
                                          <p:stCondLst>
                                            <p:cond delay="1312"/>
                                          </p:stCondLst>
                                        </p:cTn>
                                        <p:tgtEl>
                                          <p:spTgt spid="3">
                                            <p:txEl>
                                              <p:pRg st="2" end="2"/>
                                            </p:txEl>
                                          </p:spTgt>
                                        </p:tgtEl>
                                      </p:cBhvr>
                                      <p:to x="100000" y="80000"/>
                                    </p:animScale>
                                    <p:animScale>
                                      <p:cBhvr>
                                        <p:cTn id="48" dur="166" decel="50000">
                                          <p:stCondLst>
                                            <p:cond delay="1338"/>
                                          </p:stCondLst>
                                        </p:cTn>
                                        <p:tgtEl>
                                          <p:spTgt spid="3">
                                            <p:txEl>
                                              <p:pRg st="2" end="2"/>
                                            </p:txEl>
                                          </p:spTgt>
                                        </p:tgtEl>
                                      </p:cBhvr>
                                      <p:to x="100000" y="100000"/>
                                    </p:animScale>
                                    <p:animScale>
                                      <p:cBhvr>
                                        <p:cTn id="49" dur="26">
                                          <p:stCondLst>
                                            <p:cond delay="1642"/>
                                          </p:stCondLst>
                                        </p:cTn>
                                        <p:tgtEl>
                                          <p:spTgt spid="3">
                                            <p:txEl>
                                              <p:pRg st="2" end="2"/>
                                            </p:txEl>
                                          </p:spTgt>
                                        </p:tgtEl>
                                      </p:cBhvr>
                                      <p:to x="100000" y="90000"/>
                                    </p:animScale>
                                    <p:animScale>
                                      <p:cBhvr>
                                        <p:cTn id="50" dur="166" decel="50000">
                                          <p:stCondLst>
                                            <p:cond delay="1668"/>
                                          </p:stCondLst>
                                        </p:cTn>
                                        <p:tgtEl>
                                          <p:spTgt spid="3">
                                            <p:txEl>
                                              <p:pRg st="2" end="2"/>
                                            </p:txEl>
                                          </p:spTgt>
                                        </p:tgtEl>
                                      </p:cBhvr>
                                      <p:to x="100000" y="100000"/>
                                    </p:animScale>
                                    <p:animScale>
                                      <p:cBhvr>
                                        <p:cTn id="51" dur="26">
                                          <p:stCondLst>
                                            <p:cond delay="1808"/>
                                          </p:stCondLst>
                                        </p:cTn>
                                        <p:tgtEl>
                                          <p:spTgt spid="3">
                                            <p:txEl>
                                              <p:pRg st="2" end="2"/>
                                            </p:txEl>
                                          </p:spTgt>
                                        </p:tgtEl>
                                      </p:cBhvr>
                                      <p:to x="100000" y="95000"/>
                                    </p:animScale>
                                    <p:animScale>
                                      <p:cBhvr>
                                        <p:cTn id="52" dur="166" decel="50000">
                                          <p:stCondLst>
                                            <p:cond delay="1834"/>
                                          </p:stCondLst>
                                        </p:cTn>
                                        <p:tgtEl>
                                          <p:spTgt spid="3">
                                            <p:txEl>
                                              <p:pRg st="2" end="2"/>
                                            </p:txEl>
                                          </p:spTgt>
                                        </p:tgtEl>
                                      </p:cBhvr>
                                      <p:to x="100000" y="100000"/>
                                    </p:animScale>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
                                            <p:txEl>
                                              <p:pRg st="3" end="3"/>
                                            </p:txEl>
                                          </p:spTgt>
                                        </p:tgtEl>
                                        <p:attrNameLst>
                                          <p:attrName>style.visibility</p:attrName>
                                        </p:attrNameLst>
                                      </p:cBhvr>
                                      <p:to>
                                        <p:strVal val="visible"/>
                                      </p:to>
                                    </p:set>
                                    <p:anim calcmode="lin" valueType="num">
                                      <p:cBhvr additive="base">
                                        <p:cTn id="5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3">
                                            <p:txEl>
                                              <p:pRg st="4" end="4"/>
                                            </p:txEl>
                                          </p:spTgt>
                                        </p:tgtEl>
                                        <p:attrNameLst>
                                          <p:attrName>style.visibility</p:attrName>
                                        </p:attrNameLst>
                                      </p:cBhvr>
                                      <p:to>
                                        <p:strVal val="visible"/>
                                      </p:to>
                                    </p:set>
                                    <p:anim calcmode="lin" valueType="num">
                                      <p:cBhvr additive="base">
                                        <p:cTn id="6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Signal‑Safe Logger (logger.asm)</a:t>
            </a:r>
            <a:endParaRPr lang="he-IL" dirty="0"/>
          </a:p>
        </p:txBody>
      </p:sp>
      <p:sp>
        <p:nvSpPr>
          <p:cNvPr id="3" name="מציין מיקום תוכן 2"/>
          <p:cNvSpPr>
            <a:spLocks noGrp="1"/>
          </p:cNvSpPr>
          <p:nvPr>
            <p:ph idx="1"/>
          </p:nvPr>
        </p:nvSpPr>
        <p:spPr/>
        <p:txBody>
          <a:bodyPr/>
          <a:lstStyle/>
          <a:p>
            <a:r>
              <a:rPr lang="he-IL" dirty="0"/>
              <a:t>רקע : </a:t>
            </a:r>
            <a:r>
              <a:rPr lang="en-US" dirty="0"/>
              <a:t> - Signal handler  </a:t>
            </a:r>
            <a:r>
              <a:rPr lang="he-IL" dirty="0"/>
              <a:t>מטפל אותות הוא פונקציה או קטע קוד מיוחד בתוכנית מחשב שמוגדר לפעול כאשר התוכנית מקבלת "אות"  מסוים ממערכת ההפעלה או מתהליך אחר. הוא מאפשר לתוכנית להגיב לאירועים אסינכרוניים כמו בקשת סגירה (</a:t>
            </a:r>
            <a:r>
              <a:rPr lang="en-US" dirty="0"/>
              <a:t>SIGINT </a:t>
            </a:r>
            <a:r>
              <a:rPr lang="he-IL" dirty="0"/>
              <a:t> או שגיאה) בצורה מותאמת אישית, במקום לסיים את פעולתה באופן </a:t>
            </a:r>
            <a:r>
              <a:rPr lang="he-IL" dirty="0" err="1"/>
              <a:t>מיידי</a:t>
            </a:r>
            <a:r>
              <a:rPr lang="he-IL" dirty="0"/>
              <a:t>.</a:t>
            </a:r>
          </a:p>
          <a:p>
            <a:r>
              <a:rPr lang="he-IL" dirty="0"/>
              <a:t>תפקיד: ביצוע פעולות ניקוי</a:t>
            </a:r>
            <a:r>
              <a:rPr lang="en-US" dirty="0"/>
              <a:t>, </a:t>
            </a:r>
            <a:r>
              <a:rPr lang="he-IL" dirty="0"/>
              <a:t>סגירת קבצים, שמירת נתונים, או התעלמות מאותות מסוימים לפני שהתוכנית ממשיכה או מסתיימת.</a:t>
            </a:r>
          </a:p>
          <a:p>
            <a:r>
              <a:rPr lang="he-IL" dirty="0"/>
              <a:t>אופן פעולה: כאשר אות מגיע, מערכת ההפעלה משעה זמנית את ביצוע התוכנית הראשית ומעבירה את השליטה ל-</a:t>
            </a:r>
            <a:r>
              <a:rPr lang="en-US" dirty="0"/>
              <a:t>Signal Handler.</a:t>
            </a:r>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34</a:t>
            </a:fld>
            <a:endParaRPr lang="he-IL"/>
          </a:p>
        </p:txBody>
      </p:sp>
    </p:spTree>
    <p:extLst>
      <p:ext uri="{BB962C8B-B14F-4D97-AF65-F5344CB8AC3E}">
        <p14:creationId xmlns:p14="http://schemas.microsoft.com/office/powerpoint/2010/main" val="119010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Signal‑Safe Logger (logger.asm)</a:t>
            </a:r>
            <a:endParaRPr lang="he-IL" dirty="0"/>
          </a:p>
        </p:txBody>
      </p:sp>
      <p:sp>
        <p:nvSpPr>
          <p:cNvPr id="3" name="מציין מיקום תוכן 2"/>
          <p:cNvSpPr>
            <a:spLocks noGrp="1"/>
          </p:cNvSpPr>
          <p:nvPr>
            <p:ph idx="1"/>
          </p:nvPr>
        </p:nvSpPr>
        <p:spPr/>
        <p:txBody>
          <a:bodyPr/>
          <a:lstStyle/>
          <a:p>
            <a:r>
              <a:rPr lang="he-IL" dirty="0"/>
              <a:t>בתכנית זו ניווכח לדעת:</a:t>
            </a:r>
          </a:p>
          <a:p>
            <a:r>
              <a:rPr lang="he-IL" dirty="0"/>
              <a:t>כיצד פסיקות או חריגות מעבירות שליטה </a:t>
            </a:r>
          </a:p>
          <a:p>
            <a:r>
              <a:rPr lang="he-IL" dirty="0"/>
              <a:t>נראה כיצד פסיקות </a:t>
            </a:r>
            <a:r>
              <a:rPr lang="en-US" dirty="0" err="1"/>
              <a:t>syscall</a:t>
            </a:r>
            <a:r>
              <a:rPr lang="he-IL" dirty="0"/>
              <a:t> נחשבות לבטוחות ביותר בתוך מטפל האותות</a:t>
            </a:r>
          </a:p>
          <a:p>
            <a:r>
              <a:rPr lang="he-IL" dirty="0"/>
              <a:t>כיצד המשתמש יוצר אינטראקציה עם גרעין מעה"פ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35</a:t>
            </a:fld>
            <a:endParaRPr lang="he-IL"/>
          </a:p>
        </p:txBody>
      </p:sp>
    </p:spTree>
    <p:extLst>
      <p:ext uri="{BB962C8B-B14F-4D97-AF65-F5344CB8AC3E}">
        <p14:creationId xmlns:p14="http://schemas.microsoft.com/office/powerpoint/2010/main" val="401345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The </a:t>
            </a:r>
            <a:r>
              <a:rPr lang="en-US" dirty="0" err="1"/>
              <a:t>struct</a:t>
            </a:r>
            <a:r>
              <a:rPr lang="en-US" dirty="0"/>
              <a:t> </a:t>
            </a:r>
            <a:r>
              <a:rPr lang="en-US" dirty="0" err="1"/>
              <a:t>signation</a:t>
            </a:r>
            <a:r>
              <a:rPr lang="en-US" dirty="0"/>
              <a:t> layout </a:t>
            </a:r>
            <a:endParaRPr lang="he-IL" dirty="0"/>
          </a:p>
        </p:txBody>
      </p:sp>
      <p:sp>
        <p:nvSpPr>
          <p:cNvPr id="3" name="מציין מיקום תוכן 2"/>
          <p:cNvSpPr>
            <a:spLocks noGrp="1"/>
          </p:cNvSpPr>
          <p:nvPr>
            <p:ph idx="1"/>
          </p:nvPr>
        </p:nvSpPr>
        <p:spPr/>
        <p:txBody>
          <a:bodyPr/>
          <a:lstStyle/>
          <a:p>
            <a:r>
              <a:rPr lang="he-IL" dirty="0"/>
              <a:t>במערכת לינוקס </a:t>
            </a:r>
            <a:r>
              <a:rPr lang="en-US" dirty="0" err="1"/>
              <a:t>struct</a:t>
            </a:r>
            <a:r>
              <a:rPr lang="en-US" dirty="0"/>
              <a:t> </a:t>
            </a:r>
            <a:r>
              <a:rPr lang="en-US" dirty="0" err="1"/>
              <a:t>signation</a:t>
            </a:r>
            <a:r>
              <a:rPr lang="he-IL" dirty="0"/>
              <a:t> בנוי מ 152 בתים :</a:t>
            </a:r>
            <a:r>
              <a:rPr lang="en-US" dirty="0"/>
              <a:t> </a:t>
            </a:r>
            <a:endParaRPr lang="he-IL" dirty="0"/>
          </a:p>
          <a:p>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36</a:t>
            </a:fld>
            <a:endParaRPr lang="he-IL"/>
          </a:p>
        </p:txBody>
      </p:sp>
      <p:pic>
        <p:nvPicPr>
          <p:cNvPr id="6" name="תמונה 5"/>
          <p:cNvPicPr>
            <a:picLocks noChangeAspect="1"/>
          </p:cNvPicPr>
          <p:nvPr/>
        </p:nvPicPr>
        <p:blipFill>
          <a:blip r:embed="rId2"/>
          <a:stretch>
            <a:fillRect/>
          </a:stretch>
        </p:blipFill>
        <p:spPr>
          <a:xfrm>
            <a:off x="1337378" y="3219926"/>
            <a:ext cx="8940323" cy="2702508"/>
          </a:xfrm>
          <a:prstGeom prst="rect">
            <a:avLst/>
          </a:prstGeom>
        </p:spPr>
      </p:pic>
    </p:spTree>
    <p:extLst>
      <p:ext uri="{BB962C8B-B14F-4D97-AF65-F5344CB8AC3E}">
        <p14:creationId xmlns:p14="http://schemas.microsoft.com/office/powerpoint/2010/main" val="572039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הסבר לאופן פעולתו של </a:t>
            </a:r>
            <a:r>
              <a:rPr lang="en-US" dirty="0"/>
              <a:t>rt_sigaction</a:t>
            </a:r>
            <a:endParaRPr lang="he-IL" dirty="0"/>
          </a:p>
        </p:txBody>
      </p:sp>
      <p:sp>
        <p:nvSpPr>
          <p:cNvPr id="3" name="מציין מיקום תוכן 2"/>
          <p:cNvSpPr>
            <a:spLocks noGrp="1"/>
          </p:cNvSpPr>
          <p:nvPr>
            <p:ph idx="1"/>
          </p:nvPr>
        </p:nvSpPr>
        <p:spPr/>
        <p:txBody>
          <a:bodyPr/>
          <a:lstStyle/>
          <a:p>
            <a:r>
              <a:rPr lang="he-IL" dirty="0"/>
              <a:t>כדי לומר לגרעין " כאשר מגיע אות </a:t>
            </a:r>
            <a:r>
              <a:rPr lang="en-US" dirty="0"/>
              <a:t>SIGINT </a:t>
            </a:r>
            <a:r>
              <a:rPr lang="he-IL" dirty="0"/>
              <a:t> , קפוץ אל מטפל האותות ", נשתמש בקוד 13 של </a:t>
            </a:r>
            <a:r>
              <a:rPr lang="en-US" dirty="0" err="1"/>
              <a:t>syscall</a:t>
            </a:r>
            <a:r>
              <a:rPr lang="en-US" dirty="0"/>
              <a:t> </a:t>
            </a:r>
            <a:r>
              <a:rPr lang="he-IL" dirty="0"/>
              <a:t> שהוא </a:t>
            </a:r>
            <a:r>
              <a:rPr lang="en-US" dirty="0" err="1"/>
              <a:t>sigaction</a:t>
            </a:r>
            <a:endParaRPr lang="he-IL" dirty="0"/>
          </a:p>
          <a:p>
            <a:r>
              <a:rPr lang="he-IL" dirty="0"/>
              <a:t>ההכנה מתבצעת כך </a:t>
            </a:r>
          </a:p>
          <a:p>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37</a:t>
            </a:fld>
            <a:endParaRPr lang="he-IL"/>
          </a:p>
        </p:txBody>
      </p:sp>
      <p:pic>
        <p:nvPicPr>
          <p:cNvPr id="6" name="תמונה 5"/>
          <p:cNvPicPr>
            <a:picLocks noChangeAspect="1"/>
          </p:cNvPicPr>
          <p:nvPr/>
        </p:nvPicPr>
        <p:blipFill>
          <a:blip r:embed="rId2"/>
          <a:stretch>
            <a:fillRect/>
          </a:stretch>
        </p:blipFill>
        <p:spPr>
          <a:xfrm>
            <a:off x="1122587" y="3743330"/>
            <a:ext cx="7033861" cy="2365369"/>
          </a:xfrm>
          <a:prstGeom prst="rect">
            <a:avLst/>
          </a:prstGeom>
        </p:spPr>
      </p:pic>
    </p:spTree>
    <p:extLst>
      <p:ext uri="{BB962C8B-B14F-4D97-AF65-F5344CB8AC3E}">
        <p14:creationId xmlns:p14="http://schemas.microsoft.com/office/powerpoint/2010/main" val="481079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Signal‑Safe Logger (logger.asm)</a:t>
            </a:r>
            <a:endParaRPr lang="he-IL" dirty="0"/>
          </a:p>
        </p:txBody>
      </p:sp>
      <p:sp>
        <p:nvSpPr>
          <p:cNvPr id="3" name="מציין מיקום תוכן 2"/>
          <p:cNvSpPr>
            <a:spLocks noGrp="1"/>
          </p:cNvSpPr>
          <p:nvPr>
            <p:ph idx="1"/>
          </p:nvPr>
        </p:nvSpPr>
        <p:spPr/>
        <p:txBody>
          <a:bodyPr/>
          <a:lstStyle/>
          <a:p>
            <a:r>
              <a:rPr lang="he-IL" dirty="0"/>
              <a:t>ה </a:t>
            </a:r>
            <a:r>
              <a:rPr lang="en-US" dirty="0"/>
              <a:t>handler</a:t>
            </a:r>
            <a:r>
              <a:rPr lang="he-IL" dirty="0"/>
              <a:t> הוא אסינכרוני   - רץ בכל רגע נתון</a:t>
            </a:r>
          </a:p>
          <a:p>
            <a:r>
              <a:rPr lang="he-IL" dirty="0"/>
              <a:t>רק פסיקות אסינכרוניות בטוחות כגון </a:t>
            </a:r>
            <a:r>
              <a:rPr lang="en-US" dirty="0"/>
              <a:t>write</a:t>
            </a:r>
            <a:r>
              <a:rPr lang="he-IL" dirty="0"/>
              <a:t> מורשות לרוץ.</a:t>
            </a:r>
          </a:p>
          <a:p>
            <a:r>
              <a:rPr lang="he-IL" dirty="0"/>
              <a:t>הגרעין מפסיק את הביצוע הרציף של התכנית באמצעות פסיקה  וקופץ אל קטע זה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38</a:t>
            </a:fld>
            <a:endParaRPr lang="he-IL"/>
          </a:p>
        </p:txBody>
      </p:sp>
    </p:spTree>
    <p:extLst>
      <p:ext uri="{BB962C8B-B14F-4D97-AF65-F5344CB8AC3E}">
        <p14:creationId xmlns:p14="http://schemas.microsoft.com/office/powerpoint/2010/main" val="764093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Signal‑Safe Logger (logger.asm)</a:t>
            </a:r>
            <a:endParaRPr lang="he-IL" dirty="0"/>
          </a:p>
        </p:txBody>
      </p:sp>
      <p:sp>
        <p:nvSpPr>
          <p:cNvPr id="3" name="מציין מיקום תוכן 2"/>
          <p:cNvSpPr>
            <a:spLocks noGrp="1"/>
          </p:cNvSpPr>
          <p:nvPr>
            <p:ph idx="1"/>
          </p:nvPr>
        </p:nvSpPr>
        <p:spPr/>
        <p:txBody>
          <a:bodyPr/>
          <a:lstStyle/>
          <a:p>
            <a:r>
              <a:rPr lang="he-IL" dirty="0"/>
              <a:t>נגדיר את הפונקציה של מטפל האותות : </a:t>
            </a:r>
          </a:p>
          <a:p>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39</a:t>
            </a:fld>
            <a:endParaRPr lang="he-IL"/>
          </a:p>
        </p:txBody>
      </p:sp>
      <p:pic>
        <p:nvPicPr>
          <p:cNvPr id="8" name="תמונה 7">
            <a:extLst>
              <a:ext uri="{FF2B5EF4-FFF2-40B4-BE49-F238E27FC236}">
                <a16:creationId xmlns:a16="http://schemas.microsoft.com/office/drawing/2014/main" id="{3881524D-A732-2E64-74B7-91C2044172A0}"/>
              </a:ext>
            </a:extLst>
          </p:cNvPr>
          <p:cNvPicPr>
            <a:picLocks noChangeAspect="1"/>
          </p:cNvPicPr>
          <p:nvPr/>
        </p:nvPicPr>
        <p:blipFill>
          <a:blip r:embed="rId2"/>
          <a:stretch>
            <a:fillRect/>
          </a:stretch>
        </p:blipFill>
        <p:spPr>
          <a:xfrm>
            <a:off x="1295401" y="3151825"/>
            <a:ext cx="8821381" cy="2457793"/>
          </a:xfrm>
          <a:prstGeom prst="rect">
            <a:avLst/>
          </a:prstGeom>
        </p:spPr>
      </p:pic>
    </p:spTree>
    <p:extLst>
      <p:ext uri="{BB962C8B-B14F-4D97-AF65-F5344CB8AC3E}">
        <p14:creationId xmlns:p14="http://schemas.microsoft.com/office/powerpoint/2010/main" val="22893064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חלק ראשון של  </a:t>
            </a:r>
            <a:r>
              <a:rPr lang="en-US" dirty="0"/>
              <a:t>rt_sigaction</a:t>
            </a:r>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40</a:t>
            </a:fld>
            <a:endParaRPr lang="he-IL"/>
          </a:p>
        </p:txBody>
      </p:sp>
      <p:pic>
        <p:nvPicPr>
          <p:cNvPr id="9" name="תמונה 8">
            <a:extLst>
              <a:ext uri="{FF2B5EF4-FFF2-40B4-BE49-F238E27FC236}">
                <a16:creationId xmlns:a16="http://schemas.microsoft.com/office/drawing/2014/main" id="{A2261A82-4DCF-2B69-F22D-09F982D2F432}"/>
              </a:ext>
            </a:extLst>
          </p:cNvPr>
          <p:cNvPicPr>
            <a:picLocks noChangeAspect="1"/>
          </p:cNvPicPr>
          <p:nvPr/>
        </p:nvPicPr>
        <p:blipFill>
          <a:blip r:embed="rId2"/>
          <a:stretch>
            <a:fillRect/>
          </a:stretch>
        </p:blipFill>
        <p:spPr>
          <a:xfrm>
            <a:off x="1295403" y="2563937"/>
            <a:ext cx="5403978" cy="3609916"/>
          </a:xfrm>
          <a:prstGeom prst="rect">
            <a:avLst/>
          </a:prstGeom>
        </p:spPr>
      </p:pic>
    </p:spTree>
    <p:extLst>
      <p:ext uri="{BB962C8B-B14F-4D97-AF65-F5344CB8AC3E}">
        <p14:creationId xmlns:p14="http://schemas.microsoft.com/office/powerpoint/2010/main" val="16336326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חלק שני של </a:t>
            </a:r>
            <a:r>
              <a:rPr lang="en-US" dirty="0"/>
              <a:t>rt_sigaction</a:t>
            </a:r>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41</a:t>
            </a:fld>
            <a:endParaRPr lang="he-IL"/>
          </a:p>
        </p:txBody>
      </p:sp>
      <p:pic>
        <p:nvPicPr>
          <p:cNvPr id="6" name="תמונה 5">
            <a:extLst>
              <a:ext uri="{FF2B5EF4-FFF2-40B4-BE49-F238E27FC236}">
                <a16:creationId xmlns:a16="http://schemas.microsoft.com/office/drawing/2014/main" id="{EE6EB639-665D-47A2-F52F-710B02A10A8C}"/>
              </a:ext>
            </a:extLst>
          </p:cNvPr>
          <p:cNvPicPr>
            <a:picLocks noChangeAspect="1"/>
          </p:cNvPicPr>
          <p:nvPr/>
        </p:nvPicPr>
        <p:blipFill>
          <a:blip r:embed="rId2"/>
          <a:stretch>
            <a:fillRect/>
          </a:stretch>
        </p:blipFill>
        <p:spPr>
          <a:xfrm>
            <a:off x="1366241" y="2497479"/>
            <a:ext cx="6900681" cy="3715751"/>
          </a:xfrm>
          <a:prstGeom prst="rect">
            <a:avLst/>
          </a:prstGeom>
        </p:spPr>
      </p:pic>
    </p:spTree>
    <p:extLst>
      <p:ext uri="{BB962C8B-B14F-4D97-AF65-F5344CB8AC3E}">
        <p14:creationId xmlns:p14="http://schemas.microsoft.com/office/powerpoint/2010/main" val="2890123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חלק שלישי של </a:t>
            </a:r>
            <a:r>
              <a:rPr lang="en-US" dirty="0"/>
              <a:t>rt_sigaction</a:t>
            </a:r>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42</a:t>
            </a:fld>
            <a:endParaRPr lang="he-IL"/>
          </a:p>
        </p:txBody>
      </p:sp>
      <p:sp>
        <p:nvSpPr>
          <p:cNvPr id="10" name="מציין מיקום תוכן 2"/>
          <p:cNvSpPr>
            <a:spLocks noGrp="1"/>
          </p:cNvSpPr>
          <p:nvPr>
            <p:ph idx="1"/>
          </p:nvPr>
        </p:nvSpPr>
        <p:spPr>
          <a:xfrm>
            <a:off x="1295401" y="2556932"/>
            <a:ext cx="9601196" cy="3318936"/>
          </a:xfrm>
        </p:spPr>
        <p:txBody>
          <a:bodyPr/>
          <a:lstStyle/>
          <a:p>
            <a:r>
              <a:rPr lang="he-IL" dirty="0"/>
              <a:t>זהו החלק החשוב ביותר בתכנית: הוא אומר לגרעין  :  "כאשר מתקבל אות </a:t>
            </a:r>
            <a:r>
              <a:rPr lang="en-US" dirty="0"/>
              <a:t>SIGINT </a:t>
            </a:r>
            <a:r>
              <a:rPr lang="he-IL" dirty="0"/>
              <a:t> קפוץ אל השגרה לטיפול באותות שהגדרתי"</a:t>
            </a:r>
          </a:p>
          <a:p>
            <a:pPr algn="l" rtl="0"/>
            <a:endParaRPr lang="he-IL" dirty="0"/>
          </a:p>
        </p:txBody>
      </p:sp>
      <p:pic>
        <p:nvPicPr>
          <p:cNvPr id="6" name="תמונה 5">
            <a:extLst>
              <a:ext uri="{FF2B5EF4-FFF2-40B4-BE49-F238E27FC236}">
                <a16:creationId xmlns:a16="http://schemas.microsoft.com/office/drawing/2014/main" id="{EE4A300B-F6E2-BD14-F4C5-31137BF61C58}"/>
              </a:ext>
            </a:extLst>
          </p:cNvPr>
          <p:cNvPicPr>
            <a:picLocks noChangeAspect="1"/>
          </p:cNvPicPr>
          <p:nvPr/>
        </p:nvPicPr>
        <p:blipFill>
          <a:blip r:embed="rId2"/>
          <a:stretch>
            <a:fillRect/>
          </a:stretch>
        </p:blipFill>
        <p:spPr>
          <a:xfrm>
            <a:off x="1295401" y="3429000"/>
            <a:ext cx="8611802" cy="2229161"/>
          </a:xfrm>
          <a:prstGeom prst="rect">
            <a:avLst/>
          </a:prstGeom>
        </p:spPr>
      </p:pic>
    </p:spTree>
    <p:extLst>
      <p:ext uri="{BB962C8B-B14F-4D97-AF65-F5344CB8AC3E}">
        <p14:creationId xmlns:p14="http://schemas.microsoft.com/office/powerpoint/2010/main" val="98312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המשך תכנית </a:t>
            </a:r>
          </a:p>
        </p:txBody>
      </p:sp>
      <p:sp>
        <p:nvSpPr>
          <p:cNvPr id="3" name="מציין מיקום תוכן 2"/>
          <p:cNvSpPr>
            <a:spLocks noGrp="1"/>
          </p:cNvSpPr>
          <p:nvPr>
            <p:ph idx="1"/>
          </p:nvPr>
        </p:nvSpPr>
        <p:spPr/>
        <p:txBody>
          <a:bodyPr/>
          <a:lstStyle/>
          <a:p>
            <a:r>
              <a:rPr lang="he-IL" dirty="0"/>
              <a:t>הלולאה הראשית פשוטה מאוד :</a:t>
            </a:r>
            <a:r>
              <a:rPr lang="en-US" dirty="0"/>
              <a:t> </a:t>
            </a:r>
            <a:endParaRPr lang="he-IL" dirty="0"/>
          </a:p>
          <a:p>
            <a:pPr algn="l" rtl="0"/>
            <a:r>
              <a:rPr lang="en-US" b="1" dirty="0"/>
              <a:t>.wait:   </a:t>
            </a:r>
          </a:p>
          <a:p>
            <a:pPr algn="l" rtl="0"/>
            <a:r>
              <a:rPr lang="en-US" b="1" dirty="0"/>
              <a:t>    </a:t>
            </a:r>
            <a:r>
              <a:rPr lang="en-US" b="1" dirty="0" err="1"/>
              <a:t>jmp</a:t>
            </a:r>
            <a:r>
              <a:rPr lang="en-US" b="1" dirty="0"/>
              <a:t> .wait</a:t>
            </a:r>
          </a:p>
          <a:p>
            <a:pPr algn="r"/>
            <a:r>
              <a:rPr lang="he-IL" dirty="0"/>
              <a:t>כלומר זוהי לולאה אינסופית אשר ממתינה ל </a:t>
            </a:r>
            <a:r>
              <a:rPr lang="en-US" dirty="0"/>
              <a:t>CTRL+C</a:t>
            </a:r>
            <a:r>
              <a:rPr lang="he-IL" dirty="0"/>
              <a:t> אשר קוטעת את הלולאה האינסופית  ועוברת לטפל במטפל האותות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43</a:t>
            </a:fld>
            <a:endParaRPr lang="he-IL"/>
          </a:p>
        </p:txBody>
      </p:sp>
    </p:spTree>
    <p:extLst>
      <p:ext uri="{BB962C8B-B14F-4D97-AF65-F5344CB8AC3E}">
        <p14:creationId xmlns:p14="http://schemas.microsoft.com/office/powerpoint/2010/main" val="91225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r>
              <a:rPr lang="en-US" dirty="0"/>
              <a:t>Install the handler using rt_sigaction</a:t>
            </a:r>
            <a:endParaRPr lang="he-IL" dirty="0"/>
          </a:p>
        </p:txBody>
      </p:sp>
      <p:sp>
        <p:nvSpPr>
          <p:cNvPr id="3" name="מציין מיקום תוכן 2"/>
          <p:cNvSpPr>
            <a:spLocks noGrp="1"/>
          </p:cNvSpPr>
          <p:nvPr>
            <p:ph idx="1"/>
          </p:nvPr>
        </p:nvSpPr>
        <p:spPr/>
        <p:txBody>
          <a:bodyPr>
            <a:normAutofit lnSpcReduction="10000"/>
          </a:bodyPr>
          <a:lstStyle/>
          <a:p>
            <a:r>
              <a:rPr lang="he-IL" dirty="0"/>
              <a:t>כדי לטפל באותות כגון </a:t>
            </a:r>
            <a:r>
              <a:rPr lang="en-US" dirty="0" err="1"/>
              <a:t>sigaction</a:t>
            </a:r>
            <a:r>
              <a:rPr lang="he-IL" dirty="0"/>
              <a:t> מוגדרת רשומה בזיכרון. כדי להכווין את התכנית אל הרשומה בזיכרון מבצעים את הפקודה הבאה :</a:t>
            </a:r>
            <a:r>
              <a:rPr lang="en-US" dirty="0"/>
              <a:t> </a:t>
            </a:r>
            <a:r>
              <a:rPr lang="en-US" b="1" dirty="0"/>
              <a:t>lea </a:t>
            </a:r>
            <a:r>
              <a:rPr lang="en-US" b="1" dirty="0" err="1"/>
              <a:t>rdi</a:t>
            </a:r>
            <a:r>
              <a:rPr lang="en-US" b="1" dirty="0"/>
              <a:t>, [</a:t>
            </a:r>
            <a:r>
              <a:rPr lang="en-US" b="1" dirty="0" err="1"/>
              <a:t>rel</a:t>
            </a:r>
            <a:r>
              <a:rPr lang="en-US" b="1" dirty="0"/>
              <a:t> </a:t>
            </a:r>
            <a:r>
              <a:rPr lang="en-US" b="1" dirty="0" err="1"/>
              <a:t>sa</a:t>
            </a:r>
            <a:r>
              <a:rPr lang="en-US" b="1" dirty="0"/>
              <a:t>]</a:t>
            </a:r>
            <a:r>
              <a:rPr lang="he-IL" b="1" dirty="0"/>
              <a:t>  </a:t>
            </a:r>
            <a:r>
              <a:rPr lang="he-IL" dirty="0"/>
              <a:t>אשר מכווינה את הכתובת של הרשומה אל </a:t>
            </a:r>
            <a:r>
              <a:rPr lang="en-US" dirty="0" err="1"/>
              <a:t>rdi</a:t>
            </a:r>
            <a:r>
              <a:rPr lang="he-IL" dirty="0"/>
              <a:t> </a:t>
            </a:r>
          </a:p>
          <a:p>
            <a:r>
              <a:rPr lang="he-IL" b="1" dirty="0"/>
              <a:t>הפקודה  </a:t>
            </a:r>
            <a:r>
              <a:rPr lang="en-US" b="1" dirty="0"/>
              <a:t>lea </a:t>
            </a:r>
            <a:r>
              <a:rPr lang="en-US" b="1" dirty="0" err="1"/>
              <a:t>rsi</a:t>
            </a:r>
            <a:r>
              <a:rPr lang="en-US" b="1" dirty="0"/>
              <a:t>, [</a:t>
            </a:r>
            <a:r>
              <a:rPr lang="en-US" b="1" dirty="0" err="1"/>
              <a:t>rel</a:t>
            </a:r>
            <a:r>
              <a:rPr lang="en-US" b="1" dirty="0"/>
              <a:t> </a:t>
            </a:r>
            <a:r>
              <a:rPr lang="en-US" b="1" dirty="0" err="1"/>
              <a:t>sa</a:t>
            </a:r>
            <a:r>
              <a:rPr lang="en-US" b="1" dirty="0"/>
              <a:t>]</a:t>
            </a:r>
            <a:r>
              <a:rPr lang="he-IL" b="1" dirty="0"/>
              <a:t> </a:t>
            </a:r>
            <a:r>
              <a:rPr lang="he-IL" dirty="0"/>
              <a:t>גורמת לגרעין לקרוא את הכתובת של מטפל האותות ,  את הדגלים ואת </a:t>
            </a:r>
            <a:r>
              <a:rPr lang="he-IL" dirty="0" err="1"/>
              <a:t>המסיכה</a:t>
            </a:r>
            <a:r>
              <a:rPr lang="he-IL" dirty="0"/>
              <a:t> </a:t>
            </a:r>
          </a:p>
          <a:p>
            <a:r>
              <a:rPr lang="he-IL" dirty="0"/>
              <a:t>הפקודה</a:t>
            </a:r>
            <a:r>
              <a:rPr lang="he-IL" b="1" dirty="0"/>
              <a:t> </a:t>
            </a:r>
            <a:r>
              <a:rPr lang="en-US" b="1" dirty="0" err="1"/>
              <a:t>mov</a:t>
            </a:r>
            <a:r>
              <a:rPr lang="en-US" b="1" dirty="0"/>
              <a:t> </a:t>
            </a:r>
            <a:r>
              <a:rPr lang="en-US" b="1" dirty="0" err="1"/>
              <a:t>rax</a:t>
            </a:r>
            <a:r>
              <a:rPr lang="en-US" b="1" dirty="0"/>
              <a:t>, 13 </a:t>
            </a:r>
            <a:r>
              <a:rPr lang="he-IL" b="1" dirty="0"/>
              <a:t> </a:t>
            </a:r>
            <a:r>
              <a:rPr lang="he-IL" dirty="0"/>
              <a:t>קובעת קוד 13 עבור </a:t>
            </a:r>
            <a:r>
              <a:rPr lang="en-US" dirty="0" err="1"/>
              <a:t>syscall</a:t>
            </a:r>
            <a:r>
              <a:rPr lang="he-IL" dirty="0"/>
              <a:t> לצורך עבודה עם </a:t>
            </a:r>
            <a:r>
              <a:rPr lang="en-US" dirty="0" err="1"/>
              <a:t>sigation</a:t>
            </a:r>
            <a:r>
              <a:rPr lang="he-IL" dirty="0"/>
              <a:t> </a:t>
            </a:r>
          </a:p>
          <a:p>
            <a:r>
              <a:rPr lang="he-IL" b="1" dirty="0"/>
              <a:t>הפקודה </a:t>
            </a:r>
            <a:r>
              <a:rPr lang="en-US" b="1" dirty="0" err="1"/>
              <a:t>mov</a:t>
            </a:r>
            <a:r>
              <a:rPr lang="en-US" b="1" dirty="0"/>
              <a:t> </a:t>
            </a:r>
            <a:r>
              <a:rPr lang="en-US" b="1" dirty="0" err="1"/>
              <a:t>rdi</a:t>
            </a:r>
            <a:r>
              <a:rPr lang="en-US" b="1" dirty="0"/>
              <a:t>, 2</a:t>
            </a:r>
            <a:r>
              <a:rPr lang="he-IL" b="1" dirty="0"/>
              <a:t> </a:t>
            </a:r>
            <a:r>
              <a:rPr lang="he-IL" dirty="0"/>
              <a:t>מכינה אות של </a:t>
            </a:r>
            <a:r>
              <a:rPr lang="en-US" dirty="0"/>
              <a:t>CTRL+C</a:t>
            </a:r>
            <a:r>
              <a:rPr lang="he-IL" dirty="0"/>
              <a:t> (זהו ה </a:t>
            </a:r>
            <a:r>
              <a:rPr lang="en-US" dirty="0"/>
              <a:t>SIGINT</a:t>
            </a:r>
            <a:r>
              <a:rPr lang="he-IL" dirty="0"/>
              <a:t> )  והוא אומר לגרעין : "אני רוצה להתקין את מטפל האותות עבור </a:t>
            </a:r>
            <a:r>
              <a:rPr lang="en-US" dirty="0"/>
              <a:t>SIGINT</a:t>
            </a:r>
            <a:r>
              <a:rPr lang="he-IL" dirty="0"/>
              <a:t>"</a:t>
            </a:r>
          </a:p>
          <a:p>
            <a:pPr algn="l" rtl="0"/>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44</a:t>
            </a:fld>
            <a:endParaRPr lang="he-IL"/>
          </a:p>
        </p:txBody>
      </p:sp>
    </p:spTree>
    <p:extLst>
      <p:ext uri="{BB962C8B-B14F-4D97-AF65-F5344CB8AC3E}">
        <p14:creationId xmlns:p14="http://schemas.microsoft.com/office/powerpoint/2010/main" val="164025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החלק של מטפל האותות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45</a:t>
            </a:fld>
            <a:endParaRPr lang="he-IL"/>
          </a:p>
        </p:txBody>
      </p:sp>
      <p:sp>
        <p:nvSpPr>
          <p:cNvPr id="9" name="מציין מיקום תוכן 8"/>
          <p:cNvSpPr>
            <a:spLocks noGrp="1"/>
          </p:cNvSpPr>
          <p:nvPr>
            <p:ph idx="1"/>
          </p:nvPr>
        </p:nvSpPr>
        <p:spPr/>
        <p:txBody>
          <a:bodyPr/>
          <a:lstStyle/>
          <a:p>
            <a:r>
              <a:rPr lang="he-IL" dirty="0"/>
              <a:t>מטפל האותות מסתיים בפקודת </a:t>
            </a:r>
            <a:r>
              <a:rPr lang="en-US" dirty="0"/>
              <a:t>ret</a:t>
            </a:r>
            <a:r>
              <a:rPr lang="he-IL" dirty="0"/>
              <a:t> ואז קוראים ל</a:t>
            </a:r>
            <a:r>
              <a:rPr lang="en-US" dirty="0"/>
              <a:t> </a:t>
            </a:r>
            <a:r>
              <a:rPr lang="en-US" dirty="0" err="1"/>
              <a:t>sigreturn</a:t>
            </a:r>
            <a:r>
              <a:rPr lang="he-IL" dirty="0"/>
              <a:t> שמחזיר אותנו לתוכנית הראשית</a:t>
            </a:r>
          </a:p>
        </p:txBody>
      </p:sp>
      <p:pic>
        <p:nvPicPr>
          <p:cNvPr id="6" name="תמונה 5">
            <a:extLst>
              <a:ext uri="{FF2B5EF4-FFF2-40B4-BE49-F238E27FC236}">
                <a16:creationId xmlns:a16="http://schemas.microsoft.com/office/drawing/2014/main" id="{3BEFFC44-89D5-96FD-E429-1A9112E18929}"/>
              </a:ext>
            </a:extLst>
          </p:cNvPr>
          <p:cNvPicPr>
            <a:picLocks noChangeAspect="1"/>
          </p:cNvPicPr>
          <p:nvPr/>
        </p:nvPicPr>
        <p:blipFill>
          <a:blip r:embed="rId2"/>
          <a:stretch>
            <a:fillRect/>
          </a:stretch>
        </p:blipFill>
        <p:spPr>
          <a:xfrm>
            <a:off x="2042747" y="3584677"/>
            <a:ext cx="3391373" cy="2048161"/>
          </a:xfrm>
          <a:prstGeom prst="rect">
            <a:avLst/>
          </a:prstGeom>
        </p:spPr>
      </p:pic>
    </p:spTree>
    <p:extLst>
      <p:ext uri="{BB962C8B-B14F-4D97-AF65-F5344CB8AC3E}">
        <p14:creationId xmlns:p14="http://schemas.microsoft.com/office/powerpoint/2010/main" val="21405195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r>
              <a:rPr lang="he-IL" dirty="0"/>
              <a:t>הסבר לאופן פעולתו של </a:t>
            </a:r>
            <a:r>
              <a:rPr lang="en-US" dirty="0"/>
              <a:t>rt_sigaction</a:t>
            </a:r>
            <a:endParaRPr lang="he-IL" dirty="0"/>
          </a:p>
        </p:txBody>
      </p:sp>
      <p:sp>
        <p:nvSpPr>
          <p:cNvPr id="3" name="מציין מיקום תוכן 2"/>
          <p:cNvSpPr>
            <a:spLocks noGrp="1"/>
          </p:cNvSpPr>
          <p:nvPr>
            <p:ph idx="1"/>
          </p:nvPr>
        </p:nvSpPr>
        <p:spPr/>
        <p:txBody>
          <a:bodyPr>
            <a:normAutofit/>
          </a:bodyPr>
          <a:lstStyle/>
          <a:p>
            <a:r>
              <a:rPr lang="he-IL" dirty="0"/>
              <a:t>הפקודה </a:t>
            </a:r>
            <a:r>
              <a:rPr lang="en-US" b="1" dirty="0" err="1"/>
              <a:t>mov</a:t>
            </a:r>
            <a:r>
              <a:rPr lang="en-US" b="1" dirty="0"/>
              <a:t> qword [</a:t>
            </a:r>
            <a:r>
              <a:rPr lang="en-US" b="1" dirty="0" err="1"/>
              <a:t>sa</a:t>
            </a:r>
            <a:r>
              <a:rPr lang="en-US" b="1" dirty="0"/>
              <a:t>], </a:t>
            </a:r>
            <a:r>
              <a:rPr lang="en-US" b="1" dirty="0" err="1"/>
              <a:t>sigint_handler</a:t>
            </a:r>
            <a:r>
              <a:rPr lang="he-IL" b="1" dirty="0"/>
              <a:t> </a:t>
            </a:r>
            <a:r>
              <a:rPr lang="he-IL" dirty="0"/>
              <a:t> אומרת לגרעין כי  "כאשר מתקבל אות </a:t>
            </a:r>
            <a:r>
              <a:rPr lang="en-US" dirty="0"/>
              <a:t>SIGINT  </a:t>
            </a:r>
            <a:r>
              <a:rPr lang="he-IL" dirty="0"/>
              <a:t> קפוץ אל השגרה לטיפול באותות". </a:t>
            </a:r>
          </a:p>
          <a:p>
            <a:r>
              <a:rPr lang="he-IL" dirty="0"/>
              <a:t>שורות הקוד הבאות מטפלות בדגלים – על מנת לציין לגרעין כי ישתמש במשחזר ברירת המחדל שלו :</a:t>
            </a:r>
            <a:r>
              <a:rPr lang="en-US" dirty="0"/>
              <a:t> </a:t>
            </a:r>
            <a:endParaRPr lang="he-IL" dirty="0"/>
          </a:p>
          <a:p>
            <a:pPr algn="l" rtl="0"/>
            <a:r>
              <a:rPr lang="nb-NO" b="1" dirty="0"/>
              <a:t>mov qword [sa+8], 0x04000000     ; SA_RESTORER</a:t>
            </a:r>
          </a:p>
          <a:p>
            <a:pPr algn="l" rtl="0"/>
            <a:r>
              <a:rPr lang="nb-NO" b="1" dirty="0"/>
              <a:t>mov qword [sa+16], restorer      ; pointer to restorer</a:t>
            </a:r>
            <a:endParaRPr lang="he-IL" b="1"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46</a:t>
            </a:fld>
            <a:endParaRPr lang="he-IL"/>
          </a:p>
        </p:txBody>
      </p:sp>
    </p:spTree>
    <p:extLst>
      <p:ext uri="{BB962C8B-B14F-4D97-AF65-F5344CB8AC3E}">
        <p14:creationId xmlns:p14="http://schemas.microsoft.com/office/powerpoint/2010/main" val="106925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down)">
                                      <p:cBhvr>
                                        <p:cTn id="19" dur="580">
                                          <p:stCondLst>
                                            <p:cond delay="0"/>
                                          </p:stCondLst>
                                        </p:cTn>
                                        <p:tgtEl>
                                          <p:spTgt spid="3">
                                            <p:txEl>
                                              <p:pRg st="2" end="2"/>
                                            </p:txEl>
                                          </p:spTgt>
                                        </p:tgtEl>
                                      </p:cBhvr>
                                    </p:animEffect>
                                    <p:anim calcmode="lin" valueType="num">
                                      <p:cBhvr>
                                        <p:cTn id="2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5" dur="26">
                                          <p:stCondLst>
                                            <p:cond delay="650"/>
                                          </p:stCondLst>
                                        </p:cTn>
                                        <p:tgtEl>
                                          <p:spTgt spid="3">
                                            <p:txEl>
                                              <p:pRg st="2" end="2"/>
                                            </p:txEl>
                                          </p:spTgt>
                                        </p:tgtEl>
                                      </p:cBhvr>
                                      <p:to x="100000" y="60000"/>
                                    </p:animScale>
                                    <p:animScale>
                                      <p:cBhvr>
                                        <p:cTn id="26" dur="166" decel="50000">
                                          <p:stCondLst>
                                            <p:cond delay="676"/>
                                          </p:stCondLst>
                                        </p:cTn>
                                        <p:tgtEl>
                                          <p:spTgt spid="3">
                                            <p:txEl>
                                              <p:pRg st="2" end="2"/>
                                            </p:txEl>
                                          </p:spTgt>
                                        </p:tgtEl>
                                      </p:cBhvr>
                                      <p:to x="100000" y="100000"/>
                                    </p:animScale>
                                    <p:animScale>
                                      <p:cBhvr>
                                        <p:cTn id="27" dur="26">
                                          <p:stCondLst>
                                            <p:cond delay="1312"/>
                                          </p:stCondLst>
                                        </p:cTn>
                                        <p:tgtEl>
                                          <p:spTgt spid="3">
                                            <p:txEl>
                                              <p:pRg st="2" end="2"/>
                                            </p:txEl>
                                          </p:spTgt>
                                        </p:tgtEl>
                                      </p:cBhvr>
                                      <p:to x="100000" y="80000"/>
                                    </p:animScale>
                                    <p:animScale>
                                      <p:cBhvr>
                                        <p:cTn id="28" dur="166" decel="50000">
                                          <p:stCondLst>
                                            <p:cond delay="1338"/>
                                          </p:stCondLst>
                                        </p:cTn>
                                        <p:tgtEl>
                                          <p:spTgt spid="3">
                                            <p:txEl>
                                              <p:pRg st="2" end="2"/>
                                            </p:txEl>
                                          </p:spTgt>
                                        </p:tgtEl>
                                      </p:cBhvr>
                                      <p:to x="100000" y="100000"/>
                                    </p:animScale>
                                    <p:animScale>
                                      <p:cBhvr>
                                        <p:cTn id="29" dur="26">
                                          <p:stCondLst>
                                            <p:cond delay="1642"/>
                                          </p:stCondLst>
                                        </p:cTn>
                                        <p:tgtEl>
                                          <p:spTgt spid="3">
                                            <p:txEl>
                                              <p:pRg st="2" end="2"/>
                                            </p:txEl>
                                          </p:spTgt>
                                        </p:tgtEl>
                                      </p:cBhvr>
                                      <p:to x="100000" y="90000"/>
                                    </p:animScale>
                                    <p:animScale>
                                      <p:cBhvr>
                                        <p:cTn id="30" dur="166" decel="50000">
                                          <p:stCondLst>
                                            <p:cond delay="1668"/>
                                          </p:stCondLst>
                                        </p:cTn>
                                        <p:tgtEl>
                                          <p:spTgt spid="3">
                                            <p:txEl>
                                              <p:pRg st="2" end="2"/>
                                            </p:txEl>
                                          </p:spTgt>
                                        </p:tgtEl>
                                      </p:cBhvr>
                                      <p:to x="100000" y="100000"/>
                                    </p:animScale>
                                    <p:animScale>
                                      <p:cBhvr>
                                        <p:cTn id="31" dur="26">
                                          <p:stCondLst>
                                            <p:cond delay="1808"/>
                                          </p:stCondLst>
                                        </p:cTn>
                                        <p:tgtEl>
                                          <p:spTgt spid="3">
                                            <p:txEl>
                                              <p:pRg st="2" end="2"/>
                                            </p:txEl>
                                          </p:spTgt>
                                        </p:tgtEl>
                                      </p:cBhvr>
                                      <p:to x="100000" y="95000"/>
                                    </p:animScale>
                                    <p:animScale>
                                      <p:cBhvr>
                                        <p:cTn id="32" dur="166" decel="50000">
                                          <p:stCondLst>
                                            <p:cond delay="1834"/>
                                          </p:stCondLst>
                                        </p:cTn>
                                        <p:tgtEl>
                                          <p:spTgt spid="3">
                                            <p:txEl>
                                              <p:pRg st="2" end="2"/>
                                            </p:txEl>
                                          </p:spTgt>
                                        </p:tgtEl>
                                      </p:cBhvr>
                                      <p:to x="100000" y="100000"/>
                                    </p:animScale>
                                  </p:childTnLst>
                                </p:cTn>
                              </p:par>
                              <p:par>
                                <p:cTn id="33" presetID="26" presetClass="entr" presetSubtype="0" fill="hold" grpId="0"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wipe(down)">
                                      <p:cBhvr>
                                        <p:cTn id="35" dur="580">
                                          <p:stCondLst>
                                            <p:cond delay="0"/>
                                          </p:stCondLst>
                                        </p:cTn>
                                        <p:tgtEl>
                                          <p:spTgt spid="3">
                                            <p:txEl>
                                              <p:pRg st="3" end="3"/>
                                            </p:txEl>
                                          </p:spTgt>
                                        </p:tgtEl>
                                      </p:cBhvr>
                                    </p:animEffect>
                                    <p:anim calcmode="lin" valueType="num">
                                      <p:cBhvr>
                                        <p:cTn id="3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1" dur="26">
                                          <p:stCondLst>
                                            <p:cond delay="650"/>
                                          </p:stCondLst>
                                        </p:cTn>
                                        <p:tgtEl>
                                          <p:spTgt spid="3">
                                            <p:txEl>
                                              <p:pRg st="3" end="3"/>
                                            </p:txEl>
                                          </p:spTgt>
                                        </p:tgtEl>
                                      </p:cBhvr>
                                      <p:to x="100000" y="60000"/>
                                    </p:animScale>
                                    <p:animScale>
                                      <p:cBhvr>
                                        <p:cTn id="42" dur="166" decel="50000">
                                          <p:stCondLst>
                                            <p:cond delay="676"/>
                                          </p:stCondLst>
                                        </p:cTn>
                                        <p:tgtEl>
                                          <p:spTgt spid="3">
                                            <p:txEl>
                                              <p:pRg st="3" end="3"/>
                                            </p:txEl>
                                          </p:spTgt>
                                        </p:tgtEl>
                                      </p:cBhvr>
                                      <p:to x="100000" y="100000"/>
                                    </p:animScale>
                                    <p:animScale>
                                      <p:cBhvr>
                                        <p:cTn id="43" dur="26">
                                          <p:stCondLst>
                                            <p:cond delay="1312"/>
                                          </p:stCondLst>
                                        </p:cTn>
                                        <p:tgtEl>
                                          <p:spTgt spid="3">
                                            <p:txEl>
                                              <p:pRg st="3" end="3"/>
                                            </p:txEl>
                                          </p:spTgt>
                                        </p:tgtEl>
                                      </p:cBhvr>
                                      <p:to x="100000" y="80000"/>
                                    </p:animScale>
                                    <p:animScale>
                                      <p:cBhvr>
                                        <p:cTn id="44" dur="166" decel="50000">
                                          <p:stCondLst>
                                            <p:cond delay="1338"/>
                                          </p:stCondLst>
                                        </p:cTn>
                                        <p:tgtEl>
                                          <p:spTgt spid="3">
                                            <p:txEl>
                                              <p:pRg st="3" end="3"/>
                                            </p:txEl>
                                          </p:spTgt>
                                        </p:tgtEl>
                                      </p:cBhvr>
                                      <p:to x="100000" y="100000"/>
                                    </p:animScale>
                                    <p:animScale>
                                      <p:cBhvr>
                                        <p:cTn id="45" dur="26">
                                          <p:stCondLst>
                                            <p:cond delay="1642"/>
                                          </p:stCondLst>
                                        </p:cTn>
                                        <p:tgtEl>
                                          <p:spTgt spid="3">
                                            <p:txEl>
                                              <p:pRg st="3" end="3"/>
                                            </p:txEl>
                                          </p:spTgt>
                                        </p:tgtEl>
                                      </p:cBhvr>
                                      <p:to x="100000" y="90000"/>
                                    </p:animScale>
                                    <p:animScale>
                                      <p:cBhvr>
                                        <p:cTn id="46" dur="166" decel="50000">
                                          <p:stCondLst>
                                            <p:cond delay="1668"/>
                                          </p:stCondLst>
                                        </p:cTn>
                                        <p:tgtEl>
                                          <p:spTgt spid="3">
                                            <p:txEl>
                                              <p:pRg st="3" end="3"/>
                                            </p:txEl>
                                          </p:spTgt>
                                        </p:tgtEl>
                                      </p:cBhvr>
                                      <p:to x="100000" y="100000"/>
                                    </p:animScale>
                                    <p:animScale>
                                      <p:cBhvr>
                                        <p:cTn id="47" dur="26">
                                          <p:stCondLst>
                                            <p:cond delay="1808"/>
                                          </p:stCondLst>
                                        </p:cTn>
                                        <p:tgtEl>
                                          <p:spTgt spid="3">
                                            <p:txEl>
                                              <p:pRg st="3" end="3"/>
                                            </p:txEl>
                                          </p:spTgt>
                                        </p:tgtEl>
                                      </p:cBhvr>
                                      <p:to x="100000" y="95000"/>
                                    </p:animScale>
                                    <p:animScale>
                                      <p:cBhvr>
                                        <p:cTn id="48"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r>
              <a:rPr lang="en-US" dirty="0"/>
              <a:t>Install the handler using rt_sigaction</a:t>
            </a:r>
            <a:endParaRPr lang="he-IL" dirty="0"/>
          </a:p>
        </p:txBody>
      </p:sp>
      <p:sp>
        <p:nvSpPr>
          <p:cNvPr id="3" name="מציין מיקום תוכן 2"/>
          <p:cNvSpPr>
            <a:spLocks noGrp="1"/>
          </p:cNvSpPr>
          <p:nvPr>
            <p:ph idx="1"/>
          </p:nvPr>
        </p:nvSpPr>
        <p:spPr/>
        <p:txBody>
          <a:bodyPr>
            <a:normAutofit fontScale="85000" lnSpcReduction="20000"/>
          </a:bodyPr>
          <a:lstStyle/>
          <a:p>
            <a:r>
              <a:rPr lang="he-IL" dirty="0"/>
              <a:t>כאשר מבצעים </a:t>
            </a:r>
            <a:r>
              <a:rPr lang="en-US" dirty="0"/>
              <a:t>rt_signation</a:t>
            </a:r>
            <a:r>
              <a:rPr lang="he-IL" dirty="0"/>
              <a:t> מעה"פ לינוקס דורשת לקבל :</a:t>
            </a:r>
            <a:r>
              <a:rPr lang="en-US" dirty="0"/>
              <a:t> </a:t>
            </a:r>
            <a:endParaRPr lang="he-IL" dirty="0"/>
          </a:p>
          <a:p>
            <a:pPr algn="l" rtl="0"/>
            <a:r>
              <a:rPr lang="he-IL" b="1" dirty="0"/>
              <a:t>   </a:t>
            </a:r>
            <a:r>
              <a:rPr lang="en-US" b="1" dirty="0"/>
              <a:t>SA_RESTORER flag (0x04000000)</a:t>
            </a:r>
          </a:p>
          <a:p>
            <a:pPr algn="l" rtl="0"/>
            <a:r>
              <a:rPr lang="en-US" b="1" dirty="0"/>
              <a:t>    a valid </a:t>
            </a:r>
            <a:r>
              <a:rPr lang="en-US" b="1" dirty="0" err="1"/>
              <a:t>sa_restorer</a:t>
            </a:r>
            <a:r>
              <a:rPr lang="en-US" b="1" dirty="0"/>
              <a:t> function</a:t>
            </a:r>
          </a:p>
          <a:p>
            <a:r>
              <a:rPr lang="he-IL" dirty="0"/>
              <a:t>המרכיב </a:t>
            </a:r>
            <a:r>
              <a:rPr lang="en-US" dirty="0" err="1"/>
              <a:t>sa_restorer</a:t>
            </a:r>
            <a:r>
              <a:rPr lang="he-IL" dirty="0"/>
              <a:t> הוא פונקציה קטנה אשר מבצעת קריאה אל </a:t>
            </a:r>
            <a:r>
              <a:rPr lang="en-US" dirty="0"/>
              <a:t> </a:t>
            </a:r>
            <a:r>
              <a:rPr lang="en-US" dirty="0" err="1"/>
              <a:t>rt_sigreturn</a:t>
            </a:r>
            <a:r>
              <a:rPr lang="he-IL" dirty="0"/>
              <a:t>  - כלומר קריאת </a:t>
            </a:r>
            <a:r>
              <a:rPr lang="en-US" dirty="0" err="1"/>
              <a:t>syscall</a:t>
            </a:r>
            <a:r>
              <a:rPr lang="he-IL" dirty="0"/>
              <a:t> עם קוד 15. </a:t>
            </a:r>
          </a:p>
          <a:p>
            <a:r>
              <a:rPr lang="he-IL" dirty="0"/>
              <a:t>או אז הגרעין קופץ לכאן לאחר הפקודה </a:t>
            </a:r>
            <a:r>
              <a:rPr lang="en-US" dirty="0"/>
              <a:t>ret</a:t>
            </a:r>
            <a:r>
              <a:rPr lang="he-IL" dirty="0"/>
              <a:t> של מטפל האותות :</a:t>
            </a:r>
          </a:p>
          <a:p>
            <a:pPr algn="l" rtl="0"/>
            <a:r>
              <a:rPr lang="en-US" b="1" dirty="0"/>
              <a:t>restorer:    </a:t>
            </a:r>
          </a:p>
          <a:p>
            <a:pPr algn="l" rtl="0"/>
            <a:r>
              <a:rPr lang="en-US" b="1" dirty="0"/>
              <a:t>  </a:t>
            </a:r>
            <a:r>
              <a:rPr lang="en-US" b="1" dirty="0" err="1"/>
              <a:t>mov</a:t>
            </a:r>
            <a:r>
              <a:rPr lang="en-US" b="1" dirty="0"/>
              <a:t> </a:t>
            </a:r>
            <a:r>
              <a:rPr lang="en-US" b="1" dirty="0" err="1"/>
              <a:t>rax</a:t>
            </a:r>
            <a:r>
              <a:rPr lang="en-US" b="1" dirty="0"/>
              <a:t>, 15        ; </a:t>
            </a:r>
            <a:r>
              <a:rPr lang="en-US" b="1" dirty="0" err="1"/>
              <a:t>sys_rt_sigreturn</a:t>
            </a:r>
            <a:r>
              <a:rPr lang="en-US" b="1" dirty="0"/>
              <a:t> </a:t>
            </a:r>
          </a:p>
          <a:p>
            <a:pPr algn="l" rtl="0"/>
            <a:r>
              <a:rPr lang="en-US" b="1" dirty="0"/>
              <a:t>   </a:t>
            </a:r>
            <a:r>
              <a:rPr lang="en-US" b="1" dirty="0" err="1"/>
              <a:t>syscall</a:t>
            </a:r>
            <a:endParaRPr lang="he-IL" b="1"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47</a:t>
            </a:fld>
            <a:endParaRPr lang="he-IL"/>
          </a:p>
        </p:txBody>
      </p:sp>
    </p:spTree>
    <p:extLst>
      <p:ext uri="{BB962C8B-B14F-4D97-AF65-F5344CB8AC3E}">
        <p14:creationId xmlns:p14="http://schemas.microsoft.com/office/powerpoint/2010/main" val="2102866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80">
                                          <p:stCondLst>
                                            <p:cond delay="0"/>
                                          </p:stCondLst>
                                        </p:cTn>
                                        <p:tgtEl>
                                          <p:spTgt spid="3">
                                            <p:txEl>
                                              <p:pRg st="1" end="1"/>
                                            </p:txEl>
                                          </p:spTgt>
                                        </p:tgtEl>
                                      </p:cBhvr>
                                    </p:animEffect>
                                    <p:anim calcmode="lin" valueType="num">
                                      <p:cBhvr>
                                        <p:cTn id="1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1" end="1"/>
                                            </p:txEl>
                                          </p:spTgt>
                                        </p:tgtEl>
                                      </p:cBhvr>
                                      <p:to x="100000" y="60000"/>
                                    </p:animScale>
                                    <p:animScale>
                                      <p:cBhvr>
                                        <p:cTn id="20" dur="166" decel="50000">
                                          <p:stCondLst>
                                            <p:cond delay="676"/>
                                          </p:stCondLst>
                                        </p:cTn>
                                        <p:tgtEl>
                                          <p:spTgt spid="3">
                                            <p:txEl>
                                              <p:pRg st="1" end="1"/>
                                            </p:txEl>
                                          </p:spTgt>
                                        </p:tgtEl>
                                      </p:cBhvr>
                                      <p:to x="100000" y="100000"/>
                                    </p:animScale>
                                    <p:animScale>
                                      <p:cBhvr>
                                        <p:cTn id="21" dur="26">
                                          <p:stCondLst>
                                            <p:cond delay="1312"/>
                                          </p:stCondLst>
                                        </p:cTn>
                                        <p:tgtEl>
                                          <p:spTgt spid="3">
                                            <p:txEl>
                                              <p:pRg st="1" end="1"/>
                                            </p:txEl>
                                          </p:spTgt>
                                        </p:tgtEl>
                                      </p:cBhvr>
                                      <p:to x="100000" y="80000"/>
                                    </p:animScale>
                                    <p:animScale>
                                      <p:cBhvr>
                                        <p:cTn id="22" dur="166" decel="50000">
                                          <p:stCondLst>
                                            <p:cond delay="1338"/>
                                          </p:stCondLst>
                                        </p:cTn>
                                        <p:tgtEl>
                                          <p:spTgt spid="3">
                                            <p:txEl>
                                              <p:pRg st="1" end="1"/>
                                            </p:txEl>
                                          </p:spTgt>
                                        </p:tgtEl>
                                      </p:cBhvr>
                                      <p:to x="100000" y="100000"/>
                                    </p:animScale>
                                    <p:animScale>
                                      <p:cBhvr>
                                        <p:cTn id="23" dur="26">
                                          <p:stCondLst>
                                            <p:cond delay="1642"/>
                                          </p:stCondLst>
                                        </p:cTn>
                                        <p:tgtEl>
                                          <p:spTgt spid="3">
                                            <p:txEl>
                                              <p:pRg st="1" end="1"/>
                                            </p:txEl>
                                          </p:spTgt>
                                        </p:tgtEl>
                                      </p:cBhvr>
                                      <p:to x="100000" y="90000"/>
                                    </p:animScale>
                                    <p:animScale>
                                      <p:cBhvr>
                                        <p:cTn id="24" dur="166" decel="50000">
                                          <p:stCondLst>
                                            <p:cond delay="1668"/>
                                          </p:stCondLst>
                                        </p:cTn>
                                        <p:tgtEl>
                                          <p:spTgt spid="3">
                                            <p:txEl>
                                              <p:pRg st="1" end="1"/>
                                            </p:txEl>
                                          </p:spTgt>
                                        </p:tgtEl>
                                      </p:cBhvr>
                                      <p:to x="100000" y="100000"/>
                                    </p:animScale>
                                    <p:animScale>
                                      <p:cBhvr>
                                        <p:cTn id="25" dur="26">
                                          <p:stCondLst>
                                            <p:cond delay="1808"/>
                                          </p:stCondLst>
                                        </p:cTn>
                                        <p:tgtEl>
                                          <p:spTgt spid="3">
                                            <p:txEl>
                                              <p:pRg st="1" end="1"/>
                                            </p:txEl>
                                          </p:spTgt>
                                        </p:tgtEl>
                                      </p:cBhvr>
                                      <p:to x="100000" y="95000"/>
                                    </p:animScale>
                                    <p:animScale>
                                      <p:cBhvr>
                                        <p:cTn id="26" dur="166" decel="50000">
                                          <p:stCondLst>
                                            <p:cond delay="1834"/>
                                          </p:stCondLst>
                                        </p:cTn>
                                        <p:tgtEl>
                                          <p:spTgt spid="3">
                                            <p:txEl>
                                              <p:pRg st="1" end="1"/>
                                            </p:txEl>
                                          </p:spTgt>
                                        </p:tgtEl>
                                      </p:cBhvr>
                                      <p:to x="100000" y="100000"/>
                                    </p:animScale>
                                  </p:childTnLst>
                                </p:cTn>
                              </p:par>
                              <p:par>
                                <p:cTn id="27" presetID="26" presetClass="entr" presetSubtype="0" fill="hold" grpId="0"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ipe(down)">
                                      <p:cBhvr>
                                        <p:cTn id="29" dur="580">
                                          <p:stCondLst>
                                            <p:cond delay="0"/>
                                          </p:stCondLst>
                                        </p:cTn>
                                        <p:tgtEl>
                                          <p:spTgt spid="3">
                                            <p:txEl>
                                              <p:pRg st="2" end="2"/>
                                            </p:txEl>
                                          </p:spTgt>
                                        </p:tgtEl>
                                      </p:cBhvr>
                                    </p:animEffect>
                                    <p:anim calcmode="lin" valueType="num">
                                      <p:cBhvr>
                                        <p:cTn id="3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3">
                                            <p:txEl>
                                              <p:pRg st="2" end="2"/>
                                            </p:txEl>
                                          </p:spTgt>
                                        </p:tgtEl>
                                      </p:cBhvr>
                                      <p:to x="100000" y="60000"/>
                                    </p:animScale>
                                    <p:animScale>
                                      <p:cBhvr>
                                        <p:cTn id="36" dur="166" decel="50000">
                                          <p:stCondLst>
                                            <p:cond delay="676"/>
                                          </p:stCondLst>
                                        </p:cTn>
                                        <p:tgtEl>
                                          <p:spTgt spid="3">
                                            <p:txEl>
                                              <p:pRg st="2" end="2"/>
                                            </p:txEl>
                                          </p:spTgt>
                                        </p:tgtEl>
                                      </p:cBhvr>
                                      <p:to x="100000" y="100000"/>
                                    </p:animScale>
                                    <p:animScale>
                                      <p:cBhvr>
                                        <p:cTn id="37" dur="26">
                                          <p:stCondLst>
                                            <p:cond delay="1312"/>
                                          </p:stCondLst>
                                        </p:cTn>
                                        <p:tgtEl>
                                          <p:spTgt spid="3">
                                            <p:txEl>
                                              <p:pRg st="2" end="2"/>
                                            </p:txEl>
                                          </p:spTgt>
                                        </p:tgtEl>
                                      </p:cBhvr>
                                      <p:to x="100000" y="80000"/>
                                    </p:animScale>
                                    <p:animScale>
                                      <p:cBhvr>
                                        <p:cTn id="38" dur="166" decel="50000">
                                          <p:stCondLst>
                                            <p:cond delay="1338"/>
                                          </p:stCondLst>
                                        </p:cTn>
                                        <p:tgtEl>
                                          <p:spTgt spid="3">
                                            <p:txEl>
                                              <p:pRg st="2" end="2"/>
                                            </p:txEl>
                                          </p:spTgt>
                                        </p:tgtEl>
                                      </p:cBhvr>
                                      <p:to x="100000" y="100000"/>
                                    </p:animScale>
                                    <p:animScale>
                                      <p:cBhvr>
                                        <p:cTn id="39" dur="26">
                                          <p:stCondLst>
                                            <p:cond delay="1642"/>
                                          </p:stCondLst>
                                        </p:cTn>
                                        <p:tgtEl>
                                          <p:spTgt spid="3">
                                            <p:txEl>
                                              <p:pRg st="2" end="2"/>
                                            </p:txEl>
                                          </p:spTgt>
                                        </p:tgtEl>
                                      </p:cBhvr>
                                      <p:to x="100000" y="90000"/>
                                    </p:animScale>
                                    <p:animScale>
                                      <p:cBhvr>
                                        <p:cTn id="40" dur="166" decel="50000">
                                          <p:stCondLst>
                                            <p:cond delay="1668"/>
                                          </p:stCondLst>
                                        </p:cTn>
                                        <p:tgtEl>
                                          <p:spTgt spid="3">
                                            <p:txEl>
                                              <p:pRg st="2" end="2"/>
                                            </p:txEl>
                                          </p:spTgt>
                                        </p:tgtEl>
                                      </p:cBhvr>
                                      <p:to x="100000" y="100000"/>
                                    </p:animScale>
                                    <p:animScale>
                                      <p:cBhvr>
                                        <p:cTn id="41" dur="26">
                                          <p:stCondLst>
                                            <p:cond delay="1808"/>
                                          </p:stCondLst>
                                        </p:cTn>
                                        <p:tgtEl>
                                          <p:spTgt spid="3">
                                            <p:txEl>
                                              <p:pRg st="2" end="2"/>
                                            </p:txEl>
                                          </p:spTgt>
                                        </p:tgtEl>
                                      </p:cBhvr>
                                      <p:to x="100000" y="95000"/>
                                    </p:animScale>
                                    <p:animScale>
                                      <p:cBhvr>
                                        <p:cTn id="42" dur="166" decel="50000">
                                          <p:stCondLst>
                                            <p:cond delay="1834"/>
                                          </p:stCondLst>
                                        </p:cTn>
                                        <p:tgtEl>
                                          <p:spTgt spid="3">
                                            <p:txEl>
                                              <p:pRg st="2" end="2"/>
                                            </p:txEl>
                                          </p:spTgt>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additive="base">
                                        <p:cTn id="4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anim calcmode="lin" valueType="num">
                                      <p:cBhvr additive="base">
                                        <p:cTn id="5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6" presetClass="entr" presetSubtype="0" fill="hold" grpId="0" nodeType="click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animEffect transition="in" filter="wipe(down)">
                                      <p:cBhvr>
                                        <p:cTn id="59" dur="580">
                                          <p:stCondLst>
                                            <p:cond delay="0"/>
                                          </p:stCondLst>
                                        </p:cTn>
                                        <p:tgtEl>
                                          <p:spTgt spid="3">
                                            <p:txEl>
                                              <p:pRg st="5" end="5"/>
                                            </p:txEl>
                                          </p:spTgt>
                                        </p:tgtEl>
                                      </p:cBhvr>
                                    </p:animEffect>
                                    <p:anim calcmode="lin" valueType="num">
                                      <p:cBhvr>
                                        <p:cTn id="60"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65" dur="26">
                                          <p:stCondLst>
                                            <p:cond delay="650"/>
                                          </p:stCondLst>
                                        </p:cTn>
                                        <p:tgtEl>
                                          <p:spTgt spid="3">
                                            <p:txEl>
                                              <p:pRg st="5" end="5"/>
                                            </p:txEl>
                                          </p:spTgt>
                                        </p:tgtEl>
                                      </p:cBhvr>
                                      <p:to x="100000" y="60000"/>
                                    </p:animScale>
                                    <p:animScale>
                                      <p:cBhvr>
                                        <p:cTn id="66" dur="166" decel="50000">
                                          <p:stCondLst>
                                            <p:cond delay="676"/>
                                          </p:stCondLst>
                                        </p:cTn>
                                        <p:tgtEl>
                                          <p:spTgt spid="3">
                                            <p:txEl>
                                              <p:pRg st="5" end="5"/>
                                            </p:txEl>
                                          </p:spTgt>
                                        </p:tgtEl>
                                      </p:cBhvr>
                                      <p:to x="100000" y="100000"/>
                                    </p:animScale>
                                    <p:animScale>
                                      <p:cBhvr>
                                        <p:cTn id="67" dur="26">
                                          <p:stCondLst>
                                            <p:cond delay="1312"/>
                                          </p:stCondLst>
                                        </p:cTn>
                                        <p:tgtEl>
                                          <p:spTgt spid="3">
                                            <p:txEl>
                                              <p:pRg st="5" end="5"/>
                                            </p:txEl>
                                          </p:spTgt>
                                        </p:tgtEl>
                                      </p:cBhvr>
                                      <p:to x="100000" y="80000"/>
                                    </p:animScale>
                                    <p:animScale>
                                      <p:cBhvr>
                                        <p:cTn id="68" dur="166" decel="50000">
                                          <p:stCondLst>
                                            <p:cond delay="1338"/>
                                          </p:stCondLst>
                                        </p:cTn>
                                        <p:tgtEl>
                                          <p:spTgt spid="3">
                                            <p:txEl>
                                              <p:pRg st="5" end="5"/>
                                            </p:txEl>
                                          </p:spTgt>
                                        </p:tgtEl>
                                      </p:cBhvr>
                                      <p:to x="100000" y="100000"/>
                                    </p:animScale>
                                    <p:animScale>
                                      <p:cBhvr>
                                        <p:cTn id="69" dur="26">
                                          <p:stCondLst>
                                            <p:cond delay="1642"/>
                                          </p:stCondLst>
                                        </p:cTn>
                                        <p:tgtEl>
                                          <p:spTgt spid="3">
                                            <p:txEl>
                                              <p:pRg st="5" end="5"/>
                                            </p:txEl>
                                          </p:spTgt>
                                        </p:tgtEl>
                                      </p:cBhvr>
                                      <p:to x="100000" y="90000"/>
                                    </p:animScale>
                                    <p:animScale>
                                      <p:cBhvr>
                                        <p:cTn id="70" dur="166" decel="50000">
                                          <p:stCondLst>
                                            <p:cond delay="1668"/>
                                          </p:stCondLst>
                                        </p:cTn>
                                        <p:tgtEl>
                                          <p:spTgt spid="3">
                                            <p:txEl>
                                              <p:pRg st="5" end="5"/>
                                            </p:txEl>
                                          </p:spTgt>
                                        </p:tgtEl>
                                      </p:cBhvr>
                                      <p:to x="100000" y="100000"/>
                                    </p:animScale>
                                    <p:animScale>
                                      <p:cBhvr>
                                        <p:cTn id="71" dur="26">
                                          <p:stCondLst>
                                            <p:cond delay="1808"/>
                                          </p:stCondLst>
                                        </p:cTn>
                                        <p:tgtEl>
                                          <p:spTgt spid="3">
                                            <p:txEl>
                                              <p:pRg st="5" end="5"/>
                                            </p:txEl>
                                          </p:spTgt>
                                        </p:tgtEl>
                                      </p:cBhvr>
                                      <p:to x="100000" y="95000"/>
                                    </p:animScale>
                                    <p:animScale>
                                      <p:cBhvr>
                                        <p:cTn id="72" dur="166" decel="50000">
                                          <p:stCondLst>
                                            <p:cond delay="1834"/>
                                          </p:stCondLst>
                                        </p:cTn>
                                        <p:tgtEl>
                                          <p:spTgt spid="3">
                                            <p:txEl>
                                              <p:pRg st="5" end="5"/>
                                            </p:txEl>
                                          </p:spTgt>
                                        </p:tgtEl>
                                      </p:cBhvr>
                                      <p:to x="100000" y="100000"/>
                                    </p:animScale>
                                  </p:childTnLst>
                                </p:cTn>
                              </p:par>
                              <p:par>
                                <p:cTn id="73" presetID="26" presetClass="entr" presetSubtype="0" fill="hold" grpId="0" nodeType="withEffect">
                                  <p:stCondLst>
                                    <p:cond delay="0"/>
                                  </p:stCondLst>
                                  <p:childTnLst>
                                    <p:set>
                                      <p:cBhvr>
                                        <p:cTn id="74" dur="1" fill="hold">
                                          <p:stCondLst>
                                            <p:cond delay="0"/>
                                          </p:stCondLst>
                                        </p:cTn>
                                        <p:tgtEl>
                                          <p:spTgt spid="3">
                                            <p:txEl>
                                              <p:pRg st="6" end="6"/>
                                            </p:txEl>
                                          </p:spTgt>
                                        </p:tgtEl>
                                        <p:attrNameLst>
                                          <p:attrName>style.visibility</p:attrName>
                                        </p:attrNameLst>
                                      </p:cBhvr>
                                      <p:to>
                                        <p:strVal val="visible"/>
                                      </p:to>
                                    </p:set>
                                    <p:animEffect transition="in" filter="wipe(down)">
                                      <p:cBhvr>
                                        <p:cTn id="75" dur="580">
                                          <p:stCondLst>
                                            <p:cond delay="0"/>
                                          </p:stCondLst>
                                        </p:cTn>
                                        <p:tgtEl>
                                          <p:spTgt spid="3">
                                            <p:txEl>
                                              <p:pRg st="6" end="6"/>
                                            </p:txEl>
                                          </p:spTgt>
                                        </p:tgtEl>
                                      </p:cBhvr>
                                    </p:animEffect>
                                    <p:anim calcmode="lin" valueType="num">
                                      <p:cBhvr>
                                        <p:cTn id="76"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81" dur="26">
                                          <p:stCondLst>
                                            <p:cond delay="650"/>
                                          </p:stCondLst>
                                        </p:cTn>
                                        <p:tgtEl>
                                          <p:spTgt spid="3">
                                            <p:txEl>
                                              <p:pRg st="6" end="6"/>
                                            </p:txEl>
                                          </p:spTgt>
                                        </p:tgtEl>
                                      </p:cBhvr>
                                      <p:to x="100000" y="60000"/>
                                    </p:animScale>
                                    <p:animScale>
                                      <p:cBhvr>
                                        <p:cTn id="82" dur="166" decel="50000">
                                          <p:stCondLst>
                                            <p:cond delay="676"/>
                                          </p:stCondLst>
                                        </p:cTn>
                                        <p:tgtEl>
                                          <p:spTgt spid="3">
                                            <p:txEl>
                                              <p:pRg st="6" end="6"/>
                                            </p:txEl>
                                          </p:spTgt>
                                        </p:tgtEl>
                                      </p:cBhvr>
                                      <p:to x="100000" y="100000"/>
                                    </p:animScale>
                                    <p:animScale>
                                      <p:cBhvr>
                                        <p:cTn id="83" dur="26">
                                          <p:stCondLst>
                                            <p:cond delay="1312"/>
                                          </p:stCondLst>
                                        </p:cTn>
                                        <p:tgtEl>
                                          <p:spTgt spid="3">
                                            <p:txEl>
                                              <p:pRg st="6" end="6"/>
                                            </p:txEl>
                                          </p:spTgt>
                                        </p:tgtEl>
                                      </p:cBhvr>
                                      <p:to x="100000" y="80000"/>
                                    </p:animScale>
                                    <p:animScale>
                                      <p:cBhvr>
                                        <p:cTn id="84" dur="166" decel="50000">
                                          <p:stCondLst>
                                            <p:cond delay="1338"/>
                                          </p:stCondLst>
                                        </p:cTn>
                                        <p:tgtEl>
                                          <p:spTgt spid="3">
                                            <p:txEl>
                                              <p:pRg st="6" end="6"/>
                                            </p:txEl>
                                          </p:spTgt>
                                        </p:tgtEl>
                                      </p:cBhvr>
                                      <p:to x="100000" y="100000"/>
                                    </p:animScale>
                                    <p:animScale>
                                      <p:cBhvr>
                                        <p:cTn id="85" dur="26">
                                          <p:stCondLst>
                                            <p:cond delay="1642"/>
                                          </p:stCondLst>
                                        </p:cTn>
                                        <p:tgtEl>
                                          <p:spTgt spid="3">
                                            <p:txEl>
                                              <p:pRg st="6" end="6"/>
                                            </p:txEl>
                                          </p:spTgt>
                                        </p:tgtEl>
                                      </p:cBhvr>
                                      <p:to x="100000" y="90000"/>
                                    </p:animScale>
                                    <p:animScale>
                                      <p:cBhvr>
                                        <p:cTn id="86" dur="166" decel="50000">
                                          <p:stCondLst>
                                            <p:cond delay="1668"/>
                                          </p:stCondLst>
                                        </p:cTn>
                                        <p:tgtEl>
                                          <p:spTgt spid="3">
                                            <p:txEl>
                                              <p:pRg st="6" end="6"/>
                                            </p:txEl>
                                          </p:spTgt>
                                        </p:tgtEl>
                                      </p:cBhvr>
                                      <p:to x="100000" y="100000"/>
                                    </p:animScale>
                                    <p:animScale>
                                      <p:cBhvr>
                                        <p:cTn id="87" dur="26">
                                          <p:stCondLst>
                                            <p:cond delay="1808"/>
                                          </p:stCondLst>
                                        </p:cTn>
                                        <p:tgtEl>
                                          <p:spTgt spid="3">
                                            <p:txEl>
                                              <p:pRg st="6" end="6"/>
                                            </p:txEl>
                                          </p:spTgt>
                                        </p:tgtEl>
                                      </p:cBhvr>
                                      <p:to x="100000" y="95000"/>
                                    </p:animScale>
                                    <p:animScale>
                                      <p:cBhvr>
                                        <p:cTn id="88" dur="166" decel="50000">
                                          <p:stCondLst>
                                            <p:cond delay="1834"/>
                                          </p:stCondLst>
                                        </p:cTn>
                                        <p:tgtEl>
                                          <p:spTgt spid="3">
                                            <p:txEl>
                                              <p:pRg st="6" end="6"/>
                                            </p:txEl>
                                          </p:spTgt>
                                        </p:tgtEl>
                                      </p:cBhvr>
                                      <p:to x="100000" y="100000"/>
                                    </p:animScale>
                                  </p:childTnLst>
                                </p:cTn>
                              </p:par>
                              <p:par>
                                <p:cTn id="89" presetID="26" presetClass="entr" presetSubtype="0" fill="hold" grpId="0" nodeType="withEffect">
                                  <p:stCondLst>
                                    <p:cond delay="0"/>
                                  </p:stCondLst>
                                  <p:childTnLst>
                                    <p:set>
                                      <p:cBhvr>
                                        <p:cTn id="90" dur="1" fill="hold">
                                          <p:stCondLst>
                                            <p:cond delay="0"/>
                                          </p:stCondLst>
                                        </p:cTn>
                                        <p:tgtEl>
                                          <p:spTgt spid="3">
                                            <p:txEl>
                                              <p:pRg st="7" end="7"/>
                                            </p:txEl>
                                          </p:spTgt>
                                        </p:tgtEl>
                                        <p:attrNameLst>
                                          <p:attrName>style.visibility</p:attrName>
                                        </p:attrNameLst>
                                      </p:cBhvr>
                                      <p:to>
                                        <p:strVal val="visible"/>
                                      </p:to>
                                    </p:set>
                                    <p:animEffect transition="in" filter="wipe(down)">
                                      <p:cBhvr>
                                        <p:cTn id="91" dur="580">
                                          <p:stCondLst>
                                            <p:cond delay="0"/>
                                          </p:stCondLst>
                                        </p:cTn>
                                        <p:tgtEl>
                                          <p:spTgt spid="3">
                                            <p:txEl>
                                              <p:pRg st="7" end="7"/>
                                            </p:txEl>
                                          </p:spTgt>
                                        </p:tgtEl>
                                      </p:cBhvr>
                                    </p:animEffect>
                                    <p:anim calcmode="lin" valueType="num">
                                      <p:cBhvr>
                                        <p:cTn id="92"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93"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94"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95"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96"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97" dur="26">
                                          <p:stCondLst>
                                            <p:cond delay="650"/>
                                          </p:stCondLst>
                                        </p:cTn>
                                        <p:tgtEl>
                                          <p:spTgt spid="3">
                                            <p:txEl>
                                              <p:pRg st="7" end="7"/>
                                            </p:txEl>
                                          </p:spTgt>
                                        </p:tgtEl>
                                      </p:cBhvr>
                                      <p:to x="100000" y="60000"/>
                                    </p:animScale>
                                    <p:animScale>
                                      <p:cBhvr>
                                        <p:cTn id="98" dur="166" decel="50000">
                                          <p:stCondLst>
                                            <p:cond delay="676"/>
                                          </p:stCondLst>
                                        </p:cTn>
                                        <p:tgtEl>
                                          <p:spTgt spid="3">
                                            <p:txEl>
                                              <p:pRg st="7" end="7"/>
                                            </p:txEl>
                                          </p:spTgt>
                                        </p:tgtEl>
                                      </p:cBhvr>
                                      <p:to x="100000" y="100000"/>
                                    </p:animScale>
                                    <p:animScale>
                                      <p:cBhvr>
                                        <p:cTn id="99" dur="26">
                                          <p:stCondLst>
                                            <p:cond delay="1312"/>
                                          </p:stCondLst>
                                        </p:cTn>
                                        <p:tgtEl>
                                          <p:spTgt spid="3">
                                            <p:txEl>
                                              <p:pRg st="7" end="7"/>
                                            </p:txEl>
                                          </p:spTgt>
                                        </p:tgtEl>
                                      </p:cBhvr>
                                      <p:to x="100000" y="80000"/>
                                    </p:animScale>
                                    <p:animScale>
                                      <p:cBhvr>
                                        <p:cTn id="100" dur="166" decel="50000">
                                          <p:stCondLst>
                                            <p:cond delay="1338"/>
                                          </p:stCondLst>
                                        </p:cTn>
                                        <p:tgtEl>
                                          <p:spTgt spid="3">
                                            <p:txEl>
                                              <p:pRg st="7" end="7"/>
                                            </p:txEl>
                                          </p:spTgt>
                                        </p:tgtEl>
                                      </p:cBhvr>
                                      <p:to x="100000" y="100000"/>
                                    </p:animScale>
                                    <p:animScale>
                                      <p:cBhvr>
                                        <p:cTn id="101" dur="26">
                                          <p:stCondLst>
                                            <p:cond delay="1642"/>
                                          </p:stCondLst>
                                        </p:cTn>
                                        <p:tgtEl>
                                          <p:spTgt spid="3">
                                            <p:txEl>
                                              <p:pRg st="7" end="7"/>
                                            </p:txEl>
                                          </p:spTgt>
                                        </p:tgtEl>
                                      </p:cBhvr>
                                      <p:to x="100000" y="90000"/>
                                    </p:animScale>
                                    <p:animScale>
                                      <p:cBhvr>
                                        <p:cTn id="102" dur="166" decel="50000">
                                          <p:stCondLst>
                                            <p:cond delay="1668"/>
                                          </p:stCondLst>
                                        </p:cTn>
                                        <p:tgtEl>
                                          <p:spTgt spid="3">
                                            <p:txEl>
                                              <p:pRg st="7" end="7"/>
                                            </p:txEl>
                                          </p:spTgt>
                                        </p:tgtEl>
                                      </p:cBhvr>
                                      <p:to x="100000" y="100000"/>
                                    </p:animScale>
                                    <p:animScale>
                                      <p:cBhvr>
                                        <p:cTn id="103" dur="26">
                                          <p:stCondLst>
                                            <p:cond delay="1808"/>
                                          </p:stCondLst>
                                        </p:cTn>
                                        <p:tgtEl>
                                          <p:spTgt spid="3">
                                            <p:txEl>
                                              <p:pRg st="7" end="7"/>
                                            </p:txEl>
                                          </p:spTgt>
                                        </p:tgtEl>
                                      </p:cBhvr>
                                      <p:to x="100000" y="95000"/>
                                    </p:animScale>
                                    <p:animScale>
                                      <p:cBhvr>
                                        <p:cTn id="104"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סיכום</a:t>
            </a:r>
          </a:p>
        </p:txBody>
      </p:sp>
      <p:sp>
        <p:nvSpPr>
          <p:cNvPr id="3" name="מציין מיקום תוכן 2"/>
          <p:cNvSpPr>
            <a:spLocks noGrp="1"/>
          </p:cNvSpPr>
          <p:nvPr>
            <p:ph idx="1"/>
          </p:nvPr>
        </p:nvSpPr>
        <p:spPr/>
        <p:txBody>
          <a:bodyPr/>
          <a:lstStyle/>
          <a:p>
            <a:r>
              <a:rPr lang="he-IL" dirty="0"/>
              <a:t>הגרעין :</a:t>
            </a:r>
          </a:p>
          <a:p>
            <a:r>
              <a:rPr lang="he-IL" dirty="0"/>
              <a:t>קורא את התוכן של הרשומה</a:t>
            </a:r>
          </a:p>
          <a:p>
            <a:r>
              <a:rPr lang="he-IL" dirty="0"/>
              <a:t>שומר את הכתובת של מטפל האותות</a:t>
            </a:r>
          </a:p>
          <a:p>
            <a:r>
              <a:rPr lang="he-IL" dirty="0"/>
              <a:t>מתקין את המטפל אותות</a:t>
            </a:r>
          </a:p>
          <a:p>
            <a:r>
              <a:rPr lang="he-IL" dirty="0"/>
              <a:t>חוזר לאחר הטיפול באות להמשיך את התכנית הראשית מאותה נקודה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48</a:t>
            </a:fld>
            <a:endParaRPr lang="he-IL"/>
          </a:p>
        </p:txBody>
      </p:sp>
    </p:spTree>
    <p:extLst>
      <p:ext uri="{BB962C8B-B14F-4D97-AF65-F5344CB8AC3E}">
        <p14:creationId xmlns:p14="http://schemas.microsoft.com/office/powerpoint/2010/main" val="332430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סיכום</a:t>
            </a:r>
          </a:p>
        </p:txBody>
      </p:sp>
      <p:sp>
        <p:nvSpPr>
          <p:cNvPr id="3" name="מציין מיקום תוכן 2"/>
          <p:cNvSpPr>
            <a:spLocks noGrp="1"/>
          </p:cNvSpPr>
          <p:nvPr>
            <p:ph idx="1"/>
          </p:nvPr>
        </p:nvSpPr>
        <p:spPr/>
        <p:txBody>
          <a:bodyPr/>
          <a:lstStyle/>
          <a:p>
            <a:r>
              <a:rPr lang="he-IL" dirty="0"/>
              <a:t>בהמשך, לאחר לחיצה על </a:t>
            </a:r>
            <a:r>
              <a:rPr lang="en-US" dirty="0"/>
              <a:t>CTRL+C</a:t>
            </a:r>
            <a:r>
              <a:rPr lang="he-IL" dirty="0"/>
              <a:t>  הגרעין מבצע את הפעולות הבאות :</a:t>
            </a:r>
            <a:r>
              <a:rPr lang="en-US" dirty="0"/>
              <a:t> </a:t>
            </a:r>
            <a:endParaRPr lang="he-IL" dirty="0"/>
          </a:p>
          <a:p>
            <a:r>
              <a:rPr lang="he-IL" dirty="0"/>
              <a:t>קוטע את הלולאה האינסופית</a:t>
            </a:r>
          </a:p>
          <a:p>
            <a:r>
              <a:rPr lang="he-IL" dirty="0"/>
              <a:t>קופץ אל </a:t>
            </a:r>
            <a:r>
              <a:rPr lang="en-US" dirty="0" err="1"/>
              <a:t>sigint_handler</a:t>
            </a:r>
            <a:endParaRPr lang="he-IL" dirty="0"/>
          </a:p>
          <a:p>
            <a:r>
              <a:rPr lang="he-IL" dirty="0"/>
              <a:t>מריץ פסיקת כתיבה של </a:t>
            </a:r>
            <a:r>
              <a:rPr lang="en-US" dirty="0" err="1"/>
              <a:t>syscall</a:t>
            </a:r>
            <a:r>
              <a:rPr lang="en-US" dirty="0"/>
              <a:t> write</a:t>
            </a:r>
            <a:r>
              <a:rPr lang="he-IL" dirty="0"/>
              <a:t> </a:t>
            </a:r>
          </a:p>
          <a:p>
            <a:r>
              <a:rPr lang="he-IL" dirty="0"/>
              <a:t>מריץ את </a:t>
            </a:r>
            <a:r>
              <a:rPr lang="en-US" dirty="0" err="1"/>
              <a:t>sigreturn</a:t>
            </a:r>
            <a:r>
              <a:rPr lang="he-IL" dirty="0"/>
              <a:t> כדי לנקות את המחסנית ולהמשיך בתוכנית המקורית</a:t>
            </a:r>
          </a:p>
          <a:p>
            <a:r>
              <a:rPr lang="he-IL" dirty="0"/>
              <a:t>חוזר לבצע את הלולאה </a:t>
            </a:r>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49</a:t>
            </a:fld>
            <a:endParaRPr lang="he-IL"/>
          </a:p>
        </p:txBody>
      </p:sp>
    </p:spTree>
    <p:extLst>
      <p:ext uri="{BB962C8B-B14F-4D97-AF65-F5344CB8AC3E}">
        <p14:creationId xmlns:p14="http://schemas.microsoft.com/office/powerpoint/2010/main" val="122983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The </a:t>
            </a:r>
            <a:r>
              <a:rPr lang="en-US" dirty="0" err="1"/>
              <a:t>struct</a:t>
            </a:r>
            <a:r>
              <a:rPr lang="en-US" dirty="0"/>
              <a:t> </a:t>
            </a:r>
            <a:r>
              <a:rPr lang="en-US" dirty="0" err="1"/>
              <a:t>signation</a:t>
            </a:r>
            <a:r>
              <a:rPr lang="en-US" dirty="0"/>
              <a:t> layout </a:t>
            </a:r>
            <a:endParaRPr lang="he-IL" dirty="0"/>
          </a:p>
        </p:txBody>
      </p:sp>
      <p:sp>
        <p:nvSpPr>
          <p:cNvPr id="3" name="מציין מיקום תוכן 2"/>
          <p:cNvSpPr>
            <a:spLocks noGrp="1"/>
          </p:cNvSpPr>
          <p:nvPr>
            <p:ph idx="1"/>
          </p:nvPr>
        </p:nvSpPr>
        <p:spPr>
          <a:xfrm>
            <a:off x="1292356" y="2468031"/>
            <a:ext cx="9601196" cy="3318936"/>
          </a:xfrm>
        </p:spPr>
        <p:txBody>
          <a:bodyPr/>
          <a:lstStyle/>
          <a:p>
            <a:pPr marL="0" indent="0">
              <a:buNone/>
            </a:pPr>
            <a:r>
              <a:rPr lang="he-IL" dirty="0"/>
              <a:t>וקטע הקוד שעוסק בכך הוא :</a:t>
            </a:r>
            <a:r>
              <a:rPr lang="en-US" dirty="0"/>
              <a:t> </a:t>
            </a:r>
            <a:endParaRPr lang="he-IL" dirty="0"/>
          </a:p>
          <a:p>
            <a:pPr marL="0" indent="0" algn="l" rtl="0">
              <a:buNone/>
            </a:pPr>
            <a:r>
              <a:rPr lang="fr-FR" b="1" dirty="0"/>
              <a:t>section .</a:t>
            </a:r>
            <a:r>
              <a:rPr lang="fr-FR" b="1" dirty="0" err="1"/>
              <a:t>bss</a:t>
            </a:r>
            <a:r>
              <a:rPr lang="fr-FR" b="1" dirty="0"/>
              <a:t>  </a:t>
            </a:r>
          </a:p>
          <a:p>
            <a:pPr marL="0" indent="0" algn="l" rtl="0">
              <a:buNone/>
            </a:pPr>
            <a:r>
              <a:rPr lang="fr-FR" b="1" dirty="0"/>
              <a:t>      sa: </a:t>
            </a:r>
            <a:r>
              <a:rPr lang="fr-FR" b="1" dirty="0" err="1"/>
              <a:t>resb</a:t>
            </a:r>
            <a:r>
              <a:rPr lang="fr-FR" b="1" dirty="0"/>
              <a:t> 8 + 8 + 8 + 128</a:t>
            </a:r>
            <a:endParaRPr lang="he-IL" dirty="0"/>
          </a:p>
          <a:p>
            <a:pPr marL="0" indent="0" algn="r">
              <a:buNone/>
            </a:pPr>
            <a:r>
              <a:rPr lang="he-IL" dirty="0"/>
              <a:t>לאחר הקומפילציה וההרצה, יש ללחוץ על </a:t>
            </a:r>
            <a:r>
              <a:rPr lang="en-US" dirty="0"/>
              <a:t>CTRL+C </a:t>
            </a:r>
            <a:r>
              <a:rPr lang="he-IL" dirty="0"/>
              <a:t> - ואז נקבל </a:t>
            </a:r>
            <a:r>
              <a:rPr lang="en-US" dirty="0"/>
              <a:t>SGINIT </a:t>
            </a:r>
            <a:r>
              <a:rPr lang="en-US" dirty="0" err="1"/>
              <a:t>recieved</a:t>
            </a:r>
            <a:r>
              <a:rPr lang="he-IL" dirty="0"/>
              <a:t> אלא שהתכנית לא נעצרת וזאת משום ש </a:t>
            </a:r>
            <a:r>
              <a:rPr lang="en-US" dirty="0"/>
              <a:t>handler</a:t>
            </a:r>
            <a:r>
              <a:rPr lang="he-IL" dirty="0"/>
              <a:t> לקח פיקוד.</a:t>
            </a:r>
          </a:p>
          <a:p>
            <a:pPr marL="0" indent="0" algn="r">
              <a:buNone/>
            </a:pPr>
            <a:r>
              <a:rPr lang="he-IL" dirty="0"/>
              <a:t>עצירה מוחלטת של  התכנית מתבצעת ע"י </a:t>
            </a:r>
            <a:r>
              <a:rPr lang="en-US" dirty="0"/>
              <a:t>CTRL+\\</a:t>
            </a:r>
            <a:endParaRPr lang="fr-FR"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50</a:t>
            </a:fld>
            <a:endParaRPr lang="he-IL"/>
          </a:p>
        </p:txBody>
      </p:sp>
    </p:spTree>
    <p:extLst>
      <p:ext uri="{BB962C8B-B14F-4D97-AF65-F5344CB8AC3E}">
        <p14:creationId xmlns:p14="http://schemas.microsoft.com/office/powerpoint/2010/main" val="83507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80">
                                          <p:stCondLst>
                                            <p:cond delay="0"/>
                                          </p:stCondLst>
                                        </p:cTn>
                                        <p:tgtEl>
                                          <p:spTgt spid="3">
                                            <p:txEl>
                                              <p:pRg st="1" end="1"/>
                                            </p:txEl>
                                          </p:spTgt>
                                        </p:tgtEl>
                                      </p:cBhvr>
                                    </p:animEffect>
                                    <p:anim calcmode="lin" valueType="num">
                                      <p:cBhvr>
                                        <p:cTn id="1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1" end="1"/>
                                            </p:txEl>
                                          </p:spTgt>
                                        </p:tgtEl>
                                      </p:cBhvr>
                                      <p:to x="100000" y="60000"/>
                                    </p:animScale>
                                    <p:animScale>
                                      <p:cBhvr>
                                        <p:cTn id="20" dur="166" decel="50000">
                                          <p:stCondLst>
                                            <p:cond delay="676"/>
                                          </p:stCondLst>
                                        </p:cTn>
                                        <p:tgtEl>
                                          <p:spTgt spid="3">
                                            <p:txEl>
                                              <p:pRg st="1" end="1"/>
                                            </p:txEl>
                                          </p:spTgt>
                                        </p:tgtEl>
                                      </p:cBhvr>
                                      <p:to x="100000" y="100000"/>
                                    </p:animScale>
                                    <p:animScale>
                                      <p:cBhvr>
                                        <p:cTn id="21" dur="26">
                                          <p:stCondLst>
                                            <p:cond delay="1312"/>
                                          </p:stCondLst>
                                        </p:cTn>
                                        <p:tgtEl>
                                          <p:spTgt spid="3">
                                            <p:txEl>
                                              <p:pRg st="1" end="1"/>
                                            </p:txEl>
                                          </p:spTgt>
                                        </p:tgtEl>
                                      </p:cBhvr>
                                      <p:to x="100000" y="80000"/>
                                    </p:animScale>
                                    <p:animScale>
                                      <p:cBhvr>
                                        <p:cTn id="22" dur="166" decel="50000">
                                          <p:stCondLst>
                                            <p:cond delay="1338"/>
                                          </p:stCondLst>
                                        </p:cTn>
                                        <p:tgtEl>
                                          <p:spTgt spid="3">
                                            <p:txEl>
                                              <p:pRg st="1" end="1"/>
                                            </p:txEl>
                                          </p:spTgt>
                                        </p:tgtEl>
                                      </p:cBhvr>
                                      <p:to x="100000" y="100000"/>
                                    </p:animScale>
                                    <p:animScale>
                                      <p:cBhvr>
                                        <p:cTn id="23" dur="26">
                                          <p:stCondLst>
                                            <p:cond delay="1642"/>
                                          </p:stCondLst>
                                        </p:cTn>
                                        <p:tgtEl>
                                          <p:spTgt spid="3">
                                            <p:txEl>
                                              <p:pRg st="1" end="1"/>
                                            </p:txEl>
                                          </p:spTgt>
                                        </p:tgtEl>
                                      </p:cBhvr>
                                      <p:to x="100000" y="90000"/>
                                    </p:animScale>
                                    <p:animScale>
                                      <p:cBhvr>
                                        <p:cTn id="24" dur="166" decel="50000">
                                          <p:stCondLst>
                                            <p:cond delay="1668"/>
                                          </p:stCondLst>
                                        </p:cTn>
                                        <p:tgtEl>
                                          <p:spTgt spid="3">
                                            <p:txEl>
                                              <p:pRg st="1" end="1"/>
                                            </p:txEl>
                                          </p:spTgt>
                                        </p:tgtEl>
                                      </p:cBhvr>
                                      <p:to x="100000" y="100000"/>
                                    </p:animScale>
                                    <p:animScale>
                                      <p:cBhvr>
                                        <p:cTn id="25" dur="26">
                                          <p:stCondLst>
                                            <p:cond delay="1808"/>
                                          </p:stCondLst>
                                        </p:cTn>
                                        <p:tgtEl>
                                          <p:spTgt spid="3">
                                            <p:txEl>
                                              <p:pRg st="1" end="1"/>
                                            </p:txEl>
                                          </p:spTgt>
                                        </p:tgtEl>
                                      </p:cBhvr>
                                      <p:to x="100000" y="95000"/>
                                    </p:animScale>
                                    <p:animScale>
                                      <p:cBhvr>
                                        <p:cTn id="26" dur="166" decel="50000">
                                          <p:stCondLst>
                                            <p:cond delay="1834"/>
                                          </p:stCondLst>
                                        </p:cTn>
                                        <p:tgtEl>
                                          <p:spTgt spid="3">
                                            <p:txEl>
                                              <p:pRg st="1" end="1"/>
                                            </p:txEl>
                                          </p:spTgt>
                                        </p:tgtEl>
                                      </p:cBhvr>
                                      <p:to x="100000" y="100000"/>
                                    </p:animScale>
                                  </p:childTnLst>
                                </p:cTn>
                              </p:par>
                              <p:par>
                                <p:cTn id="27" presetID="26" presetClass="entr" presetSubtype="0" fill="hold" grpId="0"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ipe(down)">
                                      <p:cBhvr>
                                        <p:cTn id="29" dur="580">
                                          <p:stCondLst>
                                            <p:cond delay="0"/>
                                          </p:stCondLst>
                                        </p:cTn>
                                        <p:tgtEl>
                                          <p:spTgt spid="3">
                                            <p:txEl>
                                              <p:pRg st="2" end="2"/>
                                            </p:txEl>
                                          </p:spTgt>
                                        </p:tgtEl>
                                      </p:cBhvr>
                                    </p:animEffect>
                                    <p:anim calcmode="lin" valueType="num">
                                      <p:cBhvr>
                                        <p:cTn id="3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3">
                                            <p:txEl>
                                              <p:pRg st="2" end="2"/>
                                            </p:txEl>
                                          </p:spTgt>
                                        </p:tgtEl>
                                      </p:cBhvr>
                                      <p:to x="100000" y="60000"/>
                                    </p:animScale>
                                    <p:animScale>
                                      <p:cBhvr>
                                        <p:cTn id="36" dur="166" decel="50000">
                                          <p:stCondLst>
                                            <p:cond delay="676"/>
                                          </p:stCondLst>
                                        </p:cTn>
                                        <p:tgtEl>
                                          <p:spTgt spid="3">
                                            <p:txEl>
                                              <p:pRg st="2" end="2"/>
                                            </p:txEl>
                                          </p:spTgt>
                                        </p:tgtEl>
                                      </p:cBhvr>
                                      <p:to x="100000" y="100000"/>
                                    </p:animScale>
                                    <p:animScale>
                                      <p:cBhvr>
                                        <p:cTn id="37" dur="26">
                                          <p:stCondLst>
                                            <p:cond delay="1312"/>
                                          </p:stCondLst>
                                        </p:cTn>
                                        <p:tgtEl>
                                          <p:spTgt spid="3">
                                            <p:txEl>
                                              <p:pRg st="2" end="2"/>
                                            </p:txEl>
                                          </p:spTgt>
                                        </p:tgtEl>
                                      </p:cBhvr>
                                      <p:to x="100000" y="80000"/>
                                    </p:animScale>
                                    <p:animScale>
                                      <p:cBhvr>
                                        <p:cTn id="38" dur="166" decel="50000">
                                          <p:stCondLst>
                                            <p:cond delay="1338"/>
                                          </p:stCondLst>
                                        </p:cTn>
                                        <p:tgtEl>
                                          <p:spTgt spid="3">
                                            <p:txEl>
                                              <p:pRg st="2" end="2"/>
                                            </p:txEl>
                                          </p:spTgt>
                                        </p:tgtEl>
                                      </p:cBhvr>
                                      <p:to x="100000" y="100000"/>
                                    </p:animScale>
                                    <p:animScale>
                                      <p:cBhvr>
                                        <p:cTn id="39" dur="26">
                                          <p:stCondLst>
                                            <p:cond delay="1642"/>
                                          </p:stCondLst>
                                        </p:cTn>
                                        <p:tgtEl>
                                          <p:spTgt spid="3">
                                            <p:txEl>
                                              <p:pRg st="2" end="2"/>
                                            </p:txEl>
                                          </p:spTgt>
                                        </p:tgtEl>
                                      </p:cBhvr>
                                      <p:to x="100000" y="90000"/>
                                    </p:animScale>
                                    <p:animScale>
                                      <p:cBhvr>
                                        <p:cTn id="40" dur="166" decel="50000">
                                          <p:stCondLst>
                                            <p:cond delay="1668"/>
                                          </p:stCondLst>
                                        </p:cTn>
                                        <p:tgtEl>
                                          <p:spTgt spid="3">
                                            <p:txEl>
                                              <p:pRg st="2" end="2"/>
                                            </p:txEl>
                                          </p:spTgt>
                                        </p:tgtEl>
                                      </p:cBhvr>
                                      <p:to x="100000" y="100000"/>
                                    </p:animScale>
                                    <p:animScale>
                                      <p:cBhvr>
                                        <p:cTn id="41" dur="26">
                                          <p:stCondLst>
                                            <p:cond delay="1808"/>
                                          </p:stCondLst>
                                        </p:cTn>
                                        <p:tgtEl>
                                          <p:spTgt spid="3">
                                            <p:txEl>
                                              <p:pRg st="2" end="2"/>
                                            </p:txEl>
                                          </p:spTgt>
                                        </p:tgtEl>
                                      </p:cBhvr>
                                      <p:to x="100000" y="95000"/>
                                    </p:animScale>
                                    <p:animScale>
                                      <p:cBhvr>
                                        <p:cTn id="42" dur="166" decel="50000">
                                          <p:stCondLst>
                                            <p:cond delay="1834"/>
                                          </p:stCondLst>
                                        </p:cTn>
                                        <p:tgtEl>
                                          <p:spTgt spid="3">
                                            <p:txEl>
                                              <p:pRg st="2" end="2"/>
                                            </p:txEl>
                                          </p:spTgt>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additive="base">
                                        <p:cTn id="4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anim calcmode="lin" valueType="num">
                                      <p:cBhvr additive="base">
                                        <p:cTn id="5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8F317-7D1B-81BC-6505-76A8F619FCF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6CE3362-6AF2-D117-43B4-42AE72DB7242}"/>
              </a:ext>
            </a:extLst>
          </p:cNvPr>
          <p:cNvSpPr>
            <a:spLocks noGrp="1"/>
          </p:cNvSpPr>
          <p:nvPr>
            <p:ph type="title"/>
          </p:nvPr>
        </p:nvSpPr>
        <p:spPr/>
        <p:txBody>
          <a:bodyPr/>
          <a:lstStyle/>
          <a:p>
            <a:r>
              <a:rPr lang="en-US" dirty="0"/>
              <a:t>The </a:t>
            </a:r>
            <a:r>
              <a:rPr lang="en-US" dirty="0" err="1"/>
              <a:t>struct</a:t>
            </a:r>
            <a:r>
              <a:rPr lang="en-US" dirty="0"/>
              <a:t> </a:t>
            </a:r>
            <a:r>
              <a:rPr lang="en-US" dirty="0" err="1"/>
              <a:t>signation</a:t>
            </a:r>
            <a:r>
              <a:rPr lang="en-US" dirty="0"/>
              <a:t> layout </a:t>
            </a:r>
            <a:endParaRPr lang="he-IL" dirty="0"/>
          </a:p>
        </p:txBody>
      </p:sp>
      <p:sp>
        <p:nvSpPr>
          <p:cNvPr id="3" name="מציין מיקום תוכן 2">
            <a:extLst>
              <a:ext uri="{FF2B5EF4-FFF2-40B4-BE49-F238E27FC236}">
                <a16:creationId xmlns:a16="http://schemas.microsoft.com/office/drawing/2014/main" id="{AFC7423A-D0EA-5B60-E545-77D916E29B29}"/>
              </a:ext>
            </a:extLst>
          </p:cNvPr>
          <p:cNvSpPr>
            <a:spLocks noGrp="1"/>
          </p:cNvSpPr>
          <p:nvPr>
            <p:ph idx="1"/>
          </p:nvPr>
        </p:nvSpPr>
        <p:spPr>
          <a:xfrm>
            <a:off x="1292356" y="2468031"/>
            <a:ext cx="9601196" cy="3318936"/>
          </a:xfrm>
        </p:spPr>
        <p:txBody>
          <a:bodyPr/>
          <a:lstStyle/>
          <a:p>
            <a:pPr marL="0" indent="0">
              <a:buNone/>
            </a:pPr>
            <a:r>
              <a:rPr lang="he-IL" dirty="0"/>
              <a:t>דרך נוספת לעצור את התוכנית היא על ידי</a:t>
            </a:r>
            <a:r>
              <a:rPr lang="en-US" dirty="0"/>
              <a:t> </a:t>
            </a:r>
            <a:r>
              <a:rPr lang="he-IL" dirty="0"/>
              <a:t>מציאת </a:t>
            </a:r>
            <a:r>
              <a:rPr lang="en-US" dirty="0"/>
              <a:t>PID</a:t>
            </a:r>
            <a:r>
              <a:rPr lang="he-IL" dirty="0"/>
              <a:t> וכתיבת </a:t>
            </a:r>
            <a:r>
              <a:rPr lang="en-US" dirty="0"/>
              <a:t>kill &lt;PID&gt;</a:t>
            </a:r>
            <a:br>
              <a:rPr lang="en-US" dirty="0"/>
            </a:br>
            <a:endParaRPr lang="fr-FR" dirty="0"/>
          </a:p>
        </p:txBody>
      </p:sp>
      <p:sp>
        <p:nvSpPr>
          <p:cNvPr id="4" name="מציין מיקום של תאריך 3">
            <a:extLst>
              <a:ext uri="{FF2B5EF4-FFF2-40B4-BE49-F238E27FC236}">
                <a16:creationId xmlns:a16="http://schemas.microsoft.com/office/drawing/2014/main" id="{F2D8DACC-47A4-7E8B-5EA6-CB99228A55F8}"/>
              </a:ext>
            </a:extLst>
          </p:cNvPr>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a:extLst>
              <a:ext uri="{FF2B5EF4-FFF2-40B4-BE49-F238E27FC236}">
                <a16:creationId xmlns:a16="http://schemas.microsoft.com/office/drawing/2014/main" id="{0C8BF772-1EDD-F307-BDB8-C6F4006068F7}"/>
              </a:ext>
            </a:extLst>
          </p:cNvPr>
          <p:cNvSpPr>
            <a:spLocks noGrp="1"/>
          </p:cNvSpPr>
          <p:nvPr>
            <p:ph type="sldNum" sz="quarter" idx="12"/>
          </p:nvPr>
        </p:nvSpPr>
        <p:spPr/>
        <p:txBody>
          <a:bodyPr/>
          <a:lstStyle/>
          <a:p>
            <a:fld id="{7980F8D2-A28C-4059-A3B3-B4E5AB0091B4}" type="slidenum">
              <a:rPr lang="he-IL" smtClean="0"/>
              <a:t>51</a:t>
            </a:fld>
            <a:endParaRPr lang="he-IL"/>
          </a:p>
        </p:txBody>
      </p:sp>
      <p:pic>
        <p:nvPicPr>
          <p:cNvPr id="7" name="תמונה 6">
            <a:extLst>
              <a:ext uri="{FF2B5EF4-FFF2-40B4-BE49-F238E27FC236}">
                <a16:creationId xmlns:a16="http://schemas.microsoft.com/office/drawing/2014/main" id="{06520396-CD3A-30D1-1DB7-0F2349C24F2E}"/>
              </a:ext>
            </a:extLst>
          </p:cNvPr>
          <p:cNvPicPr>
            <a:picLocks noChangeAspect="1"/>
          </p:cNvPicPr>
          <p:nvPr/>
        </p:nvPicPr>
        <p:blipFill>
          <a:blip r:embed="rId2"/>
          <a:stretch>
            <a:fillRect/>
          </a:stretch>
        </p:blipFill>
        <p:spPr>
          <a:xfrm>
            <a:off x="1292356" y="3031738"/>
            <a:ext cx="8519340" cy="2643398"/>
          </a:xfrm>
          <a:prstGeom prst="rect">
            <a:avLst/>
          </a:prstGeom>
        </p:spPr>
      </p:pic>
      <p:pic>
        <p:nvPicPr>
          <p:cNvPr id="9" name="תמונה 8">
            <a:extLst>
              <a:ext uri="{FF2B5EF4-FFF2-40B4-BE49-F238E27FC236}">
                <a16:creationId xmlns:a16="http://schemas.microsoft.com/office/drawing/2014/main" id="{843A89D6-43EF-4D23-AAF6-197B732114B7}"/>
              </a:ext>
            </a:extLst>
          </p:cNvPr>
          <p:cNvPicPr>
            <a:picLocks noChangeAspect="1"/>
          </p:cNvPicPr>
          <p:nvPr/>
        </p:nvPicPr>
        <p:blipFill>
          <a:blip r:embed="rId3"/>
          <a:stretch>
            <a:fillRect/>
          </a:stretch>
        </p:blipFill>
        <p:spPr>
          <a:xfrm>
            <a:off x="1292356" y="5673683"/>
            <a:ext cx="4086795" cy="295316"/>
          </a:xfrm>
          <a:prstGeom prst="rect">
            <a:avLst/>
          </a:prstGeom>
        </p:spPr>
      </p:pic>
    </p:spTree>
    <p:extLst>
      <p:ext uri="{BB962C8B-B14F-4D97-AF65-F5344CB8AC3E}">
        <p14:creationId xmlns:p14="http://schemas.microsoft.com/office/powerpoint/2010/main" val="211673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שקף סיכום</a:t>
            </a:r>
          </a:p>
        </p:txBody>
      </p:sp>
      <p:sp>
        <p:nvSpPr>
          <p:cNvPr id="3" name="מציין מיקום תוכן 2"/>
          <p:cNvSpPr>
            <a:spLocks noGrp="1"/>
          </p:cNvSpPr>
          <p:nvPr>
            <p:ph idx="1"/>
          </p:nvPr>
        </p:nvSpPr>
        <p:spPr/>
        <p:txBody>
          <a:bodyPr/>
          <a:lstStyle/>
          <a:p>
            <a:r>
              <a:rPr lang="he-IL" dirty="0"/>
              <a:t>למדנו כי אותות הם אסינכרונית והם יכולים לקטוע ביצוע רציף של כל קוד בכל עת</a:t>
            </a:r>
          </a:p>
          <a:p>
            <a:r>
              <a:rPr lang="he-IL" dirty="0"/>
              <a:t>מטפל האותות </a:t>
            </a:r>
            <a:r>
              <a:rPr lang="en-US" dirty="0"/>
              <a:t>(handler)</a:t>
            </a:r>
            <a:r>
              <a:rPr lang="he-IL" dirty="0"/>
              <a:t> חייב להיות מינימלי ככל שניתן</a:t>
            </a:r>
          </a:p>
          <a:p>
            <a:r>
              <a:rPr lang="he-IL" dirty="0"/>
              <a:t>התקנת ה </a:t>
            </a:r>
            <a:r>
              <a:rPr lang="en-US" dirty="0"/>
              <a:t>handler</a:t>
            </a:r>
            <a:r>
              <a:rPr lang="he-IL" dirty="0"/>
              <a:t> דורשת הבנה כיצד גרעין מעה"פ מצפה לקבל את המבנה של </a:t>
            </a:r>
            <a:r>
              <a:rPr lang="en-US" dirty="0" err="1"/>
              <a:t>sigation</a:t>
            </a:r>
            <a:r>
              <a:rPr lang="he-IL" dirty="0"/>
              <a:t> </a:t>
            </a:r>
          </a:p>
          <a:p>
            <a:r>
              <a:rPr lang="he-IL" dirty="0"/>
              <a:t>כאשר ה </a:t>
            </a:r>
            <a:r>
              <a:rPr lang="en-US" dirty="0"/>
              <a:t>handler</a:t>
            </a:r>
            <a:r>
              <a:rPr lang="he-IL" dirty="0"/>
              <a:t> מותקן </a:t>
            </a:r>
            <a:r>
              <a:rPr lang="en-US" dirty="0"/>
              <a:t>CTRL+C</a:t>
            </a:r>
            <a:r>
              <a:rPr lang="he-IL" dirty="0"/>
              <a:t> לא יכול לעצור את התכנית  - מטפל האותות לוקח פיקוד</a:t>
            </a:r>
          </a:p>
          <a:p>
            <a:r>
              <a:rPr lang="he-IL" dirty="0"/>
              <a:t>כדי לעצור את התכנית האחרונה יש לבצע </a:t>
            </a:r>
            <a:r>
              <a:rPr lang="en-US" dirty="0"/>
              <a:t>CTRL+\\ </a:t>
            </a:r>
            <a:endParaRPr lang="he-IL" dirty="0"/>
          </a:p>
        </p:txBody>
      </p:sp>
      <p:sp>
        <p:nvSpPr>
          <p:cNvPr id="4" name="מציין מיקום של תאריך 3"/>
          <p:cNvSpPr>
            <a:spLocks noGrp="1"/>
          </p:cNvSpPr>
          <p:nvPr>
            <p:ph type="dt" sz="half" idx="10"/>
          </p:nvPr>
        </p:nvSpPr>
        <p:spPr/>
        <p:txBody>
          <a:bodyPr/>
          <a:lstStyle/>
          <a:p>
            <a:fld id="{C4B1D941-F349-4189-89D9-4CF4C09042D2}" type="datetime8">
              <a:rPr lang="he-IL" smtClean="0"/>
              <a:t>24 מאי 26</a:t>
            </a:fld>
            <a:endParaRPr lang="he-IL"/>
          </a:p>
        </p:txBody>
      </p:sp>
      <p:sp>
        <p:nvSpPr>
          <p:cNvPr id="5" name="מציין מיקום של מספר שקופית 4"/>
          <p:cNvSpPr>
            <a:spLocks noGrp="1"/>
          </p:cNvSpPr>
          <p:nvPr>
            <p:ph type="sldNum" sz="quarter" idx="12"/>
          </p:nvPr>
        </p:nvSpPr>
        <p:spPr/>
        <p:txBody>
          <a:bodyPr/>
          <a:lstStyle/>
          <a:p>
            <a:fld id="{7980F8D2-A28C-4059-A3B3-B4E5AB0091B4}" type="slidenum">
              <a:rPr lang="he-IL" smtClean="0"/>
              <a:t>52</a:t>
            </a:fld>
            <a:endParaRPr lang="he-IL"/>
          </a:p>
        </p:txBody>
      </p:sp>
    </p:spTree>
    <p:extLst>
      <p:ext uri="{BB962C8B-B14F-4D97-AF65-F5344CB8AC3E}">
        <p14:creationId xmlns:p14="http://schemas.microsoft.com/office/powerpoint/2010/main" val="400250793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אורגני">
  <a:themeElements>
    <a:clrScheme name="אורגני">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אורגני">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אורגני">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2544</TotalTime>
  <Words>2393</Words>
  <Application>Microsoft Office PowerPoint</Application>
  <PresentationFormat>מסך רחב</PresentationFormat>
  <Paragraphs>371</Paragraphs>
  <Slides>52</Slides>
  <Notes>1</Notes>
  <HiddenSlides>3</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52</vt:i4>
      </vt:variant>
    </vt:vector>
  </HeadingPairs>
  <TitlesOfParts>
    <vt:vector size="56" baseType="lpstr">
      <vt:lpstr>Arial</vt:lpstr>
      <vt:lpstr>Calibri</vt:lpstr>
      <vt:lpstr>Garamond</vt:lpstr>
      <vt:lpstr>אורגני</vt:lpstr>
      <vt:lpstr>תרגול 7 </vt:lpstr>
      <vt:lpstr>רקע  - קריאות מערכת </vt:lpstr>
      <vt:lpstr>איך syscall  פועלת </vt:lpstr>
      <vt:lpstr>Linux x86‑64 System Call ABI</vt:lpstr>
      <vt:lpstr>ערכים מוכרים לעבודה עם syscall</vt:lpstr>
      <vt:lpstr>Example 1: File Copy Utility</vt:lpstr>
      <vt:lpstr>Example 1: File Copy Utility</vt:lpstr>
      <vt:lpstr>Command‑line arguments and main</vt:lpstr>
      <vt:lpstr>Command‑line arguments and main</vt:lpstr>
      <vt:lpstr>The Activation Frame</vt:lpstr>
      <vt:lpstr>The Activation Frame</vt:lpstr>
      <vt:lpstr>The Activation Frame</vt:lpstr>
      <vt:lpstr>הדפסת הודעת מערכת</vt:lpstr>
      <vt:lpstr>פתיחת הקובץ שממנו רוצים לקרוא </vt:lpstr>
      <vt:lpstr>פתיחת הקובץ שממנו רוצים לקרוא </vt:lpstr>
      <vt:lpstr>פתיחה ויצירה של קובץ היעד (הקובץ לכתיבה)</vt:lpstr>
      <vt:lpstr>פתיחה ויצירה של קובץ היעד</vt:lpstr>
      <vt:lpstr>פתיחה ויצירה של קובץ היעד</vt:lpstr>
      <vt:lpstr>הלולאה המרכזית</vt:lpstr>
      <vt:lpstr>הלולאה המרכזית הסבר </vt:lpstr>
      <vt:lpstr>הלולאה המרכזית המשך</vt:lpstr>
      <vt:lpstr>הלולאה המרכזית המשך</vt:lpstr>
      <vt:lpstr>סגירת הקבצים וסיום התכנית </vt:lpstr>
      <vt:lpstr>איך מריצים ? </vt:lpstr>
      <vt:lpstr>היפוך מחרוזת (reverse.asm) </vt:lpstr>
      <vt:lpstr>היפוך מחרוזת (reverse.asm)</vt:lpstr>
      <vt:lpstr>היפוך מחרוזת (reverse.asm)</vt:lpstr>
      <vt:lpstr>היפוך מחרוזת (reverse.asm)</vt:lpstr>
      <vt:lpstr>היפוך מחרוזת (reverse.asm)</vt:lpstr>
      <vt:lpstr>היפוך מחרוזת (reverse.asm)</vt:lpstr>
      <vt:lpstr>היפוך מחרוזת (reverse.asm)</vt:lpstr>
      <vt:lpstr>היפוך מחרוזת - היציאה מהתוכנית</vt:lpstr>
      <vt:lpstr>הרצת התכנית </vt:lpstr>
      <vt:lpstr>Signal‑Safe Logger (logger.asm)</vt:lpstr>
      <vt:lpstr>Signal‑Safe Logger (logger.asm)</vt:lpstr>
      <vt:lpstr>The struct signation layout </vt:lpstr>
      <vt:lpstr>הסבר לאופן פעולתו של rt_sigaction</vt:lpstr>
      <vt:lpstr>Signal‑Safe Logger (logger.asm)</vt:lpstr>
      <vt:lpstr>Signal‑Safe Logger (logger.asm)</vt:lpstr>
      <vt:lpstr>חלק ראשון של  rt_sigaction</vt:lpstr>
      <vt:lpstr>חלק שני של rt_sigaction</vt:lpstr>
      <vt:lpstr>חלק שלישי של rt_sigaction</vt:lpstr>
      <vt:lpstr>המשך תכנית </vt:lpstr>
      <vt:lpstr>Install the handler using rt_sigaction</vt:lpstr>
      <vt:lpstr>החלק של מטפל האותות </vt:lpstr>
      <vt:lpstr>הסבר לאופן פעולתו של rt_sigaction</vt:lpstr>
      <vt:lpstr>Install the handler using rt_sigaction</vt:lpstr>
      <vt:lpstr>סיכום</vt:lpstr>
      <vt:lpstr>סיכום</vt:lpstr>
      <vt:lpstr>The struct signation layout </vt:lpstr>
      <vt:lpstr>The struct signation layout </vt:lpstr>
      <vt:lpstr>שקף סיכום</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תרגול 7</dc:title>
  <dc:creator>אורן אליעזר</dc:creator>
  <cp:lastModifiedBy>אריאל ברוך ביתן</cp:lastModifiedBy>
  <cp:revision>70</cp:revision>
  <cp:lastPrinted>2026-05-14T07:52:35Z</cp:lastPrinted>
  <dcterms:created xsi:type="dcterms:W3CDTF">2026-05-08T18:29:19Z</dcterms:created>
  <dcterms:modified xsi:type="dcterms:W3CDTF">2026-05-24T16:09:42Z</dcterms:modified>
</cp:coreProperties>
</file>