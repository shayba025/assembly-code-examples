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8" r:id="rId3"/>
    <p:sldId id="293" r:id="rId4"/>
    <p:sldId id="259" r:id="rId5"/>
    <p:sldId id="260" r:id="rId6"/>
    <p:sldId id="261" r:id="rId7"/>
    <p:sldId id="262" r:id="rId8"/>
    <p:sldId id="263" r:id="rId9"/>
    <p:sldId id="264" r:id="rId10"/>
    <p:sldId id="294" r:id="rId11"/>
    <p:sldId id="265" r:id="rId12"/>
    <p:sldId id="266" r:id="rId13"/>
    <p:sldId id="267" r:id="rId14"/>
    <p:sldId id="268" r:id="rId15"/>
    <p:sldId id="269" r:id="rId16"/>
    <p:sldId id="270" r:id="rId17"/>
    <p:sldId id="295" r:id="rId18"/>
    <p:sldId id="296" r:id="rId19"/>
    <p:sldId id="271" r:id="rId20"/>
    <p:sldId id="272" r:id="rId21"/>
    <p:sldId id="273" r:id="rId22"/>
    <p:sldId id="292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417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8E0AB-12EC-AC9F-54BE-08539D125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ACBF6-E952-01EE-895D-1FDC1CA7A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3AC09-EB04-F971-1157-38CE9485B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69BBE-F3BD-A1C0-D995-AC848FA13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34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ADEE0-E685-89CC-9A6B-FF9A8FB5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C6489-8235-A450-0BC8-E66237032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7B629-CEEB-08EA-55C8-32A16BF1C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1F6DF-E36D-E66E-487A-417E9B1505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55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041FC-B0B2-5CF9-AD0C-106E2F4CC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D793E-6B22-F1AD-37D6-4F79B5921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6470E-2BB9-07ED-4E78-3474489C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EA3CD-F6D3-471C-43C7-CEFDFF83C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480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5997-9F8B-3ABD-9252-D8F3330D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5DCD1-3780-DEDD-AD80-823C3DD37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30A34-6928-25E4-241F-C168D8C10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4B5BC-F8CF-F45B-343D-043D577645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06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4252271" y="2514600"/>
            <a:ext cx="3687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 &amp; AVX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280160" cy="128016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71576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32304" y="26517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scalar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611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register model, how to read the instructions, and how to call libc from assembly — then three single-lane programs.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A SHORT HISTORY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 and AVX through the years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9515" y="12344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generation widened the registers or added instructions — and stayed backward-compatible.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2971800"/>
            <a:ext cx="10469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5"/>
          <p:cNvSpPr/>
          <p:nvPr/>
        </p:nvSpPr>
        <p:spPr>
          <a:xfrm>
            <a:off x="1422463" y="2871216"/>
            <a:ext cx="201168" cy="20116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1523048" y="2807208"/>
            <a:ext cx="0" cy="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950976" y="1508760"/>
            <a:ext cx="1144143" cy="1298448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950976" y="1600200"/>
            <a:ext cx="1144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1999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50976" y="1892808"/>
            <a:ext cx="1144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14984" y="2295144"/>
            <a:ext cx="10161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128-bit xmm · floats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31199" y="2871216"/>
            <a:ext cx="201168" cy="20116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2"/>
          <p:cNvSpPr/>
          <p:nvPr/>
        </p:nvSpPr>
        <p:spPr>
          <a:xfrm>
            <a:off x="2831783" y="2971800"/>
            <a:ext cx="0" cy="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3"/>
          <p:cNvSpPr/>
          <p:nvPr/>
        </p:nvSpPr>
        <p:spPr>
          <a:xfrm>
            <a:off x="2259711" y="3136392"/>
            <a:ext cx="1144143" cy="1298448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2259711" y="3227832"/>
            <a:ext cx="1144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259711" y="3520440"/>
            <a:ext cx="1144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323719" y="3922776"/>
            <a:ext cx="10161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doubles, integers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039934" y="2871216"/>
            <a:ext cx="201168" cy="20116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8"/>
          <p:cNvSpPr/>
          <p:nvPr/>
        </p:nvSpPr>
        <p:spPr>
          <a:xfrm>
            <a:off x="4140518" y="2807208"/>
            <a:ext cx="0" cy="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19"/>
          <p:cNvSpPr/>
          <p:nvPr/>
        </p:nvSpPr>
        <p:spPr>
          <a:xfrm>
            <a:off x="3568446" y="1508760"/>
            <a:ext cx="1144143" cy="1298448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20"/>
          <p:cNvSpPr/>
          <p:nvPr/>
        </p:nvSpPr>
        <p:spPr>
          <a:xfrm>
            <a:off x="3568446" y="1600200"/>
            <a:ext cx="1144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568446" y="1892808"/>
            <a:ext cx="1144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SSE3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3632454" y="2295144"/>
            <a:ext cx="10161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math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348669" y="2871216"/>
            <a:ext cx="201168" cy="20116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4"/>
          <p:cNvSpPr/>
          <p:nvPr/>
        </p:nvSpPr>
        <p:spPr>
          <a:xfrm>
            <a:off x="5449253" y="2971800"/>
            <a:ext cx="0" cy="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5"/>
          <p:cNvSpPr/>
          <p:nvPr/>
        </p:nvSpPr>
        <p:spPr>
          <a:xfrm>
            <a:off x="4877181" y="3136392"/>
            <a:ext cx="1144143" cy="1298448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9" name="Text 26"/>
          <p:cNvSpPr/>
          <p:nvPr/>
        </p:nvSpPr>
        <p:spPr>
          <a:xfrm>
            <a:off x="4877181" y="3227832"/>
            <a:ext cx="1144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77181" y="3520440"/>
            <a:ext cx="1144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SSSE3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4941189" y="3922776"/>
            <a:ext cx="10161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shuffles, bytes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657404" y="2871216"/>
            <a:ext cx="201168" cy="20116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30"/>
          <p:cNvSpPr/>
          <p:nvPr/>
        </p:nvSpPr>
        <p:spPr>
          <a:xfrm>
            <a:off x="6757988" y="2807208"/>
            <a:ext cx="0" cy="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1"/>
          <p:cNvSpPr/>
          <p:nvPr/>
        </p:nvSpPr>
        <p:spPr>
          <a:xfrm>
            <a:off x="6185916" y="1508760"/>
            <a:ext cx="1144143" cy="1298448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5" name="Text 32"/>
          <p:cNvSpPr/>
          <p:nvPr/>
        </p:nvSpPr>
        <p:spPr>
          <a:xfrm>
            <a:off x="6185916" y="1600200"/>
            <a:ext cx="1144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2007–08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185916" y="1892808"/>
            <a:ext cx="1144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SSE4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6249924" y="2295144"/>
            <a:ext cx="10161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 + .2: dot-product, strings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966139" y="2871216"/>
            <a:ext cx="201168" cy="201168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Shape 36"/>
          <p:cNvSpPr/>
          <p:nvPr/>
        </p:nvSpPr>
        <p:spPr>
          <a:xfrm>
            <a:off x="8066723" y="2971800"/>
            <a:ext cx="0" cy="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Shape 37"/>
          <p:cNvSpPr/>
          <p:nvPr/>
        </p:nvSpPr>
        <p:spPr>
          <a:xfrm>
            <a:off x="7494651" y="3136392"/>
            <a:ext cx="1144143" cy="1298448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1" name="Text 38"/>
          <p:cNvSpPr/>
          <p:nvPr/>
        </p:nvSpPr>
        <p:spPr>
          <a:xfrm>
            <a:off x="7494651" y="3227832"/>
            <a:ext cx="1144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2011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7494651" y="3520440"/>
            <a:ext cx="1144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AVX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7558659" y="3922776"/>
            <a:ext cx="10161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256-bit ymm · VEX · 3-operand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274874" y="2871216"/>
            <a:ext cx="201168" cy="201168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42"/>
          <p:cNvSpPr/>
          <p:nvPr/>
        </p:nvSpPr>
        <p:spPr>
          <a:xfrm>
            <a:off x="9375457" y="2807208"/>
            <a:ext cx="0" cy="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43"/>
          <p:cNvSpPr/>
          <p:nvPr/>
        </p:nvSpPr>
        <p:spPr>
          <a:xfrm>
            <a:off x="8803386" y="1508760"/>
            <a:ext cx="1144143" cy="1298448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7" name="Text 44"/>
          <p:cNvSpPr/>
          <p:nvPr/>
        </p:nvSpPr>
        <p:spPr>
          <a:xfrm>
            <a:off x="8803386" y="1600200"/>
            <a:ext cx="1144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2013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803386" y="1892808"/>
            <a:ext cx="1144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AVX2 + FMA</a:t>
            </a:r>
            <a:endParaRPr lang="en-US" sz="1700" dirty="0"/>
          </a:p>
        </p:txBody>
      </p:sp>
      <p:sp>
        <p:nvSpPr>
          <p:cNvPr id="49" name="Text 46"/>
          <p:cNvSpPr/>
          <p:nvPr/>
        </p:nvSpPr>
        <p:spPr>
          <a:xfrm>
            <a:off x="8867394" y="2295144"/>
            <a:ext cx="10161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256-bit integer · fused mul-add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10583609" y="2871216"/>
            <a:ext cx="201168" cy="201168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8"/>
          <p:cNvSpPr/>
          <p:nvPr/>
        </p:nvSpPr>
        <p:spPr>
          <a:xfrm>
            <a:off x="10684193" y="2971800"/>
            <a:ext cx="0" cy="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49"/>
          <p:cNvSpPr/>
          <p:nvPr/>
        </p:nvSpPr>
        <p:spPr>
          <a:xfrm>
            <a:off x="10112121" y="3136392"/>
            <a:ext cx="1144143" cy="1298448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3" name="Text 50"/>
          <p:cNvSpPr/>
          <p:nvPr/>
        </p:nvSpPr>
        <p:spPr>
          <a:xfrm>
            <a:off x="10112121" y="3227832"/>
            <a:ext cx="1144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2016–17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10112121" y="3520440"/>
            <a:ext cx="11441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AVX-512</a:t>
            </a:r>
            <a:endParaRPr lang="en-US" sz="1700" dirty="0"/>
          </a:p>
        </p:txBody>
      </p:sp>
      <p:sp>
        <p:nvSpPr>
          <p:cNvPr id="55" name="Text 52"/>
          <p:cNvSpPr/>
          <p:nvPr/>
        </p:nvSpPr>
        <p:spPr>
          <a:xfrm>
            <a:off x="10176129" y="3922776"/>
            <a:ext cx="10161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512-bit zmm · EVEX · 32 regs · masks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868680" y="5074920"/>
            <a:ext cx="6452235" cy="310896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Text 54"/>
          <p:cNvSpPr/>
          <p:nvPr/>
        </p:nvSpPr>
        <p:spPr>
          <a:xfrm>
            <a:off x="868680" y="5074920"/>
            <a:ext cx="64522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era — 128-bit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7458075" y="5074920"/>
            <a:ext cx="3789045" cy="310896"/>
          </a:xfrm>
          <a:prstGeom prst="roundRect">
            <a:avLst>
              <a:gd name="adj" fmla="val 11765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Text 56"/>
          <p:cNvSpPr/>
          <p:nvPr/>
        </p:nvSpPr>
        <p:spPr>
          <a:xfrm>
            <a:off x="7458075" y="5074920"/>
            <a:ext cx="3789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AVX era — 256 → 512-bit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THE REGISTERS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vector register file: xmm ⊂ ymm ⊂ zmm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676656"/>
          </a:xfrm>
          <a:prstGeom prst="rect">
            <a:avLst/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749808" y="1728216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zmm (512-bit)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544068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749808" y="2569464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ymm (256-bit)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374136"/>
            <a:ext cx="2720340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749808" y="3410712"/>
            <a:ext cx="2537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xmm (128-bit)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233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94660" y="4233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0" y="4233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4233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457200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548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07008" y="4718304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Nested, low bits first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41248" y="5084064"/>
            <a:ext cx="4946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gave 128-bit xmm0..15; AVX widened them to 256-bit ymm; AVX-512 to 512-bit zmm. Each lives in the low bits of the next. A write through a v-prefixed (AVX) instruction zeroes the unused upper bits.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172200" y="457200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5488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39128" y="4718304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Lanes — how many fit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73368" y="5084064"/>
            <a:ext cx="4946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register is a row of independent slots called lanes (נתיב). A float is 32 bits, a double 64. So: xmm = 4 floats / 2 doubles · ymm = 8 / 4 · zmm = 16 / 8.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READING THE NAMES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 a mnemonic in four parts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can read the name, the base instruction set is systematic. Read it left to right: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2578608" cy="13716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731520" y="1938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v ]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8096" y="23957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AVX / VEX prefix — wider regs, 3-operand form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578608" cy="13716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3474720" y="1938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511296" y="23957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operation: add · sub · mul · div · sqrt · max · mov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26480" y="1828800"/>
            <a:ext cx="2578608" cy="1371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6217920" y="1938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 | p }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254496" y="23957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— one lane    ·    packed — every lane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869680" y="1828800"/>
            <a:ext cx="2578608" cy="13716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8961120" y="1938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 | d }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997696" y="23957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single-precision (float)    ·    double-precision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3383280"/>
            <a:ext cx="6858000" cy="2487168"/>
          </a:xfrm>
          <a:prstGeom prst="roundRect">
            <a:avLst>
              <a:gd name="adj" fmla="val 257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804672" y="345643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60120" y="3730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(no prefix, 128-bit)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11880" y="3730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AVX (v…, 128/256-bit)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897880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decodes as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60120" y="40416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11880" y="40416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897880" y="40416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· scalar · single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60120" y="44074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addps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11880" y="44074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addps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897880" y="440740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· packed · single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60120" y="47731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mulpd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11880" y="47731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mulpd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897880" y="47731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 · packed · double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960120" y="51389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sqrtss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611880" y="513892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sqrtss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897880" y="51389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 · scalar · single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60120" y="55046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3611880" y="55046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897880" y="55046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· packed · single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635240" y="3383280"/>
            <a:ext cx="3886200" cy="2487168"/>
          </a:xfrm>
          <a:prstGeom prst="roundRect">
            <a:avLst>
              <a:gd name="adj" fmla="val 220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566160"/>
            <a:ext cx="274320" cy="27432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8202168" y="35295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 prefix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7836408" y="3895344"/>
            <a:ext cx="34838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addps</a:t>
            </a: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vaddps decode to the SAME operation — add · packed · single. The v selects the AVX encoding (3-operand form, optional 256-bit ymm). Drop the v and you have the SSE instruction.</a:t>
            </a:r>
          </a:p>
          <a:p>
            <a:pPr>
              <a:lnSpc>
                <a:spcPct val="105000"/>
              </a:lnSpc>
            </a:pPr>
            <a:r>
              <a:rPr lang="en-US" sz="1400" dirty="0"/>
              <a:t>The difference between SSE and AVX ops on </a:t>
            </a:r>
            <a:r>
              <a:rPr lang="en-US" sz="1400" dirty="0" err="1"/>
              <a:t>xmm</a:t>
            </a:r>
            <a:r>
              <a:rPr lang="en-US" sz="1400" dirty="0"/>
              <a:t> is whether or not we clear out the upper 128-bit of </a:t>
            </a:r>
            <a:r>
              <a:rPr lang="en-US" sz="1400" dirty="0" err="1"/>
              <a:t>ymm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NO C — CALL LIBC DIRECTLY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floating-point ABI (System V AMD64)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777240" y="155448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331720" y="15544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8 float/double args → xmm0 … xmm7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267712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777240" y="226771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331720" y="226771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float/double result → xmm0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2971427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3"/>
          <p:cNvSpPr/>
          <p:nvPr/>
        </p:nvSpPr>
        <p:spPr>
          <a:xfrm>
            <a:off x="777240" y="2971427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caller-saved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331720" y="2971427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call may clobber every xmm — save what you need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72200" y="1554480"/>
            <a:ext cx="5349240" cy="4434840"/>
          </a:xfrm>
          <a:prstGeom prst="roundRect">
            <a:avLst>
              <a:gd name="adj" fmla="val 144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6336792" y="1627632"/>
            <a:ext cx="5020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calling printf from assembly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336792" y="1938528"/>
            <a:ext cx="502005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the shape of every printf call we make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 printf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... compute a float result in xmm0 ...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cvtss2sd xmm0, xmm0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float -&gt; double for %f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  rdi, [rel fmt]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"= %f\n"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 eax, 1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AL = # vector regs used</a:t>
            </a:r>
            <a:endParaRPr lang="en-US" sz="1200" dirty="0"/>
          </a:p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</a:t>
            </a:r>
            <a:r>
              <a:rPr lang="en-US" sz="120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wrt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</a:t>
            </a:r>
            <a:r>
              <a:rPr lang="en-US" sz="120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; external call via PLT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three rules to get this right: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1) AL = number of xmm args  (0 if none)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2) rsp 16-byte aligned at the call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3) widen float-&gt;double for %f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37</a:t>
            </a:r>
            <a:endParaRPr lang="en-US" sz="9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F02DDD99-BA35-5341-E2EC-CA8B4C36B86E}"/>
              </a:ext>
            </a:extLst>
          </p:cNvPr>
          <p:cNvSpPr/>
          <p:nvPr/>
        </p:nvSpPr>
        <p:spPr>
          <a:xfrm>
            <a:off x="640080" y="3699402"/>
            <a:ext cx="4754880" cy="214884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EC00D77D-1A4B-6630-B572-2773AC7D1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2282"/>
            <a:ext cx="274320" cy="274320"/>
          </a:xfrm>
          <a:prstGeom prst="rect">
            <a:avLst/>
          </a:prstGeom>
        </p:spPr>
      </p:pic>
      <p:sp>
        <p:nvSpPr>
          <p:cNvPr id="29" name="Text 10">
            <a:extLst>
              <a:ext uri="{FF2B5EF4-FFF2-40B4-BE49-F238E27FC236}">
                <a16:creationId xmlns:a16="http://schemas.microsoft.com/office/drawing/2014/main" id="{4E0DFB97-F2C1-38A7-F0F6-C0C7BD371E1A}"/>
              </a:ext>
            </a:extLst>
          </p:cNvPr>
          <p:cNvSpPr/>
          <p:nvPr/>
        </p:nvSpPr>
        <p:spPr>
          <a:xfrm>
            <a:off x="1207008" y="384570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RIP-relative data</a:t>
            </a:r>
            <a:endParaRPr lang="en-US" sz="13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6D242DDD-4C88-F920-A2D8-8A57387F76ED}"/>
              </a:ext>
            </a:extLst>
          </p:cNvPr>
          <p:cNvSpPr/>
          <p:nvPr/>
        </p:nvSpPr>
        <p:spPr>
          <a:xfrm>
            <a:off x="841248" y="4211466"/>
            <a:ext cx="43525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en-US" sz="160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</a:t>
            </a: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fmt</a:t>
            </a: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 addresses the string as a signed 32-bit offset from RIP — not an absolute address. That is what makes the program position-independent under default gcc.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THE THREE RULES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printf call needs this setup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9339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The AL convention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96112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printf is variadic. For a variadic call, AL holds how many xmm registers carry arguments. Printing one float → mov eax, 1. Strings/ints only → xor eax, eax.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61688" y="160020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8"/>
          <p:cNvSpPr/>
          <p:nvPr/>
        </p:nvSpPr>
        <p:spPr>
          <a:xfrm>
            <a:off x="4590288" y="18288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444" y="193395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0368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Stack alignment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1772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rsp must be 16-byte aligned at the call instruction. The prologue push rbp / mov rbp,rsp / and rsp,-16 guarantees it.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83296" y="160020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2"/>
          <p:cNvSpPr/>
          <p:nvPr/>
        </p:nvSpPr>
        <p:spPr>
          <a:xfrm>
            <a:off x="8311896" y="18288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052" y="193395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51976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float vs double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39328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%f prints a double. In C, a float argument is auto-promoted to double for you. In asm there is no compiler — you widen it yourself with cvtss2sd.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4526280"/>
            <a:ext cx="10899648" cy="1481328"/>
          </a:xfrm>
          <a:prstGeom prst="roundRect">
            <a:avLst>
              <a:gd name="adj" fmla="val 4321"/>
            </a:avLst>
          </a:prstGeom>
          <a:solidFill>
            <a:schemeClr val="bg1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2" name="Text 16"/>
          <p:cNvSpPr/>
          <p:nvPr/>
        </p:nvSpPr>
        <p:spPr>
          <a:xfrm>
            <a:off x="804672" y="4672584"/>
            <a:ext cx="105704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call </a:t>
            </a:r>
            <a:r>
              <a:rPr lang="en-US" sz="16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printf</a:t>
            </a: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wrt</a:t>
            </a: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..</a:t>
            </a:r>
            <a:r>
              <a:rPr lang="en-US" sz="16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</a:t>
            </a: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  <a:p>
            <a:pPr>
              <a:lnSpc>
                <a:spcPct val="108000"/>
              </a:lnSpc>
            </a:pPr>
            <a:endParaRPr lang="en-US" sz="1600" dirty="0">
              <a:solidFill>
                <a:srgbClr val="0F172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08000"/>
              </a:lnSpc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go through the PLT (Procedure Linkage Table) so the program works as position-independent code</a:t>
            </a:r>
            <a:endParaRPr lang="en-US" sz="1600" dirty="0">
              <a:solidFill>
                <a:srgbClr val="00206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1 · CPUID.ASM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features with one instruction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170078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cpuid works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1248" y="2066544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leaf number in EAX, run cpuid, and the CPU writes feature bits into EAX/EBX/ECX/EDX. One bit per feature. </a:t>
            </a:r>
          </a:p>
        </p:txBody>
      </p:sp>
      <p:sp>
        <p:nvSpPr>
          <p:cNvPr id="10" name="Text 6"/>
          <p:cNvSpPr/>
          <p:nvPr/>
        </p:nvSpPr>
        <p:spPr>
          <a:xfrm>
            <a:off x="841248" y="36118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 1 → EDX[25]=SSE  EDX[26]=SSE2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 1 → ECX[28]=AVX  ECX[12]=FMA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 7 → EBX[5]=AVX2  EBX[16]=AVX-512F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080" y="5212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cpuid clobbers all four GP registers — so we save the words to memory, then test bits.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1554480"/>
            <a:ext cx="5367528" cy="4526280"/>
          </a:xfrm>
          <a:prstGeom prst="roundRect">
            <a:avLst>
              <a:gd name="adj" fmla="val 141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Text 9"/>
          <p:cNvSpPr/>
          <p:nvPr/>
        </p:nvSpPr>
        <p:spPr>
          <a:xfrm>
            <a:off x="6336792" y="1627632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cpuid.asm — gather words, then test bits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336792" y="1938528"/>
            <a:ext cx="5038344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  eax, 1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cpuid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-&gt; EDX, ECX feature words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  [edx1], edx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stash before they're lost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  [ecx1], ecx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  eax, 7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   ecx, ecx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sub-leaf 0 (required)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cpuid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-&gt; EBX (AVX2 = bit 5)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test one bit: shift down, mask 1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  eax, [ecx1]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shr   eax, 28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AVX is ECX bit 28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 eax, 1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-&gt; 0 or 1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37</a:t>
            </a:r>
            <a:endParaRPr lang="en-US" sz="900" dirty="0"/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5BA20FB5-B809-220C-3198-16CEDACA0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6" y="312288"/>
            <a:ext cx="5705248" cy="3080600"/>
          </a:xfrm>
          <a:prstGeom prst="rect">
            <a:avLst/>
          </a:prstGeom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8351AAAC-53EF-F4D0-D8EC-F9E69E8D1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717" y="3429000"/>
            <a:ext cx="5930011" cy="308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2136-1796-5315-AFF7-1EFAB01E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408C46-2A5E-CECF-6FCF-8FCDA331644A}"/>
              </a:ext>
            </a:extLst>
          </p:cNvPr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34477EA-85CA-9691-6E54-FF907BCCC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C2B9A95-CCF9-44DA-4243-96F99B5AE08D}"/>
              </a:ext>
            </a:extLst>
          </p:cNvPr>
          <p:cNvSpPr/>
          <p:nvPr/>
        </p:nvSpPr>
        <p:spPr>
          <a:xfrm>
            <a:off x="1371600" y="63168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1 · CPUID.ASM — RUN IT</a:t>
            </a:r>
            <a:endParaRPr 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1D52EA0-2B97-9C97-BEAC-91726522C0CE}"/>
              </a:ext>
            </a:extLst>
          </p:cNvPr>
          <p:cNvSpPr/>
          <p:nvPr/>
        </p:nvSpPr>
        <p:spPr>
          <a:xfrm>
            <a:off x="640080" y="16002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1B71B73-FCA1-203B-1DFC-09168B06C2D7}"/>
              </a:ext>
            </a:extLst>
          </p:cNvPr>
          <p:cNvSpPr/>
          <p:nvPr/>
        </p:nvSpPr>
        <p:spPr>
          <a:xfrm>
            <a:off x="804672" y="1673352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E64B750-8BAF-F1A9-C303-1F673B2C9AC8}"/>
              </a:ext>
            </a:extLst>
          </p:cNvPr>
          <p:cNvSpPr/>
          <p:nvPr/>
        </p:nvSpPr>
        <p:spPr>
          <a:xfrm>
            <a:off x="804672" y="1984248"/>
            <a:ext cx="50657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just this one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-f elf64 cpuid.asm -o cpuid.o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cpuid.o -o cpuid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./cpuid</a:t>
            </a:r>
            <a:endParaRPr lang="en-US" sz="12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46C4CDB-7E29-CBA0-964B-2C9D907D7DBD}"/>
              </a:ext>
            </a:extLst>
          </p:cNvPr>
          <p:cNvSpPr/>
          <p:nvPr/>
        </p:nvSpPr>
        <p:spPr>
          <a:xfrm>
            <a:off x="640080" y="361188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E1F72EB-2624-B2DA-5391-B756C5AB74E9}"/>
              </a:ext>
            </a:extLst>
          </p:cNvPr>
          <p:cNvSpPr/>
          <p:nvPr/>
        </p:nvSpPr>
        <p:spPr>
          <a:xfrm>
            <a:off x="804672" y="3685032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1BA09E5-C190-CC88-F170-5161DF4FDF86}"/>
              </a:ext>
            </a:extLst>
          </p:cNvPr>
          <p:cNvSpPr/>
          <p:nvPr/>
        </p:nvSpPr>
        <p:spPr>
          <a:xfrm>
            <a:off x="804672" y="3995928"/>
            <a:ext cx="50657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./cpuid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SIMD support (read straight from CPUID):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sse      : yes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sse2     : yes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avx      : yes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fma      : yes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avx2     : yes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avx512f  : no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83DA7B2-2423-14D6-9C44-99FC98864C45}"/>
              </a:ext>
            </a:extLst>
          </p:cNvPr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08B8468-974F-9980-CC42-9F0AC1E58C1D}"/>
              </a:ext>
            </a:extLst>
          </p:cNvPr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54736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1 · DEBUGGING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806440" cy="1417320"/>
          </a:xfrm>
          <a:prstGeom prst="roundRect">
            <a:avLst>
              <a:gd name="adj" fmla="val 451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2763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with debug info (-g -F dwarf)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38528"/>
            <a:ext cx="54772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-f elf64 -g -F dwarf cpuid.asm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-o cpuid.o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-g -o cpuid cpuid.o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806440" cy="288036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804672" y="318211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session — watch the registers change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4672" y="3493008"/>
            <a:ext cx="547725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dbg_cpuid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after leaf-1 cpuid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registers eax ebx ecx edx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print/t $ecx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binary: bit28=AVX bit12=FMA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print/t $edx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binary: bit25=SSE bit26=SSE2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display/t $eax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sticky binary view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watch the words get saved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784848" y="310896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32918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51776" y="325526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debugging option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986016" y="3621024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inspect PROG=cpuid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this program with debug info and runs its gdb script automatically — every command on the left, no typing.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2 · SCALAR_SSE.ASM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 ops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989320" cy="4389120"/>
          </a:xfrm>
          <a:prstGeom prst="roundRect">
            <a:avLst>
              <a:gd name="adj" fmla="val 145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73352"/>
            <a:ext cx="5660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scalar_sse.asm — three single-lane routines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84248"/>
            <a:ext cx="566013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.rodata</a:t>
            </a:r>
            <a:endParaRPr lang="en-US" sz="1150" dirty="0"/>
          </a:p>
          <a:p>
            <a:pPr>
              <a:lnSpc>
                <a:spcPct val="108000"/>
              </a:lnSpc>
            </a:pPr>
            <a:r>
              <a:rPr lang="en-US" sz="11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one_f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dd 1.0</a:t>
            </a:r>
          </a:p>
          <a:p>
            <a:pPr>
              <a:lnSpc>
                <a:spcPct val="108000"/>
              </a:lnSpc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c41:        dd 41.0</a:t>
            </a:r>
          </a:p>
          <a:p>
            <a:pPr>
              <a:lnSpc>
                <a:spcPct val="108000"/>
              </a:lnSpc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c3:         dd 3.0</a:t>
            </a:r>
          </a:p>
          <a:p>
            <a:pPr>
              <a:lnSpc>
                <a:spcPct val="108000"/>
              </a:lnSpc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c7:         dd 7.0</a:t>
            </a:r>
          </a:p>
          <a:p>
            <a:pPr marL="0" indent="0">
              <a:lnSpc>
                <a:spcPct val="108000"/>
              </a:lnSpc>
              <a:buNone/>
            </a:pPr>
            <a:endParaRPr lang="en-US" sz="115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.text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addone_f: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 err="1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addss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xmm0, [rel one_f]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xmm0[0] += 1.0f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result stays in xmm0 (ABI)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fmax2_f: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 err="1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maxss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xmm0, xmm1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max(a, b), lane 0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fsqrt_f: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 err="1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sqrtss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xmm0, xmm0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sqrt(x), lane 0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560" y="160020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33488" y="174650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= lane 0 only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967728" y="2112264"/>
            <a:ext cx="4352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addss / maxss / sqrtss each touch only lane 0 of the xmm register; the other lanes are left alone. Inputs arrive in xmm0 (and xmm1); the result stays in xmm0 — exactly the ABI.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603877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2 · SCALAR_SSE.ASM — DRIVER &amp; OUTPUT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989320" cy="4389120"/>
          </a:xfrm>
          <a:prstGeom prst="roundRect">
            <a:avLst>
              <a:gd name="adj" fmla="val 145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73352"/>
            <a:ext cx="5660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scalar_sse.asm — main + the print helper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84248"/>
            <a:ext cx="566013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movss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xmm0, [rel c41]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load 41.0f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  addone_f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-&gt; 42.0f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   rdi, [rel s_add]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  print_f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movss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xmm0, [rel c3]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 = 3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movss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xmm1, [rel c7]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b = 7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  fmax2_f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-&gt; 7.0f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print_f: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cvtss2sd xmm0, xmm0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widen for %f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   eax, 1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AL = 1 xmm arg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  printf wrt ..plt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560" y="1600200"/>
            <a:ext cx="4754880" cy="2286000"/>
          </a:xfrm>
          <a:prstGeom prst="roundRect">
            <a:avLst>
              <a:gd name="adj" fmla="val 28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6931152" y="167335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31152" y="1984248"/>
            <a:ext cx="442569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./scalar_sse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addss  41.0+1.0   = 42.000000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maxss  max(3,7)   = 7.000000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sqrtss sqrt(2.0)  = 1.414214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66560" y="4069080"/>
            <a:ext cx="4754880" cy="1920240"/>
          </a:xfrm>
          <a:prstGeom prst="roundRect">
            <a:avLst>
              <a:gd name="adj" fmla="val 2857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2519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33488" y="421538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conversion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967728" y="4581144"/>
            <a:ext cx="4352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result is a 32-bit float, but %f reads a 64-bit double. cvtss2sd does the widening the C compiler would have inserted for you.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2 · DEBUGGING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806440" cy="1417320"/>
          </a:xfrm>
          <a:prstGeom prst="roundRect">
            <a:avLst>
              <a:gd name="adj" fmla="val 451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2763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with debug info (-g -F dwarf)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38528"/>
            <a:ext cx="54772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-f elf64 -g -F dwarf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scalar_sse.asm -o scalar_sse.o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-g -o scalar_sse scalar_sse.o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806440" cy="288036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804672" y="318211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session — watch the registers change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4672" y="3493008"/>
            <a:ext cx="547725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dbg_scalar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inside addone_f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$xmm0.v4_float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{41,0,0,0}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$xmm0.v4_float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sticky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run the addss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$xmm0.v4_float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{42,0,0,0}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fmax2_f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next routine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registers xmm0 xmm1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1554480"/>
            <a:ext cx="4937760" cy="1493301"/>
          </a:xfrm>
          <a:prstGeom prst="roundRect">
            <a:avLst>
              <a:gd name="adj" fmla="val 2553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7373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170078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784848" y="2066544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ops touch only lane 0. The .v4_float view shows all four lanes, so you can see that addss / maxss / sqrtss change lane 0 and leave the rest untouched. display re-prints the register after every stepi, so the change is obvious.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37</a:t>
            </a:r>
            <a:endParaRPr lang="en-US" sz="900" dirty="0"/>
          </a:p>
        </p:txBody>
      </p:sp>
      <p:pic>
        <p:nvPicPr>
          <p:cNvPr id="23" name="תמונה 22">
            <a:extLst>
              <a:ext uri="{FF2B5EF4-FFF2-40B4-BE49-F238E27FC236}">
                <a16:creationId xmlns:a16="http://schemas.microsoft.com/office/drawing/2014/main" id="{9537BBF0-216C-6DE2-025C-69FE59B92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194085"/>
            <a:ext cx="4999153" cy="25300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· BEYOND THE BASE PATTERN (1/2)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Fused multiply-add: reading vfmadd213ss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FMA names add ONE thing to the grammar: three digits that fix the operand order. Everything else is familiar.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71600" y="1828800"/>
            <a:ext cx="694944" cy="777240"/>
          </a:xfrm>
          <a:prstGeom prst="roundRect">
            <a:avLst>
              <a:gd name="adj" fmla="val 7895"/>
            </a:avLst>
          </a:prstGeom>
          <a:solidFill>
            <a:srgbClr val="F8FAFC"/>
          </a:solidFill>
          <a:ln w="1905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1371600" y="188366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261518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AVX prefix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95144" y="1828800"/>
            <a:ext cx="1938528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2295144" y="188366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fmadd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020824" y="261518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multiply-add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62272" y="1828800"/>
            <a:ext cx="1316736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4462272" y="1883664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187952" y="261518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operand order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07608" y="18288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6007608" y="18836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733288" y="2615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· single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3337560"/>
            <a:ext cx="5943600" cy="2651760"/>
          </a:xfrm>
          <a:prstGeom prst="roundRect">
            <a:avLst>
              <a:gd name="adj" fmla="val 241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804672" y="3410712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213 / 231 mean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04672" y="3721608"/>
            <a:ext cx="56144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the digits name which operand is which: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dst/op1 &lt;- op? * op? + op?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vfmadd213ss op1, op2, op3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op1 = op2 * op1 + op3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the '213' order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vfmadd231ps op1, op2, op3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op1 = op2 * op3 + op1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the '231' order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20840" y="3337560"/>
            <a:ext cx="4818888" cy="2651760"/>
          </a:xfrm>
          <a:prstGeom prst="roundRect">
            <a:avLst>
              <a:gd name="adj" fmla="val 2069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52044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87768" y="348386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FMA at all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922008" y="3849624"/>
            <a:ext cx="44165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instruction does a multiply AND an add with a SINGLE instruction — faster, and more accurate than a separate mul then add.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3 · FMA_HORNER.ASM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Taylor series for eˣ, evaluated by Horner's rule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79"/>
            <a:ext cx="8933128" cy="1874521"/>
          </a:xfrm>
          <a:prstGeom prst="roundRect">
            <a:avLst>
              <a:gd name="adj" fmla="val 2353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170078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Horner's rule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1247" y="2066544"/>
            <a:ext cx="606340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e^x ≈ a0 + x·(a1 + x·(a2 + …)).  Where 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250" dirty="0">
              <a:solidFill>
                <a:srgbClr val="0F172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inside-out: start the accumulator at the top coefficient, then repeat acc ← x·acc + coef[i]. Each step is exactly one FMA (the 213 form from the previous slide).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37</a:t>
            </a:r>
            <a:endParaRPr lang="en-US" sz="900" dirty="0"/>
          </a:p>
        </p:txBody>
      </p:sp>
      <p:pic>
        <p:nvPicPr>
          <p:cNvPr id="20" name="תמונה 19">
            <a:extLst>
              <a:ext uri="{FF2B5EF4-FFF2-40B4-BE49-F238E27FC236}">
                <a16:creationId xmlns:a16="http://schemas.microsoft.com/office/drawing/2014/main" id="{74583757-9E70-18C3-C521-2148DEBBD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19"/>
            <a:ext cx="10684166" cy="1767993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A4262D42-C7B7-7793-180A-A2B6C8ECD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1750" y="2012949"/>
            <a:ext cx="624894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EFFE4-FCF9-41E9-F8BE-DB53188B2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C67EED-7494-D636-460C-962CE69CD50B}"/>
              </a:ext>
            </a:extLst>
          </p:cNvPr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AFEDAFF-F479-8D18-B938-7467CF992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43AB3D6-7B86-06E5-6CC0-733A758A4D4D}"/>
              </a:ext>
            </a:extLst>
          </p:cNvPr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3 · FMA_HORNER.ASM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9531063-C7E3-A964-B691-AF07E1A90F2F}"/>
              </a:ext>
            </a:extLst>
          </p:cNvPr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Taylor series for eˣ, evaluated by Horner's rule</a:t>
            </a:r>
            <a:endParaRPr lang="en-US" sz="27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5D9B175B-2C2D-93E6-4359-90F3A80D582B}"/>
              </a:ext>
            </a:extLst>
          </p:cNvPr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2584FD5-FDB0-3F9D-9CFF-95077BB2E6FD}"/>
              </a:ext>
            </a:extLst>
          </p:cNvPr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37</a:t>
            </a:r>
            <a:endParaRPr lang="en-US" sz="900" dirty="0"/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B30F8262-4268-6251-F95B-0B87BD065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5373394" cy="3588927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EC61164C-7B87-3A15-78A4-0BC88213A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32857"/>
            <a:ext cx="5978102" cy="432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34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A099-5E9A-2AB2-5CF4-4DFB837F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6B985E-16C7-0312-C2FE-B9976266039A}"/>
              </a:ext>
            </a:extLst>
          </p:cNvPr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9AC53D9-2354-1DF3-D96E-A84A31E4E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239010F-3754-B2B4-DD7E-5F393F0A5ED0}"/>
              </a:ext>
            </a:extLst>
          </p:cNvPr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3 · FMA_HORNER.ASM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F9EC540-8060-5CA6-C7B1-D68329215C0C}"/>
              </a:ext>
            </a:extLst>
          </p:cNvPr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Printing floating-point with </a:t>
            </a:r>
            <a:r>
              <a:rPr lang="en-US" sz="2700" b="1" dirty="0" err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xmm</a:t>
            </a:r>
            <a:endParaRPr lang="en-US" sz="27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33B30E5-F93E-259C-D0BC-A9860F07178B}"/>
              </a:ext>
            </a:extLst>
          </p:cNvPr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7BCD780-6FAB-20C9-7198-3B226DA3E3CF}"/>
              </a:ext>
            </a:extLst>
          </p:cNvPr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37</a:t>
            </a:r>
            <a:endParaRPr lang="en-US" sz="900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A84C67DB-6D90-C245-6456-839DC323C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59869"/>
            <a:ext cx="8504657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91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3 · FMA_HORNER.ASM — RUN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FMA-Horner vs the library, side by side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73352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— note the -lm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84248"/>
            <a:ext cx="50657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-f elf64 fma_horner.asm -o fma_horner.o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fma_horner.o -o fma_horner -lm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needs libm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./fma_horner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6035040" cy="2788920"/>
          </a:xfrm>
          <a:prstGeom prst="roundRect">
            <a:avLst>
              <a:gd name="adj" fmla="val 229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804672" y="3273552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4672" y="3584448"/>
            <a:ext cx="570585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      horner_fma         expf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-2.0         0.135335     0.135335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-1.0         0.367879     0.367879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0.0         1.000000     1.000000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1.0         2.718282     2.718282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2.0         7.389046     7.389056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12280" y="1600200"/>
            <a:ext cx="4709160" cy="4389120"/>
          </a:xfrm>
          <a:prstGeom prst="roundRect">
            <a:avLst>
              <a:gd name="adj" fmla="val 1250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783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9208" y="1746504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result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013448" y="2112264"/>
            <a:ext cx="430682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columns match to ~6 digits.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tiny gap at x = 2.0 (…046 vs …056) is exactly the truncation error of an 11-term Taylor series — the polynomial is finite, expf is not.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3 · DEBUGGING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accumulator on each FMA step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806440" cy="1417320"/>
          </a:xfrm>
          <a:prstGeom prst="roundRect">
            <a:avLst>
              <a:gd name="adj" fmla="val 451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2763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with debug info (-g -F dwarf)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38528"/>
            <a:ext cx="54772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-f elf64 -g -F dwarf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fma_horner.asm -o fma_horner.o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-g -o fma_horner fma_horner.o -lm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needs -lm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806440" cy="288036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804672" y="318211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session — watch the registers change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4672" y="3493008"/>
            <a:ext cx="547725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dbg_fma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the vfmadd213ss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$xmm0.v4_float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x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$xmm1.v4_float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acc before term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$xmm1.v4_float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sticky acc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acc &lt;- x*acc + coef[i]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next term (hits again)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11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skip one whole polynomial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155448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7373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170078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784848" y="2066544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breakpoint sits on the FMA, so every time you continue you stop one Horner step later.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xmm1 (the accumulator) lets you see the polynomial build up term by term - continue N skips N breakpoint hits — handy to jump to the next x value.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83680" y="384048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0233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50608" y="398678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84848" y="4352544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inspect PROG=fma_horner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this program with debug info and runs its gdb script automatically — every command on the left, no typing.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280160" cy="128016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71576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880" y="22860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432304" y="26517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Packed parallelism &amp; inspection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611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instruction over many lanes — then open the debugger and read the live register every way at once.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1985-4295-833E-E47B-D5F2D8FC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>
            <a:extLst>
              <a:ext uri="{FF2B5EF4-FFF2-40B4-BE49-F238E27FC236}">
                <a16:creationId xmlns:a16="http://schemas.microsoft.com/office/drawing/2014/main" id="{89043B9F-22A5-E330-8CE5-02987A37A97B}"/>
              </a:ext>
            </a:extLst>
          </p:cNvPr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7C376B4-ECE8-9BEC-BFBE-0658D8437BCD}"/>
              </a:ext>
            </a:extLst>
          </p:cNvPr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50048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4 · PACKED.ASM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instruction, every lane — the vertical operation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828800" y="1645920"/>
            <a:ext cx="91440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182880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16352" y="1645920"/>
            <a:ext cx="91440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2816352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803904" y="1645920"/>
            <a:ext cx="91440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9"/>
          <p:cNvSpPr/>
          <p:nvPr/>
        </p:nvSpPr>
        <p:spPr>
          <a:xfrm>
            <a:off x="3803904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91456" y="1645920"/>
            <a:ext cx="91440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4791456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23591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828800" y="2359152"/>
            <a:ext cx="91440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1828800" y="23591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816352" y="2359152"/>
            <a:ext cx="91440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6"/>
          <p:cNvSpPr/>
          <p:nvPr/>
        </p:nvSpPr>
        <p:spPr>
          <a:xfrm>
            <a:off x="2816352" y="23591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803904" y="2359152"/>
            <a:ext cx="91440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8"/>
          <p:cNvSpPr/>
          <p:nvPr/>
        </p:nvSpPr>
        <p:spPr>
          <a:xfrm>
            <a:off x="3803904" y="23591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791456" y="2359152"/>
            <a:ext cx="91440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0"/>
          <p:cNvSpPr/>
          <p:nvPr/>
        </p:nvSpPr>
        <p:spPr>
          <a:xfrm>
            <a:off x="4791456" y="23591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0080" y="307238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addps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828800" y="3072384"/>
            <a:ext cx="9144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3"/>
          <p:cNvSpPr/>
          <p:nvPr/>
        </p:nvSpPr>
        <p:spPr>
          <a:xfrm>
            <a:off x="1828800" y="30723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816352" y="3072384"/>
            <a:ext cx="9144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5"/>
          <p:cNvSpPr/>
          <p:nvPr/>
        </p:nvSpPr>
        <p:spPr>
          <a:xfrm>
            <a:off x="2816352" y="30723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803904" y="3072384"/>
            <a:ext cx="9144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7"/>
          <p:cNvSpPr/>
          <p:nvPr/>
        </p:nvSpPr>
        <p:spPr>
          <a:xfrm>
            <a:off x="3803904" y="30723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791456" y="3072384"/>
            <a:ext cx="9144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Text 29"/>
          <p:cNvSpPr/>
          <p:nvPr/>
        </p:nvSpPr>
        <p:spPr>
          <a:xfrm>
            <a:off x="4791456" y="307238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82880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instruction — all four lanes at once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" y="4160520"/>
            <a:ext cx="5577840" cy="1828800"/>
          </a:xfrm>
          <a:prstGeom prst="roundRect">
            <a:avLst>
              <a:gd name="adj" fmla="val 35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5" name="Text 32"/>
          <p:cNvSpPr/>
          <p:nvPr/>
        </p:nvSpPr>
        <p:spPr>
          <a:xfrm>
            <a:off x="804672" y="4233672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packed.asm — 4 lanes (xmm, 128-bit)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04672" y="4544568"/>
            <a:ext cx="52486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add4_ps: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movups xmm0, [rsi]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load a[0..3]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addps  xmm0, xmm1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4 adds in parallel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movups [rdi], xmm0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store the 4 results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400800" y="164592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274320" cy="2743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967728" y="1792224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vertical loop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6601968" y="2157984"/>
            <a:ext cx="4718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addps means: for all lanes i, v[i] = a[i] + b[i]. The lanes are independent, so the hardware does them simultaneously. There is no loop around the instruction itself.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6400800" y="388620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069080"/>
            <a:ext cx="274320" cy="27432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967728" y="4032504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= more lanes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6601968" y="4398264"/>
            <a:ext cx="4718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addps over xmm does 4. The AVX form vaddps over ymm does 8 — note its 3-operand shape: vaddps ymm0, ymm0, ymm1. Same idea, double the width.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4 · PACKED.ASM — 8 LANES &amp; OUTPUT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operation, doubled width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852160" cy="2743200"/>
          </a:xfrm>
          <a:prstGeom prst="roundRect">
            <a:avLst>
              <a:gd name="adj" fmla="val 233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73352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packed.asm — 8 lanes (ymm, 256-bit)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84248"/>
            <a:ext cx="552297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add8_ps: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vmovups ymm0, [rsi]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load a[0..7]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vmovups ymm1, [rdx]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load b[0..7]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vaddps  ymm0, ymm0, ymm1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8 adds at once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vmovups [rdi], ymm0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vzeroupper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AVX hygiene before ret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5852160" cy="1463040"/>
          </a:xfrm>
          <a:prstGeom prst="roundRect">
            <a:avLst>
              <a:gd name="adj" fmla="val 437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804672" y="4599432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4672" y="4910328"/>
            <a:ext cx="55229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&amp; run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packed &amp;&amp; ./packed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1600200"/>
            <a:ext cx="4892040" cy="4389120"/>
          </a:xfrm>
          <a:prstGeom prst="roundRect">
            <a:avLst>
              <a:gd name="adj" fmla="val 145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Text 10"/>
          <p:cNvSpPr/>
          <p:nvPr/>
        </p:nvSpPr>
        <p:spPr>
          <a:xfrm>
            <a:off x="6793992" y="1673352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93992" y="1984248"/>
            <a:ext cx="456285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./packed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SSE: 4 lanes (xmm, 128-bit)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     :  1  2  3  4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      : 10 20 30 40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addps  : 11 22 33 44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subps  : -9 -18 -27 -36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mulps  : 10 40 90 160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AVX: 8 lanes (ymm, 256-bit)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vaddps : 11 22 33 44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55 66 77 88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4 · DEBUGGING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every lane update on one instruction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806440" cy="1417320"/>
          </a:xfrm>
          <a:prstGeom prst="roundRect">
            <a:avLst>
              <a:gd name="adj" fmla="val 451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2763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with debug info (-g -F dwarf)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38528"/>
            <a:ext cx="54772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-f elf64 -g -F dwarf packed.asm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-o packed.o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-g -o packed packed.o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806440" cy="288036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804672" y="318211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session — watch the registers change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4672" y="3493008"/>
            <a:ext cx="547725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dbg_addps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the 4-lane addps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$xmm0.v4_float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 = {1,2,3,4}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$xmm1.v4_float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b = {10,20,30,40}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ONE addps -&gt; all 4 lanes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$xmm0.v4_float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{11,22,33,44}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dbg_vaddps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the 8-lane vaddps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$ymm0.v8_float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8 lanes (ymm)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155448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7373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170078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784848" y="2066544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point of packed: a SINGLE stepi over addps changes all four lanes at once, and over vaddps all eight. Compare .v4_float on xmm (128-bit) with .v8_float on ymm (256-bit) — same operation, double the lanes.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83680" y="384048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0233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50608" y="398678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84848" y="4352544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inspect PROG=packed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this program with debug info and runs its gdb script automatically — every command on the left, no typing.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5 · DOTPROD.ASM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reduction: packed FMA, then a cross-lane fold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170078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vertical (easy)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41248" y="2066544"/>
            <a:ext cx="49926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8 elements per step. One vfmadd231ps does, for all 8 lanes, acc[i] += a[i]·b[i] with one rounding. After the loop, acc holds 8 partial sums — one per lane.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79476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776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07008" y="394106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the catch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41248" y="4306824"/>
            <a:ext cx="4992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dot product is ONE number, but the sum is spread across 8 lanes. Combining lanes means moving data BETWEEN lanes — a point of synchronization. We do it once, at the very end.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72200" y="1554480"/>
            <a:ext cx="5367528" cy="4526280"/>
          </a:xfrm>
          <a:prstGeom prst="roundRect">
            <a:avLst>
              <a:gd name="adj" fmla="val 141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Text 10"/>
          <p:cNvSpPr/>
          <p:nvPr/>
        </p:nvSpPr>
        <p:spPr>
          <a:xfrm>
            <a:off x="6336792" y="1627632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dotprod.asm — vertical loop + fold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336792" y="1938528"/>
            <a:ext cx="5038344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.loop: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sweep 8 floats at a time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vmovups ymm1, [rdi+rax*4]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vmovups ymm2, [rsi+rax*4]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vfmadd231ps ymm0, ymm1, ymm2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acc += a*b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rax, 8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jmp .loop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.reduce: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8 lanes -&gt; 1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vextractf128 xmm1, ymm0, 1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vaddps  xmm0, xmm0, xmm1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-&gt; 4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vhaddps xmm0, xmm0, xmm0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-&gt; 2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vhaddps xmm0, xmm0, xmm0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-&gt; 1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5 · DOTPROD.ASM — THE FOLD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partial sums collapse to one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lanes (ymm)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383280" y="1728216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5"/>
          <p:cNvSpPr/>
          <p:nvPr/>
        </p:nvSpPr>
        <p:spPr>
          <a:xfrm>
            <a:off x="3895344" y="1728216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4407408" y="1728216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4919472" y="1728216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8"/>
          <p:cNvSpPr/>
          <p:nvPr/>
        </p:nvSpPr>
        <p:spPr>
          <a:xfrm>
            <a:off x="5431536" y="1728216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9"/>
          <p:cNvSpPr/>
          <p:nvPr/>
        </p:nvSpPr>
        <p:spPr>
          <a:xfrm>
            <a:off x="5943600" y="1728216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0"/>
          <p:cNvSpPr/>
          <p:nvPr/>
        </p:nvSpPr>
        <p:spPr>
          <a:xfrm>
            <a:off x="6455664" y="1728216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1"/>
          <p:cNvSpPr/>
          <p:nvPr/>
        </p:nvSpPr>
        <p:spPr>
          <a:xfrm>
            <a:off x="6967728" y="1728216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640080" y="2258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extractf128 → 4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383280" y="2295144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4"/>
          <p:cNvSpPr/>
          <p:nvPr/>
        </p:nvSpPr>
        <p:spPr>
          <a:xfrm>
            <a:off x="3895344" y="2295144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Shape 15"/>
          <p:cNvSpPr/>
          <p:nvPr/>
        </p:nvSpPr>
        <p:spPr>
          <a:xfrm>
            <a:off x="4407408" y="2295144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6"/>
          <p:cNvSpPr/>
          <p:nvPr/>
        </p:nvSpPr>
        <p:spPr>
          <a:xfrm>
            <a:off x="4919472" y="2295144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640080" y="28254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haddps → 2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383280" y="2862072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19"/>
          <p:cNvSpPr/>
          <p:nvPr/>
        </p:nvSpPr>
        <p:spPr>
          <a:xfrm>
            <a:off x="3895344" y="2862072"/>
            <a:ext cx="457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0"/>
          <p:cNvSpPr/>
          <p:nvPr/>
        </p:nvSpPr>
        <p:spPr>
          <a:xfrm>
            <a:off x="640080" y="3392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haddps → 1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383280" y="3429000"/>
            <a:ext cx="457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2"/>
          <p:cNvSpPr/>
          <p:nvPr/>
        </p:nvSpPr>
        <p:spPr>
          <a:xfrm>
            <a:off x="640080" y="4160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Cross-lane motion happens only here — once, after the whole loop. That is what makes a reduction the interesting part of SIMD.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812280" y="1600200"/>
            <a:ext cx="4709160" cy="2286000"/>
          </a:xfrm>
          <a:prstGeom prst="roundRect">
            <a:avLst>
              <a:gd name="adj" fmla="val 28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7" name="Text 24"/>
          <p:cNvSpPr/>
          <p:nvPr/>
        </p:nvSpPr>
        <p:spPr>
          <a:xfrm>
            <a:off x="6976872" y="1673352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— both agree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976872" y="1984248"/>
            <a:ext cx="437997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./dotprod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AVX+FMA (8 lanes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fold)         = 32762.0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 reference = 32762.0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812280" y="4023360"/>
            <a:ext cx="4709160" cy="1965960"/>
          </a:xfrm>
          <a:prstGeom prst="roundRect">
            <a:avLst>
              <a:gd name="adj" fmla="val 2791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20624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379208" y="4169664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cross-check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013448" y="4535424"/>
            <a:ext cx="4306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one-element-at-a-time scalar loop computes the same sum. Matching values prove the packed version and its fold are correct.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5 · DEBUGGING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8 partial sums, then the fold to 1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806440" cy="1417320"/>
          </a:xfrm>
          <a:prstGeom prst="roundRect">
            <a:avLst>
              <a:gd name="adj" fmla="val 451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2763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with debug info (-g -F dwarf)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38528"/>
            <a:ext cx="54772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-f elf64 -g -F dwarf dotprod.asm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-o dotprod.o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-g -o dotprod dotprod.o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806440" cy="288036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804672" y="318211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session — watch the registers change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4672" y="3493008"/>
            <a:ext cx="547725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dbg_dot_acc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the accumulating FMA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$ymm0.v8_float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8 partial sums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one FMA folds in 8 more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dbg_dot_fold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start of the fold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$ymm0.v8_float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8 partials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watch 8 -&gt; 4 -&gt; 2 -&gt; 1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$xmm0.v4_float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155448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7373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170078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784848" y="2066544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breakpoints tell the two-phase story. At dbg_dot_acc you see the 8 lanes accumulate. At dbg_dot_fold you step the cross-lane collapse (vextractf128, then two vhaddps) and watch the partial sums merge into a single number in lane 0.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83680" y="384048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0233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50608" y="398678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84848" y="4352544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inspect PROG=dotprod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this program with debug info and runs its gdb script automatically — every command on the left, no typing.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6 · LOADS.ASM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vs unaligned moves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760720" cy="2788920"/>
          </a:xfrm>
          <a:prstGeom prst="roundRect">
            <a:avLst>
              <a:gd name="adj" fmla="val 229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73352"/>
            <a:ext cx="5431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loads.asm — the only difference is aps vs ups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84248"/>
            <a:ext cx="543153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sum_aligned: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vmovaps ymm1, [rdi+rax*4]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FAULTS if not 32-aligned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vaddps  ymm0, ymm0, ymm1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sum_unaligned: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vmovups ymm1, [rdi+rax*4]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works at ANY address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vaddps  ymm0, ymm0, ymm1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37960" y="1600200"/>
            <a:ext cx="4983480" cy="2057400"/>
          </a:xfrm>
          <a:prstGeom prst="roundRect">
            <a:avLst>
              <a:gd name="adj" fmla="val 2667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04888" y="1746504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 / u dimension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739128" y="2112264"/>
            <a:ext cx="4581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vmovaps = ALIGNED: faults unless the address is 32-byte aligned. vmovups = UNALIGNED: never faults. On aligned data both cost the same on modern CPUs.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537960" y="3794760"/>
            <a:ext cx="4983480" cy="2194560"/>
          </a:xfrm>
          <a:prstGeom prst="roundRect">
            <a:avLst>
              <a:gd name="adj" fmla="val 2500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9776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04888" y="3941064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739128" y="4306824"/>
            <a:ext cx="4581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the unaligned form unless you specifically WANT the alignment check. The program sums the same array both ways (identical result), then does a vmovups from a deliberately misaligned address (arr+1) — where vmovaps would have crashed.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6 · LOADS.ASM — RUN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answer; one address only one form survives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852160" cy="1417320"/>
          </a:xfrm>
          <a:prstGeom prst="roundRect">
            <a:avLst>
              <a:gd name="adj" fmla="val 451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73352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84248"/>
            <a:ext cx="55229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loads &amp;&amp; ./loads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5852160" cy="2788920"/>
          </a:xfrm>
          <a:prstGeom prst="roundRect">
            <a:avLst>
              <a:gd name="adj" fmla="val 229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804672" y="3273552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4672" y="3584448"/>
            <a:ext cx="552297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./loads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Summing 4096 aligned floats, two ways: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vmovaps (aligned)   = 4096.0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vmovups (unaligned) = 4096.0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vmovups from arr+1 -&gt; lane0 = 1.0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29400" y="1600200"/>
            <a:ext cx="4892040" cy="4389120"/>
          </a:xfrm>
          <a:prstGeom prst="roundRect">
            <a:avLst>
              <a:gd name="adj" fmla="val 1250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783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6328" y="1746504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last line proves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30568" y="2112264"/>
            <a:ext cx="44897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arr+1 float is one float past a 32-byte boundary, so it is NOT aligned. vmovups reads it anyway and lands arr[1] = 1.0 in lane 0.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we used vmovaps at that same address, the program would have died with a fault (SIGSEGV) instead of printing. That single contrast is the whole lesson: unaligned is the safe default.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6 · DEBUGGING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load fill ymm1; see the misaligned case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806440" cy="1417320"/>
          </a:xfrm>
          <a:prstGeom prst="roundRect">
            <a:avLst>
              <a:gd name="adj" fmla="val 451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2763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with debug info (-g -F dwarf)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38528"/>
            <a:ext cx="54772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-f elf64 -g -F dwarf loads.asm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-o loads.o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-g -o loads loads.o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806440" cy="288036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804672" y="3182112"/>
            <a:ext cx="5477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session — watch the registers change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04672" y="3493008"/>
            <a:ext cx="547725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dbg_aligned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on the vmovaps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$ymm1.v8_float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stale, before load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ALIGNED load fills ymm1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$ymm1.v8_float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{1,1,1,1,1,1,1,1}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dbg_misaligned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vmovups from arr+1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unaligned load succeeds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$ymm0.v8_float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155448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7373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170078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784848" y="2066544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the vmovaps and watch ymm1 fill with eight 1.0s — a load is just data moving into the register. Then the dbg_misaligned breakpoint puts you on the vmovups from arr+1: stepping it succeeds, where a vmovaps at that unaligned address would have crashed.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83680" y="384048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FFFBEB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0233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50608" y="398678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84848" y="4352544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inspect PROG=loads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this program with debug info and runs its gdb script automatically — every command on the left, no typing.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· BEYOND THE BASE PATTERN (2/2)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moves: reading vmovdqu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program loads raw integer data, so it uses an integer move. Its name follows a parallel grammar — different suffixes, same idea.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97280" y="1965960"/>
            <a:ext cx="768096" cy="77724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1097280" y="202082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752344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AVX prefix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39696" y="1965960"/>
            <a:ext cx="1389888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2139696" y="2020824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773936" y="2752344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03904" y="1965960"/>
            <a:ext cx="1078992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3803904" y="2020824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38144" y="275234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double-quadword (128/256 bits of integer)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157216" y="1965960"/>
            <a:ext cx="768096" cy="77724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5157216" y="202082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791456" y="2752344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unaligned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0080" y="3611880"/>
            <a:ext cx="5669280" cy="2377440"/>
          </a:xfrm>
          <a:prstGeom prst="roundRect">
            <a:avLst>
              <a:gd name="adj" fmla="val 269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804672" y="3685032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move families, side by side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04672" y="3995928"/>
            <a:ext cx="534009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the float moves we already met: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vmovaps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move · aligned · packed-single (float)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vmovups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move · unaligned · packed-single (float)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the integer move, for raw bits: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vmovdqu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move · double-quad · unaligned (int)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46520" y="3611880"/>
            <a:ext cx="5074920" cy="2377440"/>
          </a:xfrm>
          <a:prstGeom prst="roundRect">
            <a:avLst>
              <a:gd name="adj" fmla="val 2308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79476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13448" y="3758184"/>
            <a:ext cx="4325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integer move here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647688" y="4123944"/>
            <a:ext cx="4672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regview loads dq 1,2,3,4 — four 64-bit integers — and treats the 256 bits as raw data, not as floats. vmovdqu is the move that says 'just the bits, please.' Same aligned/unaligned choice (vmovdqa exists too), just an integer flavour.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7 · REGVIEW.ASM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a known pattern into ymm0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852160" cy="3291840"/>
          </a:xfrm>
          <a:prstGeom prst="roundRect">
            <a:avLst>
              <a:gd name="adj" fmla="val 194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73352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regview.asm — straight from the lecture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84248"/>
            <a:ext cx="552297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.data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 32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dq 1, 2, 3, 4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four 64-bit ints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.text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vmovdqu ymm0, [rel A]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256 bits -&gt; ymm0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after_load: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&lt;- gdb breakpoint here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vmovdqu [rel buf], ymm0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copy out to print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vzeroupper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29400" y="1600200"/>
            <a:ext cx="4892040" cy="1783080"/>
          </a:xfrm>
          <a:prstGeom prst="roundRect">
            <a:avLst>
              <a:gd name="adj" fmla="val 3077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6328" y="1746504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look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30568" y="2112264"/>
            <a:ext cx="4489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Run it — the program prints the bytes through several types.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Debug it — stop at after_load and read the live $ymm0 (next slides).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629400" y="3520440"/>
            <a:ext cx="4892040" cy="246888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7033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96328" y="3666744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after_load label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830568" y="4032504"/>
            <a:ext cx="4489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sits immediately AFTER the load, so a breakpoint there catches ymm0 already filled. We export it (global after_load) so gdb can break on it by name.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vzeroupper before returning avoids the SSE/AVX transition penalty — good AVX hygiene.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INSPECTING · THE KEY IDEA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bit-pattern, many types — a union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ymm register is just 256 bits. Nothing in the bits says what type they are. The same storage can be read as any of these — nothing is converted, each is a different lens.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804672" y="2258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int64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2624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1, 2, 3, 4 }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214884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4526280" y="2258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× int32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26280" y="2624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1,0, 2,0, 3,0, 4,0 }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83296" y="214884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8247888" y="2258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× int16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47888" y="2624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1,0,0,0, 2,0,0,0, … }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38328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804672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× byte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" y="3858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01 00 00 00 … }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361688" y="338328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452628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double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26280" y="3858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4.9e-324, 9.9e-324, … }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83296" y="338328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20"/>
          <p:cNvSpPr/>
          <p:nvPr/>
        </p:nvSpPr>
        <p:spPr>
          <a:xfrm>
            <a:off x="8247888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× float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47888" y="3858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1.4e-45, 0, 2.8e-45, 0, … }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gdb shows them all for the live register; regview prints the same views from a copy of the bytes.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INSPECTING · INTO THE DEBUGGER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inspect — build with debug info, stop at the load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852160" cy="224028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73352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— why debug info matters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84248"/>
            <a:ext cx="552297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Makefile builds regview WITH DWARF, then: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inspect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== gdb -q -x inspect.gdb ./regview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-f elf64 -g -F dwarf regview.asm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-o regview.o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-g: debug info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-g -o regview regview.o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29400" y="1600200"/>
            <a:ext cx="4892040" cy="224028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6793992" y="1673352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gdb commands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793992" y="1984248"/>
            <a:ext cx="456285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inside gdb, by hand: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after_load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stop after load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ymm0 now filled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resume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one instruction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023360"/>
            <a:ext cx="10899648" cy="1965960"/>
          </a:xfrm>
          <a:prstGeom prst="roundRect">
            <a:avLst>
              <a:gd name="adj" fmla="val 2791"/>
            </a:avLst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062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07008" y="416966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break AFTER the load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41248" y="4535424"/>
            <a:ext cx="10497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 after_load is the first instruction past vmovdqu ymm0, [rel A]. Breaking there means ymm0 already holds the pattern when we stop — no need to single-step the RIP-relative load. Building with -g -F dwarf is what lets gdb resolve the label 'after_load' by name instead of a bare address.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INSPECTING · READING $YMM0 LIVE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the register through each lens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486400" cy="4389120"/>
          </a:xfrm>
          <a:prstGeom prst="roundRect">
            <a:avLst>
              <a:gd name="adj" fmla="val 145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73352"/>
            <a:ext cx="5157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inspect.gdb — the commands it runs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84248"/>
            <a:ext cx="515721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$ymm0.v4_int64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$ymm0.v8_int32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$ymm0.v8_float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$xmm0.v2_int64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low 128 bits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registers ymm0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the whole union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a sticky view that re-prints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after every step: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$ymm0.v4_int64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watch it update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257800" cy="4389120"/>
          </a:xfrm>
          <a:prstGeom prst="roundRect">
            <a:avLst>
              <a:gd name="adj" fmla="val 145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6428232" y="167335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gdb prints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28232" y="1984248"/>
            <a:ext cx="492861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 1, after_load ()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 = {1, 2, 3, 4}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(ymm0.v4_int64)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 = {1,0, 2,0, 3,0, 4,0}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(ymm0.v8_int32)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 = {1.40e-45, 0,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2.80e-45, 0, ...}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(ymm0.v8_float)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 = {1, 2}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xmm0 = low half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INSPECTING · MAKING SENSE OF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each view looks the way it does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089964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22960" y="15544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v4_int64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0" y="155448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1, 2, 3, 4 }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92240" y="155448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what we stored — the lens we wanted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10899648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822960" y="251460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v8_int32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43200" y="251460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1,0, 2,0, 3,0, 4,0 }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92240" y="251460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int64 splits into a low half (1..4) and a zero high half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474720"/>
            <a:ext cx="1089964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822960" y="347472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v8_float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43200" y="347472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1.4e-45, 0, 2.8e-45, … }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92240" y="347472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low halves read as float bits = tiny denormals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434840"/>
            <a:ext cx="10899648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6"/>
          <p:cNvSpPr/>
          <p:nvPr/>
        </p:nvSpPr>
        <p:spPr>
          <a:xfrm>
            <a:off x="822960" y="44348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v4_double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43200" y="443484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4.9e-324, 9.9e-324, … }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92240" y="4434840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int64 read as a double = a denormal near zero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5486400"/>
            <a:ext cx="10899648" cy="566928"/>
          </a:xfrm>
          <a:prstGeom prst="roundRect">
            <a:avLst>
              <a:gd name="adj" fmla="val 806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0"/>
          <p:cNvSpPr/>
          <p:nvPr/>
        </p:nvSpPr>
        <p:spPr>
          <a:xfrm>
            <a:off x="868680" y="54864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lesson: the bits never changed — only the type we used to read them. Choose the lens that matches your data.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INSPECTING · THE PAYOFF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output and gdb agree — same bits, two sources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440680" cy="3657600"/>
          </a:xfrm>
          <a:prstGeom prst="roundRect">
            <a:avLst>
              <a:gd name="adj" fmla="val 175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764792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 COPY of the bytes (the program)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2075688"/>
            <a:ext cx="51114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./regview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v4_int64 = 1 2 3 4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v8_int32 = 1 0 2 0 3 0 4 0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v8_float = 1.4e-45 0 2.8e-45 0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4.2e-45 0 5.6e-45 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3657600"/>
          </a:xfrm>
          <a:prstGeom prst="roundRect">
            <a:avLst>
              <a:gd name="adj" fmla="val 175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6428232" y="176479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LIVE register (gdb)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28232" y="2075688"/>
            <a:ext cx="492861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print $ymm0.v4_int64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 = {1, 2, 3, 4}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print $ymm0.v8_int32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 = {1,0, 2,0, 3,0, 4,0}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print $ymm0.v8_float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 = {1.40e-45, 0, 2.80e-45,...}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15000" y="3200400"/>
            <a:ext cx="777240" cy="77724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3832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programs, two sessions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3949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4"/>
          <p:cNvSpPr/>
          <p:nvPr/>
        </p:nvSpPr>
        <p:spPr>
          <a:xfrm>
            <a:off x="786384" y="170078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786384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98448" y="1627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cpuid.asm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98448" y="16276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SSE/AVX with the cpuid instruction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159252"/>
            <a:ext cx="53949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9"/>
          <p:cNvSpPr/>
          <p:nvPr/>
        </p:nvSpPr>
        <p:spPr>
          <a:xfrm>
            <a:off x="786384" y="330555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0"/>
          <p:cNvSpPr/>
          <p:nvPr/>
        </p:nvSpPr>
        <p:spPr>
          <a:xfrm>
            <a:off x="786384" y="33055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98448" y="32324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scalar_sse.asm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98448" y="32324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ops · [rel] · cvtss2sd · the ABI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340864"/>
            <a:ext cx="53949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4"/>
          <p:cNvSpPr/>
          <p:nvPr/>
        </p:nvSpPr>
        <p:spPr>
          <a:xfrm>
            <a:off x="786384" y="248716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5"/>
          <p:cNvSpPr/>
          <p:nvPr/>
        </p:nvSpPr>
        <p:spPr>
          <a:xfrm>
            <a:off x="786384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98448" y="24140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fma_horner.asm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98448" y="24140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vfmadd213ss: Taylor series by Horner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56960" y="1554480"/>
            <a:ext cx="53949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2" name="Shape 19"/>
          <p:cNvSpPr/>
          <p:nvPr/>
        </p:nvSpPr>
        <p:spPr>
          <a:xfrm>
            <a:off x="6303264" y="1700784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0"/>
          <p:cNvSpPr/>
          <p:nvPr/>
        </p:nvSpPr>
        <p:spPr>
          <a:xfrm>
            <a:off x="6303264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15328" y="1627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packed.asm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15328" y="16276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addps / vaddps — one op, every lane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56960" y="3096550"/>
            <a:ext cx="53949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7" name="Shape 24"/>
          <p:cNvSpPr/>
          <p:nvPr/>
        </p:nvSpPr>
        <p:spPr>
          <a:xfrm>
            <a:off x="6303264" y="3242854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Text 25"/>
          <p:cNvSpPr/>
          <p:nvPr/>
        </p:nvSpPr>
        <p:spPr>
          <a:xfrm>
            <a:off x="6303264" y="32428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15328" y="316970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dotprod.asm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15328" y="316970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packed FMA (231) + a cross-lane fold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56960" y="2340864"/>
            <a:ext cx="53949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2" name="Shape 29"/>
          <p:cNvSpPr/>
          <p:nvPr/>
        </p:nvSpPr>
        <p:spPr>
          <a:xfrm>
            <a:off x="6303264" y="248716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3" name="Text 30"/>
          <p:cNvSpPr/>
          <p:nvPr/>
        </p:nvSpPr>
        <p:spPr>
          <a:xfrm>
            <a:off x="6303264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815328" y="24140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loads.asm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815328" y="24140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vs unaligned moves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56960" y="3882934"/>
            <a:ext cx="539496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7" name="Shape 34"/>
          <p:cNvSpPr/>
          <p:nvPr/>
        </p:nvSpPr>
        <p:spPr>
          <a:xfrm>
            <a:off x="6303264" y="402923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8" name="Text 35"/>
          <p:cNvSpPr/>
          <p:nvPr/>
        </p:nvSpPr>
        <p:spPr>
          <a:xfrm>
            <a:off x="6303264" y="40292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815328" y="395608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regview.asm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815328" y="395608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vmovdqu ymm0, then inspect it in gdb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68680" y="5440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seven are pure assembly. Read the .asm, run it, inspect the registers in gdb — that is the whole loop.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· THE COMMANDS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and debugging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440680" cy="4434840"/>
          </a:xfrm>
          <a:prstGeom prst="roundRect">
            <a:avLst>
              <a:gd name="adj" fmla="val 144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804672" y="1673352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1984248"/>
            <a:ext cx="511149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&amp; run (make)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build all seven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build + run in order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inspect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regview under gdb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inspect PROG=packed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any program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PROG = cpuid | scalar_sse |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fma_horner | packed | dotprod |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loads | regview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</a:t>
            </a: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remove binaries + .o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03520" cy="4434840"/>
          </a:xfrm>
          <a:prstGeom prst="roundRect">
            <a:avLst>
              <a:gd name="adj" fmla="val 1443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6382512" y="1673352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82512" y="1984248"/>
            <a:ext cx="497433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gdb -- the commands you reuse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&lt;dbg_label&gt;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per-program label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$xmm0.v4_float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4 floats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$ymm0.v8_float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8 floats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$ymm0.v4_int64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regview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registers ymm0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every view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$ymm0.v8_float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sticky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print/t $ecx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binary (cpuid)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 / nexti</a:t>
            </a: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one instruction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/ quit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Programming Laboratory  ·  SSE / AVX in assembly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98480" y="6437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5813</Words>
  <Application>Microsoft Office PowerPoint</Application>
  <PresentationFormat>מסך רחב</PresentationFormat>
  <Paragraphs>780</Paragraphs>
  <Slides>40</Slides>
  <Notes>40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40</vt:i4>
      </vt:variant>
    </vt:vector>
  </HeadingPairs>
  <TitlesOfParts>
    <vt:vector size="44" baseType="lpstr">
      <vt:lpstr>Arial</vt:lpstr>
      <vt:lpstr>Cambria</vt:lpstr>
      <vt:lpstr>Courier New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SSE &amp; AVX, by Example</dc:title>
  <dc:subject>PptxGenJS Presentation</dc:subject>
  <dc:creator>System Programming Laboratory</dc:creator>
  <cp:lastModifiedBy>אריאל ברוך ביתן</cp:lastModifiedBy>
  <cp:revision>3</cp:revision>
  <dcterms:created xsi:type="dcterms:W3CDTF">2026-06-21T06:35:16Z</dcterms:created>
  <dcterms:modified xsi:type="dcterms:W3CDTF">2026-06-21T09:49:16Z</dcterms:modified>
</cp:coreProperties>
</file>