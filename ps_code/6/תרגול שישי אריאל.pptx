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60" r:id="rId1"/>
  </p:sldMasterIdLst>
  <p:notesMasterIdLst>
    <p:notesMasterId r:id="rId30"/>
  </p:notesMasterIdLst>
  <p:sldIdLst>
    <p:sldId id="256" r:id="rId2"/>
    <p:sldId id="28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9" r:id="rId15"/>
    <p:sldId id="268" r:id="rId16"/>
    <p:sldId id="285" r:id="rId17"/>
    <p:sldId id="272" r:id="rId18"/>
    <p:sldId id="273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</p:sldIdLst>
  <p:sldSz cx="12192000" cy="6858000"/>
  <p:notesSz cx="7104063" cy="10234613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5005" autoAdjust="0"/>
    <p:restoredTop sz="94118" autoAdjust="0"/>
  </p:normalViewPr>
  <p:slideViewPr>
    <p:cSldViewPr snapToGrid="0">
      <p:cViewPr varScale="1">
        <p:scale>
          <a:sx n="77" d="100"/>
          <a:sy n="77" d="100"/>
        </p:scale>
        <p:origin x="91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081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4025636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1"/>
          <a:lstStyle>
            <a:lvl1pPr algn="r">
              <a:defRPr sz="1300"/>
            </a:lvl1pPr>
          </a:lstStyle>
          <a:p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645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1"/>
          <a:lstStyle>
            <a:lvl1pPr algn="l">
              <a:defRPr sz="1300"/>
            </a:lvl1pPr>
          </a:lstStyle>
          <a:p>
            <a:fld id="{895146F1-D45D-4BF6-ADA8-2118F3251406}" type="datetimeFigureOut">
              <a:rPr lang="he-IL" smtClean="0"/>
              <a:t>א'/סיון/תשפ"ו</a:t>
            </a:fld>
            <a:endParaRPr lang="he-IL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1" anchor="ctr"/>
          <a:lstStyle/>
          <a:p>
            <a:endParaRPr lang="he-IL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9075" tIns="49538" rIns="99075" bIns="49538" rtlCol="1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4025636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1" anchor="b"/>
          <a:lstStyle>
            <a:lvl1pPr algn="r">
              <a:defRPr sz="1300"/>
            </a:lvl1pPr>
          </a:lstStyle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645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1" anchor="b"/>
          <a:lstStyle>
            <a:lvl1pPr algn="l">
              <a:defRPr sz="1300"/>
            </a:lvl1pPr>
          </a:lstStyle>
          <a:p>
            <a:fld id="{0777E120-8F02-4E27-B339-988D7B4D874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599355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77E120-8F02-4E27-B339-988D7B4D8746}" type="slidenum">
              <a:rPr lang="he-IL" smtClean="0"/>
              <a:t>8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999865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he-IL"/>
            </a:p>
          </p:txBody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033D1520-2FFA-422D-A16E-CBCEC179089D}" type="datetime8">
              <a:rPr lang="he-IL" smtClean="0"/>
              <a:t>17 מאי 26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F8AF44E0-B259-4E04-988E-044891C349D9}" type="slidenum">
              <a:rPr lang="he-IL" smtClean="0"/>
              <a:t>‹#›</a:t>
            </a:fld>
            <a:endParaRPr lang="he-IL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7500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B990D-C931-492B-BFD7-799719F4A174}" type="datetime8">
              <a:rPr lang="he-IL" smtClean="0"/>
              <a:t>17 מאי 26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F44E0-B259-4E04-988E-044891C349D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192745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834B2-9885-4AA3-AC47-F1CE7A1CA058}" type="datetime8">
              <a:rPr lang="he-IL" smtClean="0"/>
              <a:t>17 מאי 26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F44E0-B259-4E04-988E-044891C349D9}" type="slidenum">
              <a:rPr lang="he-IL" smtClean="0"/>
              <a:t>‹#›</a:t>
            </a:fld>
            <a:endParaRPr lang="he-IL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74808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3E3D9-D085-4110-89B1-86438C225FA5}" type="datetime8">
              <a:rPr lang="he-IL" smtClean="0"/>
              <a:t>17 מאי 26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F44E0-B259-4E04-988E-044891C349D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157794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CAF0B-DB57-432F-BF10-15C2A652CD57}" type="datetime8">
              <a:rPr lang="he-IL" smtClean="0"/>
              <a:t>17 מאי 26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F44E0-B259-4E04-988E-044891C349D9}" type="slidenum">
              <a:rPr lang="he-IL" smtClean="0"/>
              <a:t>‹#›</a:t>
            </a:fld>
            <a:endParaRPr lang="he-IL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14916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BDDEA-12C6-490E-9F12-D948C777762A}" type="datetime8">
              <a:rPr lang="he-IL" smtClean="0"/>
              <a:t>17 מאי 26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F44E0-B259-4E04-988E-044891C349D9}" type="slidenum">
              <a:rPr lang="he-IL" smtClean="0"/>
              <a:t>‹#›</a:t>
            </a:fld>
            <a:endParaRPr lang="he-IL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35696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EEE62-FCA5-4BF9-AD72-99BFF9F586A9}" type="datetime8">
              <a:rPr lang="he-IL" smtClean="0"/>
              <a:t>17 מאי 26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F44E0-B259-4E04-988E-044891C349D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3808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FE1D4-3B44-4950-AC54-58F65E1E4281}" type="datetime8">
              <a:rPr lang="he-IL" smtClean="0"/>
              <a:t>17 מאי 26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F44E0-B259-4E04-988E-044891C349D9}" type="slidenum">
              <a:rPr lang="he-IL" smtClean="0"/>
              <a:t>‹#›</a:t>
            </a:fld>
            <a:endParaRPr lang="he-IL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2051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50401-E1BC-4C7D-88CB-6071CD6EE198}" type="datetime8">
              <a:rPr lang="he-IL" smtClean="0"/>
              <a:t>17 מאי 26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F44E0-B259-4E04-988E-044891C349D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986943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תמונה פנורמית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C465F-F246-4BF1-85C5-C43F56D33661}" type="datetime8">
              <a:rPr lang="he-IL" smtClean="0"/>
              <a:t>17 מאי 26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F44E0-B259-4E04-988E-044891C349D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802249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ותרת ו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93667-2757-44F9-9105-EC42B560DFF0}" type="datetime8">
              <a:rPr lang="he-IL" smtClean="0"/>
              <a:t>17 מאי 26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F44E0-B259-4E04-988E-044891C349D9}" type="slidenum">
              <a:rPr lang="he-IL" smtClean="0"/>
              <a:t>‹#›</a:t>
            </a:fld>
            <a:endParaRPr lang="he-IL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19006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ציטוט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A334F-115B-49C8-9674-94B398C5D370}" type="datetime8">
              <a:rPr lang="he-IL" smtClean="0"/>
              <a:t>17 מאי 26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F44E0-B259-4E04-988E-044891C349D9}" type="slidenum">
              <a:rPr lang="he-IL" smtClean="0"/>
              <a:t>‹#›</a:t>
            </a:fld>
            <a:endParaRPr lang="he-IL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84822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רטיס ש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241FC-37DD-40CA-B63A-944380C4F232}" type="datetime8">
              <a:rPr lang="he-IL" smtClean="0"/>
              <a:t>17 מאי 26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F44E0-B259-4E04-988E-044891C349D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716212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רטיס שם עם ציטו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E773-47C8-4D37-A166-958096593C24}" type="datetime8">
              <a:rPr lang="he-IL" smtClean="0"/>
              <a:t>17 מאי 26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F44E0-B259-4E04-988E-044891C349D9}" type="slidenum">
              <a:rPr lang="he-IL" smtClean="0"/>
              <a:t>‹#›</a:t>
            </a:fld>
            <a:endParaRPr lang="he-IL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03212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או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D9D39-3CD3-450C-8E5B-498F1368E3E7}" type="datetime8">
              <a:rPr lang="he-IL" smtClean="0"/>
              <a:t>17 מאי 26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F44E0-B259-4E04-988E-044891C349D9}" type="slidenum">
              <a:rPr lang="he-IL" smtClean="0"/>
              <a:t>‹#›</a:t>
            </a:fld>
            <a:endParaRPr lang="he-IL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59234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2E5C2-117F-47C6-93E6-118F30CDDF9A}" type="datetime8">
              <a:rPr lang="he-IL" smtClean="0"/>
              <a:t>17 מאי 26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F44E0-B259-4E04-988E-044891C349D9}" type="slidenum">
              <a:rPr lang="he-IL" smtClean="0"/>
              <a:t>‹#›</a:t>
            </a:fld>
            <a:endParaRPr lang="he-IL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61116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257C1-2314-4443-BC95-EA036866BB50}" type="datetime8">
              <a:rPr lang="he-IL" smtClean="0"/>
              <a:t>17 מאי 26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F44E0-B259-4E04-988E-044891C349D9}" type="slidenum">
              <a:rPr lang="he-IL" smtClean="0"/>
              <a:t>‹#›</a:t>
            </a:fld>
            <a:endParaRPr lang="he-IL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0839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he-IL"/>
            </a:p>
          </p:txBody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A0472331-E8E7-4FA9-B152-552ED3DC91FD}" type="datetime8">
              <a:rPr lang="he-IL" smtClean="0"/>
              <a:t>17 מאי 26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F8AF44E0-B259-4E04-988E-044891C349D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755369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hdr="0" ftr="0"/>
  <p:txStyles>
    <p:titleStyle>
      <a:lvl1pPr algn="ctr" defTabSz="457200" rtl="1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rtl="1" eaLnBrk="1" hangingPunct="1">
        <a:defRPr>
          <a:solidFill>
            <a:schemeClr val="tx2"/>
          </a:solidFill>
        </a:defRPr>
      </a:lvl2pPr>
      <a:lvl3pPr rtl="1" eaLnBrk="1" hangingPunct="1">
        <a:defRPr>
          <a:solidFill>
            <a:schemeClr val="tx2"/>
          </a:solidFill>
        </a:defRPr>
      </a:lvl3pPr>
      <a:lvl4pPr rtl="1" eaLnBrk="1" hangingPunct="1">
        <a:defRPr>
          <a:solidFill>
            <a:schemeClr val="tx2"/>
          </a:solidFill>
        </a:defRPr>
      </a:lvl4pPr>
      <a:lvl5pPr rtl="1" eaLnBrk="1" hangingPunct="1">
        <a:defRPr>
          <a:solidFill>
            <a:schemeClr val="tx2"/>
          </a:solidFill>
        </a:defRPr>
      </a:lvl5pPr>
      <a:lvl6pPr rtl="1" eaLnBrk="1" hangingPunct="1">
        <a:defRPr>
          <a:solidFill>
            <a:schemeClr val="tx2"/>
          </a:solidFill>
        </a:defRPr>
      </a:lvl6pPr>
      <a:lvl7pPr rtl="1" eaLnBrk="1" hangingPunct="1">
        <a:defRPr>
          <a:solidFill>
            <a:schemeClr val="tx2"/>
          </a:solidFill>
        </a:defRPr>
      </a:lvl7pPr>
      <a:lvl8pPr rtl="1" eaLnBrk="1" hangingPunct="1">
        <a:defRPr>
          <a:solidFill>
            <a:schemeClr val="tx2"/>
          </a:solidFill>
        </a:defRPr>
      </a:lvl8pPr>
      <a:lvl9pPr rtl="1" eaLnBrk="1" hangingPunct="1">
        <a:defRPr>
          <a:solidFill>
            <a:schemeClr val="tx2"/>
          </a:solidFill>
        </a:defRPr>
      </a:lvl9pPr>
    </p:titleStyle>
    <p:bodyStyle>
      <a:lvl1pPr marL="285750" indent="-28575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e-IL" dirty="0"/>
              <a:t>תרגול שישי </a:t>
            </a:r>
          </a:p>
        </p:txBody>
      </p:sp>
      <p:sp>
        <p:nvSpPr>
          <p:cNvPr id="3" name="כותרת משנה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he-IL" sz="3200" dirty="0"/>
              <a:t>קריאות לפונקציה לפי מוסכמה, שימוש בארגומנטים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92D1E-BA3A-4EDF-86A9-6A4689B7296A}" type="datetime8">
              <a:rPr lang="he-IL" smtClean="0"/>
              <a:t>17 מאי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F44E0-B259-4E04-988E-044891C349D9}" type="slidenum">
              <a:rPr lang="he-IL" smtClean="0"/>
              <a:t>1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81280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תזכורת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e-IL" dirty="0"/>
              <a:t>שימוש באוגרים בני 64 ביט – הן כאוגרי מידע והן כאוגרי כתובת :</a:t>
            </a:r>
            <a:r>
              <a:rPr lang="en-US" dirty="0"/>
              <a:t> </a:t>
            </a:r>
            <a:endParaRPr lang="he-IL" dirty="0"/>
          </a:p>
          <a:p>
            <a:r>
              <a:rPr lang="he-IL" dirty="0"/>
              <a:t>6 פרמטרים ראשונים לפונקציה נמצאים באוגרים הבאים - </a:t>
            </a:r>
            <a:r>
              <a:rPr lang="pt-BR" dirty="0"/>
              <a:t>rdi, rsi, rdx, rcx, r8, r9</a:t>
            </a:r>
            <a:endParaRPr lang="he-IL" dirty="0"/>
          </a:p>
          <a:p>
            <a:r>
              <a:rPr lang="he-IL" dirty="0"/>
              <a:t>פרמטרים נוספים עוברים במחסנית</a:t>
            </a:r>
          </a:p>
          <a:p>
            <a:pPr algn="r"/>
            <a:r>
              <a:rPr lang="he-IL" dirty="0"/>
              <a:t>ערך מוחזר דרך </a:t>
            </a:r>
            <a:r>
              <a:rPr lang="en-US" dirty="0" err="1"/>
              <a:t>rax</a:t>
            </a:r>
            <a:r>
              <a:rPr lang="he-IL" dirty="0"/>
              <a:t> </a:t>
            </a:r>
          </a:p>
          <a:p>
            <a:r>
              <a:rPr lang="he-IL" dirty="0"/>
              <a:t>שימוש באוגרים : </a:t>
            </a:r>
            <a:r>
              <a:rPr lang="pt-BR" dirty="0"/>
              <a:t>rax, rcx, rdx, rsi, rdi, r8–r11</a:t>
            </a:r>
            <a:r>
              <a:rPr lang="he-IL" dirty="0"/>
              <a:t> - אוגרים שהפונקציה הקוראת צריכה לשמר בעוד שהפונקציה הנקראת יכולה לדרוס אותם - </a:t>
            </a:r>
            <a:r>
              <a:rPr lang="en-US" dirty="0"/>
              <a:t>caller saved </a:t>
            </a:r>
            <a:endParaRPr lang="he-IL" dirty="0"/>
          </a:p>
          <a:p>
            <a:r>
              <a:rPr lang="he-IL" dirty="0"/>
              <a:t>שימוש באוגרים  </a:t>
            </a:r>
            <a:r>
              <a:rPr lang="en-US" dirty="0"/>
              <a:t>  </a:t>
            </a:r>
            <a:r>
              <a:rPr lang="en-US" dirty="0" err="1"/>
              <a:t>rbx</a:t>
            </a:r>
            <a:r>
              <a:rPr lang="en-US" dirty="0"/>
              <a:t>, </a:t>
            </a:r>
            <a:r>
              <a:rPr lang="en-US" dirty="0" err="1"/>
              <a:t>rbp</a:t>
            </a:r>
            <a:r>
              <a:rPr lang="en-US" dirty="0"/>
              <a:t>, r12–r15</a:t>
            </a:r>
            <a:r>
              <a:rPr lang="he-IL" dirty="0"/>
              <a:t>כאוגרים שיש לשחזר את תכנם כאשר נעשה בהם שימוש - </a:t>
            </a:r>
            <a:r>
              <a:rPr lang="en-US" dirty="0"/>
              <a:t>callee saved</a:t>
            </a:r>
            <a:endParaRPr lang="he-IL" dirty="0"/>
          </a:p>
          <a:p>
            <a:pPr algn="l" rtl="0"/>
            <a:endParaRPr lang="he-IL" dirty="0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86F9B-4F77-4447-9AAD-3BF139D86DFE}" type="datetime8">
              <a:rPr lang="he-IL" smtClean="0"/>
              <a:t>17 מאי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0E98E-E5DE-4FBA-A1BC-5678C1343BC3}" type="slidenum">
              <a:rPr lang="he-IL" smtClean="0"/>
              <a:t>2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155674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אלגוריתם </a:t>
            </a:r>
            <a:r>
              <a:rPr lang="he-IL" dirty="0" err="1"/>
              <a:t>אוקלידוס</a:t>
            </a:r>
            <a:r>
              <a:rPr lang="he-IL" dirty="0"/>
              <a:t> </a:t>
            </a:r>
            <a:r>
              <a:rPr lang="en-US" dirty="0"/>
              <a:t>GCD 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he-IL" dirty="0"/>
              <a:t>נראה להלן את </a:t>
            </a:r>
            <a:r>
              <a:rPr lang="he-IL" dirty="0" err="1"/>
              <a:t>ישום</a:t>
            </a:r>
            <a:r>
              <a:rPr lang="he-IL" dirty="0"/>
              <a:t> האלגוריתם אשר מוצא את המחלק המשותף המקסימלי של שני מספרים :</a:t>
            </a:r>
          </a:p>
          <a:p>
            <a:r>
              <a:rPr lang="he-IL" dirty="0"/>
              <a:t>האלגוריתם קולט שני מספרים </a:t>
            </a:r>
            <a:r>
              <a:rPr lang="en-US" dirty="0" err="1"/>
              <a:t>a,b</a:t>
            </a:r>
            <a:r>
              <a:rPr lang="he-IL" dirty="0"/>
              <a:t> באמצעות פקודת </a:t>
            </a:r>
            <a:r>
              <a:rPr lang="en-US" dirty="0" err="1"/>
              <a:t>scanf</a:t>
            </a:r>
            <a:r>
              <a:rPr lang="he-IL" dirty="0"/>
              <a:t> של שפת </a:t>
            </a:r>
            <a:r>
              <a:rPr lang="en-US" dirty="0"/>
              <a:t>C</a:t>
            </a:r>
            <a:r>
              <a:rPr lang="he-IL" dirty="0"/>
              <a:t> </a:t>
            </a:r>
          </a:p>
          <a:p>
            <a:r>
              <a:rPr lang="he-IL" dirty="0"/>
              <a:t>בשלב הבא מבצע את חישוב המחלק המשותף המקסימלי לפי האלגוריתם הבא :</a:t>
            </a:r>
            <a:r>
              <a:rPr lang="en-US" dirty="0"/>
              <a:t> </a:t>
            </a:r>
            <a:endParaRPr lang="he-IL" dirty="0"/>
          </a:p>
          <a:p>
            <a:pPr algn="l" rtl="0"/>
            <a:r>
              <a:rPr lang="en-US" dirty="0"/>
              <a:t>while b != 0:</a:t>
            </a:r>
          </a:p>
          <a:p>
            <a:pPr algn="l" rtl="0"/>
            <a:r>
              <a:rPr lang="en-US" dirty="0"/>
              <a:t>    temp = a % b                                        </a:t>
            </a:r>
          </a:p>
          <a:p>
            <a:pPr algn="l" rtl="0"/>
            <a:r>
              <a:rPr lang="en-US" dirty="0"/>
              <a:t>    a = b</a:t>
            </a:r>
          </a:p>
          <a:p>
            <a:pPr algn="l" rtl="0"/>
            <a:r>
              <a:rPr lang="en-US" dirty="0"/>
              <a:t>    b = temp</a:t>
            </a:r>
          </a:p>
          <a:p>
            <a:pPr algn="l" rtl="0"/>
            <a:r>
              <a:rPr lang="en-US" dirty="0"/>
              <a:t>return a</a:t>
            </a:r>
          </a:p>
          <a:p>
            <a:pPr algn="r"/>
            <a:r>
              <a:rPr lang="he-IL" dirty="0"/>
              <a:t>בשלב האחרון מדפיסים את התוצאה </a:t>
            </a:r>
            <a:endParaRPr lang="en-US" dirty="0"/>
          </a:p>
          <a:p>
            <a:pPr algn="l" rtl="0"/>
            <a:endParaRPr lang="he-IL" dirty="0"/>
          </a:p>
          <a:p>
            <a:endParaRPr lang="he-IL" dirty="0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33234-2CA8-4D81-B41C-85F523C67C73}" type="datetime8">
              <a:rPr lang="he-IL" smtClean="0"/>
              <a:t>17 מאי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F44E0-B259-4E04-988E-044891C349D9}" type="slidenum">
              <a:rPr lang="he-IL" smtClean="0"/>
              <a:t>3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915862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התכנית </a:t>
            </a:r>
            <a:r>
              <a:rPr lang="he-IL" dirty="0" err="1"/>
              <a:t>לישום</a:t>
            </a:r>
            <a:r>
              <a:rPr lang="he-IL" dirty="0"/>
              <a:t> אלגוריתם </a:t>
            </a:r>
            <a:r>
              <a:rPr lang="en-US" dirty="0"/>
              <a:t>GCD</a:t>
            </a:r>
            <a:r>
              <a:rPr lang="he-IL" dirty="0"/>
              <a:t> 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e-IL" dirty="0"/>
              <a:t>בתכנית זו אנו  עושים שימוש בפונקציות אשר מקבלות פרמטרים, אזי כל ערך של כל פרמטר יש לאחסנו באוגר לפי הכלל:</a:t>
            </a:r>
            <a:r>
              <a:rPr lang="en-US" dirty="0"/>
              <a:t> </a:t>
            </a:r>
            <a:endParaRPr lang="he-IL" dirty="0"/>
          </a:p>
          <a:p>
            <a:pPr algn="l" rtl="0"/>
            <a:r>
              <a:rPr lang="en-US" dirty="0"/>
              <a:t>RDI – the first parameter  </a:t>
            </a:r>
          </a:p>
          <a:p>
            <a:pPr algn="l" rtl="0"/>
            <a:r>
              <a:rPr lang="en-US" dirty="0"/>
              <a:t>RSI – the second parameter</a:t>
            </a:r>
          </a:p>
          <a:p>
            <a:pPr algn="l" rtl="0"/>
            <a:r>
              <a:rPr lang="en-US" dirty="0"/>
              <a:t>RDX – the third parameter </a:t>
            </a:r>
          </a:p>
          <a:p>
            <a:pPr algn="l" rtl="0"/>
            <a:r>
              <a:rPr lang="en-US" dirty="0"/>
              <a:t>…..</a:t>
            </a:r>
            <a:endParaRPr lang="he-IL" dirty="0"/>
          </a:p>
          <a:p>
            <a:endParaRPr lang="he-IL" dirty="0"/>
          </a:p>
          <a:p>
            <a:endParaRPr lang="he-IL" dirty="0"/>
          </a:p>
          <a:p>
            <a:endParaRPr lang="he-IL" dirty="0"/>
          </a:p>
          <a:p>
            <a:endParaRPr lang="he-IL" dirty="0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E9349-EE5B-41B5-9515-030BA3AA07D7}" type="datetime8">
              <a:rPr lang="he-IL" smtClean="0"/>
              <a:t>17 מאי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F44E0-B259-4E04-988E-044891C349D9}" type="slidenum">
              <a:rPr lang="he-IL" smtClean="0"/>
              <a:t>4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65039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התכנית </a:t>
            </a:r>
            <a:r>
              <a:rPr lang="he-IL" dirty="0" err="1"/>
              <a:t>לישום</a:t>
            </a:r>
            <a:r>
              <a:rPr lang="he-IL" dirty="0"/>
              <a:t> אלגוריתם </a:t>
            </a:r>
            <a:r>
              <a:rPr lang="en-US" dirty="0"/>
              <a:t>GCD 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במקרה שלנו יתבצע שימוש גם בפונקציות של שפת </a:t>
            </a:r>
            <a:r>
              <a:rPr lang="en-US" dirty="0"/>
              <a:t>C</a:t>
            </a:r>
            <a:r>
              <a:rPr lang="he-IL" dirty="0"/>
              <a:t> , אלא שהן אינן שונות מכל פונקציה אחרת של </a:t>
            </a:r>
            <a:r>
              <a:rPr lang="he-IL" dirty="0" err="1"/>
              <a:t>אסמבלי</a:t>
            </a:r>
            <a:r>
              <a:rPr lang="he-IL" dirty="0"/>
              <a:t>. </a:t>
            </a:r>
          </a:p>
          <a:p>
            <a:r>
              <a:rPr lang="he-IL" dirty="0"/>
              <a:t>לדוגמא קטע הקוד הבא :</a:t>
            </a:r>
            <a:endParaRPr lang="he-IL" b="1" dirty="0"/>
          </a:p>
          <a:p>
            <a:pPr algn="l" rtl="0"/>
            <a:r>
              <a:rPr lang="en-US" b="1" dirty="0"/>
              <a:t>mov </a:t>
            </a:r>
            <a:r>
              <a:rPr lang="en-US" b="1" dirty="0" err="1"/>
              <a:t>rdi</a:t>
            </a:r>
            <a:r>
              <a:rPr lang="en-US" b="1" dirty="0"/>
              <a:t>, </a:t>
            </a:r>
            <a:r>
              <a:rPr lang="en-US" b="1" dirty="0" err="1"/>
              <a:t>fmt_prompt_for_inpu</a:t>
            </a:r>
            <a:endParaRPr lang="en-US" b="1" dirty="0"/>
          </a:p>
          <a:p>
            <a:pPr algn="l" rtl="0"/>
            <a:r>
              <a:rPr lang="en-US" b="1" dirty="0" err="1"/>
              <a:t>xor</a:t>
            </a:r>
            <a:r>
              <a:rPr lang="en-US" b="1" dirty="0"/>
              <a:t> </a:t>
            </a:r>
            <a:r>
              <a:rPr lang="en-US" b="1" dirty="0" err="1"/>
              <a:t>rax</a:t>
            </a:r>
            <a:r>
              <a:rPr lang="en-US" b="1" dirty="0"/>
              <a:t>, </a:t>
            </a:r>
            <a:r>
              <a:rPr lang="en-US" b="1" dirty="0" err="1"/>
              <a:t>rax</a:t>
            </a:r>
            <a:endParaRPr lang="en-US" b="1" dirty="0"/>
          </a:p>
          <a:p>
            <a:pPr algn="l" rtl="0"/>
            <a:r>
              <a:rPr lang="en-US" b="1" dirty="0"/>
              <a:t>call </a:t>
            </a:r>
            <a:r>
              <a:rPr lang="en-US" b="1" dirty="0" err="1"/>
              <a:t>printf</a:t>
            </a:r>
            <a:endParaRPr lang="he-IL" b="1" dirty="0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481C9-BBAA-4D0A-9C58-98EFCEC41C17}" type="datetime8">
              <a:rPr lang="he-IL" smtClean="0"/>
              <a:t>17 מאי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F44E0-B259-4E04-988E-044891C349D9}" type="slidenum">
              <a:rPr lang="he-IL" smtClean="0"/>
              <a:t>5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7201706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התכנית </a:t>
            </a:r>
            <a:r>
              <a:rPr lang="he-IL" dirty="0" err="1"/>
              <a:t>לישום</a:t>
            </a:r>
            <a:r>
              <a:rPr lang="he-IL" dirty="0"/>
              <a:t> אלגוריתם </a:t>
            </a:r>
            <a:r>
              <a:rPr lang="en-US" dirty="0"/>
              <a:t>GCD 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שקול לפקודה הבאה בשפת  </a:t>
            </a:r>
            <a:r>
              <a:rPr lang="en-US" dirty="0"/>
              <a:t>C</a:t>
            </a:r>
            <a:r>
              <a:rPr lang="he-IL" dirty="0"/>
              <a:t>  : </a:t>
            </a:r>
            <a:r>
              <a:rPr lang="en-US" b="1" dirty="0" err="1"/>
              <a:t>printf</a:t>
            </a:r>
            <a:r>
              <a:rPr lang="en-US" b="1" dirty="0"/>
              <a:t>(fmt_prompt_for_input);</a:t>
            </a:r>
            <a:r>
              <a:rPr lang="he-IL" b="1" dirty="0"/>
              <a:t>  </a:t>
            </a:r>
          </a:p>
          <a:p>
            <a:r>
              <a:rPr lang="he-IL" dirty="0"/>
              <a:t>וזאת משום שאוגר </a:t>
            </a:r>
            <a:r>
              <a:rPr lang="en-US" dirty="0"/>
              <a:t>RDI</a:t>
            </a:r>
            <a:r>
              <a:rPr lang="he-IL" dirty="0"/>
              <a:t> מכיל בתוכו את </a:t>
            </a:r>
            <a:r>
              <a:rPr lang="en-US" dirty="0"/>
              <a:t>fmt_prompt_for_input</a:t>
            </a:r>
            <a:r>
              <a:rPr lang="he-IL" dirty="0"/>
              <a:t> שהוא הפרמטר הראשון. </a:t>
            </a:r>
          </a:p>
          <a:p>
            <a:r>
              <a:rPr lang="he-IL" dirty="0"/>
              <a:t>בשקף הבא נראה את החלק העיקרי של התכנית ונסביר אותו :</a:t>
            </a:r>
            <a:r>
              <a:rPr lang="en-US" dirty="0"/>
              <a:t> </a:t>
            </a:r>
          </a:p>
          <a:p>
            <a:endParaRPr lang="he-IL" dirty="0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9F3D2-3518-436F-AAC7-405E2AE9678B}" type="datetime8">
              <a:rPr lang="he-IL" smtClean="0"/>
              <a:t>17 מאי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F44E0-B259-4E04-988E-044891C349D9}" type="slidenum">
              <a:rPr lang="he-IL" smtClean="0"/>
              <a:t>6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064544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הפונקציה ליישום אלגוריתם </a:t>
            </a:r>
            <a:r>
              <a:rPr lang="en-US" dirty="0"/>
              <a:t>GCD </a:t>
            </a:r>
            <a:endParaRPr lang="he-IL" dirty="0"/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F8366-C96F-438C-BB9A-01D8B228D137}" type="datetime8">
              <a:rPr lang="he-IL" smtClean="0"/>
              <a:t>17 מאי 26</a:t>
            </a:fld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F44E0-B259-4E04-988E-044891C349D9}" type="slidenum">
              <a:rPr lang="he-IL" smtClean="0"/>
              <a:t>7</a:t>
            </a:fld>
            <a:endParaRPr lang="he-IL"/>
          </a:p>
        </p:txBody>
      </p:sp>
      <p:pic>
        <p:nvPicPr>
          <p:cNvPr id="9" name="תמונה 8">
            <a:extLst>
              <a:ext uri="{FF2B5EF4-FFF2-40B4-BE49-F238E27FC236}">
                <a16:creationId xmlns:a16="http://schemas.microsoft.com/office/drawing/2014/main" id="{D71FAC0F-13D3-6279-7857-1CBAEF6BF7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138" y="2532570"/>
            <a:ext cx="8513306" cy="3674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93562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המשך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כפי שניתן לראות בקריאה לפונקציה מ</a:t>
            </a:r>
            <a:r>
              <a:rPr lang="en-US" dirty="0"/>
              <a:t>main</a:t>
            </a:r>
            <a:r>
              <a:rPr lang="he-IL" dirty="0"/>
              <a:t> , הערך הראשון </a:t>
            </a:r>
            <a:r>
              <a:rPr lang="en-US" dirty="0"/>
              <a:t>a</a:t>
            </a:r>
            <a:r>
              <a:rPr lang="he-IL" dirty="0"/>
              <a:t> מאוחסן ב </a:t>
            </a:r>
            <a:r>
              <a:rPr lang="en-US" dirty="0" err="1"/>
              <a:t>rdi</a:t>
            </a:r>
            <a:r>
              <a:rPr lang="en-US" dirty="0"/>
              <a:t> </a:t>
            </a:r>
            <a:r>
              <a:rPr lang="he-IL" dirty="0"/>
              <a:t>  ואילו השני </a:t>
            </a:r>
            <a:r>
              <a:rPr lang="en-US" dirty="0"/>
              <a:t>b</a:t>
            </a:r>
            <a:r>
              <a:rPr lang="he-IL" dirty="0"/>
              <a:t> מאוחסן ב </a:t>
            </a:r>
            <a:r>
              <a:rPr lang="en-US" dirty="0" err="1"/>
              <a:t>rsi</a:t>
            </a:r>
            <a:r>
              <a:rPr lang="he-IL" dirty="0"/>
              <a:t> </a:t>
            </a:r>
          </a:p>
          <a:p>
            <a:r>
              <a:rPr lang="he-IL" dirty="0"/>
              <a:t>לאחר מכן מתבצעת הלולאה של אותו </a:t>
            </a:r>
            <a:r>
              <a:rPr lang="he-IL" dirty="0" err="1"/>
              <a:t>פסאודו</a:t>
            </a:r>
            <a:r>
              <a:rPr lang="he-IL" dirty="0"/>
              <a:t> קוד שהראינו ובו מתקיימת חלוקה של </a:t>
            </a:r>
            <a:r>
              <a:rPr lang="en-US" dirty="0"/>
              <a:t>a</a:t>
            </a:r>
            <a:r>
              <a:rPr lang="he-IL" dirty="0"/>
              <a:t> ב </a:t>
            </a:r>
            <a:r>
              <a:rPr lang="en-US" dirty="0"/>
              <a:t>b</a:t>
            </a:r>
            <a:r>
              <a:rPr lang="he-IL" dirty="0"/>
              <a:t> כך שהלולאה נמשכת כל עוד יש שארית חלוקה. </a:t>
            </a:r>
          </a:p>
          <a:p>
            <a:r>
              <a:rPr lang="he-IL" dirty="0"/>
              <a:t>ברגע שהשארית מתאפסת – מוחזר הערך של </a:t>
            </a:r>
            <a:r>
              <a:rPr lang="en-US" dirty="0"/>
              <a:t>a</a:t>
            </a:r>
            <a:r>
              <a:rPr lang="he-IL" dirty="0"/>
              <a:t> דהיינו הערך שמאוחסן ב </a:t>
            </a:r>
            <a:r>
              <a:rPr lang="en-US" dirty="0" err="1"/>
              <a:t>rdi</a:t>
            </a:r>
            <a:r>
              <a:rPr lang="en-US" dirty="0"/>
              <a:t> </a:t>
            </a:r>
            <a:r>
              <a:rPr lang="he-IL" dirty="0"/>
              <a:t>, אלא שערך מוחזר של פונקציה מוחזר דרך </a:t>
            </a:r>
            <a:r>
              <a:rPr lang="en-US" dirty="0" err="1"/>
              <a:t>rax</a:t>
            </a:r>
            <a:r>
              <a:rPr lang="he-IL" dirty="0"/>
              <a:t> ולכן בשורה האחרונה טרם החזרה מעבירים את  הערך של </a:t>
            </a:r>
            <a:r>
              <a:rPr lang="en-US" dirty="0" err="1"/>
              <a:t>rdi</a:t>
            </a:r>
            <a:r>
              <a:rPr lang="en-US" dirty="0"/>
              <a:t> </a:t>
            </a:r>
            <a:r>
              <a:rPr lang="he-IL" dirty="0"/>
              <a:t> אל </a:t>
            </a:r>
            <a:r>
              <a:rPr lang="en-US" dirty="0" err="1"/>
              <a:t>rax</a:t>
            </a:r>
            <a:r>
              <a:rPr lang="he-IL" dirty="0"/>
              <a:t> 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160E2-1BBF-4A54-AF8D-9B10FBAE121B}" type="datetime8">
              <a:rPr lang="he-IL" smtClean="0"/>
              <a:t>17 מאי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F44E0-B259-4E04-988E-044891C349D9}" type="slidenum">
              <a:rPr lang="he-IL" smtClean="0"/>
              <a:t>8</a:t>
            </a:fld>
            <a:endParaRPr lang="he-IL"/>
          </a:p>
        </p:txBody>
      </p:sp>
      <p:pic>
        <p:nvPicPr>
          <p:cNvPr id="7" name="תמונה 6">
            <a:extLst>
              <a:ext uri="{FF2B5EF4-FFF2-40B4-BE49-F238E27FC236}">
                <a16:creationId xmlns:a16="http://schemas.microsoft.com/office/drawing/2014/main" id="{7FBFBBBF-6E6B-CF4F-DBBD-98661B11AA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367" y="889000"/>
            <a:ext cx="4622798" cy="1285630"/>
          </a:xfrm>
          <a:prstGeom prst="rect">
            <a:avLst/>
          </a:prstGeom>
        </p:spPr>
      </p:pic>
      <p:pic>
        <p:nvPicPr>
          <p:cNvPr id="9" name="תמונה 8">
            <a:extLst>
              <a:ext uri="{FF2B5EF4-FFF2-40B4-BE49-F238E27FC236}">
                <a16:creationId xmlns:a16="http://schemas.microsoft.com/office/drawing/2014/main" id="{7BE58155-4643-C60A-CE2D-AEC968D377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6044" y="5170090"/>
            <a:ext cx="2854405" cy="938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2305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הרצה </a:t>
            </a:r>
            <a:r>
              <a:rPr lang="he-IL" dirty="0" err="1"/>
              <a:t>וקמפול</a:t>
            </a:r>
            <a:r>
              <a:rPr lang="he-IL" dirty="0"/>
              <a:t> : 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/>
            <a:r>
              <a:rPr lang="en-US" b="1" dirty="0" err="1"/>
              <a:t>nasm</a:t>
            </a:r>
            <a:r>
              <a:rPr lang="en-US" b="1" dirty="0"/>
              <a:t> -f elf64 gcd.asm -o </a:t>
            </a:r>
            <a:r>
              <a:rPr lang="en-US" b="1" dirty="0" err="1"/>
              <a:t>gcd.o</a:t>
            </a:r>
            <a:endParaRPr lang="en-US" b="1" dirty="0"/>
          </a:p>
          <a:p>
            <a:pPr algn="l" rtl="0"/>
            <a:r>
              <a:rPr lang="en-US" b="1" dirty="0"/>
              <a:t>gcc -no-pie </a:t>
            </a:r>
            <a:r>
              <a:rPr lang="en-US" b="1" dirty="0" err="1"/>
              <a:t>gcd.o</a:t>
            </a:r>
            <a:r>
              <a:rPr lang="en-US" b="1" dirty="0"/>
              <a:t> -o </a:t>
            </a:r>
            <a:r>
              <a:rPr lang="en-US" b="1" dirty="0" err="1"/>
              <a:t>gcd</a:t>
            </a:r>
            <a:endParaRPr lang="en-US" b="1" dirty="0"/>
          </a:p>
          <a:p>
            <a:pPr algn="l" rtl="0"/>
            <a:r>
              <a:rPr lang="en-US" b="1" dirty="0"/>
              <a:t>./</a:t>
            </a:r>
            <a:r>
              <a:rPr lang="en-US" b="1" dirty="0" err="1"/>
              <a:t>gcd</a:t>
            </a:r>
            <a:endParaRPr lang="en-US" b="1" dirty="0"/>
          </a:p>
          <a:p>
            <a:pPr algn="l" rtl="0"/>
            <a:r>
              <a:rPr lang="en-US" b="1" dirty="0"/>
              <a:t>Debug : </a:t>
            </a:r>
            <a:r>
              <a:rPr lang="en-US" b="1" dirty="0" err="1"/>
              <a:t>gdb</a:t>
            </a:r>
            <a:r>
              <a:rPr lang="en-US" b="1" dirty="0"/>
              <a:t> ./</a:t>
            </a:r>
            <a:r>
              <a:rPr lang="en-US" b="1" dirty="0" err="1"/>
              <a:t>gcd</a:t>
            </a:r>
            <a:endParaRPr lang="en-US" b="1" dirty="0"/>
          </a:p>
          <a:p>
            <a:pPr algn="l" rtl="0"/>
            <a:r>
              <a:rPr lang="en-US" b="1" dirty="0"/>
              <a:t>Breakpoints : break main, break </a:t>
            </a:r>
            <a:r>
              <a:rPr lang="en-US" b="1" dirty="0" err="1"/>
              <a:t>gcd_loop</a:t>
            </a:r>
            <a:r>
              <a:rPr lang="en-US" b="1" dirty="0"/>
              <a:t> </a:t>
            </a:r>
          </a:p>
          <a:p>
            <a:pPr algn="l" rtl="0"/>
            <a:r>
              <a:rPr lang="en-US" b="1" dirty="0"/>
              <a:t>Inspect registers : info registers , display $</a:t>
            </a:r>
            <a:r>
              <a:rPr lang="en-US" b="1" dirty="0" err="1"/>
              <a:t>rdi</a:t>
            </a:r>
            <a:r>
              <a:rPr lang="en-US" b="1" dirty="0"/>
              <a:t>  display $</a:t>
            </a:r>
            <a:r>
              <a:rPr lang="en-US" b="1" dirty="0" err="1"/>
              <a:t>rsi</a:t>
            </a:r>
            <a:r>
              <a:rPr lang="en-US" b="1" dirty="0"/>
              <a:t>  display $</a:t>
            </a:r>
            <a:r>
              <a:rPr lang="en-US" b="1" dirty="0" err="1"/>
              <a:t>rdx</a:t>
            </a:r>
            <a:endParaRPr lang="he-IL" b="1" dirty="0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B990D-C931-492B-BFD7-799719F4A174}" type="datetime8">
              <a:rPr lang="he-IL" smtClean="0"/>
              <a:t>17 מאי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F44E0-B259-4E04-988E-044891C349D9}" type="slidenum">
              <a:rPr lang="he-IL" smtClean="0"/>
              <a:t>9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2682931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תכנית לחישוב לוח הכפל 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he-IL" dirty="0"/>
              <a:t>נפתח בהקדמה : תכנית זו מבצעת קריאה ל </a:t>
            </a:r>
            <a:r>
              <a:rPr lang="en-US" dirty="0" err="1"/>
              <a:t>printf</a:t>
            </a:r>
            <a:r>
              <a:rPr lang="he-IL" dirty="0"/>
              <a:t> אלא שקריאה לפונקציה זו  עלולה להרוס את תכני האוגרים הבאים : </a:t>
            </a:r>
            <a:r>
              <a:rPr lang="en-US" dirty="0"/>
              <a:t>RAX, RDI, RSI,RCX, RDX  </a:t>
            </a:r>
            <a:r>
              <a:rPr lang="he-IL" dirty="0"/>
              <a:t> וכן </a:t>
            </a:r>
            <a:r>
              <a:rPr lang="en-US" dirty="0"/>
              <a:t>R8-R11</a:t>
            </a:r>
          </a:p>
          <a:p>
            <a:pPr marL="0" indent="0">
              <a:buNone/>
            </a:pPr>
            <a:r>
              <a:rPr lang="he-IL" dirty="0"/>
              <a:t>אוגרים בטוחים יותר לשימוש במקרה זה הינם :</a:t>
            </a:r>
            <a:r>
              <a:rPr lang="en-US" dirty="0"/>
              <a:t> </a:t>
            </a:r>
            <a:r>
              <a:rPr lang="he-IL" dirty="0"/>
              <a:t> </a:t>
            </a:r>
            <a:r>
              <a:rPr lang="en-US" dirty="0"/>
              <a:t>R12-R15</a:t>
            </a:r>
            <a:r>
              <a:rPr lang="he-IL" dirty="0"/>
              <a:t>  </a:t>
            </a:r>
            <a:r>
              <a:rPr lang="en-US" dirty="0"/>
              <a:t>RBX   </a:t>
            </a:r>
            <a:r>
              <a:rPr lang="he-IL" dirty="0"/>
              <a:t>  וכן </a:t>
            </a:r>
            <a:r>
              <a:rPr lang="en-US" dirty="0"/>
              <a:t>RBP</a:t>
            </a:r>
            <a:r>
              <a:rPr lang="he-IL" dirty="0"/>
              <a:t> .</a:t>
            </a:r>
          </a:p>
          <a:p>
            <a:pPr marL="0" indent="0">
              <a:buNone/>
            </a:pPr>
            <a:r>
              <a:rPr lang="he-IL" dirty="0"/>
              <a:t>על כן </a:t>
            </a:r>
            <a:r>
              <a:rPr lang="en-US" dirty="0"/>
              <a:t>RBX</a:t>
            </a:r>
            <a:r>
              <a:rPr lang="he-IL" dirty="0"/>
              <a:t> יהיה אוגר הבקרה  לולאת השורות של טבלת לוח הכפל בעוד ש </a:t>
            </a:r>
            <a:r>
              <a:rPr lang="en-US" dirty="0"/>
              <a:t>R12</a:t>
            </a:r>
            <a:r>
              <a:rPr lang="he-IL" dirty="0"/>
              <a:t> יהווה אוגר הבקרה ללולאת העמודות של הלוח </a:t>
            </a:r>
          </a:p>
          <a:p>
            <a:pPr marL="0" indent="0">
              <a:buNone/>
            </a:pPr>
            <a:endParaRPr lang="he-IL" dirty="0"/>
          </a:p>
          <a:p>
            <a:pPr marL="0" indent="0">
              <a:buNone/>
            </a:pPr>
            <a:endParaRPr lang="he-IL" dirty="0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B990D-C931-492B-BFD7-799719F4A174}" type="datetime8">
              <a:rPr lang="he-IL" smtClean="0"/>
              <a:t>17 מאי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F44E0-B259-4E04-988E-044891C349D9}" type="slidenum">
              <a:rPr lang="he-IL" smtClean="0"/>
              <a:t>10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961713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תכנית לחישוב לוח הכפל 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בכל שלב של הלולאה נלקח אוגר אשר מציין את מספרי  השורות </a:t>
            </a:r>
            <a:r>
              <a:rPr lang="en-US" dirty="0"/>
              <a:t>RBX</a:t>
            </a:r>
            <a:r>
              <a:rPr lang="he-IL" dirty="0"/>
              <a:t>  והוא נכפל באוגר </a:t>
            </a:r>
            <a:r>
              <a:rPr lang="en-US" dirty="0"/>
              <a:t>R12</a:t>
            </a:r>
            <a:r>
              <a:rPr lang="he-IL" dirty="0"/>
              <a:t> אשר מציין את מספרי העמודות. </a:t>
            </a:r>
          </a:p>
          <a:p>
            <a:r>
              <a:rPr lang="he-IL" dirty="0"/>
              <a:t>התוצאה המתקבלת היא מכפלה  אחת מתוך 100 המכפלות של לוח הכפל. 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B990D-C931-492B-BFD7-799719F4A174}" type="datetime8">
              <a:rPr lang="he-IL" smtClean="0"/>
              <a:t>17 מאי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F44E0-B259-4E04-988E-044891C349D9}" type="slidenum">
              <a:rPr lang="he-IL" smtClean="0"/>
              <a:t>11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048032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תכנית לחישוב לוח הכפל 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e-IL" dirty="0"/>
              <a:t>בעת קריאה לפונקציה, ישנה מדיניות של שמירת תכני חלק מהאוגרים בעוד שלחלק האחר ניתנת הרשאה לשנות (לדרוס) תכנים. </a:t>
            </a:r>
          </a:p>
          <a:p>
            <a:r>
              <a:rPr lang="he-IL" dirty="0"/>
              <a:t>אותם אוגרים אשר רוצים לשמר נשמרים במחסנית : </a:t>
            </a:r>
          </a:p>
          <a:p>
            <a:r>
              <a:rPr lang="en-US" dirty="0"/>
              <a:t>RBX, RBP, R12, R13, R14, R15</a:t>
            </a:r>
            <a:r>
              <a:rPr lang="he-IL" dirty="0"/>
              <a:t>  - אוגרים אילו יש לשמר משום שהם משמשים כתכני משתנים לוקליים , משתני לולאה וכדומה. </a:t>
            </a:r>
            <a:r>
              <a:rPr lang="he-IL" dirty="0" err="1"/>
              <a:t>פונקצית</a:t>
            </a:r>
            <a:r>
              <a:rPr lang="en-US" dirty="0" err="1"/>
              <a:t>printf</a:t>
            </a:r>
            <a:r>
              <a:rPr lang="en-US" dirty="0"/>
              <a:t>  </a:t>
            </a:r>
            <a:r>
              <a:rPr lang="he-IL" dirty="0"/>
              <a:t>  לא רשאית </a:t>
            </a:r>
            <a:r>
              <a:rPr lang="he-IL" dirty="0" err="1"/>
              <a:t>לשנותם</a:t>
            </a:r>
            <a:endParaRPr lang="he-IL" dirty="0"/>
          </a:p>
          <a:p>
            <a:r>
              <a:rPr lang="he-IL" dirty="0"/>
              <a:t>אוגרים אשר ניתן </a:t>
            </a:r>
            <a:r>
              <a:rPr lang="he-IL" dirty="0" err="1"/>
              <a:t>לשנותם</a:t>
            </a:r>
            <a:r>
              <a:rPr lang="he-IL" dirty="0"/>
              <a:t> ללא  חשש הינם :</a:t>
            </a:r>
            <a:r>
              <a:rPr lang="en-US" dirty="0"/>
              <a:t> </a:t>
            </a:r>
            <a:r>
              <a:rPr lang="he-IL" dirty="0"/>
              <a:t> </a:t>
            </a:r>
          </a:p>
          <a:p>
            <a:r>
              <a:rPr lang="en-US" dirty="0"/>
              <a:t>RAX , RCX, RDX, RSI, RDI,R8, R9, R10, R11</a:t>
            </a:r>
            <a:r>
              <a:rPr lang="he-IL" dirty="0"/>
              <a:t> לכן הם אינם בטוחים לשימוש בלולאות ופקודת </a:t>
            </a:r>
            <a:r>
              <a:rPr lang="en-US" dirty="0" err="1"/>
              <a:t>printf</a:t>
            </a:r>
            <a:r>
              <a:rPr lang="he-IL" dirty="0"/>
              <a:t> רשאית </a:t>
            </a:r>
            <a:r>
              <a:rPr lang="he-IL" dirty="0" err="1"/>
              <a:t>לשנותם</a:t>
            </a:r>
            <a:endParaRPr lang="he-IL" dirty="0"/>
          </a:p>
          <a:p>
            <a:endParaRPr lang="he-IL" dirty="0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B990D-C931-492B-BFD7-799719F4A174}" type="datetime8">
              <a:rPr lang="he-IL" smtClean="0"/>
              <a:t>17 מאי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F44E0-B259-4E04-988E-044891C349D9}" type="slidenum">
              <a:rPr lang="he-IL" smtClean="0"/>
              <a:t>12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8305189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תכנית לחישוב לוח הכפל 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e-IL" dirty="0"/>
              <a:t>מסיבה זו כל פונקציה מתחילה בפרולוג – קדימון הבא :</a:t>
            </a:r>
            <a:r>
              <a:rPr lang="en-US" dirty="0"/>
              <a:t> </a:t>
            </a:r>
            <a:endParaRPr lang="he-IL" dirty="0"/>
          </a:p>
          <a:p>
            <a:pPr algn="l" rtl="0"/>
            <a:r>
              <a:rPr lang="en-US" b="1" dirty="0"/>
              <a:t>push </a:t>
            </a:r>
            <a:r>
              <a:rPr lang="en-US" b="1" dirty="0" err="1"/>
              <a:t>rbp</a:t>
            </a:r>
            <a:endParaRPr lang="en-US" b="1" dirty="0"/>
          </a:p>
          <a:p>
            <a:pPr algn="l" rtl="0"/>
            <a:r>
              <a:rPr lang="en-US" b="1" dirty="0"/>
              <a:t> mov </a:t>
            </a:r>
            <a:r>
              <a:rPr lang="en-US" b="1" dirty="0" err="1"/>
              <a:t>rbp</a:t>
            </a:r>
            <a:r>
              <a:rPr lang="en-US" b="1" dirty="0"/>
              <a:t>, </a:t>
            </a:r>
            <a:r>
              <a:rPr lang="en-US" b="1" dirty="0" err="1"/>
              <a:t>rsp</a:t>
            </a:r>
            <a:endParaRPr lang="en-US" b="1" dirty="0"/>
          </a:p>
          <a:p>
            <a:pPr algn="r"/>
            <a:r>
              <a:rPr lang="he-IL" dirty="0"/>
              <a:t>תוכנו של </a:t>
            </a:r>
            <a:r>
              <a:rPr lang="en-US" dirty="0"/>
              <a:t>RBP</a:t>
            </a:r>
            <a:r>
              <a:rPr lang="he-IL" dirty="0"/>
              <a:t> נשמר ע"י הפונקציה הנקראת ולכן עם סיום הפונקציה חובה לשחזר את תוכנו – מסיבה זו לכל פונקציה יש אפילוג (סיומת). </a:t>
            </a:r>
          </a:p>
          <a:p>
            <a:pPr algn="r"/>
            <a:r>
              <a:rPr lang="he-IL" dirty="0"/>
              <a:t>הסיבה לשמירת </a:t>
            </a:r>
            <a:r>
              <a:rPr lang="en-US" dirty="0"/>
              <a:t>RBP</a:t>
            </a:r>
            <a:r>
              <a:rPr lang="he-IL" dirty="0"/>
              <a:t> היא כדי לסמן סימניה – נעץ במחסנית  אשר מתחתיה ישמרו כל המשתנים הלוקליים של הפונקציה. </a:t>
            </a:r>
          </a:p>
          <a:p>
            <a:pPr algn="r"/>
            <a:r>
              <a:rPr lang="he-IL" dirty="0"/>
              <a:t>מכנים סימניה זו בשם :</a:t>
            </a:r>
            <a:r>
              <a:rPr lang="en-US" dirty="0"/>
              <a:t> </a:t>
            </a:r>
            <a:r>
              <a:rPr lang="he-IL" dirty="0"/>
              <a:t>"</a:t>
            </a:r>
            <a:r>
              <a:rPr lang="en-US" dirty="0"/>
              <a:t>frame pointer</a:t>
            </a:r>
            <a:r>
              <a:rPr lang="he-IL" dirty="0"/>
              <a:t> " 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B990D-C931-492B-BFD7-799719F4A174}" type="datetime8">
              <a:rPr lang="he-IL" smtClean="0"/>
              <a:t>17 מאי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F44E0-B259-4E04-988E-044891C349D9}" type="slidenum">
              <a:rPr lang="he-IL" smtClean="0"/>
              <a:t>13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7141813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תכנית לחישוב לוח הכפל 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he-IL" dirty="0"/>
              <a:t>על כן , קטע התכנית של הפרולוג שומר את כתובת החזרה במחסנית , וננעץ נעץ באותה כתובת על מנת שעם סיום הפונקציה נוכל לשחזר אותה מחדש כדי לחזור למהלך הרציף של התכנית. </a:t>
            </a:r>
          </a:p>
          <a:p>
            <a:r>
              <a:rPr lang="he-IL" dirty="0"/>
              <a:t>במקרה שלנו הפרולוג נמצא בפונקציה הראשית של התכנית – </a:t>
            </a:r>
            <a:r>
              <a:rPr lang="en-US" dirty="0"/>
              <a:t>main</a:t>
            </a:r>
            <a:r>
              <a:rPr lang="he-IL" dirty="0"/>
              <a:t> וזאת משום ש </a:t>
            </a:r>
            <a:r>
              <a:rPr lang="en-US" dirty="0"/>
              <a:t>main</a:t>
            </a:r>
            <a:r>
              <a:rPr lang="he-IL" dirty="0"/>
              <a:t> עושה שימוש באוגרים הבאים :</a:t>
            </a:r>
            <a:r>
              <a:rPr lang="en-US" dirty="0"/>
              <a:t> </a:t>
            </a:r>
            <a:endParaRPr lang="he-IL" dirty="0"/>
          </a:p>
          <a:p>
            <a:r>
              <a:rPr lang="en-US" dirty="0"/>
              <a:t>RBP</a:t>
            </a:r>
            <a:r>
              <a:rPr lang="he-IL" dirty="0"/>
              <a:t> – כמצביע לנעץ במחסנית </a:t>
            </a:r>
          </a:p>
          <a:p>
            <a:r>
              <a:rPr lang="en-US" dirty="0"/>
              <a:t>RBX</a:t>
            </a:r>
            <a:r>
              <a:rPr lang="he-IL" dirty="0"/>
              <a:t> – כמונה שורות </a:t>
            </a:r>
          </a:p>
          <a:p>
            <a:r>
              <a:rPr lang="en-US" dirty="0"/>
              <a:t>R12</a:t>
            </a:r>
            <a:r>
              <a:rPr lang="he-IL" dirty="0"/>
              <a:t> – כמונה עמודות</a:t>
            </a:r>
          </a:p>
          <a:p>
            <a:r>
              <a:rPr lang="he-IL" b="1" u="sng" dirty="0"/>
              <a:t>הערה חשובה : </a:t>
            </a:r>
            <a:r>
              <a:rPr lang="he-IL" b="1" dirty="0"/>
              <a:t>למרות ש </a:t>
            </a:r>
            <a:r>
              <a:rPr lang="en-US" b="1" dirty="0"/>
              <a:t>main</a:t>
            </a:r>
            <a:r>
              <a:rPr lang="he-IL" b="1" dirty="0"/>
              <a:t> היא הפונקציה הראשית , מבחינת האסמבלר הן </a:t>
            </a:r>
            <a:r>
              <a:rPr lang="en-US" b="1" dirty="0"/>
              <a:t>MAIN</a:t>
            </a:r>
            <a:r>
              <a:rPr lang="he-IL" b="1" dirty="0"/>
              <a:t> והן </a:t>
            </a:r>
            <a:r>
              <a:rPr lang="en-US" b="1" dirty="0" err="1"/>
              <a:t>printf</a:t>
            </a:r>
            <a:r>
              <a:rPr lang="he-IL" b="1" dirty="0"/>
              <a:t> הן פונקציות נקראות ולכן יש לשמר את האוגרים בהתאם</a:t>
            </a:r>
            <a:endParaRPr lang="he-IL" b="1" u="sng" dirty="0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B990D-C931-492B-BFD7-799719F4A174}" type="datetime8">
              <a:rPr lang="he-IL" smtClean="0"/>
              <a:t>17 מאי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F44E0-B259-4E04-988E-044891C349D9}" type="slidenum">
              <a:rPr lang="he-IL" smtClean="0"/>
              <a:t>14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9619165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הרצה , </a:t>
            </a:r>
            <a:r>
              <a:rPr lang="he-IL" dirty="0" err="1"/>
              <a:t>דיבוג</a:t>
            </a:r>
            <a:r>
              <a:rPr lang="he-IL" dirty="0"/>
              <a:t> </a:t>
            </a:r>
            <a:r>
              <a:rPr lang="he-IL" dirty="0" err="1"/>
              <a:t>וקמפול</a:t>
            </a:r>
            <a:r>
              <a:rPr lang="he-IL" dirty="0"/>
              <a:t> 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l" rtl="0"/>
            <a:r>
              <a:rPr lang="pt-BR" b="1" dirty="0"/>
              <a:t>nasm -f elf64 multboard.asm -o multboard.o</a:t>
            </a:r>
          </a:p>
          <a:p>
            <a:pPr algn="l" rtl="0"/>
            <a:r>
              <a:rPr lang="pt-BR" b="1" dirty="0"/>
              <a:t>gcc -no-pie multboard.o -o multboard</a:t>
            </a:r>
          </a:p>
          <a:p>
            <a:pPr algn="l" rtl="0"/>
            <a:r>
              <a:rPr lang="en-US" b="1" dirty="0"/>
              <a:t>./</a:t>
            </a:r>
            <a:r>
              <a:rPr lang="en-US" b="1" dirty="0" err="1"/>
              <a:t>multboard</a:t>
            </a:r>
            <a:r>
              <a:rPr lang="en-US" b="1" dirty="0"/>
              <a:t> </a:t>
            </a:r>
          </a:p>
          <a:p>
            <a:pPr algn="l" rtl="0"/>
            <a:r>
              <a:rPr lang="en-US" b="1" dirty="0" err="1"/>
              <a:t>gdb</a:t>
            </a:r>
            <a:r>
              <a:rPr lang="en-US" b="1" dirty="0"/>
              <a:t> ./ </a:t>
            </a:r>
            <a:r>
              <a:rPr lang="en-US" b="1" dirty="0" err="1"/>
              <a:t>multboard</a:t>
            </a:r>
            <a:endParaRPr lang="en-US" b="1" dirty="0"/>
          </a:p>
          <a:p>
            <a:pPr algn="l" rtl="0"/>
            <a:r>
              <a:rPr lang="en-US" b="1" dirty="0"/>
              <a:t>Break main + run </a:t>
            </a:r>
          </a:p>
          <a:p>
            <a:pPr algn="l" rtl="0"/>
            <a:r>
              <a:rPr lang="en-US" b="1" dirty="0"/>
              <a:t>display /d $</a:t>
            </a:r>
            <a:r>
              <a:rPr lang="en-US" b="1" dirty="0" err="1"/>
              <a:t>rbx</a:t>
            </a:r>
            <a:r>
              <a:rPr lang="en-US" b="1" dirty="0"/>
              <a:t>   # row</a:t>
            </a:r>
          </a:p>
          <a:p>
            <a:pPr algn="l" rtl="0"/>
            <a:r>
              <a:rPr lang="en-US" b="1" dirty="0"/>
              <a:t>display /d $r12   # column</a:t>
            </a:r>
          </a:p>
          <a:p>
            <a:pPr algn="l" rtl="0"/>
            <a:r>
              <a:rPr lang="en-US" b="1" dirty="0"/>
              <a:t>display /d $</a:t>
            </a:r>
            <a:r>
              <a:rPr lang="en-US" b="1" dirty="0" err="1"/>
              <a:t>rax</a:t>
            </a:r>
            <a:r>
              <a:rPr lang="en-US" b="1" dirty="0"/>
              <a:t>   # product</a:t>
            </a:r>
            <a:endParaRPr lang="he-IL" b="1" dirty="0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B990D-C931-492B-BFD7-799719F4A174}" type="datetime8">
              <a:rPr lang="he-IL" smtClean="0"/>
              <a:t>17 מאי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F44E0-B259-4E04-988E-044891C349D9}" type="slidenum">
              <a:rPr lang="he-IL" smtClean="0"/>
              <a:t>15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9076667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45BDCA-C6AD-38CE-3D51-125212213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D451568-C15E-BA6E-3866-85F1BD6CF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מציאת מקסימום מתוך רשימה נקלטת של מספרים 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26A8D9A4-903E-72F2-ACB1-277C8FC08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B990D-C931-492B-BFD7-799719F4A174}" type="datetime8">
              <a:rPr lang="he-IL" smtClean="0"/>
              <a:t>17 מאי 26</a:t>
            </a:fld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5404476D-7899-28E4-BA9E-909FC57D1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F44E0-B259-4E04-988E-044891C349D9}" type="slidenum">
              <a:rPr lang="he-IL" smtClean="0"/>
              <a:t>16</a:t>
            </a:fld>
            <a:endParaRPr lang="he-IL"/>
          </a:p>
        </p:txBody>
      </p:sp>
      <p:pic>
        <p:nvPicPr>
          <p:cNvPr id="8" name="תמונה 7">
            <a:extLst>
              <a:ext uri="{FF2B5EF4-FFF2-40B4-BE49-F238E27FC236}">
                <a16:creationId xmlns:a16="http://schemas.microsoft.com/office/drawing/2014/main" id="{D0604597-56D0-0FA2-F3D2-1D3957AF3A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0491" y="4337238"/>
            <a:ext cx="5543181" cy="2318512"/>
          </a:xfrm>
          <a:prstGeom prst="rect">
            <a:avLst/>
          </a:prstGeom>
        </p:spPr>
      </p:pic>
      <p:pic>
        <p:nvPicPr>
          <p:cNvPr id="10" name="תמונה 9">
            <a:extLst>
              <a:ext uri="{FF2B5EF4-FFF2-40B4-BE49-F238E27FC236}">
                <a16:creationId xmlns:a16="http://schemas.microsoft.com/office/drawing/2014/main" id="{DE0EDDAF-CC61-CEA1-6157-CD74B30898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621" y="2520763"/>
            <a:ext cx="3990776" cy="4102478"/>
          </a:xfrm>
          <a:prstGeom prst="rect">
            <a:avLst/>
          </a:prstGeom>
        </p:spPr>
      </p:pic>
      <p:pic>
        <p:nvPicPr>
          <p:cNvPr id="12" name="תמונה 11">
            <a:extLst>
              <a:ext uri="{FF2B5EF4-FFF2-40B4-BE49-F238E27FC236}">
                <a16:creationId xmlns:a16="http://schemas.microsoft.com/office/drawing/2014/main" id="{CAC5F772-79CC-3DB8-BE75-4E8A278684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0491" y="2421958"/>
            <a:ext cx="5820682" cy="1779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16054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e-IL" dirty="0"/>
              <a:t>המשך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endParaRPr lang="he-IL" dirty="0"/>
          </a:p>
          <a:p>
            <a:r>
              <a:rPr lang="he-IL" dirty="0" err="1"/>
              <a:t>התכנית</a:t>
            </a:r>
            <a:r>
              <a:rPr lang="he-IL" dirty="0"/>
              <a:t> מכילה מאקרו </a:t>
            </a:r>
            <a:r>
              <a:rPr lang="en-US" dirty="0"/>
              <a:t> : UPDATE_MAX</a:t>
            </a:r>
            <a:endParaRPr lang="he-IL" dirty="0"/>
          </a:p>
          <a:p>
            <a:r>
              <a:rPr lang="en-US" dirty="0" err="1"/>
              <a:t>cmp</a:t>
            </a:r>
            <a:r>
              <a:rPr lang="en-US" dirty="0"/>
              <a:t> %1, [%2] </a:t>
            </a:r>
            <a:r>
              <a:rPr lang="he-IL" dirty="0"/>
              <a:t>  משווה בין הפרמטר הראשון (למשל האוגר </a:t>
            </a:r>
            <a:r>
              <a:rPr lang="en-US" dirty="0"/>
              <a:t>( RAX </a:t>
            </a:r>
            <a:r>
              <a:rPr lang="he-IL" dirty="0"/>
              <a:t>לבין הערך שנמצא בכתובת הזיכרון של הפרמטר השני (למשל  </a:t>
            </a:r>
            <a:r>
              <a:rPr lang="en-US" dirty="0" err="1"/>
              <a:t>max_val</a:t>
            </a:r>
            <a:r>
              <a:rPr lang="he-IL" dirty="0"/>
              <a:t>)</a:t>
            </a:r>
          </a:p>
          <a:p>
            <a:r>
              <a:rPr lang="en-US" dirty="0"/>
              <a:t> </a:t>
            </a:r>
            <a:r>
              <a:rPr lang="en-US" dirty="0" err="1"/>
              <a:t>jle</a:t>
            </a:r>
            <a:r>
              <a:rPr lang="en-US" dirty="0"/>
              <a:t> %%skip </a:t>
            </a:r>
            <a:r>
              <a:rPr lang="he-IL" dirty="0"/>
              <a:t> - במידה והערך ב-</a:t>
            </a:r>
            <a:r>
              <a:rPr lang="en-US" dirty="0"/>
              <a:t>RAX </a:t>
            </a:r>
            <a:r>
              <a:rPr lang="he-IL" dirty="0"/>
              <a:t>  קטן או שווה לתוכן הזיכרון , אז קפוץ לסוף המאקרו.</a:t>
            </a:r>
            <a:r>
              <a:rPr lang="en-US" dirty="0"/>
              <a:t> </a:t>
            </a:r>
          </a:p>
          <a:p>
            <a:r>
              <a:rPr lang="en-US" dirty="0"/>
              <a:t> mov [%2], %1</a:t>
            </a:r>
            <a:r>
              <a:rPr lang="he-IL" dirty="0"/>
              <a:t> - אם הגענו לכאן, סימן שמצאנו מספר גדול יותר! נשמור אותו בכתובת הזיכרון.</a:t>
            </a:r>
          </a:p>
          <a:p>
            <a:r>
              <a:rPr lang="he-IL" dirty="0"/>
              <a:t>%%</a:t>
            </a:r>
            <a:r>
              <a:rPr lang="en-US" dirty="0"/>
              <a:t>skip  </a:t>
            </a:r>
            <a:r>
              <a:rPr lang="he-IL" dirty="0"/>
              <a:t>  נקודת היציאה. ה-%% מבטיח שהתווית  תהיה </a:t>
            </a:r>
            <a:r>
              <a:rPr lang="he-IL" dirty="0" err="1"/>
              <a:t>יחודית</a:t>
            </a:r>
            <a:r>
              <a:rPr lang="he-IL" dirty="0"/>
              <a:t> בכל פעם שנשתמש במאקרו.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B990D-C931-492B-BFD7-799719F4A174}" type="datetime8">
              <a:rPr lang="he-IL" smtClean="0"/>
              <a:t>17 מאי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F44E0-B259-4E04-988E-044891C349D9}" type="slidenum">
              <a:rPr lang="he-IL" smtClean="0"/>
              <a:t>17</a:t>
            </a:fld>
            <a:endParaRPr lang="he-IL"/>
          </a:p>
        </p:txBody>
      </p:sp>
      <p:pic>
        <p:nvPicPr>
          <p:cNvPr id="9" name="תמונה 8">
            <a:extLst>
              <a:ext uri="{FF2B5EF4-FFF2-40B4-BE49-F238E27FC236}">
                <a16:creationId xmlns:a16="http://schemas.microsoft.com/office/drawing/2014/main" id="{F0FD4EB5-BA80-B73E-C1B8-0D22BA10EE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1675" y="1435011"/>
            <a:ext cx="3010161" cy="2057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96268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e-IL" dirty="0"/>
              <a:t>המשך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he-IL" dirty="0"/>
              <a:t>מאקרו </a:t>
            </a:r>
            <a:r>
              <a:rPr lang="en-US" dirty="0"/>
              <a:t>PRINT_MSG </a:t>
            </a:r>
            <a:r>
              <a:rPr lang="he-IL" dirty="0"/>
              <a:t> :</a:t>
            </a:r>
          </a:p>
          <a:p>
            <a:r>
              <a:rPr lang="en-US" dirty="0"/>
              <a:t>mov </a:t>
            </a:r>
            <a:r>
              <a:rPr lang="en-US" dirty="0" err="1"/>
              <a:t>rdi</a:t>
            </a:r>
            <a:r>
              <a:rPr lang="en-US" dirty="0"/>
              <a:t>, %1</a:t>
            </a:r>
            <a:r>
              <a:rPr lang="he-IL" dirty="0"/>
              <a:t> - טוען את מחרוזת הפורמט (למשל "</a:t>
            </a:r>
            <a:r>
              <a:rPr lang="en-US" dirty="0"/>
              <a:t>(“The maximum is...") </a:t>
            </a:r>
            <a:r>
              <a:rPr lang="he-IL" dirty="0"/>
              <a:t> לאוגר </a:t>
            </a:r>
            <a:r>
              <a:rPr lang="en-US" dirty="0"/>
              <a:t>RDI </a:t>
            </a:r>
            <a:r>
              <a:rPr lang="he-IL" dirty="0"/>
              <a:t> - לפי תקן הקריאה לפונקציות</a:t>
            </a:r>
          </a:p>
          <a:p>
            <a:r>
              <a:rPr lang="en-US" dirty="0"/>
              <a:t>mov </a:t>
            </a:r>
            <a:r>
              <a:rPr lang="en-US" dirty="0" err="1"/>
              <a:t>rsi</a:t>
            </a:r>
            <a:r>
              <a:rPr lang="en-US" dirty="0"/>
              <a:t>, %2 </a:t>
            </a:r>
            <a:r>
              <a:rPr lang="he-IL" dirty="0"/>
              <a:t> טוען את הפרמטר השני – כמות הערכים שנקלטה אל </a:t>
            </a:r>
            <a:r>
              <a:rPr lang="en-US" dirty="0" err="1"/>
              <a:t>rsi</a:t>
            </a:r>
            <a:r>
              <a:rPr lang="he-IL" dirty="0"/>
              <a:t> </a:t>
            </a:r>
          </a:p>
          <a:p>
            <a:r>
              <a:rPr lang="en-US" dirty="0"/>
              <a:t>mov </a:t>
            </a:r>
            <a:r>
              <a:rPr lang="en-US" dirty="0" err="1"/>
              <a:t>rdx</a:t>
            </a:r>
            <a:r>
              <a:rPr lang="en-US" dirty="0"/>
              <a:t>, %3</a:t>
            </a:r>
            <a:r>
              <a:rPr lang="he-IL" dirty="0"/>
              <a:t> טוען את הפרמטר השלישי – התוצאה אל </a:t>
            </a:r>
            <a:r>
              <a:rPr lang="en-US" dirty="0" err="1"/>
              <a:t>rdx</a:t>
            </a:r>
            <a:endParaRPr lang="he-IL" dirty="0"/>
          </a:p>
          <a:p>
            <a:r>
              <a:rPr lang="en-US" dirty="0"/>
              <a:t>mov </a:t>
            </a:r>
            <a:r>
              <a:rPr lang="en-US" dirty="0" err="1"/>
              <a:t>rax</a:t>
            </a:r>
            <a:r>
              <a:rPr lang="en-US" dirty="0"/>
              <a:t>, 0</a:t>
            </a:r>
            <a:r>
              <a:rPr lang="he-IL" dirty="0"/>
              <a:t>  - מודיע </a:t>
            </a:r>
            <a:r>
              <a:rPr lang="en-US" dirty="0"/>
              <a:t> </a:t>
            </a:r>
            <a:r>
              <a:rPr lang="he-IL" dirty="0"/>
              <a:t>כי אין ארגומנטים שמועברים אל </a:t>
            </a:r>
            <a:r>
              <a:rPr lang="en-US" dirty="0" err="1"/>
              <a:t>printf</a:t>
            </a:r>
            <a:r>
              <a:rPr lang="he-IL" dirty="0"/>
              <a:t> </a:t>
            </a:r>
          </a:p>
          <a:p>
            <a:r>
              <a:rPr lang="en-US" dirty="0"/>
              <a:t>call </a:t>
            </a:r>
            <a:r>
              <a:rPr lang="en-US" dirty="0" err="1"/>
              <a:t>printf</a:t>
            </a:r>
            <a:r>
              <a:rPr lang="he-IL" dirty="0"/>
              <a:t> – מבצע קריאה </a:t>
            </a:r>
            <a:r>
              <a:rPr lang="he-IL" dirty="0" err="1"/>
              <a:t>לפונקצית</a:t>
            </a:r>
            <a:r>
              <a:rPr lang="he-IL" dirty="0"/>
              <a:t> ההדפסה של שפת </a:t>
            </a:r>
            <a:r>
              <a:rPr lang="en-US" dirty="0"/>
              <a:t>C</a:t>
            </a:r>
            <a:endParaRPr lang="he-IL" dirty="0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B990D-C931-492B-BFD7-799719F4A174}" type="datetime8">
              <a:rPr lang="he-IL" smtClean="0"/>
              <a:t>17 מאי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F44E0-B259-4E04-988E-044891C349D9}" type="slidenum">
              <a:rPr lang="he-IL" smtClean="0"/>
              <a:t>18</a:t>
            </a:fld>
            <a:endParaRPr lang="he-IL"/>
          </a:p>
        </p:txBody>
      </p:sp>
      <p:pic>
        <p:nvPicPr>
          <p:cNvPr id="7" name="תמונה 6">
            <a:extLst>
              <a:ext uri="{FF2B5EF4-FFF2-40B4-BE49-F238E27FC236}">
                <a16:creationId xmlns:a16="http://schemas.microsoft.com/office/drawing/2014/main" id="{209BD45F-4405-0EC5-1677-69941CD127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887" y="819062"/>
            <a:ext cx="2796782" cy="2019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69458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מציאת מקסימום מתוך רשימה נקלטת של מספרים 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he-IL" dirty="0" err="1"/>
              <a:t>התכנית</a:t>
            </a:r>
            <a:r>
              <a:rPr lang="he-IL" dirty="0"/>
              <a:t> מקבלת ממערכת ההפעלה של </a:t>
            </a:r>
            <a:r>
              <a:rPr lang="en-US" dirty="0" err="1"/>
              <a:t>linux</a:t>
            </a:r>
            <a:r>
              <a:rPr lang="he-IL" dirty="0"/>
              <a:t> את כמות הערכים </a:t>
            </a:r>
            <a:r>
              <a:rPr lang="en-US" dirty="0"/>
              <a:t>(</a:t>
            </a:r>
            <a:r>
              <a:rPr lang="en-US" dirty="0" err="1"/>
              <a:t>argc</a:t>
            </a:r>
            <a:r>
              <a:rPr lang="en-US" dirty="0"/>
              <a:t>)</a:t>
            </a:r>
            <a:r>
              <a:rPr lang="he-IL" dirty="0"/>
              <a:t> דרך </a:t>
            </a:r>
            <a:r>
              <a:rPr lang="en-US" dirty="0"/>
              <a:t>RDI</a:t>
            </a:r>
            <a:r>
              <a:rPr lang="he-IL" dirty="0"/>
              <a:t> ואת הערכים עצמם </a:t>
            </a:r>
            <a:r>
              <a:rPr lang="en-US" dirty="0"/>
              <a:t>(</a:t>
            </a:r>
            <a:r>
              <a:rPr lang="en-US" dirty="0" err="1"/>
              <a:t>argv</a:t>
            </a:r>
            <a:r>
              <a:rPr lang="en-US" dirty="0"/>
              <a:t>)</a:t>
            </a:r>
            <a:r>
              <a:rPr lang="he-IL" dirty="0"/>
              <a:t> באמצעות </a:t>
            </a:r>
            <a:r>
              <a:rPr lang="en-US" dirty="0"/>
              <a:t>RSI</a:t>
            </a:r>
            <a:r>
              <a:rPr lang="he-IL" dirty="0"/>
              <a:t> ושומרת אותם בזיכרון </a:t>
            </a:r>
          </a:p>
          <a:p>
            <a:r>
              <a:rPr lang="he-IL" dirty="0"/>
              <a:t>החלק העיקרי הוא הלולאה </a:t>
            </a:r>
            <a:r>
              <a:rPr lang="en-US" dirty="0"/>
              <a:t>.L</a:t>
            </a:r>
            <a:r>
              <a:rPr lang="he-IL" dirty="0"/>
              <a:t> : </a:t>
            </a:r>
          </a:p>
          <a:p>
            <a:r>
              <a:rPr lang="he-IL" dirty="0"/>
              <a:t>השוואת האינדקס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he-IL" dirty="0"/>
              <a:t>  לכמות הארגומנטים :</a:t>
            </a:r>
            <a:r>
              <a:rPr lang="en-US" dirty="0"/>
              <a:t> </a:t>
            </a:r>
            <a:endParaRPr lang="he-IL" dirty="0"/>
          </a:p>
          <a:p>
            <a:r>
              <a:rPr lang="he-IL" dirty="0"/>
              <a:t>     אם סיימנו - קופצים ל-.</a:t>
            </a:r>
            <a:r>
              <a:rPr lang="en-US" dirty="0"/>
              <a:t>done.</a:t>
            </a:r>
            <a:r>
              <a:rPr lang="he-IL" dirty="0"/>
              <a:t> </a:t>
            </a:r>
          </a:p>
          <a:p>
            <a:r>
              <a:rPr lang="he-IL" dirty="0"/>
              <a:t>טעינת הכתובת של המחרוזת הבאה מהמערך </a:t>
            </a:r>
            <a:r>
              <a:rPr lang="en-US" dirty="0"/>
              <a:t> </a:t>
            </a:r>
            <a:r>
              <a:rPr lang="en-US" dirty="0" err="1"/>
              <a:t>argv</a:t>
            </a:r>
            <a:r>
              <a:rPr lang="en-US" dirty="0"/>
              <a:t>.</a:t>
            </a:r>
            <a:endParaRPr lang="he-IL" dirty="0"/>
          </a:p>
          <a:p>
            <a:r>
              <a:rPr lang="he-IL" dirty="0"/>
              <a:t>קריאה ל-</a:t>
            </a:r>
            <a:r>
              <a:rPr lang="en-US" dirty="0" err="1"/>
              <a:t>atoi</a:t>
            </a:r>
            <a:r>
              <a:rPr lang="en-US" dirty="0"/>
              <a:t>: </a:t>
            </a:r>
            <a:r>
              <a:rPr lang="he-IL" dirty="0"/>
              <a:t>  הפיכת הטקסט (למשל "123") למספר (123) שחוזר ב-</a:t>
            </a:r>
            <a:r>
              <a:rPr lang="en-US" dirty="0"/>
              <a:t> RAX.</a:t>
            </a:r>
            <a:endParaRPr lang="he-IL" dirty="0"/>
          </a:p>
          <a:p>
            <a:r>
              <a:rPr lang="he-IL" dirty="0"/>
              <a:t>שימוש במאקרו </a:t>
            </a:r>
            <a:r>
              <a:rPr lang="en-US" dirty="0"/>
              <a:t>UPDATE_MAX </a:t>
            </a:r>
            <a:r>
              <a:rPr lang="he-IL" dirty="0"/>
              <a:t>   לעדכון הערך הגבוה ביותר.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B990D-C931-492B-BFD7-799719F4A174}" type="datetime8">
              <a:rPr lang="he-IL" smtClean="0"/>
              <a:t>17 מאי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F44E0-B259-4E04-988E-044891C349D9}" type="slidenum">
              <a:rPr lang="he-IL" smtClean="0"/>
              <a:t>19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7725589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מציאת מקסימום מתוך רשימה נקלטת של מספרים 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he-IL" dirty="0"/>
              <a:t>ישנן שתי שורות קריטיות להבנה בתכנית זו :</a:t>
            </a:r>
            <a:r>
              <a:rPr lang="en-US" dirty="0"/>
              <a:t> </a:t>
            </a:r>
            <a:endParaRPr lang="he-IL" dirty="0"/>
          </a:p>
          <a:p>
            <a:r>
              <a:rPr lang="en-US" dirty="0"/>
              <a:t>mov </a:t>
            </a:r>
            <a:r>
              <a:rPr lang="en-US" dirty="0" err="1"/>
              <a:t>rdi</a:t>
            </a:r>
            <a:r>
              <a:rPr lang="en-US" dirty="0"/>
              <a:t>, qword [</a:t>
            </a:r>
            <a:r>
              <a:rPr lang="en-US" dirty="0" err="1"/>
              <a:t>argv</a:t>
            </a:r>
            <a:r>
              <a:rPr lang="en-US" dirty="0"/>
              <a:t>]</a:t>
            </a:r>
            <a:r>
              <a:rPr lang="he-IL" dirty="0"/>
              <a:t> – בכתובת של </a:t>
            </a:r>
            <a:r>
              <a:rPr lang="en-US" dirty="0" err="1"/>
              <a:t>argv</a:t>
            </a:r>
            <a:r>
              <a:rPr lang="he-IL" dirty="0"/>
              <a:t> שמורה הכתובת של תחילת מערך הנתונים שהוקלדו עם ריצת התכנית , ולכן עם ביצוע פקודה זו האוגר </a:t>
            </a:r>
            <a:r>
              <a:rPr lang="en-US" dirty="0"/>
              <a:t>RDI </a:t>
            </a:r>
            <a:r>
              <a:rPr lang="he-IL" dirty="0"/>
              <a:t> מחזיק את כתובת תא 0 של מערך זה (הכתובת הבסיסית שלו) </a:t>
            </a:r>
            <a:endParaRPr lang="en-US" dirty="0"/>
          </a:p>
          <a:p>
            <a:r>
              <a:rPr lang="en-US" dirty="0"/>
              <a:t>    mov </a:t>
            </a:r>
            <a:r>
              <a:rPr lang="en-US" dirty="0" err="1"/>
              <a:t>rdi</a:t>
            </a:r>
            <a:r>
              <a:rPr lang="en-US" dirty="0"/>
              <a:t>, qword [</a:t>
            </a:r>
            <a:r>
              <a:rPr lang="en-US" dirty="0" err="1"/>
              <a:t>rdi</a:t>
            </a:r>
            <a:r>
              <a:rPr lang="en-US" dirty="0"/>
              <a:t> + 8*</a:t>
            </a:r>
            <a:r>
              <a:rPr lang="en-US" dirty="0" err="1"/>
              <a:t>rax</a:t>
            </a:r>
            <a:r>
              <a:rPr lang="en-US" dirty="0"/>
              <a:t>]-</a:t>
            </a:r>
            <a:r>
              <a:rPr lang="he-IL" dirty="0"/>
              <a:t>כאמור </a:t>
            </a:r>
            <a:r>
              <a:rPr lang="en-US" dirty="0"/>
              <a:t>RDI </a:t>
            </a:r>
            <a:r>
              <a:rPr lang="he-IL" dirty="0"/>
              <a:t> מחזיק את כתובת הבסיס של המערך ואילו </a:t>
            </a:r>
            <a:r>
              <a:rPr lang="en-US" dirty="0" err="1"/>
              <a:t>rax</a:t>
            </a:r>
            <a:r>
              <a:rPr lang="en-US" dirty="0"/>
              <a:t> </a:t>
            </a:r>
            <a:r>
              <a:rPr lang="he-IL" dirty="0"/>
              <a:t> מכיל את האינדקס </a:t>
            </a:r>
            <a:r>
              <a:rPr lang="en-US" dirty="0" err="1"/>
              <a:t>i</a:t>
            </a:r>
            <a:r>
              <a:rPr lang="he-IL" dirty="0"/>
              <a:t> שערכו הועבר אליו קודם לכן. </a:t>
            </a:r>
          </a:p>
          <a:p>
            <a:r>
              <a:rPr lang="he-IL" dirty="0"/>
              <a:t>התוספת של </a:t>
            </a:r>
            <a:r>
              <a:rPr lang="en-US" dirty="0"/>
              <a:t>8*</a:t>
            </a:r>
            <a:r>
              <a:rPr lang="en-US" dirty="0" err="1"/>
              <a:t>rax</a:t>
            </a:r>
            <a:r>
              <a:rPr lang="en-US" dirty="0"/>
              <a:t>  </a:t>
            </a:r>
            <a:r>
              <a:rPr lang="he-IL" dirty="0"/>
              <a:t>  נועדה להגיע לערך הבא במערך. </a:t>
            </a:r>
          </a:p>
          <a:p>
            <a:r>
              <a:rPr lang="he-IL" dirty="0"/>
              <a:t>מאחר והערך הראשוני של </a:t>
            </a:r>
            <a:r>
              <a:rPr lang="en-US" dirty="0" err="1"/>
              <a:t>i</a:t>
            </a:r>
            <a:r>
              <a:rPr lang="he-IL" dirty="0"/>
              <a:t> הוא 1, אנחנו נגיע בפעם הראשונה לאיבר השני שזה בעצם הארגומנט הראשון של התוכנית (האיבר הראשון הוא שם התוכנית) 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B990D-C931-492B-BFD7-799719F4A174}" type="datetime8">
              <a:rPr lang="he-IL" smtClean="0"/>
              <a:t>17 מאי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F44E0-B259-4E04-988E-044891C349D9}" type="slidenum">
              <a:rPr lang="he-IL" smtClean="0"/>
              <a:t>20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416742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הדפסת תתי קבוצות של קלט 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e-IL" dirty="0"/>
              <a:t>דוגמא : אם הקלט הוא "</a:t>
            </a:r>
            <a:r>
              <a:rPr lang="en-US" dirty="0" err="1"/>
              <a:t>abc</a:t>
            </a:r>
            <a:r>
              <a:rPr lang="he-IL" dirty="0"/>
              <a:t>" אז תתי הקבוצות הן : </a:t>
            </a:r>
          </a:p>
          <a:p>
            <a:pPr algn="l" rtl="0"/>
            <a:r>
              <a:rPr lang="en-US" dirty="0"/>
              <a:t>‘a’ , ‘b’, ‘c’, ‘ab’ , ‘ac’, ‘</a:t>
            </a:r>
            <a:r>
              <a:rPr lang="en-US" dirty="0" err="1"/>
              <a:t>bc</a:t>
            </a:r>
            <a:r>
              <a:rPr lang="en-US" dirty="0"/>
              <a:t>’, ‘</a:t>
            </a:r>
            <a:r>
              <a:rPr lang="en-US" dirty="0" err="1"/>
              <a:t>abc</a:t>
            </a:r>
            <a:r>
              <a:rPr lang="en-US" dirty="0"/>
              <a:t>’ </a:t>
            </a:r>
          </a:p>
          <a:p>
            <a:pPr algn="r"/>
            <a:r>
              <a:rPr lang="he-IL" dirty="0"/>
              <a:t>התכנית מתבססת על פונקציה רקורסיבית אשר יוצרת את כל תתי הקבוצות של הקלט.</a:t>
            </a:r>
          </a:p>
          <a:p>
            <a:pPr algn="r"/>
            <a:r>
              <a:rPr lang="he-IL" b="1" dirty="0"/>
              <a:t>עקרון חשוב : ברגע שמתקבל קלט ע"י המשתמש, כתובת תחילת הקלט מאוחסנת באוגר </a:t>
            </a:r>
            <a:r>
              <a:rPr lang="en-US" b="1" dirty="0"/>
              <a:t> </a:t>
            </a:r>
            <a:r>
              <a:rPr lang="he-IL" b="1" dirty="0"/>
              <a:t>  </a:t>
            </a:r>
            <a:r>
              <a:rPr lang="en-US" b="1" dirty="0"/>
              <a:t>RSI</a:t>
            </a:r>
            <a:r>
              <a:rPr lang="he-IL" b="1" dirty="0"/>
              <a:t> ומסיבה זו ניתוח הקלט מסתייע תוך שימוש באוגר זה כפי שנראה בהמשך. </a:t>
            </a:r>
          </a:p>
          <a:p>
            <a:pPr algn="r"/>
            <a:r>
              <a:rPr lang="he-IL" dirty="0"/>
              <a:t>תהליך קבלת ההחלטות של הפונקציה מתבסס על הרעיון הבא :</a:t>
            </a:r>
            <a:r>
              <a:rPr lang="en-US" dirty="0"/>
              <a:t> </a:t>
            </a:r>
            <a:endParaRPr lang="he-IL" dirty="0"/>
          </a:p>
          <a:p>
            <a:pPr algn="r"/>
            <a:r>
              <a:rPr lang="he-IL" dirty="0"/>
              <a:t>לכל אות מתוך המחרוזת – לדוגמא </a:t>
            </a:r>
            <a:r>
              <a:rPr lang="en-US" dirty="0"/>
              <a:t>“</a:t>
            </a:r>
            <a:r>
              <a:rPr lang="en-US" dirty="0" err="1"/>
              <a:t>abc</a:t>
            </a:r>
            <a:r>
              <a:rPr lang="en-US" dirty="0"/>
              <a:t>”  </a:t>
            </a:r>
            <a:r>
              <a:rPr lang="he-IL" dirty="0"/>
              <a:t>   קיימת אפשרות שתיבחר או שלא , דהיינו יש באלגוריתם זה התחכמות שאותה נראה בשקף הבא : </a:t>
            </a:r>
            <a:endParaRPr lang="en-US" dirty="0"/>
          </a:p>
          <a:p>
            <a:pPr algn="l" rtl="0"/>
            <a:endParaRPr lang="he-IL" dirty="0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B990D-C931-492B-BFD7-799719F4A174}" type="datetime8">
              <a:rPr lang="he-IL" smtClean="0"/>
              <a:t>17 מאי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F44E0-B259-4E04-988E-044891C349D9}" type="slidenum">
              <a:rPr lang="he-IL" smtClean="0"/>
              <a:t>21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301777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הדפסת תתי קבוצות של קלט 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אם ההחלטה שהאלגוריתם לוקח היא לא לבחור את אותה אות בקלט , אז שורות הקוד שמתבצעות הן : </a:t>
            </a:r>
          </a:p>
          <a:p>
            <a:pPr algn="l" rtl="0"/>
            <a:r>
              <a:rPr lang="en-US" b="1" dirty="0" err="1"/>
              <a:t>inc</a:t>
            </a:r>
            <a:r>
              <a:rPr lang="en-US" b="1" dirty="0"/>
              <a:t> qword [</a:t>
            </a:r>
            <a:r>
              <a:rPr lang="en-US" b="1" dirty="0" err="1"/>
              <a:t>i</a:t>
            </a:r>
            <a:r>
              <a:rPr lang="en-US" b="1" dirty="0"/>
              <a:t>]       ; </a:t>
            </a:r>
            <a:r>
              <a:rPr lang="he-IL" b="1" dirty="0"/>
              <a:t>מתקדם לאות הבאה במקור</a:t>
            </a:r>
          </a:p>
          <a:p>
            <a:pPr algn="l" rtl="0"/>
            <a:r>
              <a:rPr lang="en-US" b="1" dirty="0"/>
              <a:t>call </a:t>
            </a:r>
            <a:r>
              <a:rPr lang="en-US" b="1" dirty="0" err="1"/>
              <a:t>generate_subsets</a:t>
            </a:r>
            <a:r>
              <a:rPr lang="en-US" b="1" dirty="0"/>
              <a:t> ; </a:t>
            </a:r>
            <a:r>
              <a:rPr lang="he-IL" b="1" dirty="0"/>
              <a:t>קורא לרקורסיה בלי להוסיף כלום לבאפר התוצאה</a:t>
            </a:r>
          </a:p>
          <a:p>
            <a:pPr algn="r"/>
            <a:r>
              <a:rPr lang="he-IL" dirty="0"/>
              <a:t>כלומר האות הנוכחית לא נלקחת בחשבון</a:t>
            </a:r>
            <a:endParaRPr lang="en-US" dirty="0"/>
          </a:p>
          <a:p>
            <a:pPr algn="r"/>
            <a:endParaRPr lang="he-IL" dirty="0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B990D-C931-492B-BFD7-799719F4A174}" type="datetime8">
              <a:rPr lang="he-IL" smtClean="0"/>
              <a:t>17 מאי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F44E0-B259-4E04-988E-044891C349D9}" type="slidenum">
              <a:rPr lang="he-IL" smtClean="0"/>
              <a:t>22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7373801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הדפסת תתי קבוצות של קלט 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הנתיב השני של בחירת האות הוא :</a:t>
            </a:r>
            <a:r>
              <a:rPr lang="en-US" dirty="0"/>
              <a:t> </a:t>
            </a:r>
            <a:endParaRPr lang="he-IL" dirty="0"/>
          </a:p>
          <a:p>
            <a:pPr algn="l" rtl="0"/>
            <a:r>
              <a:rPr lang="en-US" b="1" dirty="0" err="1"/>
              <a:t>mov</a:t>
            </a:r>
            <a:r>
              <a:rPr lang="en-US" b="1" dirty="0"/>
              <a:t> al, byte [</a:t>
            </a:r>
            <a:r>
              <a:rPr lang="en-US" b="1" dirty="0" err="1"/>
              <a:t>rsi</a:t>
            </a:r>
            <a:r>
              <a:rPr lang="en-US" b="1" dirty="0"/>
              <a:t> + </a:t>
            </a:r>
            <a:r>
              <a:rPr lang="en-US" b="1" dirty="0" err="1"/>
              <a:t>rdx</a:t>
            </a:r>
            <a:r>
              <a:rPr lang="en-US" b="1" dirty="0"/>
              <a:t>]        ; </a:t>
            </a:r>
            <a:r>
              <a:rPr lang="he-IL" b="1" dirty="0"/>
              <a:t>לוקח את האות מהמקור</a:t>
            </a:r>
          </a:p>
          <a:p>
            <a:pPr algn="l" rtl="0"/>
            <a:r>
              <a:rPr lang="en-US" b="1" dirty="0" err="1"/>
              <a:t>mov</a:t>
            </a:r>
            <a:r>
              <a:rPr lang="en-US" b="1" dirty="0"/>
              <a:t> byte [</a:t>
            </a:r>
            <a:r>
              <a:rPr lang="en-US" b="1" dirty="0" err="1"/>
              <a:t>result_buf</a:t>
            </a:r>
            <a:r>
              <a:rPr lang="en-US" b="1" dirty="0"/>
              <a:t> + </a:t>
            </a:r>
            <a:r>
              <a:rPr lang="en-US" b="1" dirty="0" err="1"/>
              <a:t>rdx</a:t>
            </a:r>
            <a:r>
              <a:rPr lang="en-US" b="1" dirty="0"/>
              <a:t>], al  ; </a:t>
            </a:r>
            <a:r>
              <a:rPr lang="he-IL" b="1" dirty="0"/>
              <a:t>דוחף אותה לבאפר התוצאה</a:t>
            </a:r>
          </a:p>
          <a:p>
            <a:pPr algn="l" rtl="0"/>
            <a:r>
              <a:rPr lang="en-US" b="1" dirty="0" err="1"/>
              <a:t>inc</a:t>
            </a:r>
            <a:r>
              <a:rPr lang="en-US" b="1" dirty="0"/>
              <a:t> qword [j]                    ; </a:t>
            </a:r>
            <a:r>
              <a:rPr lang="he-IL" b="1" dirty="0"/>
              <a:t>מקדם את האינדקס של התוצאה</a:t>
            </a:r>
          </a:p>
          <a:p>
            <a:pPr algn="l" rtl="0"/>
            <a:r>
              <a:rPr lang="en-US" b="1" dirty="0"/>
              <a:t>call </a:t>
            </a:r>
            <a:r>
              <a:rPr lang="en-US" b="1" dirty="0" err="1"/>
              <a:t>generate_subsets</a:t>
            </a:r>
            <a:r>
              <a:rPr lang="en-US" b="1" dirty="0"/>
              <a:t>            ; </a:t>
            </a:r>
            <a:r>
              <a:rPr lang="he-IL" b="1" dirty="0"/>
              <a:t>קורא לרקורסיה כשהאות כבר בפנים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B990D-C931-492B-BFD7-799719F4A174}" type="datetime8">
              <a:rPr lang="he-IL" smtClean="0"/>
              <a:t>17 מאי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F44E0-B259-4E04-988E-044891C349D9}" type="slidenum">
              <a:rPr lang="he-IL" smtClean="0"/>
              <a:t>23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8456295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הדפסת תתי קבוצות של קלט 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he-IL" dirty="0"/>
              <a:t>עוד מאפיין חשוב בתכנית – ניהול שני אינדקסים : אינדקס </a:t>
            </a:r>
            <a:r>
              <a:rPr lang="en-US" dirty="0" err="1"/>
              <a:t>i</a:t>
            </a:r>
            <a:r>
              <a:rPr lang="he-IL" dirty="0"/>
              <a:t> מציין את המיקום הנוכחי שלנו בקלט בעוד שאינדקס </a:t>
            </a:r>
            <a:r>
              <a:rPr lang="en-US" dirty="0"/>
              <a:t>j</a:t>
            </a:r>
            <a:r>
              <a:rPr lang="he-IL" dirty="0"/>
              <a:t> מציין מיקום נוכחי בפלט.</a:t>
            </a:r>
          </a:p>
          <a:p>
            <a:pPr marL="0" indent="0">
              <a:buNone/>
            </a:pPr>
            <a:r>
              <a:rPr lang="he-IL" dirty="0"/>
              <a:t>בסיום כל קריאה רקורסיבית חייבים להקטין את </a:t>
            </a:r>
            <a:r>
              <a:rPr lang="en-US" dirty="0" err="1"/>
              <a:t>i</a:t>
            </a:r>
            <a:r>
              <a:rPr lang="he-IL" dirty="0"/>
              <a:t> (ואת </a:t>
            </a:r>
            <a:r>
              <a:rPr lang="en-US" dirty="0"/>
              <a:t>j</a:t>
            </a:r>
            <a:r>
              <a:rPr lang="he-IL" dirty="0"/>
              <a:t> אם תו הקלט התווסף למחרוזת בהתאם לאחד משתי האפשרויות שהצגנו קודם לכן)  וזאת על מנת שהקריאה הרקורסיבית הבאה תתחיל ממקום נכון. </a:t>
            </a:r>
          </a:p>
          <a:p>
            <a:pPr marL="0" indent="0">
              <a:buNone/>
            </a:pPr>
            <a:r>
              <a:rPr lang="he-IL" dirty="0"/>
              <a:t>ההרצה מתבצעת כך לאחר </a:t>
            </a:r>
            <a:r>
              <a:rPr lang="he-IL" dirty="0" err="1"/>
              <a:t>הדיבוג</a:t>
            </a:r>
            <a:r>
              <a:rPr lang="he-IL" dirty="0"/>
              <a:t> </a:t>
            </a:r>
            <a:r>
              <a:rPr lang="he-IL" dirty="0" err="1"/>
              <a:t>והקמפול</a:t>
            </a:r>
            <a:r>
              <a:rPr lang="he-IL" dirty="0"/>
              <a:t>  : </a:t>
            </a:r>
          </a:p>
          <a:p>
            <a:pPr marL="0" indent="0" algn="l" rtl="0">
              <a:buNone/>
            </a:pPr>
            <a:r>
              <a:rPr lang="en-US" dirty="0"/>
              <a:t>./subset-gen </a:t>
            </a:r>
            <a:r>
              <a:rPr lang="en-US" dirty="0" err="1"/>
              <a:t>abcd</a:t>
            </a:r>
            <a:r>
              <a:rPr lang="he-IL" dirty="0"/>
              <a:t> 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B990D-C931-492B-BFD7-799719F4A174}" type="datetime8">
              <a:rPr lang="he-IL" smtClean="0"/>
              <a:t>17 מאי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F44E0-B259-4E04-988E-044891C349D9}" type="slidenum">
              <a:rPr lang="he-IL" smtClean="0"/>
              <a:t>24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1638921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תכנית לחישוב  סכום ספרות בשיטת "המשכיות" </a:t>
            </a:r>
            <a:r>
              <a:rPr lang="en-US" dirty="0"/>
              <a:t>CPS</a:t>
            </a:r>
            <a:r>
              <a:rPr lang="he-IL" dirty="0"/>
              <a:t> 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1295400" y="2556931"/>
            <a:ext cx="9925877" cy="3486059"/>
          </a:xfrm>
        </p:spPr>
        <p:txBody>
          <a:bodyPr>
            <a:normAutofit/>
          </a:bodyPr>
          <a:lstStyle/>
          <a:p>
            <a:r>
              <a:rPr lang="he-IL" dirty="0"/>
              <a:t>בתכנית זו, ה'פונקציה' </a:t>
            </a:r>
            <a:r>
              <a:rPr lang="en-US" dirty="0" err="1"/>
              <a:t>digit_step</a:t>
            </a:r>
            <a:r>
              <a:rPr lang="en-US" dirty="0"/>
              <a:t> </a:t>
            </a:r>
            <a:r>
              <a:rPr lang="he-IL" dirty="0"/>
              <a:t>  לא "חוזרת" למקום שממנו קראו לה כי לא באמת קראנו לה, קפצנו אליה. היא מקבלת באוגר </a:t>
            </a:r>
            <a:r>
              <a:rPr lang="en-US" dirty="0"/>
              <a:t>RDX </a:t>
            </a:r>
            <a:r>
              <a:rPr lang="he-IL" dirty="0"/>
              <a:t> את הכתובת של היעד הבא שלה : </a:t>
            </a:r>
          </a:p>
          <a:p>
            <a:r>
              <a:rPr lang="he-IL" dirty="0"/>
              <a:t>במקום להשתמש בפקודת </a:t>
            </a:r>
            <a:r>
              <a:rPr lang="en-US" dirty="0"/>
              <a:t>call</a:t>
            </a:r>
            <a:r>
              <a:rPr lang="he-IL" dirty="0"/>
              <a:t> אשר דוחפת אוטומטית למחסנית את כתובת החזרה, התוכנה טוענת ידנית את הכתובת שאליה נרצה להגיע. במקרה שלנו השתמשנו ב </a:t>
            </a:r>
            <a:r>
              <a:rPr lang="en-US" dirty="0"/>
              <a:t>RDX</a:t>
            </a:r>
            <a:r>
              <a:rPr lang="he-IL" dirty="0"/>
              <a:t> </a:t>
            </a:r>
          </a:p>
          <a:p>
            <a:r>
              <a:rPr lang="he-IL" dirty="0"/>
              <a:t>ב </a:t>
            </a:r>
            <a:r>
              <a:rPr lang="en-US" dirty="0"/>
              <a:t>main</a:t>
            </a:r>
            <a:r>
              <a:rPr lang="he-IL" dirty="0"/>
              <a:t> קיימת שורת קוד :</a:t>
            </a:r>
            <a:r>
              <a:rPr lang="en-US" dirty="0"/>
              <a:t> </a:t>
            </a:r>
            <a:endParaRPr lang="he-IL" dirty="0"/>
          </a:p>
          <a:p>
            <a:pPr algn="l" rtl="0"/>
            <a:r>
              <a:rPr lang="en-US" dirty="0" err="1"/>
              <a:t>mov</a:t>
            </a:r>
            <a:r>
              <a:rPr lang="en-US" dirty="0"/>
              <a:t> </a:t>
            </a:r>
            <a:r>
              <a:rPr lang="en-US" dirty="0" err="1"/>
              <a:t>rdx</a:t>
            </a:r>
            <a:r>
              <a:rPr lang="en-US" dirty="0"/>
              <a:t>, .</a:t>
            </a:r>
            <a:r>
              <a:rPr lang="en-US" dirty="0" err="1"/>
              <a:t>print_result</a:t>
            </a:r>
            <a:r>
              <a:rPr lang="en-US" dirty="0"/>
              <a:t>  ; </a:t>
            </a:r>
            <a:r>
              <a:rPr lang="he-IL" dirty="0"/>
              <a:t>אנחנו אומרים לתוכנית: "כשסיימת, גש  לכתובת הזו"</a:t>
            </a:r>
          </a:p>
          <a:p>
            <a:pPr algn="l" rtl="0"/>
            <a:r>
              <a:rPr lang="en-US" dirty="0" err="1"/>
              <a:t>jmp</a:t>
            </a:r>
            <a:r>
              <a:rPr lang="en-US" dirty="0"/>
              <a:t> </a:t>
            </a:r>
            <a:r>
              <a:rPr lang="en-US" dirty="0" err="1"/>
              <a:t>digit_step</a:t>
            </a:r>
            <a:r>
              <a:rPr lang="en-US" dirty="0"/>
              <a:t>          ; </a:t>
            </a:r>
            <a:r>
              <a:rPr lang="he-IL" dirty="0"/>
              <a:t>קפיצה ישירה ולא קריאה אמיתית לפונקציה, המחסנית לא משתנה!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B990D-C931-492B-BFD7-799719F4A174}" type="datetime8">
              <a:rPr lang="he-IL" smtClean="0"/>
              <a:t>17 מאי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F44E0-B259-4E04-988E-044891C349D9}" type="slidenum">
              <a:rPr lang="he-IL" smtClean="0"/>
              <a:t>25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217991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תכנית לחישוב  סכום ספרות בשיטת "המשכיות" </a:t>
            </a:r>
            <a:r>
              <a:rPr lang="en-US" dirty="0"/>
              <a:t>CPS 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הפונקציה העיקרית בתכנית היא </a:t>
            </a:r>
            <a:r>
              <a:rPr lang="en-US" dirty="0" err="1"/>
              <a:t>digit_step</a:t>
            </a:r>
            <a:r>
              <a:rPr lang="he-IL" dirty="0"/>
              <a:t> אשר בודקת אם נותרו עוד ספרות בקלט כתנאי עצירה לרקורסיה.  מספר הספרות נמצא באוגר </a:t>
            </a:r>
            <a:r>
              <a:rPr lang="en-US" dirty="0" err="1"/>
              <a:t>rdi</a:t>
            </a:r>
            <a:r>
              <a:rPr lang="en-US" dirty="0"/>
              <a:t> </a:t>
            </a:r>
            <a:r>
              <a:rPr lang="he-IL" dirty="0"/>
              <a:t> ולכן הוא מושווה לאפס. </a:t>
            </a:r>
          </a:p>
          <a:p>
            <a:r>
              <a:rPr lang="he-IL" dirty="0"/>
              <a:t>במידה וכן – מחלצים את ספרת היחידות </a:t>
            </a:r>
            <a:r>
              <a:rPr lang="en-US" dirty="0"/>
              <a:t>(least significant digit)</a:t>
            </a:r>
            <a:r>
              <a:rPr lang="he-IL" dirty="0"/>
              <a:t> ע"י חלוקה ב 10 ושמירת ערך השארית. </a:t>
            </a:r>
          </a:p>
          <a:p>
            <a:r>
              <a:rPr lang="he-IL" dirty="0"/>
              <a:t>כזכור, ערך השארית מפעולת חלוקה </a:t>
            </a:r>
            <a:r>
              <a:rPr lang="en-US" dirty="0"/>
              <a:t>div</a:t>
            </a:r>
            <a:r>
              <a:rPr lang="he-IL" dirty="0"/>
              <a:t> או </a:t>
            </a:r>
            <a:r>
              <a:rPr lang="en-US" dirty="0" err="1"/>
              <a:t>idiv</a:t>
            </a:r>
            <a:r>
              <a:rPr lang="he-IL" dirty="0"/>
              <a:t> , נשמר באוגר </a:t>
            </a:r>
            <a:r>
              <a:rPr lang="en-US" dirty="0"/>
              <a:t>RDX</a:t>
            </a:r>
            <a:r>
              <a:rPr lang="he-IL" dirty="0"/>
              <a:t> , ולכן תוכנו של </a:t>
            </a:r>
            <a:r>
              <a:rPr lang="en-US" dirty="0"/>
              <a:t>RDX</a:t>
            </a:r>
            <a:r>
              <a:rPr lang="he-IL" dirty="0"/>
              <a:t> מתווסף אל משתנה הסכום.</a:t>
            </a:r>
          </a:p>
          <a:p>
            <a:endParaRPr lang="he-IL" dirty="0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B990D-C931-492B-BFD7-799719F4A174}" type="datetime8">
              <a:rPr lang="he-IL" smtClean="0"/>
              <a:t>17 מאי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F44E0-B259-4E04-988E-044891C349D9}" type="slidenum">
              <a:rPr lang="he-IL" smtClean="0"/>
              <a:t>26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9511271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תכנית לחישוב  סכום ספרות בשיטת "המשכיות" </a:t>
            </a:r>
            <a:r>
              <a:rPr lang="en-US" dirty="0"/>
              <a:t>CPS 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עקרון חשוב שמתקיים בתכנית דוגמא זו הוא העובדה ש'חוזרים מהפונקציה' ללא פקודת </a:t>
            </a:r>
            <a:r>
              <a:rPr lang="en-US" dirty="0"/>
              <a:t>ret </a:t>
            </a:r>
            <a:r>
              <a:rPr lang="he-IL" dirty="0"/>
              <a:t> : </a:t>
            </a:r>
          </a:p>
          <a:p>
            <a:r>
              <a:rPr lang="he-IL" dirty="0"/>
              <a:t>כאשר לא נותרו ספרות, דהיינו כאשר </a:t>
            </a:r>
            <a:r>
              <a:rPr lang="en-US" dirty="0" err="1"/>
              <a:t>rdi</a:t>
            </a:r>
            <a:r>
              <a:rPr lang="en-US" dirty="0"/>
              <a:t>=0</a:t>
            </a:r>
            <a:r>
              <a:rPr lang="he-IL" dirty="0"/>
              <a:t> , אנחנו קופצים אל תווית </a:t>
            </a:r>
            <a:r>
              <a:rPr lang="en-US" dirty="0"/>
              <a:t>finish</a:t>
            </a:r>
            <a:r>
              <a:rPr lang="he-IL" dirty="0"/>
              <a:t> , וכאשר מגיעים לשם פירושו שסיימנו לסרוק את כל ספרות המספר ולכן קופצים אל תווית  </a:t>
            </a:r>
            <a:r>
              <a:rPr lang="en-US" dirty="0" err="1"/>
              <a:t>print_result</a:t>
            </a:r>
            <a:r>
              <a:rPr lang="he-IL" dirty="0"/>
              <a:t> ולא מבצעים חזרה</a:t>
            </a:r>
            <a:r>
              <a:rPr lang="en-US" dirty="0"/>
              <a:t>  </a:t>
            </a:r>
            <a:r>
              <a:rPr lang="he-IL" dirty="0"/>
              <a:t>רגילה מפונקציה, דהיינו לא מבצעים </a:t>
            </a:r>
            <a:r>
              <a:rPr lang="en-US" dirty="0"/>
              <a:t>ret</a:t>
            </a:r>
            <a:r>
              <a:rPr lang="he-IL" dirty="0"/>
              <a:t> , וגם מהתווית החדשה  קופצים אל תווית </a:t>
            </a:r>
            <a:r>
              <a:rPr lang="en-US" dirty="0"/>
              <a:t>end</a:t>
            </a:r>
            <a:r>
              <a:rPr lang="he-IL" dirty="0"/>
              <a:t> ורק שם מתבצעת </a:t>
            </a:r>
            <a:r>
              <a:rPr lang="en-US" dirty="0"/>
              <a:t>ret</a:t>
            </a:r>
            <a:r>
              <a:rPr lang="he-IL" dirty="0"/>
              <a:t> 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B990D-C931-492B-BFD7-799719F4A174}" type="datetime8">
              <a:rPr lang="he-IL" smtClean="0"/>
              <a:t>17 מאי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F44E0-B259-4E04-988E-044891C349D9}" type="slidenum">
              <a:rPr lang="he-IL" smtClean="0"/>
              <a:t>27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8971401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תכנית לחישוב  סכום ספרות בשיטת "המשכיות" </a:t>
            </a:r>
            <a:r>
              <a:rPr lang="en-US" dirty="0"/>
              <a:t>CPS 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he-IL" dirty="0"/>
              <a:t>דוגמא להמחשה : נניח הקלט היה </a:t>
            </a:r>
            <a:r>
              <a:rPr lang="en-US" dirty="0"/>
              <a:t>‘12’</a:t>
            </a:r>
            <a:r>
              <a:rPr lang="he-IL" dirty="0"/>
              <a:t> :</a:t>
            </a:r>
          </a:p>
          <a:p>
            <a:r>
              <a:rPr lang="he-IL" dirty="0"/>
              <a:t>1. בפונקציה </a:t>
            </a:r>
            <a:r>
              <a:rPr lang="en-US" dirty="0"/>
              <a:t>main</a:t>
            </a:r>
            <a:r>
              <a:rPr lang="he-IL" dirty="0"/>
              <a:t> האוגר </a:t>
            </a:r>
            <a:r>
              <a:rPr lang="en-US" dirty="0"/>
              <a:t>RDX </a:t>
            </a:r>
            <a:r>
              <a:rPr lang="he-IL" dirty="0"/>
              <a:t> מקבל את הכתובת של התווית </a:t>
            </a:r>
            <a:r>
              <a:rPr lang="en-US" dirty="0" err="1"/>
              <a:t>print_result</a:t>
            </a:r>
            <a:endParaRPr lang="he-IL" dirty="0"/>
          </a:p>
          <a:p>
            <a:r>
              <a:rPr lang="he-IL" dirty="0"/>
              <a:t>2. ב</a:t>
            </a:r>
            <a:r>
              <a:rPr lang="en-US" dirty="0" err="1"/>
              <a:t>digit_Step</a:t>
            </a:r>
            <a:r>
              <a:rPr lang="he-IL" dirty="0"/>
              <a:t> המעבד מחשב את הספרות של הקלט דהיינו 2 ו 1 </a:t>
            </a:r>
          </a:p>
          <a:p>
            <a:r>
              <a:rPr lang="he-IL" dirty="0"/>
              <a:t>3. בדיקה – המעבד נוכח לראות כי </a:t>
            </a:r>
            <a:r>
              <a:rPr lang="en-US" dirty="0"/>
              <a:t>RDI=0</a:t>
            </a:r>
            <a:r>
              <a:rPr lang="he-IL" dirty="0"/>
              <a:t> </a:t>
            </a:r>
          </a:p>
          <a:p>
            <a:r>
              <a:rPr lang="he-IL" dirty="0"/>
              <a:t>4. הקפיצה הסופית – </a:t>
            </a:r>
            <a:r>
              <a:rPr lang="en-US" dirty="0" err="1"/>
              <a:t>jmp</a:t>
            </a:r>
            <a:r>
              <a:rPr lang="en-US" dirty="0"/>
              <a:t> </a:t>
            </a:r>
            <a:r>
              <a:rPr lang="en-US" dirty="0" err="1"/>
              <a:t>rdx</a:t>
            </a:r>
            <a:r>
              <a:rPr lang="he-IL" dirty="0"/>
              <a:t> קופץ לכתובת של </a:t>
            </a:r>
            <a:r>
              <a:rPr lang="en-US" dirty="0" err="1"/>
              <a:t>print_result</a:t>
            </a:r>
            <a:endParaRPr lang="he-IL" dirty="0"/>
          </a:p>
          <a:p>
            <a:r>
              <a:rPr lang="he-IL" dirty="0"/>
              <a:t>יש כאן חיסכון ויעילות משום שהמחסנית לא גדלה כלל ללא תלות בכמות הספרות של המספר ולכן אין סכנה של גלישה במחסנית 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B990D-C931-492B-BFD7-799719F4A174}" type="datetime8">
              <a:rPr lang="he-IL" smtClean="0"/>
              <a:t>17 מאי 26</a:t>
            </a:fld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F44E0-B259-4E04-988E-044891C349D9}" type="slidenum">
              <a:rPr lang="he-IL" smtClean="0"/>
              <a:t>28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6606556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אורגני">
  <a:themeElements>
    <a:clrScheme name="אורגני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אורגני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אורגני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6054</TotalTime>
  <Words>2009</Words>
  <Application>Microsoft Office PowerPoint</Application>
  <PresentationFormat>מסך רחב</PresentationFormat>
  <Paragraphs>214</Paragraphs>
  <Slides>28</Slides>
  <Notes>1</Notes>
  <HiddenSlides>3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28</vt:i4>
      </vt:variant>
    </vt:vector>
  </HeadingPairs>
  <TitlesOfParts>
    <vt:vector size="32" baseType="lpstr">
      <vt:lpstr>Arial</vt:lpstr>
      <vt:lpstr>Calibri</vt:lpstr>
      <vt:lpstr>Garamond</vt:lpstr>
      <vt:lpstr>אורגני</vt:lpstr>
      <vt:lpstr>תרגול שישי </vt:lpstr>
      <vt:lpstr>תזכורת</vt:lpstr>
      <vt:lpstr>אלגוריתם אוקלידוס GCD </vt:lpstr>
      <vt:lpstr>התכנית לישום אלגוריתם GCD </vt:lpstr>
      <vt:lpstr>התכנית לישום אלגוריתם GCD </vt:lpstr>
      <vt:lpstr>התכנית לישום אלגוריתם GCD </vt:lpstr>
      <vt:lpstr>הפונקציה ליישום אלגוריתם GCD </vt:lpstr>
      <vt:lpstr>המשך</vt:lpstr>
      <vt:lpstr>הרצה וקמפול : </vt:lpstr>
      <vt:lpstr>תכנית לחישוב לוח הכפל </vt:lpstr>
      <vt:lpstr>תכנית לחישוב לוח הכפל </vt:lpstr>
      <vt:lpstr>תכנית לחישוב לוח הכפל </vt:lpstr>
      <vt:lpstr>תכנית לחישוב לוח הכפל </vt:lpstr>
      <vt:lpstr>תכנית לחישוב לוח הכפל </vt:lpstr>
      <vt:lpstr>הרצה , דיבוג וקמפול </vt:lpstr>
      <vt:lpstr>מציאת מקסימום מתוך רשימה נקלטת של מספרים </vt:lpstr>
      <vt:lpstr>המשך</vt:lpstr>
      <vt:lpstr>המשך</vt:lpstr>
      <vt:lpstr>מציאת מקסימום מתוך רשימה נקלטת של מספרים </vt:lpstr>
      <vt:lpstr>מציאת מקסימום מתוך רשימה נקלטת של מספרים </vt:lpstr>
      <vt:lpstr>הדפסת תתי קבוצות של קלט </vt:lpstr>
      <vt:lpstr>הדפסת תתי קבוצות של קלט </vt:lpstr>
      <vt:lpstr>הדפסת תתי קבוצות של קלט </vt:lpstr>
      <vt:lpstr>הדפסת תתי קבוצות של קלט </vt:lpstr>
      <vt:lpstr>תכנית לחישוב  סכום ספרות בשיטת "המשכיות" CPS </vt:lpstr>
      <vt:lpstr>תכנית לחישוב  סכום ספרות בשיטת "המשכיות" CPS </vt:lpstr>
      <vt:lpstr>תכנית לחישוב  סכום ספרות בשיטת "המשכיות" CPS </vt:lpstr>
      <vt:lpstr>תכנית לחישוב  סכום ספרות בשיטת "המשכיות" CPS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תרגול שישי</dc:title>
  <dc:creator>אורן אליעזר</dc:creator>
  <cp:lastModifiedBy>אריאל ברוך ביתן</cp:lastModifiedBy>
  <cp:revision>57</cp:revision>
  <cp:lastPrinted>2026-05-08T12:43:43Z</cp:lastPrinted>
  <dcterms:created xsi:type="dcterms:W3CDTF">2026-04-19T14:52:00Z</dcterms:created>
  <dcterms:modified xsi:type="dcterms:W3CDTF">2026-05-17T15:52:05Z</dcterms:modified>
</cp:coreProperties>
</file>