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98" r:id="rId9"/>
    <p:sldId id="299" r:id="rId10"/>
    <p:sldId id="258" r:id="rId11"/>
    <p:sldId id="276" r:id="rId12"/>
    <p:sldId id="277" r:id="rId13"/>
    <p:sldId id="286" r:id="rId14"/>
    <p:sldId id="285" r:id="rId15"/>
    <p:sldId id="287" r:id="rId16"/>
    <p:sldId id="288" r:id="rId17"/>
    <p:sldId id="284" r:id="rId18"/>
    <p:sldId id="279" r:id="rId19"/>
    <p:sldId id="300" r:id="rId20"/>
    <p:sldId id="260" r:id="rId21"/>
    <p:sldId id="280" r:id="rId22"/>
    <p:sldId id="289" r:id="rId23"/>
    <p:sldId id="303" r:id="rId24"/>
    <p:sldId id="304" r:id="rId25"/>
    <p:sldId id="281" r:id="rId26"/>
    <p:sldId id="282" r:id="rId27"/>
    <p:sldId id="283" r:id="rId28"/>
    <p:sldId id="291" r:id="rId29"/>
    <p:sldId id="292" r:id="rId30"/>
    <p:sldId id="293" r:id="rId31"/>
    <p:sldId id="301" r:id="rId32"/>
    <p:sldId id="294" r:id="rId33"/>
    <p:sldId id="295" r:id="rId34"/>
    <p:sldId id="296" r:id="rId35"/>
    <p:sldId id="297" r:id="rId36"/>
    <p:sldId id="302" r:id="rId3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BF25DC2-27BA-4CF5-8F9B-21CA9CAA6D08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9083072-E9AE-41D9-9B17-2381C066B47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6723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083072-E9AE-41D9-9B17-2381C066B472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355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774FB6C-1418-4139-88A3-3ADAF1CDFD6E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62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946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9C3B5-16D5-47AC-AD56-D5ABE7279B68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93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D07D-F327-4E27-A0B5-24C5A0EB323D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23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F461-CDD2-4C0D-B8F1-E041FE366822}" type="datetime8">
              <a:rPr lang="he-IL" smtClean="0"/>
              <a:t>15 מרץ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630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EA8F-C5F9-4933-87D3-A7E528C9CF31}" type="datetime8">
              <a:rPr lang="he-IL" smtClean="0"/>
              <a:t>15 מרץ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86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CDD1-876B-41D1-80FA-27D4DDD08339}" type="datetime8">
              <a:rPr lang="he-IL" smtClean="0"/>
              <a:t>15 מרץ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470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0D38-32DB-40B8-8559-85AB43D7C771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45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04657-650A-465B-BD8E-EEAF1D4DEC0F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4613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4FCF-35F2-478A-AB9A-14A1C5687C85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583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5647-0EBB-4E63-B105-27A039F0368A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622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F316-E17E-4267-8E08-438A64F75EA7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64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8C91-BC44-4578-8990-9BC15B99BB16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5523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E4F98-8730-4287-B852-52D8BE05383E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071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7A71-9015-4378-A848-E37C3460237C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388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B9E-D28E-4A40-B9FA-26C3E5E4815C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52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6BE1F-C9BE-47D6-AADA-DE9C9A22CE05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99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E5FEA2-B82E-4701-9F0A-BCEBE7D6F93F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AA0F4C-CE13-44DE-9222-0F12E65A07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145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buntu.com/download/deskto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ארכיטקטורת מחשבים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3B9F-7659-47E3-A7B7-D47DD8303AF5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410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שיעור ראשון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נלמד כיצד להפעיל את המהדר ב </a:t>
            </a:r>
            <a:r>
              <a:rPr lang="en-US" dirty="0" smtClean="0"/>
              <a:t>Linux</a:t>
            </a:r>
            <a:r>
              <a:rPr lang="he-IL" dirty="0" smtClean="0"/>
              <a:t> של אסמבלר</a:t>
            </a:r>
          </a:p>
          <a:p>
            <a:r>
              <a:rPr lang="he-IL" dirty="0" smtClean="0"/>
              <a:t>נלמד כיצד לדבג תכניות</a:t>
            </a:r>
          </a:p>
          <a:p>
            <a:r>
              <a:rPr lang="he-IL" dirty="0" smtClean="0"/>
              <a:t>נראה מספר דוגמאות של תכניות ונדגים את החומר עצמו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E01AC-F513-426A-993F-0DF5BD945B79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642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הקדמה - התקנת מכונה וירטואלית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יש להתקין על המחשב מכונה וירטואלית דרך האתר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ubuntu.com/download/desktop</a:t>
            </a:r>
            <a:endParaRPr lang="en-US" dirty="0" smtClean="0"/>
          </a:p>
          <a:p>
            <a:r>
              <a:rPr lang="he-IL" dirty="0" smtClean="0"/>
              <a:t>יש לבחור לאחר הכניסה אל הקישור באפשרות</a:t>
            </a:r>
          </a:p>
          <a:p>
            <a:r>
              <a:rPr lang="he-IL" dirty="0" smtClean="0"/>
              <a:t> </a:t>
            </a:r>
            <a:r>
              <a:rPr lang="en-US" b="1" dirty="0"/>
              <a:t>Ubuntu 22.04.4 LTS</a:t>
            </a:r>
            <a:r>
              <a:rPr lang="en-US" dirty="0"/>
              <a:t> (the long‑term support version</a:t>
            </a:r>
            <a:r>
              <a:rPr lang="en-US" dirty="0" smtClean="0"/>
              <a:t>)</a:t>
            </a:r>
          </a:p>
          <a:p>
            <a:r>
              <a:rPr lang="he-IL" dirty="0" smtClean="0"/>
              <a:t>יש להקליק על הלחצן </a:t>
            </a:r>
            <a:r>
              <a:rPr lang="en-US" dirty="0" smtClean="0"/>
              <a:t>download</a:t>
            </a:r>
            <a:r>
              <a:rPr lang="he-IL" dirty="0" smtClean="0"/>
              <a:t>  ולשמור את הקובץ עם סיומת </a:t>
            </a:r>
            <a:r>
              <a:rPr lang="en-US" dirty="0" err="1" smtClean="0"/>
              <a:t>iso</a:t>
            </a:r>
            <a:r>
              <a:rPr lang="he-IL" dirty="0" smtClean="0"/>
              <a:t> במקום כלשהו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17C59-05CD-4EC2-ACA1-6373305ACD36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431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smtClean="0"/>
              <a:t>המשך התקנה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יפתח לפניכם מסך : </a:t>
            </a:r>
          </a:p>
          <a:p>
            <a:r>
              <a:rPr lang="he-IL" dirty="0" smtClean="0"/>
              <a:t>יש לבחור  בצד שמאל ב </a:t>
            </a:r>
            <a:r>
              <a:rPr lang="en-US" dirty="0" smtClean="0"/>
              <a:t>   </a:t>
            </a:r>
            <a:r>
              <a:rPr lang="en-US" dirty="0" err="1" smtClean="0"/>
              <a:t>ubuntu</a:t>
            </a:r>
            <a:r>
              <a:rPr lang="he-IL" dirty="0" smtClean="0"/>
              <a:t> </a:t>
            </a:r>
          </a:p>
          <a:p>
            <a:r>
              <a:rPr lang="he-IL" dirty="0" smtClean="0"/>
              <a:t>ומשם ממשיכים לפי ההוראות </a:t>
            </a:r>
          </a:p>
          <a:p>
            <a:r>
              <a:rPr lang="he-IL" dirty="0" smtClean="0"/>
              <a:t>אחת ההוראות תדרוש מכם להקליד שם </a:t>
            </a:r>
          </a:p>
          <a:p>
            <a:r>
              <a:rPr lang="he-IL" dirty="0" smtClean="0"/>
              <a:t>משתמש וסיסמא. בצעו זאת. </a:t>
            </a: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4" y="339184"/>
            <a:ext cx="5843546" cy="5536684"/>
          </a:xfrm>
          <a:prstGeom prst="rect">
            <a:avLst/>
          </a:prstGeom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B5DF-E901-4F96-ADB1-E66CE529A6CE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95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תחילת העבודה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לאחר שההתקנה עברה באופן תקין,  יתקבל מסך כדלקמן : </a:t>
            </a:r>
          </a:p>
          <a:p>
            <a:r>
              <a:rPr lang="he-IL" dirty="0" smtClean="0"/>
              <a:t>לשם תחילת העבודה יש ללחוץ על 3 מקשים בו זמנית : </a:t>
            </a:r>
          </a:p>
          <a:p>
            <a:r>
              <a:rPr lang="en-US" dirty="0"/>
              <a:t>Ctrl + Alt + </a:t>
            </a:r>
            <a:r>
              <a:rPr lang="en-US" dirty="0" smtClean="0"/>
              <a:t>T</a:t>
            </a:r>
            <a:r>
              <a:rPr lang="he-IL" dirty="0" smtClean="0"/>
              <a:t> </a:t>
            </a:r>
          </a:p>
          <a:p>
            <a:r>
              <a:rPr lang="he-IL" dirty="0" smtClean="0"/>
              <a:t>כתוצאה מכך יפתח מסוף </a:t>
            </a:r>
            <a:r>
              <a:rPr lang="en-US" dirty="0" smtClean="0"/>
              <a:t>(terminal)</a:t>
            </a:r>
            <a:r>
              <a:rPr lang="he-IL" dirty="0" smtClean="0"/>
              <a:t> לצורך עבודה.</a:t>
            </a:r>
          </a:p>
          <a:p>
            <a:r>
              <a:rPr lang="he-IL" dirty="0" smtClean="0"/>
              <a:t>בשלב הבא – יש לבצע התקנות של כלים נדרשים</a:t>
            </a:r>
            <a:endParaRPr lang="he-IL" dirty="0"/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80" y="2968412"/>
            <a:ext cx="3056886" cy="3075772"/>
          </a:xfrm>
          <a:prstGeom prst="rect">
            <a:avLst/>
          </a:prstGeom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EAA9B-0A5C-4F8F-8812-56BBC8E41EB1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971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התקנת הכלים הנדרשים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95401" y="2620940"/>
            <a:ext cx="9601196" cy="3318936"/>
          </a:xfrm>
        </p:spPr>
        <p:txBody>
          <a:bodyPr>
            <a:normAutofit/>
          </a:bodyPr>
          <a:lstStyle/>
          <a:p>
            <a:r>
              <a:rPr lang="he-IL" dirty="0" smtClean="0"/>
              <a:t>במסוף שנפתח יש להקליד את הפקודות הבאות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/>
              <a:t>sudo apt update</a:t>
            </a:r>
          </a:p>
          <a:p>
            <a:pPr algn="l" rtl="0"/>
            <a:r>
              <a:rPr lang="en-US" dirty="0"/>
              <a:t>sudo apt install -y nasm gcc gdb</a:t>
            </a:r>
          </a:p>
          <a:p>
            <a:pPr algn="r"/>
            <a:r>
              <a:rPr lang="he-IL" dirty="0" smtClean="0"/>
              <a:t>פקודות אילו מבצעות התקנה של: </a:t>
            </a:r>
          </a:p>
          <a:p>
            <a:pPr marL="0" lvl="0" indent="0" algn="l" defTabSz="91440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e-IL" altLang="he-IL" b="1" dirty="0">
                <a:solidFill>
                  <a:schemeClr val="tx1"/>
                </a:solidFill>
                <a:latin typeface="Arial" panose="020B0604020202020204" pitchFamily="34" charset="0"/>
              </a:rPr>
              <a:t>nasm</a:t>
            </a:r>
            <a:r>
              <a:rPr lang="he-IL" altLang="he-IL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he-IL" altLang="he-IL" dirty="0" err="1">
                <a:solidFill>
                  <a:schemeClr val="tx1"/>
                </a:solidFill>
                <a:latin typeface="Arial" panose="020B0604020202020204" pitchFamily="34" charset="0"/>
              </a:rPr>
              <a:t>assembler</a:t>
            </a:r>
            <a:r>
              <a:rPr lang="he-IL" altLang="he-IL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he-IL" altLang="he-IL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defTabSz="91440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e-IL" altLang="he-IL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gdb</a:t>
            </a:r>
            <a:r>
              <a:rPr lang="he-IL" altLang="he-IL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e-IL" altLang="he-IL" dirty="0">
                <a:solidFill>
                  <a:schemeClr val="tx1"/>
                </a:solidFill>
                <a:latin typeface="Arial" panose="020B0604020202020204" pitchFamily="34" charset="0"/>
              </a:rPr>
              <a:t>→ </a:t>
            </a:r>
            <a:r>
              <a:rPr lang="he-IL" altLang="he-IL" dirty="0" err="1">
                <a:solidFill>
                  <a:schemeClr val="tx1"/>
                </a:solidFill>
                <a:latin typeface="Arial" panose="020B0604020202020204" pitchFamily="34" charset="0"/>
              </a:rPr>
              <a:t>debugger</a:t>
            </a:r>
            <a:endParaRPr lang="he-IL" altLang="he-IL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rtl="0"/>
            <a:endParaRPr lang="he-IL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7EA6B-1894-43C4-8732-CA89F01AB36D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212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התקנה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לאחר כל פקודה כזו תראו על המסך שורות רצות. לא להתרגש מכך</a:t>
            </a:r>
          </a:p>
          <a:p>
            <a:r>
              <a:rPr lang="he-IL" dirty="0" smtClean="0"/>
              <a:t>בהמשך – אם תידרשו להקליד סיסמת כניסה – בצעו זאת.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7F5D-82A2-442F-9FE2-929B038C05F5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97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טרם תחילת עבודה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יש ליצור קובץ בשם </a:t>
            </a:r>
            <a:r>
              <a:rPr lang="en-US" dirty="0" err="1" smtClean="0"/>
              <a:t>gdbinit</a:t>
            </a:r>
            <a:r>
              <a:rPr lang="he-IL" dirty="0" smtClean="0"/>
              <a:t> וזאת כדי לקבל סביבת עבודה נוחה.</a:t>
            </a:r>
          </a:p>
          <a:p>
            <a:r>
              <a:rPr lang="he-IL" dirty="0" smtClean="0"/>
              <a:t>לשם כך , מבצעים את השלבים הבאים :</a:t>
            </a:r>
            <a:r>
              <a:rPr lang="en-US" dirty="0" smtClean="0"/>
              <a:t> </a:t>
            </a:r>
            <a:endParaRPr lang="he-IL" dirty="0" smtClean="0"/>
          </a:p>
          <a:p>
            <a:r>
              <a:rPr lang="he-IL" dirty="0" smtClean="0"/>
              <a:t>1.  </a:t>
            </a:r>
            <a:r>
              <a:rPr lang="en-US" dirty="0" err="1" smtClean="0"/>
              <a:t>nano</a:t>
            </a:r>
            <a:r>
              <a:rPr lang="en-US" dirty="0" smtClean="0"/>
              <a:t> ~/.</a:t>
            </a:r>
            <a:r>
              <a:rPr lang="en-US" dirty="0" err="1" smtClean="0"/>
              <a:t>gdbinit</a:t>
            </a:r>
            <a:endParaRPr lang="he-IL" dirty="0" smtClean="0"/>
          </a:p>
          <a:p>
            <a:r>
              <a:rPr lang="he-IL" dirty="0" smtClean="0"/>
              <a:t>2. כותבים את הפקודות הבאות באופן ידני או לחילופין מעתיקים ומדביקים את הפקודות לפי החומר שהמרצה  חילק בהרצאה</a:t>
            </a:r>
            <a:endParaRPr lang="en-US" dirty="0" smtClean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512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gdbinit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9</a:t>
            </a:fld>
            <a:endParaRPr lang="he-IL"/>
          </a:p>
        </p:txBody>
      </p:sp>
      <p:pic>
        <p:nvPicPr>
          <p:cNvPr id="7" name="מציין מיקום תוכן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536" y="2557463"/>
            <a:ext cx="703173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5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שלבי בניית  תכנית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 smtClean="0"/>
              <a:t> יש לרשום</a:t>
            </a:r>
            <a:r>
              <a:rPr lang="en-US" dirty="0" smtClean="0"/>
              <a:t>  </a:t>
            </a:r>
            <a:r>
              <a:rPr lang="he-IL" dirty="0" smtClean="0"/>
              <a:t>   </a:t>
            </a:r>
            <a:r>
              <a:rPr lang="en-US" dirty="0" err="1" smtClean="0"/>
              <a:t>nano</a:t>
            </a:r>
            <a:r>
              <a:rPr lang="en-US" dirty="0" smtClean="0"/>
              <a:t> file_name.asm</a:t>
            </a:r>
            <a:r>
              <a:rPr lang="he-IL" dirty="0" smtClean="0"/>
              <a:t> ויפתח החלון הבא :</a:t>
            </a:r>
          </a:p>
          <a:p>
            <a:r>
              <a:rPr lang="he-IL" dirty="0" smtClean="0"/>
              <a:t>בחלון זה יש לכתוב את התכנית (אם מעתיקים אז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he-IL" dirty="0" smtClean="0"/>
              <a:t> לבצע בזהירות) </a:t>
            </a:r>
          </a:p>
          <a:p>
            <a:pPr marL="0" indent="0">
              <a:buNone/>
            </a:pPr>
            <a:r>
              <a:rPr lang="he-IL" dirty="0" smtClean="0"/>
              <a:t>בסיום הכתיבה יש לבצע שמירה ויציאה בעזרת שתי </a:t>
            </a:r>
          </a:p>
          <a:p>
            <a:pPr marL="0" indent="0">
              <a:buNone/>
            </a:pPr>
            <a:r>
              <a:rPr lang="he-IL" dirty="0" smtClean="0"/>
              <a:t>הפקודות שלהלן :</a:t>
            </a:r>
            <a:r>
              <a:rPr lang="en-US" dirty="0" smtClean="0"/>
              <a:t> </a:t>
            </a:r>
            <a:endParaRPr lang="he-IL" dirty="0" smtClean="0"/>
          </a:p>
          <a:p>
            <a:pPr marL="0" indent="0">
              <a:buNone/>
            </a:pPr>
            <a:r>
              <a:rPr lang="en-US" dirty="0"/>
              <a:t> Ctrl + O, Enter (writes the file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Ctrl </a:t>
            </a:r>
            <a:r>
              <a:rPr lang="en-US" dirty="0"/>
              <a:t>+ X (exits </a:t>
            </a:r>
            <a:r>
              <a:rPr lang="en-US" dirty="0" err="1"/>
              <a:t>nano</a:t>
            </a:r>
            <a:r>
              <a:rPr lang="en-US" dirty="0"/>
              <a:t>)</a:t>
            </a:r>
            <a:endParaRPr lang="he-IL" dirty="0" smtClean="0"/>
          </a:p>
          <a:p>
            <a:endParaRPr lang="he-IL" dirty="0" smtClean="0"/>
          </a:p>
          <a:p>
            <a:endParaRPr lang="en-US" dirty="0" smtClean="0"/>
          </a:p>
          <a:p>
            <a:endParaRPr lang="he-IL" dirty="0" smtClean="0"/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9" y="2840396"/>
            <a:ext cx="3806951" cy="3099757"/>
          </a:xfrm>
          <a:prstGeom prst="rect">
            <a:avLst/>
          </a:prstGeom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8F21-7FD1-47AC-9273-D0AC88052641}" type="datetime8">
              <a:rPr lang="he-IL" smtClean="0"/>
              <a:t>15 מרץ 26</a:t>
            </a:fld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749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כעת , שלב ראשון בהרצה הוא להפוך את קובץ התכנית </a:t>
            </a:r>
            <a:r>
              <a:rPr lang="en-US" dirty="0" smtClean="0"/>
              <a:t>.</a:t>
            </a:r>
            <a:r>
              <a:rPr lang="en-US" dirty="0" err="1" smtClean="0"/>
              <a:t>asm</a:t>
            </a:r>
            <a:r>
              <a:rPr lang="he-IL" dirty="0" smtClean="0"/>
              <a:t> לקובץ </a:t>
            </a:r>
            <a:r>
              <a:rPr lang="en-US" dirty="0" smtClean="0"/>
              <a:t>object</a:t>
            </a:r>
            <a:r>
              <a:rPr lang="he-IL" dirty="0" smtClean="0"/>
              <a:t> באמצעות </a:t>
            </a:r>
            <a:r>
              <a:rPr lang="en-US" dirty="0" smtClean="0"/>
              <a:t>NASM</a:t>
            </a:r>
            <a:r>
              <a:rPr lang="he-IL" dirty="0" smtClean="0"/>
              <a:t> , תוך אפשרות "לדבג" את התכנית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/>
              <a:t>nasm -f elf64 </a:t>
            </a:r>
            <a:r>
              <a:rPr lang="en-US" dirty="0" smtClean="0"/>
              <a:t>file_name.asm </a:t>
            </a:r>
            <a:r>
              <a:rPr lang="en-US" dirty="0"/>
              <a:t>-o </a:t>
            </a:r>
            <a:r>
              <a:rPr lang="en-US" dirty="0" err="1" smtClean="0"/>
              <a:t>file_name.o</a:t>
            </a:r>
            <a:endParaRPr lang="en-US" dirty="0"/>
          </a:p>
          <a:p>
            <a:pPr algn="r"/>
            <a:r>
              <a:rPr lang="he-IL" dirty="0" smtClean="0"/>
              <a:t>במידה ואין טעויות , לא יתקבל כל משוב מפקודה זו. </a:t>
            </a:r>
            <a:endParaRPr lang="en-US" dirty="0" smtClean="0"/>
          </a:p>
          <a:p>
            <a:pPr marL="0" indent="0">
              <a:buNone/>
            </a:pPr>
            <a:r>
              <a:rPr lang="he-IL" dirty="0" smtClean="0"/>
              <a:t>בהמשך יש להפעיל את </a:t>
            </a:r>
            <a:r>
              <a:rPr lang="en-US" dirty="0" smtClean="0"/>
              <a:t>linker</a:t>
            </a:r>
            <a:r>
              <a:rPr lang="he-IL" dirty="0" smtClean="0"/>
              <a:t> תוך שימוש בפקודה : </a:t>
            </a:r>
          </a:p>
          <a:p>
            <a:pPr marL="0" indent="0" algn="l" rtl="0">
              <a:buNone/>
            </a:pPr>
            <a:r>
              <a:rPr lang="en-US" dirty="0" err="1" smtClean="0"/>
              <a:t>gcc</a:t>
            </a:r>
            <a:r>
              <a:rPr lang="en-US" dirty="0" smtClean="0"/>
              <a:t> –o </a:t>
            </a:r>
            <a:r>
              <a:rPr lang="en-US" dirty="0" err="1" smtClean="0"/>
              <a:t>file_name</a:t>
            </a:r>
            <a:r>
              <a:rPr lang="en-US" dirty="0" smtClean="0"/>
              <a:t>  </a:t>
            </a:r>
            <a:r>
              <a:rPr lang="en-US" dirty="0" err="1" smtClean="0"/>
              <a:t>file_name.o</a:t>
            </a:r>
            <a:endParaRPr lang="en-US" dirty="0" smtClean="0"/>
          </a:p>
          <a:p>
            <a:pPr marL="0" indent="0" algn="r">
              <a:buNone/>
            </a:pPr>
            <a:r>
              <a:rPr lang="he-IL" dirty="0" smtClean="0"/>
              <a:t>ע"י כך נקבל קובץ הרצה  </a:t>
            </a:r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7AEA8-0534-4763-970B-3AA367AB5ABF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73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כדי לבצע </a:t>
            </a:r>
            <a:r>
              <a:rPr lang="en-US" dirty="0" smtClean="0"/>
              <a:t>debugging</a:t>
            </a:r>
            <a:r>
              <a:rPr lang="he-IL" dirty="0" smtClean="0"/>
              <a:t> לתכנית  בעזרת </a:t>
            </a:r>
            <a:r>
              <a:rPr lang="en-US" dirty="0" smtClean="0"/>
              <a:t>gdb</a:t>
            </a:r>
            <a:r>
              <a:rPr lang="he-IL" dirty="0" smtClean="0"/>
              <a:t> יש לבצע </a:t>
            </a:r>
            <a:r>
              <a:rPr lang="en-US" dirty="0"/>
              <a:t> </a:t>
            </a:r>
            <a:r>
              <a:rPr lang="he-IL" dirty="0" smtClean="0"/>
              <a:t>את הפקודה :</a:t>
            </a:r>
            <a:r>
              <a:rPr lang="en-US" dirty="0" smtClean="0"/>
              <a:t> </a:t>
            </a:r>
            <a:r>
              <a:rPr lang="he-IL" dirty="0" smtClean="0"/>
              <a:t> </a:t>
            </a:r>
            <a:endParaRPr lang="en-US" dirty="0" smtClean="0"/>
          </a:p>
          <a:p>
            <a:r>
              <a:rPr lang="en-US" dirty="0"/>
              <a:t> </a:t>
            </a:r>
            <a:r>
              <a:rPr lang="he-IL" dirty="0" smtClean="0"/>
              <a:t> </a:t>
            </a:r>
            <a:r>
              <a:rPr lang="en-US" dirty="0" smtClean="0"/>
              <a:t>gdb ./</a:t>
            </a:r>
            <a:r>
              <a:rPr lang="en-US" dirty="0" err="1" smtClean="0"/>
              <a:t>file_name</a:t>
            </a:r>
            <a:r>
              <a:rPr lang="en-US" dirty="0" smtClean="0"/>
              <a:t> </a:t>
            </a:r>
            <a:r>
              <a:rPr lang="he-IL" dirty="0" smtClean="0"/>
              <a:t>  וזאת ללא כל סיומת. </a:t>
            </a:r>
          </a:p>
          <a:p>
            <a:r>
              <a:rPr lang="he-IL" dirty="0" smtClean="0"/>
              <a:t>שלב הבא – מוסיפים </a:t>
            </a:r>
            <a:r>
              <a:rPr lang="he-IL" dirty="0" err="1" smtClean="0"/>
              <a:t>נק</a:t>
            </a:r>
            <a:r>
              <a:rPr lang="en-US" dirty="0" smtClean="0"/>
              <a:t>'</a:t>
            </a:r>
            <a:r>
              <a:rPr lang="he-IL" dirty="0" smtClean="0"/>
              <a:t> </a:t>
            </a:r>
            <a:r>
              <a:rPr lang="en-US" dirty="0" smtClean="0"/>
              <a:t>break</a:t>
            </a:r>
            <a:r>
              <a:rPr lang="he-IL" dirty="0" smtClean="0"/>
              <a:t> באופן הבא : רושמים  </a:t>
            </a:r>
            <a:r>
              <a:rPr lang="en-US" dirty="0" smtClean="0"/>
              <a:t>break main</a:t>
            </a:r>
            <a:r>
              <a:rPr lang="he-IL" dirty="0" smtClean="0"/>
              <a:t> ואז תיווצר עצירה בשורה של </a:t>
            </a:r>
            <a:r>
              <a:rPr lang="en-US" dirty="0" smtClean="0"/>
              <a:t>main</a:t>
            </a:r>
            <a:r>
              <a:rPr lang="he-IL" dirty="0" smtClean="0"/>
              <a:t> (יש לדאוג כי קובץ התכנית יכיל תווית </a:t>
            </a:r>
            <a:r>
              <a:rPr lang="en-US" dirty="0" smtClean="0"/>
              <a:t>main</a:t>
            </a:r>
            <a:r>
              <a:rPr lang="he-IL" smtClean="0"/>
              <a:t>)</a:t>
            </a:r>
            <a:endParaRPr lang="he-IL" dirty="0" smtClean="0"/>
          </a:p>
          <a:p>
            <a:r>
              <a:rPr lang="he-IL" dirty="0" smtClean="0"/>
              <a:t>שלב הבא – רושמים </a:t>
            </a:r>
            <a:r>
              <a:rPr lang="en-US" dirty="0" smtClean="0"/>
              <a:t>run</a:t>
            </a:r>
            <a:r>
              <a:rPr lang="he-IL" dirty="0" smtClean="0"/>
              <a:t> כדי להריץ את התכנית </a:t>
            </a:r>
          </a:p>
          <a:p>
            <a:r>
              <a:rPr lang="he-IL" dirty="0" smtClean="0"/>
              <a:t>שלב הבא : רושמים </a:t>
            </a:r>
            <a:r>
              <a:rPr lang="en-US" dirty="0" smtClean="0"/>
              <a:t>layout </a:t>
            </a:r>
            <a:r>
              <a:rPr lang="en-US" dirty="0" err="1" smtClean="0"/>
              <a:t>asm</a:t>
            </a:r>
            <a:r>
              <a:rPr lang="he-IL" dirty="0" smtClean="0"/>
              <a:t> ואז יפתח חלון של ה </a:t>
            </a:r>
            <a:r>
              <a:rPr lang="en-US" dirty="0" smtClean="0"/>
              <a:t>debugger</a:t>
            </a:r>
            <a:r>
              <a:rPr lang="he-IL" dirty="0" smtClean="0"/>
              <a:t> של התכנית. </a:t>
            </a:r>
          </a:p>
          <a:p>
            <a:r>
              <a:rPr lang="he-IL" dirty="0" smtClean="0"/>
              <a:t>כעת רושמים בחלון של ה </a:t>
            </a:r>
            <a:r>
              <a:rPr lang="en-US" dirty="0" smtClean="0"/>
              <a:t>debugger </a:t>
            </a:r>
            <a:r>
              <a:rPr lang="he-IL" dirty="0" smtClean="0"/>
              <a:t>  : </a:t>
            </a:r>
            <a:r>
              <a:rPr lang="en-US" dirty="0" smtClean="0"/>
              <a:t>layout </a:t>
            </a:r>
            <a:r>
              <a:rPr lang="en-US" dirty="0" err="1" smtClean="0"/>
              <a:t>regs</a:t>
            </a:r>
            <a:r>
              <a:rPr lang="he-IL" dirty="0" smtClean="0"/>
              <a:t> כדי לעקוב אחר הדגלים</a:t>
            </a:r>
          </a:p>
          <a:p>
            <a:endParaRPr lang="he-IL" dirty="0" smtClean="0"/>
          </a:p>
          <a:p>
            <a:pPr algn="l" rtl="0"/>
            <a:endParaRPr lang="he-IL" dirty="0"/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158D-27C7-4B58-9A82-F7DF5008FB03}" type="datetime8">
              <a:rPr lang="he-IL" smtClean="0"/>
              <a:t>15 מרץ 26</a:t>
            </a:fld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091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תמונת </a:t>
            </a:r>
            <a:r>
              <a:rPr lang="he-IL" dirty="0" err="1" smtClean="0"/>
              <a:t>הדיבגר</a:t>
            </a:r>
            <a:r>
              <a:rPr lang="he-IL" dirty="0" smtClean="0"/>
              <a:t> – כללית 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13</a:t>
            </a:fld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כפי שניתן לראות , המסך מחולק לשניים : החלק העליון מכיל את האוגרים והדגלים ואילו התחתון מכיל את הפקודות. </a:t>
            </a:r>
            <a:endParaRPr lang="he-IL" dirty="0"/>
          </a:p>
        </p:txBody>
      </p:sp>
      <p:pic>
        <p:nvPicPr>
          <p:cNvPr id="7" name="מציין מיקום תוכן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86" y="3020950"/>
            <a:ext cx="420187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7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כדי </a:t>
            </a:r>
            <a:r>
              <a:rPr lang="he-IL" dirty="0"/>
              <a:t>להריץ את התכנית צעד אחר צעד , רושמים </a:t>
            </a:r>
            <a:r>
              <a:rPr lang="en-US" dirty="0" err="1"/>
              <a:t>si</a:t>
            </a:r>
            <a:r>
              <a:rPr lang="he-IL" dirty="0"/>
              <a:t>  ואז בחלון שנפתח קודם לכן ניתן לעקוב אחר הרצת </a:t>
            </a:r>
            <a:r>
              <a:rPr lang="he-IL" dirty="0" smtClean="0"/>
              <a:t>התכנית</a:t>
            </a:r>
          </a:p>
          <a:p>
            <a:r>
              <a:rPr lang="he-IL" dirty="0" smtClean="0"/>
              <a:t>הערה : יתכן כי תוכן האוגרים לא יוצג למסך למרות הפקודה</a:t>
            </a:r>
            <a:r>
              <a:rPr lang="he-IL" dirty="0"/>
              <a:t> </a:t>
            </a:r>
            <a:r>
              <a:rPr lang="en-US" dirty="0" smtClean="0"/>
              <a:t>layout </a:t>
            </a:r>
            <a:r>
              <a:rPr lang="en-US" dirty="0" err="1" smtClean="0"/>
              <a:t>regs</a:t>
            </a:r>
            <a:r>
              <a:rPr lang="he-IL" dirty="0"/>
              <a:t> </a:t>
            </a:r>
            <a:r>
              <a:rPr lang="he-IL" dirty="0" smtClean="0"/>
              <a:t>. לכן מומלץ תחילה להריץ את התכנית בעזרת הפקודה </a:t>
            </a:r>
            <a:r>
              <a:rPr lang="en-US" dirty="0" err="1" smtClean="0"/>
              <a:t>si</a:t>
            </a:r>
            <a:r>
              <a:rPr lang="he-IL" dirty="0" smtClean="0"/>
              <a:t> צעד אחר צעד ואז לנסות שוב. </a:t>
            </a:r>
          </a:p>
          <a:p>
            <a:r>
              <a:rPr lang="he-IL" dirty="0"/>
              <a:t>פקודה שימושית נוספת היא </a:t>
            </a:r>
            <a:r>
              <a:rPr lang="en-US" dirty="0"/>
              <a:t>x/10i $rip</a:t>
            </a:r>
            <a:r>
              <a:rPr lang="he-IL" dirty="0"/>
              <a:t> אשר מראה את זרימת התכנית באופן ברור יותר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73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תמונת </a:t>
            </a:r>
            <a:r>
              <a:rPr lang="en-US" dirty="0" smtClean="0"/>
              <a:t>debugger </a:t>
            </a:r>
            <a:r>
              <a:rPr lang="he-IL" dirty="0" smtClean="0"/>
              <a:t> לאחר </a:t>
            </a:r>
            <a:r>
              <a:rPr lang="he-IL" dirty="0" smtClean="0"/>
              <a:t>ביצוע פקודת </a:t>
            </a:r>
            <a:r>
              <a:rPr lang="en-US" dirty="0" err="1" smtClean="0"/>
              <a:t>asm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15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61" y="2557463"/>
            <a:ext cx="3565477" cy="3317875"/>
          </a:xfrm>
        </p:spPr>
      </p:pic>
    </p:spTree>
    <p:extLst>
      <p:ext uri="{BB962C8B-B14F-4D97-AF65-F5344CB8AC3E}">
        <p14:creationId xmlns:p14="http://schemas.microsoft.com/office/powerpoint/2010/main" val="133553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תמונת </a:t>
            </a:r>
            <a:r>
              <a:rPr lang="en-US" dirty="0" smtClean="0"/>
              <a:t>debugger </a:t>
            </a:r>
            <a:r>
              <a:rPr lang="he-IL" dirty="0" smtClean="0"/>
              <a:t> לאחר פקודת </a:t>
            </a:r>
            <a:r>
              <a:rPr lang="en-US" dirty="0" err="1" smtClean="0"/>
              <a:t>si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16</a:t>
            </a:fld>
            <a:endParaRPr lang="he-IL"/>
          </a:p>
        </p:txBody>
      </p:sp>
      <p:pic>
        <p:nvPicPr>
          <p:cNvPr id="7" name="מציין מיקום תוכן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842" y="2557463"/>
            <a:ext cx="3440316" cy="3317875"/>
          </a:xfrm>
        </p:spPr>
      </p:pic>
    </p:spTree>
    <p:extLst>
      <p:ext uri="{BB962C8B-B14F-4D97-AF65-F5344CB8AC3E}">
        <p14:creationId xmlns:p14="http://schemas.microsoft.com/office/powerpoint/2010/main" val="322139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שמירה והצגת הקובץ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 smtClean="0"/>
              <a:t>כדי להציג את הקובץ לאחר שנכתב ב </a:t>
            </a:r>
            <a:r>
              <a:rPr lang="en-US" dirty="0" err="1" smtClean="0"/>
              <a:t>ubunto</a:t>
            </a:r>
            <a:r>
              <a:rPr lang="he-IL" dirty="0" smtClean="0"/>
              <a:t>, יש לצאת מה </a:t>
            </a:r>
            <a:r>
              <a:rPr lang="en-US" dirty="0" smtClean="0"/>
              <a:t>debugger</a:t>
            </a:r>
            <a:r>
              <a:rPr lang="he-IL" dirty="0" smtClean="0"/>
              <a:t> כלומר לצאת מ </a:t>
            </a:r>
            <a:r>
              <a:rPr lang="en-US" dirty="0" err="1" smtClean="0"/>
              <a:t>gcc</a:t>
            </a:r>
            <a:r>
              <a:rPr lang="he-IL" dirty="0" smtClean="0"/>
              <a:t> ע"י הקלדה של  </a:t>
            </a:r>
            <a:r>
              <a:rPr lang="en-US" dirty="0" smtClean="0"/>
              <a:t>exit</a:t>
            </a:r>
            <a:r>
              <a:rPr lang="he-IL" dirty="0" smtClean="0"/>
              <a:t>  , ואז רושמים </a:t>
            </a:r>
            <a:r>
              <a:rPr lang="en-US" dirty="0" smtClean="0"/>
              <a:t>cat </a:t>
            </a:r>
            <a:r>
              <a:rPr lang="en-US" dirty="0" err="1" smtClean="0"/>
              <a:t>file_name</a:t>
            </a:r>
            <a:r>
              <a:rPr lang="he-IL" dirty="0" smtClean="0"/>
              <a:t> עם הסיומת </a:t>
            </a:r>
            <a:r>
              <a:rPr lang="en-US" dirty="0" err="1" smtClean="0"/>
              <a:t>asm</a:t>
            </a:r>
            <a:r>
              <a:rPr lang="he-IL" dirty="0" smtClean="0"/>
              <a:t>.</a:t>
            </a:r>
          </a:p>
          <a:p>
            <a:r>
              <a:rPr lang="he-IL" dirty="0" smtClean="0"/>
              <a:t>לאחר מכן, סימון של התכנית עם העכבר וכן לחיצה על העכבר הימני תוביל אתכם לתפריט שבו אחת האופציות תהיה </a:t>
            </a:r>
            <a:r>
              <a:rPr lang="en-US" dirty="0" smtClean="0"/>
              <a:t>copy</a:t>
            </a:r>
            <a:r>
              <a:rPr lang="he-IL" dirty="0" smtClean="0"/>
              <a:t>. כעת ניתן יהיה להעתיק את התכנית אל </a:t>
            </a:r>
            <a:r>
              <a:rPr lang="en-US" dirty="0" smtClean="0"/>
              <a:t>notepad</a:t>
            </a:r>
            <a:r>
              <a:rPr lang="he-IL" dirty="0" smtClean="0"/>
              <a:t> (הערה – לא תמיד אפשרות זו פעילה ואז יש להעתיק את הפקודה שורה אחר שורה דהיינו לכתוב כל שורה ידנית) .</a:t>
            </a:r>
          </a:p>
          <a:p>
            <a:r>
              <a:rPr lang="he-IL" dirty="0" smtClean="0"/>
              <a:t>כדי לאתר את הקובץ ואת מיקומו , יוצאים מה </a:t>
            </a:r>
            <a:r>
              <a:rPr lang="en-US" dirty="0" smtClean="0"/>
              <a:t>debugger</a:t>
            </a:r>
            <a:r>
              <a:rPr lang="he-IL" dirty="0" smtClean="0"/>
              <a:t> ורושמים </a:t>
            </a:r>
            <a:r>
              <a:rPr lang="en-US" dirty="0" err="1" smtClean="0"/>
              <a:t>pwd</a:t>
            </a:r>
            <a:r>
              <a:rPr lang="he-IL" dirty="0" smtClean="0"/>
              <a:t> ואז מקבלים את שם התיקייה שבה נמצא הקובץ.  </a:t>
            </a:r>
            <a:endParaRPr lang="he-IL" dirty="0"/>
          </a:p>
          <a:p>
            <a:r>
              <a:rPr lang="he-IL" dirty="0" smtClean="0"/>
              <a:t>כדי לאתר את כל הקבצים בתיקייה הזו רושמים </a:t>
            </a:r>
            <a:r>
              <a:rPr lang="en-US" dirty="0" smtClean="0"/>
              <a:t>ls</a:t>
            </a:r>
            <a:r>
              <a:rPr lang="he-IL" dirty="0" smtClean="0"/>
              <a:t> ושם ניתן למצוא את כל הקבצים , ביניהם גם את קובץ התכנית הספציפית.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7399-4DB4-4F7E-8391-5EB3CCA76860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591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תוכן הדגלים בתכנית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section .text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global _start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_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start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mov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10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mov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rbx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20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cmp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rbx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less_than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greater_than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je  equal</a:t>
            </a:r>
          </a:p>
          <a:p>
            <a:pPr algn="l" rtl="0"/>
            <a:endParaRPr lang="he-IL" dirty="0"/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92B8-0FCB-4A10-B501-DAA8F65EF2C4}" type="datetime8">
              <a:rPr lang="he-IL" smtClean="0"/>
              <a:t>15 מרץ 26</a:t>
            </a:fld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18</a:t>
            </a:fld>
            <a:endParaRPr lang="he-IL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7" y="2285999"/>
            <a:ext cx="10408816" cy="358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7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דגלים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כדי לעקוב אחר תכני הדגלים , יש לרשום </a:t>
            </a:r>
            <a:r>
              <a:rPr lang="en-US" dirty="0" smtClean="0"/>
              <a:t>info registers </a:t>
            </a:r>
            <a:r>
              <a:rPr lang="he-IL" dirty="0" smtClean="0"/>
              <a:t> ואז בין האוגרים ניתן יהיה להבחין באוגר הדגלים.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19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472" y="3146102"/>
            <a:ext cx="4639056" cy="282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8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תכנית דוגמא - תנאים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r"/>
            <a:r>
              <a:rPr lang="he-IL" dirty="0" smtClean="0"/>
              <a:t>תכנית זו מאתחלת שני אוגרים </a:t>
            </a:r>
            <a:r>
              <a:rPr lang="en-US" dirty="0" err="1" smtClean="0"/>
              <a:t>rax</a:t>
            </a:r>
            <a:r>
              <a:rPr lang="en-US" dirty="0" smtClean="0"/>
              <a:t>, </a:t>
            </a:r>
            <a:r>
              <a:rPr lang="en-US" dirty="0" err="1" smtClean="0"/>
              <a:t>rbx</a:t>
            </a:r>
            <a:r>
              <a:rPr lang="he-IL" dirty="0" smtClean="0"/>
              <a:t> , בודקת איזה מהם מכיל תוכן גדול יותר ומדפיסה את היחס ביניהם.</a:t>
            </a:r>
          </a:p>
          <a:p>
            <a:pPr algn="r"/>
            <a:r>
              <a:rPr lang="he-IL" dirty="0" smtClean="0"/>
              <a:t>נשמרה תחת השם </a:t>
            </a:r>
            <a:r>
              <a:rPr lang="en-US" dirty="0" smtClean="0"/>
              <a:t>conditional.asm</a:t>
            </a:r>
            <a:r>
              <a:rPr lang="he-IL" dirty="0" smtClean="0"/>
              <a:t> </a:t>
            </a:r>
          </a:p>
          <a:p>
            <a:pPr algn="r"/>
            <a:r>
              <a:rPr lang="he-IL" dirty="0" smtClean="0"/>
              <a:t>התכנית לא תדפיס דבר ולכן יש לדבג אותה שלב אחר שלב.  </a:t>
            </a:r>
          </a:p>
          <a:p>
            <a:pPr algn="r"/>
            <a:r>
              <a:rPr lang="he-IL" dirty="0" smtClean="0"/>
              <a:t>התכנית בודקת את היחס בין תכני האוגרים ע"י פקודת השוואה </a:t>
            </a:r>
            <a:r>
              <a:rPr lang="en-US" dirty="0" err="1" smtClean="0"/>
              <a:t>cmp</a:t>
            </a:r>
            <a:r>
              <a:rPr lang="he-IL" dirty="0" smtClean="0"/>
              <a:t> אשר מבצעת חיסור בין התוכן של </a:t>
            </a:r>
            <a:r>
              <a:rPr lang="en-US" dirty="0" err="1" smtClean="0"/>
              <a:t>rax</a:t>
            </a:r>
            <a:r>
              <a:rPr lang="he-IL" dirty="0" smtClean="0"/>
              <a:t>  לתוכן של  </a:t>
            </a:r>
            <a:r>
              <a:rPr lang="en-US" dirty="0" err="1" smtClean="0"/>
              <a:t>rbx</a:t>
            </a:r>
            <a:r>
              <a:rPr lang="he-IL" dirty="0" smtClean="0"/>
              <a:t> ומשפיעה אך ורק על הדגלים.  תוצאת החיסור לא נשמרת כלל. </a:t>
            </a:r>
          </a:p>
          <a:p>
            <a:pPr algn="l" rtl="0"/>
            <a:endParaRPr lang="en-US" sz="140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D095-DF87-447F-B4A2-3F74A19345C9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399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תכני הדגלים המשך 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הסבר : בתכנית </a:t>
            </a:r>
            <a:r>
              <a:rPr lang="en-US" dirty="0" err="1" smtClean="0"/>
              <a:t>rax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מכיל ערך נמוך יותר מ </a:t>
            </a:r>
            <a:r>
              <a:rPr lang="en-US" dirty="0" err="1" smtClean="0"/>
              <a:t>rbx</a:t>
            </a:r>
            <a:r>
              <a:rPr lang="he-IL" dirty="0" smtClean="0"/>
              <a:t> ולכן ברגע שמחסרים  מערך ראשון ערך שני גבוה יותר מתקבלת תוצאה שלילית. </a:t>
            </a:r>
          </a:p>
          <a:p>
            <a:r>
              <a:rPr lang="he-IL" dirty="0" smtClean="0"/>
              <a:t>על כן , התוצאה שונה מאפס ולכן </a:t>
            </a:r>
            <a:r>
              <a:rPr lang="en-US" dirty="0" err="1" smtClean="0"/>
              <a:t>zf</a:t>
            </a:r>
            <a:r>
              <a:rPr lang="en-US" dirty="0" smtClean="0"/>
              <a:t>=0</a:t>
            </a:r>
            <a:r>
              <a:rPr lang="he-IL" dirty="0" smtClean="0"/>
              <a:t>  דגל הסימן </a:t>
            </a:r>
            <a:r>
              <a:rPr lang="en-US" dirty="0" smtClean="0"/>
              <a:t>sf=1</a:t>
            </a:r>
            <a:r>
              <a:rPr lang="he-IL" dirty="0" smtClean="0"/>
              <a:t> כי התוצאה שלילית.  </a:t>
            </a:r>
          </a:p>
          <a:p>
            <a:r>
              <a:rPr lang="he-IL" dirty="0" smtClean="0"/>
              <a:t>דגל </a:t>
            </a:r>
            <a:r>
              <a:rPr lang="he-IL" dirty="0" err="1" smtClean="0"/>
              <a:t>הנשא</a:t>
            </a:r>
            <a:r>
              <a:rPr lang="he-IL" dirty="0" smtClean="0"/>
              <a:t> </a:t>
            </a:r>
            <a:r>
              <a:rPr lang="en-US" dirty="0" err="1" smtClean="0"/>
              <a:t>cf</a:t>
            </a:r>
            <a:r>
              <a:rPr lang="en-US" dirty="0" smtClean="0"/>
              <a:t>=1</a:t>
            </a:r>
            <a:r>
              <a:rPr lang="he-IL" dirty="0" smtClean="0"/>
              <a:t> כי נוצר לווה – </a:t>
            </a:r>
            <a:r>
              <a:rPr lang="en-US" dirty="0" smtClean="0"/>
              <a:t>borrow</a:t>
            </a:r>
            <a:r>
              <a:rPr lang="he-IL" dirty="0" smtClean="0"/>
              <a:t> </a:t>
            </a:r>
          </a:p>
          <a:p>
            <a:r>
              <a:rPr lang="he-IL" dirty="0" smtClean="0"/>
              <a:t>דגל הגלישה </a:t>
            </a:r>
            <a:r>
              <a:rPr lang="en-US" dirty="0" smtClean="0"/>
              <a:t>of=0</a:t>
            </a:r>
            <a:r>
              <a:rPr lang="he-IL" dirty="0" smtClean="0"/>
              <a:t> כי אין גלישה</a:t>
            </a:r>
          </a:p>
          <a:p>
            <a:r>
              <a:rPr lang="he-IL" dirty="0" smtClean="0"/>
              <a:t>דגל הזוגיות </a:t>
            </a:r>
            <a:r>
              <a:rPr lang="en-US" dirty="0" smtClean="0"/>
              <a:t>pf</a:t>
            </a:r>
            <a:r>
              <a:rPr lang="he-IL" dirty="0" smtClean="0"/>
              <a:t> תלוי במספר האחדים בתוצאה. </a:t>
            </a:r>
          </a:p>
          <a:p>
            <a:r>
              <a:rPr lang="he-IL" dirty="0" smtClean="0"/>
              <a:t>בכל אופן אוגר הדגלים מראה </a:t>
            </a:r>
            <a:r>
              <a:rPr lang="en-US" dirty="0" smtClean="0"/>
              <a:t>0x287</a:t>
            </a:r>
            <a:r>
              <a:rPr lang="he-IL" dirty="0" smtClean="0"/>
              <a:t> בהתאם לדגלים הנ"ל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46AB-2605-4F1D-B514-017F73F3B19A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734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תמונת ה</a:t>
            </a:r>
            <a:r>
              <a:rPr lang="en-US" dirty="0" smtClean="0"/>
              <a:t>debugger </a:t>
            </a:r>
            <a:r>
              <a:rPr lang="he-IL" dirty="0" smtClean="0"/>
              <a:t> והדגלים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22</a:t>
            </a:fld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ניתן לראות כי היות ותוכנו של </a:t>
            </a:r>
            <a:r>
              <a:rPr lang="en-US" dirty="0" err="1" smtClean="0"/>
              <a:t>rax</a:t>
            </a:r>
            <a:r>
              <a:rPr lang="he-IL" dirty="0" smtClean="0"/>
              <a:t> קטן מזה של </a:t>
            </a:r>
            <a:r>
              <a:rPr lang="en-US" dirty="0" err="1" smtClean="0"/>
              <a:t>rbx</a:t>
            </a:r>
            <a:r>
              <a:rPr lang="he-IL" dirty="0" smtClean="0"/>
              <a:t> אזי מגיעים אל התנאי </a:t>
            </a:r>
            <a:r>
              <a:rPr lang="en-US" dirty="0" err="1" smtClean="0"/>
              <a:t>jl</a:t>
            </a:r>
            <a:r>
              <a:rPr lang="he-IL" dirty="0" smtClean="0"/>
              <a:t> כלומר מבצעים קפיצה אשר מתארת כי </a:t>
            </a:r>
            <a:r>
              <a:rPr lang="en-US" dirty="0" err="1" smtClean="0"/>
              <a:t>rax</a:t>
            </a:r>
            <a:r>
              <a:rPr lang="en-US" dirty="0" smtClean="0"/>
              <a:t>&lt;</a:t>
            </a:r>
            <a:r>
              <a:rPr lang="en-US" dirty="0" err="1" smtClean="0"/>
              <a:t>rbx</a:t>
            </a:r>
            <a:r>
              <a:rPr lang="he-IL" dirty="0" smtClean="0"/>
              <a:t> </a:t>
            </a:r>
          </a:p>
          <a:p>
            <a:endParaRPr lang="he-IL" dirty="0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060" y="3168285"/>
            <a:ext cx="4659996" cy="280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9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סיביות אוגר הדגלים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2928" y="2557463"/>
            <a:ext cx="6812280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572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דגלים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e-IL" dirty="0" smtClean="0"/>
              <a:t>מכיוון ש </a:t>
            </a:r>
            <a:r>
              <a:rPr lang="en-US" dirty="0" err="1" smtClean="0"/>
              <a:t>rax</a:t>
            </a:r>
            <a:r>
              <a:rPr lang="en-US" dirty="0" smtClean="0"/>
              <a:t> &lt; </a:t>
            </a:r>
            <a:r>
              <a:rPr lang="en-US" dirty="0" err="1" smtClean="0"/>
              <a:t>rbx</a:t>
            </a:r>
            <a:r>
              <a:rPr lang="he-IL" dirty="0" smtClean="0"/>
              <a:t> אזי תתרחש קפיצה עקב הפקודה </a:t>
            </a:r>
            <a:r>
              <a:rPr lang="en-US" dirty="0" err="1" smtClean="0"/>
              <a:t>jl</a:t>
            </a:r>
            <a:endParaRPr lang="he-IL" dirty="0" smtClean="0"/>
          </a:p>
          <a:p>
            <a:pPr marL="0" indent="0">
              <a:buNone/>
            </a:pPr>
            <a:r>
              <a:rPr lang="he-IL" dirty="0" smtClean="0"/>
              <a:t>טרם הפקודה </a:t>
            </a:r>
            <a:r>
              <a:rPr lang="en-US" dirty="0" err="1" smtClean="0"/>
              <a:t>jl</a:t>
            </a:r>
            <a:r>
              <a:rPr lang="he-IL" dirty="0" smtClean="0"/>
              <a:t> מתבצעת השוואה בין תכני שני האוגרים הנ"ל ע"י </a:t>
            </a:r>
            <a:r>
              <a:rPr lang="en-US" dirty="0" err="1" smtClean="0"/>
              <a:t>rax-rbx</a:t>
            </a:r>
            <a:r>
              <a:rPr lang="en-US" dirty="0" smtClean="0"/>
              <a:t>=10-20=-10</a:t>
            </a:r>
            <a:r>
              <a:rPr lang="he-IL" dirty="0" smtClean="0"/>
              <a:t> אלא שהתוצאה לא נשמרת. </a:t>
            </a:r>
          </a:p>
          <a:p>
            <a:pPr marL="0" indent="0">
              <a:buNone/>
            </a:pPr>
            <a:r>
              <a:rPr lang="he-IL" dirty="0" smtClean="0"/>
              <a:t>מאחר והתוצאה שלילית , הדגלים שמושפעים הינם  : </a:t>
            </a:r>
          </a:p>
          <a:p>
            <a:pPr marL="0" indent="0" algn="r">
              <a:buNone/>
            </a:pPr>
            <a:r>
              <a:rPr lang="en-US" dirty="0" smtClean="0"/>
              <a:t>CF=1 </a:t>
            </a:r>
            <a:r>
              <a:rPr lang="he-IL" dirty="0" smtClean="0"/>
              <a:t> (כשהתוצאה שלילית אז דגל </a:t>
            </a:r>
            <a:r>
              <a:rPr lang="he-IL" dirty="0" err="1" smtClean="0"/>
              <a:t>הנשא</a:t>
            </a:r>
            <a:r>
              <a:rPr lang="he-IL" dirty="0" smtClean="0"/>
              <a:t> דולק)</a:t>
            </a:r>
          </a:p>
          <a:p>
            <a:pPr marL="0" indent="0" algn="r">
              <a:buNone/>
            </a:pPr>
            <a:r>
              <a:rPr lang="en-US" dirty="0" smtClean="0"/>
              <a:t>ZF=0</a:t>
            </a:r>
            <a:r>
              <a:rPr lang="he-IL" dirty="0" smtClean="0"/>
              <a:t> וזאת משום שתכני האוגרים אינם זהים (כלומר תוצאת החיסור אינה אפס)</a:t>
            </a:r>
          </a:p>
          <a:p>
            <a:pPr marL="0" indent="0" algn="r">
              <a:buNone/>
            </a:pPr>
            <a:r>
              <a:rPr lang="en-US" dirty="0" smtClean="0"/>
              <a:t>SF=1</a:t>
            </a:r>
            <a:r>
              <a:rPr lang="he-IL" dirty="0" smtClean="0"/>
              <a:t>  משום שתוצאה שלילית</a:t>
            </a:r>
          </a:p>
          <a:p>
            <a:pPr marL="0" indent="0" algn="r">
              <a:buNone/>
            </a:pPr>
            <a:r>
              <a:rPr lang="en-US" dirty="0" smtClean="0"/>
              <a:t>OF=0</a:t>
            </a:r>
            <a:r>
              <a:rPr lang="he-IL" dirty="0" smtClean="0"/>
              <a:t> משום שאין גלישה </a:t>
            </a:r>
          </a:p>
          <a:p>
            <a:pPr marL="0" indent="0" algn="r">
              <a:buNone/>
            </a:pPr>
            <a:r>
              <a:rPr lang="he-IL" dirty="0" smtClean="0"/>
              <a:t>כל הנ"ל מתרגם לכך שאוגר הדגלים מקבל ערך של </a:t>
            </a:r>
            <a:r>
              <a:rPr lang="en-US" dirty="0" smtClean="0"/>
              <a:t>0x287</a:t>
            </a:r>
            <a:r>
              <a:rPr lang="he-IL" dirty="0" smtClean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775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תכנית המסכמת 5 מספרים תוך שימוש בלולאה </a:t>
            </a:r>
            <a:r>
              <a:rPr lang="en-US" dirty="0" err="1" smtClean="0"/>
              <a:t>sumjump</a:t>
            </a:r>
            <a:r>
              <a:rPr lang="he-IL" dirty="0" smtClean="0"/>
              <a:t> 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 algn="r">
              <a:lnSpc>
                <a:spcPct val="107000"/>
              </a:lnSpc>
              <a:spcAft>
                <a:spcPts val="800"/>
              </a:spcAft>
            </a:pPr>
            <a:r>
              <a:rPr lang="he-IL" sz="2400" dirty="0" smtClean="0"/>
              <a:t>התכנית מריצה לולאה  תוך שימוש בפקודה </a:t>
            </a:r>
            <a:r>
              <a:rPr lang="en-US" sz="2400" dirty="0" err="1" smtClean="0"/>
              <a:t>jmp</a:t>
            </a:r>
            <a:r>
              <a:rPr lang="en-US" sz="2400" dirty="0"/>
              <a:t>  </a:t>
            </a:r>
            <a:r>
              <a:rPr lang="he-IL" sz="2400" dirty="0"/>
              <a:t> </a:t>
            </a:r>
            <a:r>
              <a:rPr lang="he-IL" sz="2400" dirty="0" smtClean="0"/>
              <a:t>ומחשבת את הסכום </a:t>
            </a:r>
            <a:r>
              <a:rPr lang="en-US" sz="2400" dirty="0" smtClean="0"/>
              <a:t>5+10+15+20+25</a:t>
            </a:r>
            <a:r>
              <a:rPr lang="he-IL" sz="2400" dirty="0" smtClean="0"/>
              <a:t> </a:t>
            </a:r>
          </a:p>
          <a:p>
            <a:pPr lvl="1" algn="r">
              <a:lnSpc>
                <a:spcPct val="107000"/>
              </a:lnSpc>
              <a:spcAft>
                <a:spcPts val="800"/>
              </a:spcAft>
            </a:pPr>
            <a:r>
              <a:rPr lang="he-IL" sz="2400" dirty="0" smtClean="0"/>
              <a:t>.לשם כך מגדירים את </a:t>
            </a:r>
            <a:r>
              <a:rPr lang="en-US" sz="2400" dirty="0" err="1" smtClean="0"/>
              <a:t>rax</a:t>
            </a:r>
            <a:r>
              <a:rPr lang="he-IL" sz="2400" dirty="0" smtClean="0"/>
              <a:t> כאוגר מסכם , את </a:t>
            </a:r>
            <a:r>
              <a:rPr lang="en-US" sz="2400" dirty="0" err="1" smtClean="0"/>
              <a:t>rbx</a:t>
            </a:r>
            <a:r>
              <a:rPr lang="he-IL" sz="2400" dirty="0" smtClean="0"/>
              <a:t> אשר יכיל בתחילה את 5 ויקודם בכל שלב בלולאה ב – 5 , ואת </a:t>
            </a:r>
            <a:r>
              <a:rPr lang="en-US" sz="2400" dirty="0" err="1" smtClean="0"/>
              <a:t>rcx</a:t>
            </a:r>
            <a:r>
              <a:rPr lang="he-IL" sz="2400" dirty="0" smtClean="0"/>
              <a:t> כמונה של הלולאה – לכן מאותחל ב 5. </a:t>
            </a:r>
          </a:p>
          <a:p>
            <a:pPr lvl="1" algn="r">
              <a:lnSpc>
                <a:spcPct val="107000"/>
              </a:lnSpc>
              <a:spcAft>
                <a:spcPts val="800"/>
              </a:spcAft>
            </a:pPr>
            <a:r>
              <a:rPr lang="he-IL" sz="2400" dirty="0" smtClean="0"/>
              <a:t>בכל שלב בלולאה האוגר </a:t>
            </a:r>
            <a:r>
              <a:rPr lang="en-US" sz="2400" dirty="0" err="1" smtClean="0"/>
              <a:t>rbx</a:t>
            </a:r>
            <a:r>
              <a:rPr lang="he-IL" sz="2400" dirty="0" smtClean="0"/>
              <a:t> מקודם ב 5  ואילו  </a:t>
            </a:r>
            <a:r>
              <a:rPr lang="en-US" sz="2400" dirty="0" err="1" smtClean="0"/>
              <a:t>rax</a:t>
            </a:r>
            <a:r>
              <a:rPr lang="he-IL" sz="2400" dirty="0" smtClean="0"/>
              <a:t> משמש כמסכם.  כמו כן מונה הלולאה  </a:t>
            </a:r>
            <a:r>
              <a:rPr lang="en-US" sz="2400" dirty="0" err="1" smtClean="0"/>
              <a:t>rcx</a:t>
            </a:r>
            <a:r>
              <a:rPr lang="en-US" sz="2400" dirty="0" smtClean="0"/>
              <a:t>   </a:t>
            </a:r>
            <a:r>
              <a:rPr lang="en-US" sz="2400" dirty="0"/>
              <a:t> </a:t>
            </a:r>
            <a:r>
              <a:rPr lang="he-IL" sz="2400" dirty="0"/>
              <a:t> </a:t>
            </a:r>
            <a:r>
              <a:rPr lang="he-IL" sz="2400" dirty="0" smtClean="0"/>
              <a:t> יורד ב 1 </a:t>
            </a:r>
          </a:p>
          <a:p>
            <a:pPr lvl="1" algn="r">
              <a:lnSpc>
                <a:spcPct val="107000"/>
              </a:lnSpc>
              <a:spcAft>
                <a:spcPts val="800"/>
              </a:spcAft>
            </a:pPr>
            <a:r>
              <a:rPr lang="he-IL" sz="2400" dirty="0" smtClean="0"/>
              <a:t>בכל שלב בלולאה מתבצעת השוואה בין תוכנו של </a:t>
            </a:r>
            <a:r>
              <a:rPr lang="en-US" sz="2400" dirty="0" err="1" smtClean="0"/>
              <a:t>rcx</a:t>
            </a:r>
            <a:r>
              <a:rPr lang="he-IL" sz="2400" dirty="0" smtClean="0"/>
              <a:t> ל 0 שהוא תנאי הסיום ללולאה. </a:t>
            </a:r>
            <a:endParaRPr lang="he-IL" sz="240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0220-F5E1-46AD-9C49-757785167530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354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he-IL" dirty="0" smtClean="0"/>
              <a:t>תמונת </a:t>
            </a:r>
            <a:r>
              <a:rPr lang="he-IL" dirty="0" err="1" smtClean="0"/>
              <a:t>הדיבגר</a:t>
            </a:r>
            <a:r>
              <a:rPr lang="he-IL" dirty="0" smtClean="0"/>
              <a:t> לאחר שני שלבים 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2BA3-2A5D-47B7-872C-6E66A0F06FBA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26</a:t>
            </a:fld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ניתן לראות את תמונת ה </a:t>
            </a:r>
            <a:r>
              <a:rPr lang="en-US" dirty="0" smtClean="0"/>
              <a:t>debugger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לאחר שני שלבי לולאה :</a:t>
            </a:r>
            <a:r>
              <a:rPr lang="en-US" dirty="0" smtClean="0"/>
              <a:t> </a:t>
            </a:r>
            <a:endParaRPr lang="he-IL" dirty="0" smtClean="0"/>
          </a:p>
          <a:p>
            <a:endParaRPr lang="he-IL" dirty="0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378" y="3127756"/>
            <a:ext cx="4960085" cy="29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6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גרסה נוספת לאותה תכנית העושה שימוש בפקודת </a:t>
            </a:r>
            <a:r>
              <a:rPr lang="en-US" dirty="0" smtClean="0"/>
              <a:t>loop</a:t>
            </a:r>
            <a:r>
              <a:rPr lang="he-IL" dirty="0" smtClean="0"/>
              <a:t> –</a:t>
            </a:r>
            <a:r>
              <a:rPr lang="en-US" dirty="0" err="1" smtClean="0"/>
              <a:t>sumloop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בתכנית זו בוצע שימוש בפקודת </a:t>
            </a:r>
            <a:r>
              <a:rPr lang="en-US" dirty="0" smtClean="0"/>
              <a:t>LOOP</a:t>
            </a:r>
            <a:r>
              <a:rPr lang="he-IL" dirty="0" smtClean="0"/>
              <a:t>. לשם כך יש לאתחל אוגר ראשון בכתובת המערך דהיינו שימוש באוגר מצביע  ואוגר שני במספר איברי המערך – </a:t>
            </a:r>
            <a:r>
              <a:rPr lang="en-US" dirty="0" err="1" smtClean="0"/>
              <a:t>rcx</a:t>
            </a:r>
            <a:r>
              <a:rPr lang="he-IL" dirty="0" smtClean="0"/>
              <a:t> .</a:t>
            </a:r>
          </a:p>
          <a:p>
            <a:r>
              <a:rPr lang="he-IL" dirty="0" smtClean="0"/>
              <a:t>בלולאה עצמה מבצעים : 1. סיכום תוכנו של </a:t>
            </a:r>
            <a:r>
              <a:rPr lang="en-US" dirty="0" err="1" smtClean="0"/>
              <a:t>rbx</a:t>
            </a:r>
            <a:r>
              <a:rPr lang="he-IL" dirty="0" smtClean="0"/>
              <a:t> עם </a:t>
            </a:r>
            <a:r>
              <a:rPr lang="en-US" dirty="0" err="1" smtClean="0"/>
              <a:t>rax</a:t>
            </a:r>
            <a:r>
              <a:rPr lang="he-IL" dirty="0" smtClean="0"/>
              <a:t> </a:t>
            </a:r>
            <a:endParaRPr lang="he-IL" dirty="0"/>
          </a:p>
          <a:p>
            <a:r>
              <a:rPr lang="he-IL" dirty="0" smtClean="0"/>
              <a:t>2. קידומו של </a:t>
            </a:r>
            <a:r>
              <a:rPr lang="en-US" dirty="0" err="1" smtClean="0"/>
              <a:t>rbx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ב 5 </a:t>
            </a:r>
          </a:p>
          <a:p>
            <a:pPr marL="0" indent="0">
              <a:buNone/>
            </a:pPr>
            <a:r>
              <a:rPr lang="he-IL" dirty="0" smtClean="0"/>
              <a:t>3 . שימוש בפקודת </a:t>
            </a:r>
            <a:r>
              <a:rPr lang="en-US" dirty="0" smtClean="0"/>
              <a:t>loop</a:t>
            </a:r>
            <a:r>
              <a:rPr lang="he-IL" dirty="0" smtClean="0"/>
              <a:t> אשר  מקטינה את האוגר </a:t>
            </a:r>
            <a:r>
              <a:rPr lang="en-US" dirty="0" err="1" smtClean="0"/>
              <a:t>rcx</a:t>
            </a:r>
            <a:r>
              <a:rPr lang="en-US" dirty="0" smtClean="0"/>
              <a:t> </a:t>
            </a:r>
            <a:r>
              <a:rPr lang="he-IL" dirty="0" smtClean="0"/>
              <a:t> ב 1 ומשווה לאפס. כל עוד </a:t>
            </a:r>
            <a:r>
              <a:rPr lang="en-US" dirty="0" err="1" smtClean="0"/>
              <a:t>rcx</a:t>
            </a:r>
            <a:r>
              <a:rPr lang="he-IL" dirty="0" smtClean="0"/>
              <a:t> שונה מאפס , הלולאה תמשיך כרגיל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CF8F-9D36-4078-BD6D-226CF99F1A69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9392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תמונת </a:t>
            </a:r>
            <a:r>
              <a:rPr lang="he-IL" dirty="0" err="1" smtClean="0"/>
              <a:t>דיבגר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28</a:t>
            </a:fld>
            <a:endParaRPr lang="he-IL"/>
          </a:p>
        </p:txBody>
      </p:sp>
      <p:pic>
        <p:nvPicPr>
          <p:cNvPr id="7" name="מציין מיקום תוכן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008" y="2651125"/>
            <a:ext cx="5001768" cy="3317875"/>
          </a:xfrm>
        </p:spPr>
      </p:pic>
    </p:spTree>
    <p:extLst>
      <p:ext uri="{BB962C8B-B14F-4D97-AF65-F5344CB8AC3E}">
        <p14:creationId xmlns:p14="http://schemas.microsoft.com/office/powerpoint/2010/main" val="393437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סדרת </a:t>
            </a:r>
            <a:r>
              <a:rPr lang="he-IL" dirty="0" err="1" smtClean="0"/>
              <a:t>פיבונצ</a:t>
            </a:r>
            <a:r>
              <a:rPr lang="en-US" dirty="0" smtClean="0"/>
              <a:t>'</a:t>
            </a:r>
            <a:r>
              <a:rPr lang="he-IL" dirty="0" smtClean="0"/>
              <a:t>י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29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683118"/>
            <a:ext cx="9601200" cy="306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4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 smtClean="0"/>
              <a:t>פיבונצ</a:t>
            </a:r>
            <a:r>
              <a:rPr lang="en-US" dirty="0" smtClean="0"/>
              <a:t>‘</a:t>
            </a:r>
            <a:r>
              <a:rPr lang="he-IL" dirty="0" smtClean="0"/>
              <a:t>י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השתמשתי באוגרים כלליים </a:t>
            </a:r>
            <a:r>
              <a:rPr lang="en-US" dirty="0" smtClean="0"/>
              <a:t>r8, r9</a:t>
            </a:r>
            <a:r>
              <a:rPr lang="he-IL" dirty="0" smtClean="0"/>
              <a:t> וכן ב </a:t>
            </a:r>
            <a:r>
              <a:rPr lang="en-US" dirty="0" err="1" smtClean="0"/>
              <a:t>rax</a:t>
            </a:r>
            <a:r>
              <a:rPr lang="he-IL" dirty="0" smtClean="0"/>
              <a:t> על מנת לחשב את הערך השלישי בסדרה.</a:t>
            </a:r>
          </a:p>
          <a:p>
            <a:r>
              <a:rPr lang="he-IL" dirty="0" err="1" smtClean="0"/>
              <a:t>העקרון</a:t>
            </a:r>
            <a:r>
              <a:rPr lang="he-IL" dirty="0" smtClean="0"/>
              <a:t> הוא לאתחל את </a:t>
            </a:r>
            <a:r>
              <a:rPr lang="en-US" dirty="0" smtClean="0"/>
              <a:t>r8</a:t>
            </a:r>
            <a:r>
              <a:rPr lang="he-IL" dirty="0" smtClean="0"/>
              <a:t> ב 0 , את </a:t>
            </a:r>
            <a:r>
              <a:rPr lang="en-US" dirty="0" smtClean="0"/>
              <a:t>r9</a:t>
            </a:r>
            <a:r>
              <a:rPr lang="he-IL" dirty="0" smtClean="0"/>
              <a:t> ב 1 ,לסכם אותם ואת הסכום לאחסן ב </a:t>
            </a:r>
            <a:r>
              <a:rPr lang="en-US" dirty="0" err="1" smtClean="0"/>
              <a:t>rax</a:t>
            </a:r>
            <a:r>
              <a:rPr lang="he-IL" dirty="0" smtClean="0"/>
              <a:t>.</a:t>
            </a:r>
          </a:p>
          <a:p>
            <a:r>
              <a:rPr lang="he-IL" dirty="0" smtClean="0"/>
              <a:t>בכל שלב בלולאה תוכנו של </a:t>
            </a:r>
            <a:r>
              <a:rPr lang="en-US" dirty="0" smtClean="0"/>
              <a:t>r9</a:t>
            </a:r>
            <a:r>
              <a:rPr lang="he-IL" dirty="0" smtClean="0"/>
              <a:t> עובר ל </a:t>
            </a:r>
            <a:r>
              <a:rPr lang="en-US" dirty="0" smtClean="0"/>
              <a:t>r8</a:t>
            </a:r>
            <a:r>
              <a:rPr lang="he-IL" dirty="0" smtClean="0"/>
              <a:t> , תוכנו של </a:t>
            </a:r>
            <a:r>
              <a:rPr lang="en-US" dirty="0" err="1" smtClean="0"/>
              <a:t>rax</a:t>
            </a:r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he-IL" dirty="0" smtClean="0"/>
              <a:t> עובר אל </a:t>
            </a:r>
            <a:r>
              <a:rPr lang="en-US" dirty="0" smtClean="0"/>
              <a:t>r9</a:t>
            </a:r>
            <a:r>
              <a:rPr lang="he-IL" dirty="0" smtClean="0"/>
              <a:t> ואז הסכום של  </a:t>
            </a:r>
            <a:r>
              <a:rPr lang="en-US" dirty="0" smtClean="0"/>
              <a:t>r8</a:t>
            </a:r>
            <a:r>
              <a:rPr lang="he-IL" dirty="0" smtClean="0"/>
              <a:t>  עם </a:t>
            </a:r>
            <a:r>
              <a:rPr lang="en-US" dirty="0" smtClean="0"/>
              <a:t>r9</a:t>
            </a:r>
            <a:r>
              <a:rPr lang="he-IL" dirty="0" smtClean="0"/>
              <a:t> עובר ל </a:t>
            </a:r>
            <a:r>
              <a:rPr lang="en-US" dirty="0" err="1" smtClean="0"/>
              <a:t>rax</a:t>
            </a:r>
            <a:r>
              <a:rPr lang="he-IL" dirty="0" smtClean="0"/>
              <a:t>. </a:t>
            </a:r>
          </a:p>
          <a:p>
            <a:r>
              <a:rPr lang="he-IL" dirty="0" smtClean="0"/>
              <a:t>התכנית מחשבת את כל הערכים בסדרה עד לאיבר העשירי.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516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Debugger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766" y="2557463"/>
            <a:ext cx="3496468" cy="3317875"/>
          </a:xfr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916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פקודות כפל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באסמבלר קיימות שתי </a:t>
            </a:r>
            <a:r>
              <a:rPr lang="en-US" dirty="0" smtClean="0"/>
              <a:t>MUL ,IMUL</a:t>
            </a:r>
          </a:p>
          <a:p>
            <a:r>
              <a:rPr lang="en-US" dirty="0" smtClean="0"/>
              <a:t>MUL </a:t>
            </a:r>
            <a:r>
              <a:rPr lang="he-IL" dirty="0" smtClean="0"/>
              <a:t> משמשת לכפל של מספרים לא מסומנים והאחרת משמשת לכפל של מספרים מסומנים. </a:t>
            </a:r>
          </a:p>
          <a:p>
            <a:r>
              <a:rPr lang="he-IL" dirty="0" smtClean="0"/>
              <a:t>דוגמא : </a:t>
            </a:r>
          </a:p>
          <a:p>
            <a:pPr algn="l" rtl="0"/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rax</a:t>
            </a:r>
            <a:r>
              <a:rPr lang="en-US" dirty="0"/>
              <a:t>, </a:t>
            </a:r>
            <a:r>
              <a:rPr lang="en-US" dirty="0" smtClean="0"/>
              <a:t>6</a:t>
            </a:r>
          </a:p>
          <a:p>
            <a:pPr algn="l" rtl="0"/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 err="1"/>
              <a:t>rbx</a:t>
            </a:r>
            <a:r>
              <a:rPr lang="en-US" dirty="0"/>
              <a:t>, </a:t>
            </a:r>
            <a:r>
              <a:rPr lang="en-US" dirty="0" smtClean="0"/>
              <a:t>7</a:t>
            </a:r>
          </a:p>
          <a:p>
            <a:pPr algn="l" rtl="0"/>
            <a:r>
              <a:rPr lang="en-US" dirty="0" err="1" smtClean="0"/>
              <a:t>mul</a:t>
            </a:r>
            <a:r>
              <a:rPr lang="en-US" dirty="0" smtClean="0"/>
              <a:t> </a:t>
            </a:r>
            <a:r>
              <a:rPr lang="en-US" dirty="0" err="1"/>
              <a:t>rbx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0697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פקודות כפל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מה מבצעת </a:t>
            </a:r>
            <a:r>
              <a:rPr lang="en-US" dirty="0" smtClean="0"/>
              <a:t>MUL </a:t>
            </a:r>
            <a:r>
              <a:rPr lang="he-IL" dirty="0" smtClean="0"/>
              <a:t> ? היא כופלת את אוגר </a:t>
            </a:r>
            <a:r>
              <a:rPr lang="en-US" dirty="0" err="1" smtClean="0"/>
              <a:t>rax</a:t>
            </a:r>
            <a:r>
              <a:rPr lang="he-IL" dirty="0" smtClean="0"/>
              <a:t> באופרנד אשר יכול להיות מספר או אוגר אחר , ואת התוצאה שומרת בזוג אוגרים :</a:t>
            </a:r>
            <a:r>
              <a:rPr lang="en-US" dirty="0" smtClean="0"/>
              <a:t> </a:t>
            </a:r>
            <a:r>
              <a:rPr lang="en-US" dirty="0" err="1" smtClean="0"/>
              <a:t>rdx:rax</a:t>
            </a:r>
            <a:r>
              <a:rPr lang="he-IL" dirty="0" smtClean="0"/>
              <a:t> , כלומר נשמר מקום של 128 ביטים לתוצאה. </a:t>
            </a:r>
          </a:p>
          <a:p>
            <a:r>
              <a:rPr lang="he-IL" dirty="0" smtClean="0"/>
              <a:t>בדוגמא האחרונה כופלים 6 ב 7 ומקבלים 42 אשר נשמר ב </a:t>
            </a:r>
            <a:r>
              <a:rPr lang="en-US" dirty="0" err="1" smtClean="0"/>
              <a:t>rax</a:t>
            </a:r>
            <a:r>
              <a:rPr lang="he-IL" dirty="0" smtClean="0"/>
              <a:t> והיות והתוצאה איננה חורגת מ 64 ביט , היא נשמרת ב </a:t>
            </a:r>
            <a:r>
              <a:rPr lang="en-US" dirty="0" err="1" smtClean="0"/>
              <a:t>rax</a:t>
            </a:r>
            <a:r>
              <a:rPr lang="he-IL" dirty="0" smtClean="0"/>
              <a:t> בעוד ש </a:t>
            </a:r>
            <a:r>
              <a:rPr lang="en-US" dirty="0" err="1" smtClean="0"/>
              <a:t>rdx</a:t>
            </a:r>
            <a:r>
              <a:rPr lang="he-IL" dirty="0" smtClean="0"/>
              <a:t> מאופס. </a:t>
            </a:r>
          </a:p>
          <a:p>
            <a:r>
              <a:rPr lang="he-IL" dirty="0" smtClean="0"/>
              <a:t>פקודת </a:t>
            </a:r>
            <a:r>
              <a:rPr lang="en-US" dirty="0" smtClean="0"/>
              <a:t>IMUL </a:t>
            </a:r>
            <a:r>
              <a:rPr lang="he-IL" dirty="0" smtClean="0"/>
              <a:t> פועלת באופן דומה אלא שהכפל נעשה באמצעות כפל של מספרים מסומנים.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179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חישוב עצרת של מספר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לצורך חישוב עצרת של מספר אין צורך בגרסה של מספרים מסומנים ולכן נשתמש ב </a:t>
            </a:r>
            <a:r>
              <a:rPr lang="en-US" dirty="0" smtClean="0"/>
              <a:t>MUL</a:t>
            </a:r>
            <a:r>
              <a:rPr lang="he-IL" dirty="0" smtClean="0"/>
              <a:t>. </a:t>
            </a:r>
          </a:p>
          <a:p>
            <a:r>
              <a:rPr lang="he-IL" dirty="0" smtClean="0"/>
              <a:t>נדגים להלן תכנית אשר מחשבת את </a:t>
            </a:r>
            <a:r>
              <a:rPr lang="en-US" dirty="0" smtClean="0"/>
              <a:t>10!</a:t>
            </a:r>
            <a:endParaRPr lang="he-IL" dirty="0" smtClean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9805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תכנית לחישוב עצרת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4691" y="2557463"/>
            <a:ext cx="8262617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5824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הסבר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 smtClean="0"/>
              <a:t>כדי לחשב 10!</a:t>
            </a:r>
            <a:r>
              <a:rPr lang="en-US" dirty="0" smtClean="0"/>
              <a:t> </a:t>
            </a:r>
            <a:r>
              <a:rPr lang="he-IL" dirty="0" smtClean="0"/>
              <a:t> נאחסן את המספר 10 באוגר </a:t>
            </a:r>
            <a:r>
              <a:rPr lang="en-US" dirty="0" err="1" smtClean="0"/>
              <a:t>rcx</a:t>
            </a:r>
            <a:r>
              <a:rPr lang="he-IL" dirty="0" smtClean="0"/>
              <a:t> ונאתחל את </a:t>
            </a:r>
            <a:r>
              <a:rPr lang="en-US" dirty="0" err="1" smtClean="0"/>
              <a:t>rax</a:t>
            </a:r>
            <a:r>
              <a:rPr lang="he-IL" dirty="0" smtClean="0"/>
              <a:t> בערך של 1 כדי ש </a:t>
            </a:r>
            <a:r>
              <a:rPr lang="en-US" dirty="0" err="1" smtClean="0"/>
              <a:t>rax</a:t>
            </a:r>
            <a:r>
              <a:rPr lang="he-IL" dirty="0" smtClean="0"/>
              <a:t> ישמש ככופל בכל אחד מן השלבים. </a:t>
            </a:r>
          </a:p>
          <a:p>
            <a:r>
              <a:rPr lang="he-IL" dirty="0" smtClean="0"/>
              <a:t>הכפל יתבצע ע"י הפקודה </a:t>
            </a:r>
            <a:r>
              <a:rPr lang="en-US" dirty="0" err="1" smtClean="0"/>
              <a:t>mul</a:t>
            </a:r>
            <a:r>
              <a:rPr lang="en-US" dirty="0" smtClean="0"/>
              <a:t> </a:t>
            </a:r>
            <a:r>
              <a:rPr lang="en-US" dirty="0" err="1" smtClean="0"/>
              <a:t>rcx</a:t>
            </a:r>
            <a:r>
              <a:rPr lang="he-IL" dirty="0" smtClean="0"/>
              <a:t> אשר כופלת את תוכנו של </a:t>
            </a:r>
            <a:r>
              <a:rPr lang="en-US" dirty="0" err="1" smtClean="0"/>
              <a:t>rax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בתוכנו של </a:t>
            </a:r>
            <a:r>
              <a:rPr lang="en-US" dirty="0" err="1" smtClean="0"/>
              <a:t>rcx</a:t>
            </a:r>
            <a:endParaRPr lang="he-IL" dirty="0" smtClean="0"/>
          </a:p>
          <a:p>
            <a:r>
              <a:rPr lang="he-IL" b="1" dirty="0" smtClean="0"/>
              <a:t>חשוב טרם ביצוע הכפל ולפני הכניסה ללולאה לרשום את הפקודה </a:t>
            </a:r>
            <a:r>
              <a:rPr lang="en-US" b="1" dirty="0" err="1" smtClean="0"/>
              <a:t>cqo</a:t>
            </a:r>
            <a:r>
              <a:rPr lang="he-IL" b="1" dirty="0" smtClean="0"/>
              <a:t>. </a:t>
            </a:r>
            <a:r>
              <a:rPr lang="he-IL" b="1" dirty="0"/>
              <a:t> </a:t>
            </a:r>
            <a:r>
              <a:rPr lang="he-IL" b="1" dirty="0" smtClean="0"/>
              <a:t>פקודה זו מנקה את </a:t>
            </a:r>
            <a:r>
              <a:rPr lang="en-US" b="1" dirty="0" err="1" smtClean="0"/>
              <a:t>rdx</a:t>
            </a:r>
            <a:r>
              <a:rPr lang="he-IL" b="1" dirty="0" smtClean="0"/>
              <a:t> ומאפסת אותו וזאת על מנת לקבל תוצאה </a:t>
            </a:r>
            <a:r>
              <a:rPr lang="he-IL" b="1" dirty="0" err="1" smtClean="0"/>
              <a:t>אמיתית</a:t>
            </a:r>
            <a:r>
              <a:rPr lang="he-IL" b="1" dirty="0" smtClean="0"/>
              <a:t>. </a:t>
            </a:r>
          </a:p>
          <a:p>
            <a:r>
              <a:rPr lang="he-IL" dirty="0" smtClean="0"/>
              <a:t>בשלב הבא תוכנו של </a:t>
            </a:r>
            <a:r>
              <a:rPr lang="en-US" dirty="0" err="1" smtClean="0"/>
              <a:t>rcx</a:t>
            </a:r>
            <a:r>
              <a:rPr lang="he-IL" dirty="0" smtClean="0"/>
              <a:t> ירד ב 1 ובכל שלב תתבצע השוואה בין תוכנו של </a:t>
            </a:r>
            <a:r>
              <a:rPr lang="en-US" dirty="0" err="1" smtClean="0"/>
              <a:t>rcx</a:t>
            </a:r>
            <a:r>
              <a:rPr lang="he-IL" dirty="0" smtClean="0"/>
              <a:t> לאפס לצורך סיום הלולאה. </a:t>
            </a:r>
          </a:p>
          <a:p>
            <a:r>
              <a:rPr lang="he-IL" dirty="0" smtClean="0"/>
              <a:t>למרות שהתוצאה גבוהה – מעל 3 מיליון, היות והאוגרים שאנו עובדים איתם הינם בני 64 ביט, התוצאה תישמר ב </a:t>
            </a:r>
            <a:r>
              <a:rPr lang="en-US" dirty="0" err="1" smtClean="0"/>
              <a:t>rax</a:t>
            </a:r>
            <a:r>
              <a:rPr lang="he-IL" dirty="0" smtClean="0"/>
              <a:t> בעוד ש </a:t>
            </a:r>
            <a:r>
              <a:rPr lang="en-US" dirty="0" err="1" smtClean="0"/>
              <a:t>rdx</a:t>
            </a:r>
            <a:r>
              <a:rPr lang="he-IL" dirty="0" smtClean="0"/>
              <a:t> מאופס. </a:t>
            </a:r>
            <a:endParaRPr lang="en-US" dirty="0" smtClean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6A99-3839-4786-A3AA-2B03C333B04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0F4C-CE13-44DE-9222-0F12E65A074C}" type="slidenum">
              <a:rPr lang="he-IL" smtClean="0"/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558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5596</TotalTime>
  <Words>1614</Words>
  <Application>Microsoft Office PowerPoint</Application>
  <PresentationFormat>מסך רחב</PresentationFormat>
  <Paragraphs>226</Paragraphs>
  <Slides>36</Slides>
  <Notes>1</Notes>
  <HiddenSlides>3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36</vt:i4>
      </vt:variant>
    </vt:vector>
  </HeadingPairs>
  <TitlesOfParts>
    <vt:vector size="41" baseType="lpstr">
      <vt:lpstr>Arial</vt:lpstr>
      <vt:lpstr>Calibri</vt:lpstr>
      <vt:lpstr>Garamond</vt:lpstr>
      <vt:lpstr>Times New Roman</vt:lpstr>
      <vt:lpstr>אורגני</vt:lpstr>
      <vt:lpstr>ארכיטקטורת מחשבים</vt:lpstr>
      <vt:lpstr>שיעור ראשון</vt:lpstr>
      <vt:lpstr>הקדמה - התקנת מכונה וירטואלית</vt:lpstr>
      <vt:lpstr>המשך התקנה</vt:lpstr>
      <vt:lpstr>תחילת העבודה </vt:lpstr>
      <vt:lpstr>התקנת הכלים הנדרשים</vt:lpstr>
      <vt:lpstr>התקנה המשך</vt:lpstr>
      <vt:lpstr>טרם תחילת עבודה </vt:lpstr>
      <vt:lpstr>gdbinit</vt:lpstr>
      <vt:lpstr>שלבי בניית  תכנית </vt:lpstr>
      <vt:lpstr>המשך </vt:lpstr>
      <vt:lpstr>המשך </vt:lpstr>
      <vt:lpstr>תמונת הדיבגר – כללית  </vt:lpstr>
      <vt:lpstr>המשך </vt:lpstr>
      <vt:lpstr>תמונת debugger  לאחר ביצוע פקודת asm </vt:lpstr>
      <vt:lpstr>תמונת debugger  לאחר פקודת si</vt:lpstr>
      <vt:lpstr>שמירה והצגת הקובץ </vt:lpstr>
      <vt:lpstr>תוכן הדגלים בתכנית </vt:lpstr>
      <vt:lpstr>דגלים המשך</vt:lpstr>
      <vt:lpstr>תכנית דוגמא - תנאים </vt:lpstr>
      <vt:lpstr>תכני הדגלים המשך  </vt:lpstr>
      <vt:lpstr>תמונת הdebugger  והדגלים </vt:lpstr>
      <vt:lpstr>סיביות אוגר הדגלים</vt:lpstr>
      <vt:lpstr>דגלים המשך</vt:lpstr>
      <vt:lpstr>תכנית המסכמת 5 מספרים תוך שימוש בלולאה sumjump  </vt:lpstr>
      <vt:lpstr> תמונת הדיבגר לאחר שני שלבים  </vt:lpstr>
      <vt:lpstr>גרסה נוספת לאותה תכנית העושה שימוש בפקודת loop –sumloop</vt:lpstr>
      <vt:lpstr>תמונת דיבגר </vt:lpstr>
      <vt:lpstr>סדרת פיבונצ'י </vt:lpstr>
      <vt:lpstr>פיבונצ‘י המשך</vt:lpstr>
      <vt:lpstr>Debugger </vt:lpstr>
      <vt:lpstr>פקודות כפל</vt:lpstr>
      <vt:lpstr>פקודות כפל המשך</vt:lpstr>
      <vt:lpstr>חישוב עצרת של מספר</vt:lpstr>
      <vt:lpstr>תכנית לחישוב עצרת</vt:lpstr>
      <vt:lpstr>הסבר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ארכיטקטורת מחשבים</dc:title>
  <dc:creator>אורן אליעזר</dc:creator>
  <cp:lastModifiedBy>אורן אליעזר</cp:lastModifiedBy>
  <cp:revision>74</cp:revision>
  <dcterms:created xsi:type="dcterms:W3CDTF">2026-01-30T18:59:24Z</dcterms:created>
  <dcterms:modified xsi:type="dcterms:W3CDTF">2026-03-15T13:29:47Z</dcterms:modified>
</cp:coreProperties>
</file>