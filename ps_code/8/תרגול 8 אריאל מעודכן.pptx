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notesMasterIdLst>
    <p:notesMasterId r:id="rId55"/>
  </p:notesMasterIdLst>
  <p:sldIdLst>
    <p:sldId id="312" r:id="rId2"/>
    <p:sldId id="313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82" r:id="rId26"/>
    <p:sldId id="283" r:id="rId27"/>
    <p:sldId id="284" r:id="rId28"/>
    <p:sldId id="285" r:id="rId29"/>
    <p:sldId id="256" r:id="rId30"/>
    <p:sldId id="257" r:id="rId31"/>
    <p:sldId id="311" r:id="rId32"/>
    <p:sldId id="286" r:id="rId33"/>
    <p:sldId id="287" r:id="rId34"/>
    <p:sldId id="288" r:id="rId35"/>
    <p:sldId id="293" r:id="rId36"/>
    <p:sldId id="289" r:id="rId37"/>
    <p:sldId id="290" r:id="rId38"/>
    <p:sldId id="291" r:id="rId39"/>
    <p:sldId id="292" r:id="rId40"/>
    <p:sldId id="299" r:id="rId41"/>
    <p:sldId id="309" r:id="rId42"/>
    <p:sldId id="294" r:id="rId43"/>
    <p:sldId id="295" r:id="rId44"/>
    <p:sldId id="304" r:id="rId45"/>
    <p:sldId id="305" r:id="rId46"/>
    <p:sldId id="300" r:id="rId47"/>
    <p:sldId id="301" r:id="rId48"/>
    <p:sldId id="296" r:id="rId49"/>
    <p:sldId id="297" r:id="rId50"/>
    <p:sldId id="302" r:id="rId51"/>
    <p:sldId id="298" r:id="rId52"/>
    <p:sldId id="306" r:id="rId53"/>
    <p:sldId id="307" r:id="rId54"/>
  </p:sldIdLst>
  <p:sldSz cx="12192000" cy="6858000"/>
  <p:notesSz cx="7104063" cy="10234613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3020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22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4025636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1"/>
          <a:lstStyle>
            <a:lvl1pPr algn="r">
              <a:defRPr sz="13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645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1"/>
          <a:lstStyle>
            <a:lvl1pPr algn="l">
              <a:defRPr sz="1300"/>
            </a:lvl1pPr>
          </a:lstStyle>
          <a:p>
            <a:fld id="{AD6DF18A-8C37-464C-81A9-9CB878880E8E}" type="datetimeFigureOut">
              <a:rPr lang="he-IL" smtClean="0"/>
              <a:t>כ"ב/סיון/תשפ"ו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4025636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1" anchor="b"/>
          <a:lstStyle>
            <a:lvl1pPr algn="r">
              <a:defRPr sz="13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645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1" anchor="b"/>
          <a:lstStyle>
            <a:lvl1pPr algn="l">
              <a:defRPr sz="1300"/>
            </a:lvl1pPr>
          </a:lstStyle>
          <a:p>
            <a:fld id="{5500CA72-C294-4B98-AE2F-6B8B48F4AE6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4730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00CA72-C294-4B98-AE2F-6B8B48F4AE67}" type="slidenum">
              <a:rPr lang="he-IL" smtClean="0"/>
              <a:t>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94735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e-IL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245F853F-0D70-4230-987F-5BFA64CF0009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4E13F9DD-11D4-4EB6-8C89-A155AE0146B2}" type="slidenum">
              <a:rPr lang="he-IL" smtClean="0"/>
              <a:t>‹#›</a:t>
            </a:fld>
            <a:endParaRPr lang="he-IL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7886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E866-27BE-4058-8896-F8A593FFCDFD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44312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EB898-1C34-490A-BB32-B6A4FC00ED92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‹#›</a:t>
            </a:fld>
            <a:endParaRPr lang="he-IL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1751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09ADA-0C1F-4E3D-ABF5-1C2AB6DFE9E8}" type="datetime8">
              <a:rPr lang="he-IL" smtClean="0"/>
              <a:t>07 יוני 26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38524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8113A-ECAD-40DD-8B11-23055E335904}" type="datetime8">
              <a:rPr lang="he-IL" smtClean="0"/>
              <a:t>07 יוני 26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‹#›</a:t>
            </a:fld>
            <a:endParaRPr lang="he-IL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5873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C3132-93C8-4ABE-9115-658C2EF8397C}" type="datetime8">
              <a:rPr lang="he-IL" smtClean="0"/>
              <a:t>07 יוני 26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‹#›</a:t>
            </a:fld>
            <a:endParaRPr lang="he-IL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9538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58FF1-E5D8-4AEE-99D7-F33EA48D7F13}" type="datetime8">
              <a:rPr lang="he-IL" smtClean="0"/>
              <a:t>07 יוני 26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43774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E22AF-BBC3-4C3F-BDD7-7B3ECEC26545}" type="datetime8">
              <a:rPr lang="he-IL" smtClean="0"/>
              <a:t>07 יוני 26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‹#›</a:t>
            </a:fld>
            <a:endParaRPr lang="he-IL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7127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BEFF6-6E8D-4A77-ADBF-1EFE051F328F}" type="datetime8">
              <a:rPr lang="he-IL" smtClean="0"/>
              <a:t>07 יוני 26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03324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1F157-F6CE-4A8F-9221-63D075698BAB}" type="datetime8">
              <a:rPr lang="he-IL" smtClean="0"/>
              <a:t>07 יוני 26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32104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A0D25-F179-4F1E-A566-370C38DA1F09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‹#›</a:t>
            </a:fld>
            <a:endParaRPr lang="he-IL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81661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6FAA0-90A8-40D3-860B-EAD5CA4EC413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‹#›</a:t>
            </a:fld>
            <a:endParaRPr lang="he-IL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31253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710BC-744D-4CDF-8529-FBA06AB08585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441782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 עם ציטו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0806-D1F5-440A-BBBD-DA091D1A6187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‹#›</a:t>
            </a:fld>
            <a:endParaRPr lang="he-IL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39366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או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D2A82-02A5-4A82-9B4E-845E0D1CF823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‹#›</a:t>
            </a:fld>
            <a:endParaRPr lang="he-IL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42795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74757-4B9B-4BC5-81BD-E5E207492946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‹#›</a:t>
            </a:fld>
            <a:endParaRPr lang="he-IL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3483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16EA4-8003-4FAE-A2C0-EB2CBFEADC33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‹#›</a:t>
            </a:fld>
            <a:endParaRPr lang="he-IL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5548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e-IL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F247ACE-F607-4F93-B4B8-FD78819C413E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E13F9DD-11D4-4EB6-8C89-A155AE0146B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4051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/>
  <p:txStyles>
    <p:titleStyle>
      <a:lvl1pPr algn="ctr" defTabSz="457200" rtl="1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2857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 dirty="0"/>
              <a:t>תרגול 8 </a:t>
            </a: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he-IL" sz="2800" dirty="0"/>
              <a:t>רקורסיה, </a:t>
            </a:r>
            <a:r>
              <a:rPr lang="en-US" sz="2800" dirty="0"/>
              <a:t>parsing</a:t>
            </a:r>
            <a:r>
              <a:rPr lang="he-IL" sz="2800" dirty="0"/>
              <a:t> ,</a:t>
            </a:r>
            <a:r>
              <a:rPr lang="en-US" sz="2800" dirty="0"/>
              <a:t> FPU </a:t>
            </a:r>
            <a:r>
              <a:rPr lang="he-IL" sz="2800" dirty="0"/>
              <a:t>ופקודות של </a:t>
            </a:r>
            <a:r>
              <a:rPr lang="en-US" sz="2800" dirty="0"/>
              <a:t>x87</a:t>
            </a:r>
            <a:r>
              <a:rPr lang="he-IL" sz="2800" dirty="0"/>
              <a:t> 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19C28-B24D-4837-B7B8-F412FAADA61D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47377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err="1"/>
              <a:t>אג</a:t>
            </a:r>
            <a:r>
              <a:rPr lang="en-US" dirty="0"/>
              <a:t>'</a:t>
            </a:r>
            <a:r>
              <a:rPr lang="he-IL" dirty="0"/>
              <a:t>נדה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dirty="0"/>
              <a:t>נראה </a:t>
            </a:r>
            <a:r>
              <a:rPr lang="he-IL" dirty="0" err="1"/>
              <a:t>תכניות</a:t>
            </a:r>
            <a:r>
              <a:rPr lang="he-IL" dirty="0"/>
              <a:t> דוגמא בנושאים הבאים: </a:t>
            </a:r>
          </a:p>
          <a:p>
            <a:r>
              <a:rPr lang="he-IL" dirty="0"/>
              <a:t>1. תכנית לחישוב חזקה באמצעות רקורסיה  - תכנית המדגימה פרט לרקורסיה, מסגור של המחסנית וכפל</a:t>
            </a:r>
          </a:p>
          <a:p>
            <a:r>
              <a:rPr lang="he-IL" dirty="0"/>
              <a:t>2. תכנית רקורסיבית ליישום פונקציית </a:t>
            </a:r>
            <a:r>
              <a:rPr lang="en-US" dirty="0"/>
              <a:t>Ackermann</a:t>
            </a:r>
            <a:r>
              <a:rPr lang="he-IL" dirty="0"/>
              <a:t> </a:t>
            </a:r>
          </a:p>
          <a:p>
            <a:r>
              <a:rPr lang="he-IL" dirty="0"/>
              <a:t>3. חישוב פונקציות שונות באמצעות </a:t>
            </a:r>
            <a:r>
              <a:rPr lang="en-US" dirty="0"/>
              <a:t>x87</a:t>
            </a:r>
            <a:r>
              <a:rPr lang="he-IL" dirty="0"/>
              <a:t> </a:t>
            </a:r>
          </a:p>
          <a:p>
            <a:endParaRPr lang="he-IL" dirty="0"/>
          </a:p>
          <a:p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1AC70-2ED4-4EC0-8E4B-B8D664336993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99772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dirty="0"/>
              <a:t>חזרה וחיזוק בטיפול בפונקציה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he-IL" dirty="0"/>
              <a:t>1. הפרמטרים לפונקציה : </a:t>
            </a:r>
            <a:r>
              <a:rPr lang="pt-BR" dirty="0"/>
              <a:t>RDI, RSI, RDX, RCX, R8, R9</a:t>
            </a:r>
            <a:endParaRPr lang="he-IL" dirty="0"/>
          </a:p>
          <a:p>
            <a:r>
              <a:rPr lang="he-IL" dirty="0"/>
              <a:t>2. אוגרים המשמשים לשמירת תכנים ע"י הפונקציה הקוראת  : </a:t>
            </a:r>
            <a:r>
              <a:rPr lang="en-US" dirty="0"/>
              <a:t>RAX, RCX, RDX, R8–R11</a:t>
            </a:r>
            <a:endParaRPr lang="he-IL" dirty="0"/>
          </a:p>
          <a:p>
            <a:r>
              <a:rPr lang="he-IL" dirty="0"/>
              <a:t>3. אוגרים המשמשים את הפונקציה הנקראת :</a:t>
            </a:r>
            <a:r>
              <a:rPr lang="en-US" dirty="0"/>
              <a:t> RBX, RBP, R12–R15</a:t>
            </a:r>
            <a:endParaRPr lang="he-IL" dirty="0"/>
          </a:p>
          <a:p>
            <a:r>
              <a:rPr lang="he-IL" dirty="0"/>
              <a:t>4. המחסנית חייבת  להיות מיושרת לפי 16 בתים טרם הקריאה ל </a:t>
            </a:r>
            <a:r>
              <a:rPr lang="en-US" dirty="0"/>
              <a:t>call</a:t>
            </a:r>
            <a:r>
              <a:rPr lang="he-IL" dirty="0"/>
              <a:t> </a:t>
            </a:r>
          </a:p>
          <a:p>
            <a:r>
              <a:rPr lang="he-IL" dirty="0"/>
              <a:t>5. הערך המוחזר של הפונקציה חייב להיות מאוחסן ב </a:t>
            </a:r>
            <a:r>
              <a:rPr lang="en-US" dirty="0"/>
              <a:t>RAX</a:t>
            </a:r>
            <a:r>
              <a:rPr lang="he-IL" dirty="0"/>
              <a:t> </a:t>
            </a:r>
          </a:p>
          <a:p>
            <a:r>
              <a:rPr lang="he-IL" dirty="0"/>
              <a:t>שמירה על כללים אילו מבטיחים שליטה על הערכים המועברים והחוזרים בעת ביצוע רקורסיה 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1BFDC-4902-4005-ACB5-E566C2EC640D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1121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הפעלת מבניות ומסגור של המחסנית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כל קריאה רקורסיבית מבצעת מסגור למחסנית :</a:t>
            </a:r>
          </a:p>
          <a:p>
            <a:pPr algn="l" rtl="0"/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E866-27BE-4058-8896-F8A593FFCDFD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4</a:t>
            </a:fld>
            <a:endParaRPr lang="he-IL"/>
          </a:p>
        </p:txBody>
      </p:sp>
      <p:pic>
        <p:nvPicPr>
          <p:cNvPr id="6" name="תמונה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22" y="3077083"/>
            <a:ext cx="7554379" cy="246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144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הפעלת מבניות ומסגור של המחסנית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he-IL" dirty="0"/>
              <a:t>כזכור, כל פונקציה מכילה בתוכה פתיח וסיומת קבועים :</a:t>
            </a:r>
            <a:r>
              <a:rPr lang="en-US" dirty="0"/>
              <a:t> </a:t>
            </a:r>
            <a:endParaRPr lang="he-IL" dirty="0"/>
          </a:p>
          <a:p>
            <a:r>
              <a:rPr lang="he-IL" dirty="0"/>
              <a:t>פתיח :</a:t>
            </a:r>
            <a:r>
              <a:rPr lang="en-US" dirty="0"/>
              <a:t> </a:t>
            </a:r>
            <a:endParaRPr lang="he-IL" dirty="0"/>
          </a:p>
          <a:p>
            <a:pPr algn="l" rtl="0"/>
            <a:r>
              <a:rPr lang="en-US" b="1" dirty="0"/>
              <a:t>push </a:t>
            </a:r>
            <a:r>
              <a:rPr lang="en-US" b="1" dirty="0" err="1"/>
              <a:t>rbp</a:t>
            </a:r>
            <a:endParaRPr lang="en-US" b="1" dirty="0"/>
          </a:p>
          <a:p>
            <a:pPr algn="l" rtl="0"/>
            <a:r>
              <a:rPr lang="en-US" b="1" dirty="0" err="1"/>
              <a:t>mov</a:t>
            </a:r>
            <a:r>
              <a:rPr lang="en-US" b="1" dirty="0"/>
              <a:t> </a:t>
            </a:r>
            <a:r>
              <a:rPr lang="en-US" b="1" dirty="0" err="1"/>
              <a:t>rbp</a:t>
            </a:r>
            <a:r>
              <a:rPr lang="en-US" b="1" dirty="0"/>
              <a:t>, </a:t>
            </a:r>
            <a:r>
              <a:rPr lang="en-US" b="1" dirty="0" err="1"/>
              <a:t>rsp</a:t>
            </a:r>
            <a:endParaRPr lang="en-US" b="1" dirty="0"/>
          </a:p>
          <a:p>
            <a:pPr algn="r"/>
            <a:r>
              <a:rPr lang="he-IL" dirty="0"/>
              <a:t>סיומת</a:t>
            </a:r>
            <a:r>
              <a:rPr lang="he-IL" b="1" dirty="0"/>
              <a:t> : </a:t>
            </a:r>
          </a:p>
          <a:p>
            <a:pPr algn="l" rtl="0"/>
            <a:r>
              <a:rPr lang="en-US" b="1" dirty="0" err="1"/>
              <a:t>mov</a:t>
            </a:r>
            <a:r>
              <a:rPr lang="en-US" b="1" dirty="0"/>
              <a:t> </a:t>
            </a:r>
            <a:r>
              <a:rPr lang="en-US" b="1" dirty="0" err="1"/>
              <a:t>rsp</a:t>
            </a:r>
            <a:r>
              <a:rPr lang="en-US" b="1" dirty="0"/>
              <a:t>, </a:t>
            </a:r>
            <a:r>
              <a:rPr lang="en-US" b="1" dirty="0" err="1"/>
              <a:t>rbp</a:t>
            </a:r>
            <a:endParaRPr lang="en-US" b="1" dirty="0"/>
          </a:p>
          <a:p>
            <a:pPr algn="l" rtl="0"/>
            <a:r>
              <a:rPr lang="en-US" b="1" dirty="0"/>
              <a:t>pop </a:t>
            </a:r>
            <a:r>
              <a:rPr lang="en-US" b="1" dirty="0" err="1"/>
              <a:t>rbp</a:t>
            </a:r>
            <a:endParaRPr lang="en-US" b="1" dirty="0"/>
          </a:p>
          <a:p>
            <a:pPr algn="l" rtl="0"/>
            <a:r>
              <a:rPr lang="en-US" b="1" dirty="0"/>
              <a:t>ret</a:t>
            </a:r>
          </a:p>
          <a:p>
            <a:pPr algn="r"/>
            <a:r>
              <a:rPr lang="he-IL" dirty="0"/>
              <a:t>מבניות זו חיונית לעבודה עם רקורסיה </a:t>
            </a:r>
            <a:endParaRPr lang="en-US" dirty="0"/>
          </a:p>
          <a:p>
            <a:pPr algn="l" rtl="0"/>
            <a:endParaRPr lang="en-US" b="1" dirty="0"/>
          </a:p>
          <a:p>
            <a:pPr algn="l" rtl="0"/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E866-27BE-4058-8896-F8A593FFCDFD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78636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תכנית ראשונה – חישוב חזקה באמצעות רקורסיה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נראה איך מעלים את 3 בחזקת 5 ברקורסיה ונדפיס את התוצאה באמצעות </a:t>
            </a:r>
            <a:r>
              <a:rPr lang="en-US" dirty="0" err="1"/>
              <a:t>syscall</a:t>
            </a:r>
            <a:r>
              <a:rPr lang="he-IL" dirty="0"/>
              <a:t> :</a:t>
            </a:r>
          </a:p>
          <a:p>
            <a:r>
              <a:rPr lang="he-IL" dirty="0"/>
              <a:t>1. התכנית מדגימה כיצד עובדים ברקורסיה </a:t>
            </a:r>
            <a:r>
              <a:rPr lang="he-IL" dirty="0" err="1"/>
              <a:t>באסמבלי</a:t>
            </a:r>
            <a:endParaRPr lang="he-IL" dirty="0"/>
          </a:p>
          <a:p>
            <a:r>
              <a:rPr lang="he-IL" dirty="0"/>
              <a:t>2. מדגימה את מקרה הבסיס שבו </a:t>
            </a:r>
            <a:r>
              <a:rPr lang="en-US" dirty="0" err="1"/>
              <a:t>exp</a:t>
            </a:r>
            <a:r>
              <a:rPr lang="en-US" dirty="0"/>
              <a:t>=0</a:t>
            </a:r>
            <a:r>
              <a:rPr lang="he-IL" dirty="0"/>
              <a:t> </a:t>
            </a:r>
          </a:p>
          <a:p>
            <a:r>
              <a:rPr lang="he-IL" dirty="0"/>
              <a:t>3. מדגימה העברת פרמטרים באמצעות שרשרת של פקודות </a:t>
            </a:r>
            <a:r>
              <a:rPr lang="en-US" dirty="0"/>
              <a:t>call</a:t>
            </a:r>
            <a:r>
              <a:rPr lang="he-IL" dirty="0"/>
              <a:t> </a:t>
            </a:r>
          </a:p>
          <a:p>
            <a:r>
              <a:rPr lang="he-IL" dirty="0"/>
              <a:t>4. משתמשת בפקודת </a:t>
            </a:r>
            <a:r>
              <a:rPr lang="en-US" dirty="0"/>
              <a:t>MUL</a:t>
            </a:r>
            <a:r>
              <a:rPr lang="he-IL" dirty="0"/>
              <a:t> לצורך איסוף וחישוב התוצאה</a:t>
            </a:r>
          </a:p>
          <a:p>
            <a:r>
              <a:rPr lang="he-IL" dirty="0"/>
              <a:t>5. משתמשת ב </a:t>
            </a:r>
            <a:r>
              <a:rPr lang="en-US" dirty="0" err="1"/>
              <a:t>syscall</a:t>
            </a:r>
            <a:r>
              <a:rPr lang="he-IL" dirty="0"/>
              <a:t> כדי לטפל בהדפסת התוצאות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E866-27BE-4058-8896-F8A593FFCDFD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4546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תכנית ראשונה – חישוב חזקה באמצעות רקורסיה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b="1" dirty="0"/>
              <a:t>Key idea:  </a:t>
            </a:r>
          </a:p>
          <a:p>
            <a:pPr algn="l" rtl="0"/>
            <a:r>
              <a:rPr lang="en-US" dirty="0"/>
              <a:t>      pow(base, </a:t>
            </a:r>
            <a:r>
              <a:rPr lang="en-US" dirty="0" err="1"/>
              <a:t>exp</a:t>
            </a:r>
            <a:r>
              <a:rPr lang="en-US" dirty="0"/>
              <a:t>) =1 if </a:t>
            </a:r>
            <a:r>
              <a:rPr lang="en-US" dirty="0" err="1"/>
              <a:t>exp</a:t>
            </a:r>
            <a:r>
              <a:rPr lang="en-US" dirty="0"/>
              <a:t> == 0</a:t>
            </a:r>
          </a:p>
          <a:p>
            <a:pPr algn="l" rtl="0"/>
            <a:r>
              <a:rPr lang="en-US" dirty="0"/>
              <a:t>      base * pow(base, </a:t>
            </a:r>
            <a:r>
              <a:rPr lang="en-US" dirty="0" err="1"/>
              <a:t>exp</a:t>
            </a:r>
            <a:r>
              <a:rPr lang="en-US" dirty="0"/>
              <a:t> - 1) otherwise</a:t>
            </a: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E866-27BE-4058-8896-F8A593FFCDFD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47380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חלק ראשון – בדיקת מקרה הבסיס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כזכור מקרה הבסיס  הוא כאשר החזקה שווה 0 :</a:t>
            </a:r>
            <a:r>
              <a:rPr lang="en-US" dirty="0"/>
              <a:t> </a:t>
            </a:r>
            <a:endParaRPr lang="he-IL" dirty="0"/>
          </a:p>
          <a:p>
            <a:pPr marL="0" indent="0" algn="l" rtl="0">
              <a:buNone/>
            </a:pPr>
            <a:r>
              <a:rPr lang="en-US" b="1" dirty="0" err="1"/>
              <a:t>cmp</a:t>
            </a:r>
            <a:r>
              <a:rPr lang="en-US" b="1" dirty="0"/>
              <a:t> </a:t>
            </a:r>
            <a:r>
              <a:rPr lang="en-US" b="1" dirty="0" err="1"/>
              <a:t>rsi</a:t>
            </a:r>
            <a:r>
              <a:rPr lang="en-US" b="1" dirty="0"/>
              <a:t>, 0</a:t>
            </a:r>
          </a:p>
          <a:p>
            <a:pPr marL="0" indent="0" algn="l" rtl="0">
              <a:buNone/>
            </a:pPr>
            <a:r>
              <a:rPr lang="en-US" b="1" dirty="0" err="1"/>
              <a:t>jne</a:t>
            </a:r>
            <a:r>
              <a:rPr lang="en-US" b="1" dirty="0"/>
              <a:t> .</a:t>
            </a:r>
            <a:r>
              <a:rPr lang="en-US" b="1" dirty="0" err="1"/>
              <a:t>recurse</a:t>
            </a:r>
            <a:endParaRPr lang="en-US" b="1" dirty="0"/>
          </a:p>
          <a:p>
            <a:pPr marL="0" indent="0" algn="l" rtl="0">
              <a:buNone/>
            </a:pPr>
            <a:r>
              <a:rPr lang="en-US" b="1" dirty="0" err="1"/>
              <a:t>mov</a:t>
            </a:r>
            <a:r>
              <a:rPr lang="en-US" b="1" dirty="0"/>
              <a:t> </a:t>
            </a:r>
            <a:r>
              <a:rPr lang="en-US" b="1" dirty="0" err="1"/>
              <a:t>rax</a:t>
            </a:r>
            <a:r>
              <a:rPr lang="en-US" b="1" dirty="0"/>
              <a:t>, 1</a:t>
            </a:r>
          </a:p>
          <a:p>
            <a:pPr marL="0" indent="0" algn="l" rtl="0">
              <a:buNone/>
            </a:pPr>
            <a:r>
              <a:rPr lang="en-US" b="1" dirty="0" err="1"/>
              <a:t>jmp</a:t>
            </a:r>
            <a:r>
              <a:rPr lang="en-US" b="1" dirty="0"/>
              <a:t> .out</a:t>
            </a:r>
          </a:p>
          <a:p>
            <a:pPr marL="0" indent="0" algn="r">
              <a:buNone/>
            </a:pPr>
            <a:r>
              <a:rPr lang="he-IL" dirty="0"/>
              <a:t>אוגר </a:t>
            </a:r>
            <a:r>
              <a:rPr lang="en-US" dirty="0" err="1"/>
              <a:t>rsi</a:t>
            </a:r>
            <a:r>
              <a:rPr lang="he-IL" dirty="0"/>
              <a:t>  מאחסן בתוכו את החזקה ולכן אם ערכו 0 יוחזר 1 </a:t>
            </a:r>
            <a:endParaRPr lang="en-US" dirty="0"/>
          </a:p>
          <a:p>
            <a:pPr algn="l" rtl="0"/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E866-27BE-4058-8896-F8A593FFCDFD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1607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4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חלק שני – הכנה לקריאה הרקורסיבית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להלן קטע הקוד :</a:t>
            </a:r>
            <a:r>
              <a:rPr lang="en-US" dirty="0"/>
              <a:t> </a:t>
            </a:r>
            <a:endParaRPr lang="he-IL" dirty="0"/>
          </a:p>
          <a:p>
            <a:pPr algn="l" rtl="0"/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E866-27BE-4058-8896-F8A593FFCDFD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9</a:t>
            </a:fld>
            <a:endParaRPr lang="he-IL"/>
          </a:p>
        </p:txBody>
      </p:sp>
      <p:pic>
        <p:nvPicPr>
          <p:cNvPr id="6" name="תמונה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502" y="3193141"/>
            <a:ext cx="5963482" cy="181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294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חלק שני – הכנה לקריאה הרקורסיבית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הפקודה </a:t>
            </a:r>
            <a:r>
              <a:rPr lang="en-US" dirty="0" err="1"/>
              <a:t>dec</a:t>
            </a:r>
            <a:r>
              <a:rPr lang="en-US" dirty="0"/>
              <a:t> </a:t>
            </a:r>
            <a:r>
              <a:rPr lang="en-US" dirty="0" err="1"/>
              <a:t>rsi</a:t>
            </a:r>
            <a:r>
              <a:rPr lang="he-IL" dirty="0"/>
              <a:t> מקטינה את החזקה ב 1 כצורך של הורדת סדר ברקורסיה </a:t>
            </a:r>
          </a:p>
          <a:p>
            <a:r>
              <a:rPr lang="he-IL" dirty="0"/>
              <a:t>דחיפת הפרמטרים נעשית בסדר הפוך וזאת משום שהמחסנית עובדת בסדר הפוך</a:t>
            </a:r>
          </a:p>
          <a:p>
            <a:r>
              <a:rPr lang="he-IL" dirty="0"/>
              <a:t>לאחר החזרה מביצוע הפונקציה,  הפונקציה הקוראת מסירה את הפרמטרים באמצעות הפקודה </a:t>
            </a:r>
            <a:r>
              <a:rPr lang="en-US" dirty="0"/>
              <a:t>add </a:t>
            </a:r>
            <a:r>
              <a:rPr lang="en-US" dirty="0" err="1"/>
              <a:t>rsp</a:t>
            </a:r>
            <a:r>
              <a:rPr lang="en-US" dirty="0"/>
              <a:t>, 16</a:t>
            </a:r>
            <a:r>
              <a:rPr lang="he-IL" dirty="0"/>
              <a:t> </a:t>
            </a:r>
          </a:p>
          <a:p>
            <a:r>
              <a:rPr lang="he-IL" dirty="0"/>
              <a:t>הסגנון דומה לשפת </a:t>
            </a:r>
            <a:r>
              <a:rPr lang="en-US" dirty="0"/>
              <a:t>C</a:t>
            </a:r>
            <a:r>
              <a:rPr lang="he-IL" dirty="0"/>
              <a:t> שגם בה הפונקציה הקוראת מנקה את המחסנית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E866-27BE-4058-8896-F8A593FFCDFD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10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75636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חלק שלישי – איסוף התוצאות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איסוף התוצאות מתרחש כאשר תנאי העצירה מתקיים. </a:t>
            </a:r>
          </a:p>
          <a:p>
            <a:r>
              <a:rPr lang="he-IL" dirty="0"/>
              <a:t>או אז יש לבצע כפל של התוצאה לפי </a:t>
            </a:r>
            <a:r>
              <a:rPr lang="he-IL" dirty="0" err="1"/>
              <a:t>העקרון</a:t>
            </a:r>
            <a:r>
              <a:rPr lang="he-IL" dirty="0"/>
              <a:t> של :</a:t>
            </a:r>
          </a:p>
          <a:p>
            <a:pPr algn="l" rtl="0"/>
            <a:r>
              <a:rPr lang="en-US" dirty="0"/>
              <a:t>pow (</a:t>
            </a:r>
            <a:r>
              <a:rPr lang="en-US" dirty="0" err="1"/>
              <a:t>b,e</a:t>
            </a:r>
            <a:r>
              <a:rPr lang="en-US" dirty="0"/>
              <a:t>)= b*pow (b,e-1)</a:t>
            </a:r>
          </a:p>
          <a:p>
            <a:r>
              <a:rPr lang="he-IL" dirty="0"/>
              <a:t>לאחר הקריאה הרקורסיבית </a:t>
            </a:r>
            <a:r>
              <a:rPr lang="en-US" dirty="0" err="1"/>
              <a:t>rax</a:t>
            </a:r>
            <a:r>
              <a:rPr lang="he-IL" dirty="0"/>
              <a:t> מכיל את </a:t>
            </a:r>
            <a:r>
              <a:rPr lang="en-US" dirty="0"/>
              <a:t>pow (b,e-1)</a:t>
            </a:r>
            <a:endParaRPr lang="he-IL" dirty="0"/>
          </a:p>
          <a:p>
            <a:r>
              <a:rPr lang="he-IL" dirty="0"/>
              <a:t>אוגר </a:t>
            </a:r>
            <a:r>
              <a:rPr lang="en-US" dirty="0" err="1"/>
              <a:t>rdi</a:t>
            </a:r>
            <a:r>
              <a:rPr lang="he-IL" dirty="0"/>
              <a:t> מאחסן בתוכו את הבסיס </a:t>
            </a:r>
            <a:r>
              <a:rPr lang="en-US" dirty="0"/>
              <a:t>b</a:t>
            </a:r>
            <a:r>
              <a:rPr lang="he-IL" dirty="0"/>
              <a:t> </a:t>
            </a:r>
          </a:p>
          <a:p>
            <a:r>
              <a:rPr lang="he-IL" dirty="0"/>
              <a:t>על כן הפקודה </a:t>
            </a:r>
            <a:r>
              <a:rPr lang="en-US" dirty="0" err="1"/>
              <a:t>rdi</a:t>
            </a:r>
            <a:r>
              <a:rPr lang="he-IL" dirty="0"/>
              <a:t> מבצעת את  החישוב </a:t>
            </a:r>
            <a:r>
              <a:rPr lang="en-US" dirty="0"/>
              <a:t>b*pow (b,e-1)</a:t>
            </a:r>
          </a:p>
          <a:p>
            <a:endParaRPr lang="en-US" dirty="0"/>
          </a:p>
          <a:p>
            <a:pPr algn="r"/>
            <a:endParaRPr lang="en-US" dirty="0"/>
          </a:p>
          <a:p>
            <a:pPr algn="r"/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E866-27BE-4058-8896-F8A593FFCDFD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11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27720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הדפסת התוצאות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e-IL" dirty="0"/>
              <a:t>קטע הקוד הבא :</a:t>
            </a:r>
            <a:r>
              <a:rPr lang="en-US" dirty="0"/>
              <a:t> </a:t>
            </a:r>
            <a:endParaRPr lang="he-IL" dirty="0"/>
          </a:p>
          <a:p>
            <a:pPr marL="0" indent="0" algn="l" rtl="0">
              <a:buNone/>
            </a:pPr>
            <a:r>
              <a:rPr lang="en-US" b="1" dirty="0" err="1"/>
              <a:t>mov</a:t>
            </a:r>
            <a:r>
              <a:rPr lang="en-US" b="1" dirty="0"/>
              <a:t> </a:t>
            </a:r>
            <a:r>
              <a:rPr lang="en-US" b="1" dirty="0" err="1"/>
              <a:t>rdi</a:t>
            </a:r>
            <a:r>
              <a:rPr lang="en-US" b="1" dirty="0"/>
              <a:t>, </a:t>
            </a:r>
            <a:r>
              <a:rPr lang="en-US" b="1" dirty="0" err="1"/>
              <a:t>rax</a:t>
            </a:r>
            <a:endParaRPr lang="en-US" b="1" dirty="0"/>
          </a:p>
          <a:p>
            <a:pPr marL="0" indent="0" algn="l" rtl="0">
              <a:buNone/>
            </a:pPr>
            <a:r>
              <a:rPr lang="en-US" b="1" dirty="0"/>
              <a:t>call </a:t>
            </a:r>
            <a:r>
              <a:rPr lang="en-US" b="1" dirty="0" err="1"/>
              <a:t>print_int</a:t>
            </a:r>
            <a:endParaRPr lang="en-US" b="1" dirty="0"/>
          </a:p>
          <a:p>
            <a:pPr marL="0" indent="0" algn="r">
              <a:buNone/>
            </a:pPr>
            <a:r>
              <a:rPr lang="he-IL" dirty="0"/>
              <a:t>הפונקציה </a:t>
            </a:r>
            <a:r>
              <a:rPr lang="en-US" dirty="0" err="1"/>
              <a:t>print_int</a:t>
            </a:r>
            <a:r>
              <a:rPr lang="he-IL" dirty="0"/>
              <a:t> היא פונקציה מיוחדת</a:t>
            </a:r>
            <a:r>
              <a:rPr lang="en-US" dirty="0"/>
              <a:t>  </a:t>
            </a:r>
            <a:r>
              <a:rPr lang="he-IL" dirty="0"/>
              <a:t> אשר איננה מבצעת שימוש ב </a:t>
            </a:r>
            <a:r>
              <a:rPr lang="en-US" dirty="0" err="1"/>
              <a:t>printf</a:t>
            </a:r>
            <a:r>
              <a:rPr lang="he-IL" dirty="0"/>
              <a:t>  כלל לצורך הדפסה. לדוגמא – אם רוצים להדפיס ערך כגון 243 , התכנית מפרידה את המספר לספרות בודדות , שומרת אותן בסדר הפוך ומדפיסה את הערך כמחרוזת "243" </a:t>
            </a:r>
          </a:p>
          <a:p>
            <a:pPr marL="0" indent="0" algn="r">
              <a:buNone/>
            </a:pPr>
            <a:r>
              <a:rPr lang="he-IL" dirty="0"/>
              <a:t>בשקפים הבאים נפרט את עבודתה </a:t>
            </a:r>
            <a:endParaRPr lang="en-US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E866-27BE-4058-8896-F8A593FFCDFD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12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4746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הדפסת התוצאות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נסביר קטע הקוד הבא :</a:t>
            </a:r>
            <a:r>
              <a:rPr lang="en-US" dirty="0"/>
              <a:t> </a:t>
            </a:r>
            <a:endParaRPr lang="he-IL" dirty="0"/>
          </a:p>
          <a:p>
            <a:pPr marL="0" indent="0" algn="l" rtl="0">
              <a:buNone/>
            </a:pPr>
            <a:r>
              <a:rPr lang="it-IT" b="1" dirty="0"/>
              <a:t>lea rdi, [buf+31]</a:t>
            </a:r>
          </a:p>
          <a:p>
            <a:pPr marL="0" indent="0" algn="l" rtl="0">
              <a:buNone/>
            </a:pPr>
            <a:r>
              <a:rPr lang="it-IT" b="1" dirty="0"/>
              <a:t>mov byte [rdi], 0</a:t>
            </a:r>
            <a:endParaRPr lang="he-IL" b="1" dirty="0"/>
          </a:p>
          <a:p>
            <a:pPr marL="0" indent="0" algn="r">
              <a:buNone/>
            </a:pPr>
            <a:r>
              <a:rPr lang="he-IL" dirty="0"/>
              <a:t>כדי לקבל תוצאה משמאל לימין, אנחנו מאחסנים את הספרה המחושבת בסיומו של ה </a:t>
            </a:r>
            <a:r>
              <a:rPr lang="en-US" dirty="0"/>
              <a:t>buffer</a:t>
            </a:r>
            <a:r>
              <a:rPr lang="he-IL" dirty="0"/>
              <a:t>  אשר הוגדר בתחילת הקוד. (</a:t>
            </a:r>
            <a:r>
              <a:rPr lang="en-US" dirty="0"/>
              <a:t>buffer</a:t>
            </a:r>
            <a:r>
              <a:rPr lang="he-IL" dirty="0"/>
              <a:t> הוא משתנה לא מאותחל המשמש לאחסון התוצאה)</a:t>
            </a:r>
          </a:p>
          <a:p>
            <a:pPr marL="0" indent="0" algn="r">
              <a:buNone/>
            </a:pPr>
            <a:r>
              <a:rPr lang="he-IL" dirty="0"/>
              <a:t>כל ספרה חדשה נכתבת בית אחד לפני וזאת משום שאנחנו עובדים לפי עקרון של </a:t>
            </a:r>
            <a:r>
              <a:rPr lang="en-US" dirty="0"/>
              <a:t>LSB</a:t>
            </a:r>
            <a:r>
              <a:rPr lang="he-IL" dirty="0"/>
              <a:t> ראשון </a:t>
            </a:r>
            <a:endParaRPr lang="it-IT" dirty="0"/>
          </a:p>
          <a:p>
            <a:pPr marL="0" indent="0" algn="r">
              <a:buNone/>
            </a:pPr>
            <a:endParaRPr lang="it-IT" b="1" dirty="0"/>
          </a:p>
          <a:p>
            <a:pPr algn="l" rtl="0"/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E866-27BE-4058-8896-F8A593FFCDFD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13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24267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הדפסת התוצאות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החלק הקריטי בהדפסת התוצאה הוא חשיפת הספרות תוך שימוש בחלוקה : </a:t>
            </a:r>
          </a:p>
          <a:p>
            <a:pPr algn="l" rtl="0"/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E866-27BE-4058-8896-F8A593FFCDFD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14</a:t>
            </a:fld>
            <a:endParaRPr lang="he-IL"/>
          </a:p>
        </p:txBody>
      </p:sp>
      <p:pic>
        <p:nvPicPr>
          <p:cNvPr id="6" name="תמונה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876" y="3141524"/>
            <a:ext cx="4991797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398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הדפסת התוצאות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החלוקה ב 10 ע"י </a:t>
            </a:r>
            <a:r>
              <a:rPr lang="en-US" dirty="0"/>
              <a:t>div 10</a:t>
            </a:r>
            <a:r>
              <a:rPr lang="he-IL" dirty="0"/>
              <a:t> נועדה לצורך בידוד הספרות.</a:t>
            </a:r>
          </a:p>
          <a:p>
            <a:r>
              <a:rPr lang="he-IL" dirty="0"/>
              <a:t>שארית החלוקה מאוחסנת באוגר </a:t>
            </a:r>
            <a:r>
              <a:rPr lang="en-US" dirty="0"/>
              <a:t>RDX</a:t>
            </a:r>
            <a:r>
              <a:rPr lang="he-IL" dirty="0"/>
              <a:t> שהוא הספרה הימנית</a:t>
            </a:r>
          </a:p>
          <a:p>
            <a:r>
              <a:rPr lang="he-IL" dirty="0"/>
              <a:t>תוספת של </a:t>
            </a:r>
            <a:r>
              <a:rPr lang="en-US" dirty="0"/>
              <a:t>‘0’</a:t>
            </a:r>
            <a:r>
              <a:rPr lang="he-IL" dirty="0"/>
              <a:t> נועדה להפוך את הספרה ל </a:t>
            </a:r>
            <a:r>
              <a:rPr lang="en-US" dirty="0"/>
              <a:t>ASCII</a:t>
            </a:r>
            <a:r>
              <a:rPr lang="he-IL" dirty="0"/>
              <a:t> </a:t>
            </a:r>
          </a:p>
          <a:p>
            <a:r>
              <a:rPr lang="he-IL" dirty="0"/>
              <a:t>התו </a:t>
            </a:r>
            <a:r>
              <a:rPr lang="en-US" dirty="0"/>
              <a:t>ASCII</a:t>
            </a:r>
            <a:r>
              <a:rPr lang="he-IL" dirty="0"/>
              <a:t> שנוצר מאוחסן ב </a:t>
            </a:r>
            <a:r>
              <a:rPr lang="en-US" dirty="0"/>
              <a:t>buffer</a:t>
            </a:r>
            <a:r>
              <a:rPr lang="he-IL" dirty="0"/>
              <a:t> </a:t>
            </a:r>
          </a:p>
          <a:p>
            <a:r>
              <a:rPr lang="he-IL" dirty="0"/>
              <a:t>הלולאה ממשיכה עד אשר מגיעים לערך של אפס </a:t>
            </a:r>
          </a:p>
          <a:p>
            <a:r>
              <a:rPr lang="he-IL" dirty="0"/>
              <a:t>זוהי הדרך להראות כיצד מבצעים את </a:t>
            </a:r>
            <a:r>
              <a:rPr lang="en-US" dirty="0" err="1"/>
              <a:t>printf</a:t>
            </a:r>
            <a:r>
              <a:rPr lang="en-US" dirty="0"/>
              <a:t>  </a:t>
            </a:r>
            <a:r>
              <a:rPr lang="he-IL" dirty="0"/>
              <a:t> באמצעות </a:t>
            </a:r>
            <a:r>
              <a:rPr lang="en-US" dirty="0"/>
              <a:t>low-level</a:t>
            </a:r>
            <a:r>
              <a:rPr lang="he-IL" dirty="0"/>
              <a:t> 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E866-27BE-4058-8896-F8A593FFCDFD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15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28047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שימוש ב </a:t>
            </a:r>
            <a:r>
              <a:rPr lang="en-US" dirty="0" err="1"/>
              <a:t>syscall</a:t>
            </a:r>
            <a:r>
              <a:rPr lang="en-US" dirty="0"/>
              <a:t> </a:t>
            </a:r>
            <a:r>
              <a:rPr lang="he-IL" dirty="0"/>
              <a:t> להדפסת התוצאות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 algn="l" rtl="0">
              <a:buNone/>
            </a:pPr>
            <a:r>
              <a:rPr lang="en-US" b="1" dirty="0" err="1"/>
              <a:t>mov</a:t>
            </a:r>
            <a:r>
              <a:rPr lang="en-US" b="1" dirty="0"/>
              <a:t> </a:t>
            </a:r>
            <a:r>
              <a:rPr lang="en-US" b="1" dirty="0" err="1"/>
              <a:t>rax</a:t>
            </a:r>
            <a:r>
              <a:rPr lang="en-US" b="1" dirty="0"/>
              <a:t>, 1      ; write</a:t>
            </a:r>
          </a:p>
          <a:p>
            <a:pPr marL="0" indent="0" algn="l" rtl="0">
              <a:buNone/>
            </a:pPr>
            <a:r>
              <a:rPr lang="en-US" b="1" dirty="0" err="1"/>
              <a:t>mov</a:t>
            </a:r>
            <a:r>
              <a:rPr lang="en-US" b="1" dirty="0"/>
              <a:t> </a:t>
            </a:r>
            <a:r>
              <a:rPr lang="en-US" b="1" dirty="0" err="1"/>
              <a:t>rdi</a:t>
            </a:r>
            <a:r>
              <a:rPr lang="en-US" b="1" dirty="0"/>
              <a:t>, 1      ; </a:t>
            </a:r>
            <a:r>
              <a:rPr lang="en-US" b="1" dirty="0" err="1"/>
              <a:t>stdout</a:t>
            </a:r>
            <a:endParaRPr lang="en-US" b="1" dirty="0"/>
          </a:p>
          <a:p>
            <a:pPr marL="0" indent="0" algn="l" rtl="0">
              <a:buNone/>
            </a:pPr>
            <a:r>
              <a:rPr lang="en-US" b="1" dirty="0" err="1"/>
              <a:t>mov</a:t>
            </a:r>
            <a:r>
              <a:rPr lang="en-US" b="1" dirty="0"/>
              <a:t> </a:t>
            </a:r>
            <a:r>
              <a:rPr lang="en-US" b="1" dirty="0" err="1"/>
              <a:t>rsi</a:t>
            </a:r>
            <a:r>
              <a:rPr lang="en-US" b="1" dirty="0"/>
              <a:t>, </a:t>
            </a:r>
            <a:r>
              <a:rPr lang="en-US" b="1" dirty="0" err="1"/>
              <a:t>rdi</a:t>
            </a:r>
            <a:r>
              <a:rPr lang="en-US" b="1" dirty="0"/>
              <a:t>    ; pointer to string</a:t>
            </a:r>
          </a:p>
          <a:p>
            <a:pPr marL="0" indent="0" algn="l" rtl="0">
              <a:buNone/>
            </a:pPr>
            <a:r>
              <a:rPr lang="en-US" b="1" dirty="0" err="1"/>
              <a:t>mov</a:t>
            </a:r>
            <a:r>
              <a:rPr lang="en-US" b="1" dirty="0"/>
              <a:t> </a:t>
            </a:r>
            <a:r>
              <a:rPr lang="en-US" b="1" dirty="0" err="1"/>
              <a:t>rdx</a:t>
            </a:r>
            <a:r>
              <a:rPr lang="en-US" b="1" dirty="0"/>
              <a:t>, length</a:t>
            </a:r>
          </a:p>
          <a:p>
            <a:pPr marL="0" indent="0" algn="l" rtl="0">
              <a:buNone/>
            </a:pPr>
            <a:r>
              <a:rPr lang="en-US" b="1" dirty="0" err="1"/>
              <a:t>syscall</a:t>
            </a:r>
            <a:endParaRPr lang="en-US" b="1" dirty="0"/>
          </a:p>
          <a:p>
            <a:pPr marL="0" indent="0" algn="r">
              <a:buNone/>
            </a:pPr>
            <a:r>
              <a:rPr lang="he-IL" sz="3400" dirty="0"/>
              <a:t>אוגר </a:t>
            </a:r>
            <a:r>
              <a:rPr lang="en-US" sz="3400" dirty="0" err="1"/>
              <a:t>rax</a:t>
            </a:r>
            <a:r>
              <a:rPr lang="en-US" sz="3400" dirty="0"/>
              <a:t>=1</a:t>
            </a:r>
            <a:r>
              <a:rPr lang="he-IL" sz="3400" dirty="0"/>
              <a:t> כדי לבצע כתיבה </a:t>
            </a:r>
          </a:p>
          <a:p>
            <a:pPr marL="0" indent="0" algn="r">
              <a:buNone/>
            </a:pPr>
            <a:r>
              <a:rPr lang="en-US" sz="3400" dirty="0" err="1"/>
              <a:t>Rdi</a:t>
            </a:r>
            <a:r>
              <a:rPr lang="en-US" sz="3400" dirty="0"/>
              <a:t>=1</a:t>
            </a:r>
            <a:r>
              <a:rPr lang="he-IL" sz="3400" dirty="0"/>
              <a:t> פירושו " כתוב למסך"</a:t>
            </a:r>
          </a:p>
          <a:p>
            <a:pPr marL="0" indent="0" algn="r">
              <a:buNone/>
            </a:pPr>
            <a:r>
              <a:rPr lang="en-US" sz="3400" dirty="0" err="1"/>
              <a:t>Rsi</a:t>
            </a:r>
            <a:r>
              <a:rPr lang="he-IL" sz="3400" dirty="0"/>
              <a:t> מצביע על המחרוזת להדפסה</a:t>
            </a:r>
          </a:p>
          <a:p>
            <a:pPr marL="0" indent="0" algn="r">
              <a:buNone/>
            </a:pPr>
            <a:r>
              <a:rPr lang="en-US" sz="3400" dirty="0" err="1"/>
              <a:t>Rdx</a:t>
            </a:r>
            <a:r>
              <a:rPr lang="he-IL" sz="3400" dirty="0"/>
              <a:t> מייצג את אורך המחרוזת </a:t>
            </a:r>
          </a:p>
          <a:p>
            <a:pPr marL="0" indent="0" algn="r">
              <a:buNone/>
            </a:pPr>
            <a:endParaRPr lang="he-IL" dirty="0"/>
          </a:p>
          <a:p>
            <a:pPr marL="0" indent="0" algn="r">
              <a:buNone/>
            </a:pPr>
            <a:endParaRPr lang="en-US" dirty="0"/>
          </a:p>
          <a:p>
            <a:pPr marL="0" indent="0" algn="l" rtl="0">
              <a:buNone/>
            </a:pPr>
            <a:endParaRPr lang="en-US" b="1" dirty="0"/>
          </a:p>
          <a:p>
            <a:pPr algn="l" rtl="0"/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E866-27BE-4058-8896-F8A593FFCDFD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16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63269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הרצאה באמצעות </a:t>
            </a:r>
            <a:r>
              <a:rPr lang="en-US" dirty="0" err="1"/>
              <a:t>Makefile</a:t>
            </a:r>
            <a:r>
              <a:rPr lang="en-US" dirty="0"/>
              <a:t>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/>
            <a:r>
              <a:rPr lang="he-IL" dirty="0"/>
              <a:t>להלן שלבי ההרצה : </a:t>
            </a:r>
          </a:p>
          <a:p>
            <a:pPr algn="r"/>
            <a:r>
              <a:rPr lang="he-IL" dirty="0"/>
              <a:t>1. </a:t>
            </a:r>
            <a:r>
              <a:rPr lang="en-US" dirty="0"/>
              <a:t>make</a:t>
            </a:r>
            <a:r>
              <a:rPr lang="he-IL" dirty="0"/>
              <a:t> אשר שקולה לצמד הפקודות :</a:t>
            </a:r>
            <a:r>
              <a:rPr lang="en-US" dirty="0"/>
              <a:t> </a:t>
            </a:r>
            <a:endParaRPr lang="he-IL" dirty="0"/>
          </a:p>
          <a:p>
            <a:pPr algn="l" rtl="0"/>
            <a:r>
              <a:rPr lang="en-US" dirty="0" err="1"/>
              <a:t>nasm</a:t>
            </a:r>
            <a:r>
              <a:rPr lang="en-US" dirty="0"/>
              <a:t> –f elf64 –g-F dwarf powersys.asm –o </a:t>
            </a:r>
            <a:r>
              <a:rPr lang="en-US" dirty="0" err="1"/>
              <a:t>powersys.o</a:t>
            </a:r>
            <a:endParaRPr lang="en-US" dirty="0"/>
          </a:p>
          <a:p>
            <a:pPr algn="l" rtl="0"/>
            <a:r>
              <a:rPr lang="en-US" dirty="0" err="1"/>
              <a:t>ld</a:t>
            </a:r>
            <a:r>
              <a:rPr lang="en-US" dirty="0"/>
              <a:t> </a:t>
            </a:r>
            <a:r>
              <a:rPr lang="en-US" dirty="0" err="1"/>
              <a:t>powersys.o</a:t>
            </a:r>
            <a:r>
              <a:rPr lang="en-US" dirty="0"/>
              <a:t> </a:t>
            </a:r>
            <a:r>
              <a:rPr lang="en-US" dirty="0" err="1"/>
              <a:t>powersys</a:t>
            </a:r>
            <a:endParaRPr lang="en-US" dirty="0"/>
          </a:p>
          <a:p>
            <a:pPr algn="r"/>
            <a:r>
              <a:rPr lang="he-IL" dirty="0"/>
              <a:t>2. </a:t>
            </a:r>
            <a:r>
              <a:rPr lang="en-US" dirty="0"/>
              <a:t>make run</a:t>
            </a:r>
            <a:r>
              <a:rPr lang="he-IL" dirty="0"/>
              <a:t>  אשר שקולה לפקודה :   </a:t>
            </a:r>
            <a:r>
              <a:rPr lang="en-US" dirty="0"/>
              <a:t>./power</a:t>
            </a:r>
            <a:r>
              <a:rPr lang="he-IL" dirty="0"/>
              <a:t> ומבצעת את ההעלאה בחזקה </a:t>
            </a:r>
          </a:p>
          <a:p>
            <a:pPr algn="r"/>
            <a:r>
              <a:rPr lang="he-IL" dirty="0"/>
              <a:t>3. </a:t>
            </a:r>
            <a:r>
              <a:rPr lang="en-US" dirty="0"/>
              <a:t>make clean</a:t>
            </a:r>
            <a:r>
              <a:rPr lang="he-IL" dirty="0"/>
              <a:t> אשר מסירה את קובץ ה </a:t>
            </a:r>
            <a:r>
              <a:rPr lang="en-US" dirty="0"/>
              <a:t>.o</a:t>
            </a:r>
            <a:r>
              <a:rPr lang="he-IL" dirty="0"/>
              <a:t> 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E866-27BE-4058-8896-F8A593FFCDFD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17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43354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פונקצית </a:t>
            </a:r>
            <a:r>
              <a:rPr lang="he-IL" dirty="0" err="1"/>
              <a:t>אקרמן</a:t>
            </a:r>
            <a:r>
              <a:rPr lang="he-IL" dirty="0"/>
              <a:t>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תכנית זו מראה מספר קריאות רקורסיביות – אחת בתוך השנייה :</a:t>
            </a:r>
            <a:r>
              <a:rPr lang="en-US" dirty="0"/>
              <a:t> </a:t>
            </a:r>
            <a:endParaRPr lang="he-IL" dirty="0"/>
          </a:p>
          <a:p>
            <a:pPr algn="l" rtl="0"/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E866-27BE-4058-8896-F8A593FFCDFD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18</a:t>
            </a:fld>
            <a:endParaRPr lang="he-IL"/>
          </a:p>
        </p:txBody>
      </p:sp>
      <p:pic>
        <p:nvPicPr>
          <p:cNvPr id="6" name="תמונה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130" y="3100266"/>
            <a:ext cx="6725589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769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פונקצית </a:t>
            </a:r>
            <a:r>
              <a:rPr lang="he-IL" dirty="0" err="1"/>
              <a:t>אקרמן</a:t>
            </a:r>
            <a:r>
              <a:rPr lang="he-IL" dirty="0"/>
              <a:t>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הנוסחה אומרת כי לעתים תהיה רק קריאה רקורסיבית אחת.</a:t>
            </a:r>
          </a:p>
          <a:p>
            <a:r>
              <a:rPr lang="he-IL" dirty="0"/>
              <a:t>במקרה אחר שתי קריאות רקורסיביות</a:t>
            </a:r>
          </a:p>
          <a:p>
            <a:r>
              <a:rPr lang="he-IL" dirty="0"/>
              <a:t>בשאר המקרים קריאה רקורסיבית תתבצע בתוך קריאת רקורסיבית קיימת</a:t>
            </a:r>
          </a:p>
          <a:p>
            <a:r>
              <a:rPr lang="he-IL" dirty="0"/>
              <a:t>היות ויישומו של האלגוריתם עלול לגרום לגלישה במחסנית, נדגים את המקרה של  </a:t>
            </a:r>
            <a:r>
              <a:rPr lang="en-US" dirty="0"/>
              <a:t>m=2</a:t>
            </a:r>
            <a:r>
              <a:rPr lang="he-IL" dirty="0"/>
              <a:t> בלבד דהיינו </a:t>
            </a:r>
            <a:r>
              <a:rPr lang="en-US" dirty="0"/>
              <a:t>A(2,n)</a:t>
            </a:r>
            <a:r>
              <a:rPr lang="he-IL" dirty="0"/>
              <a:t> 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E866-27BE-4058-8896-F8A593FFCDFD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19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58976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גרסת </a:t>
            </a:r>
            <a:r>
              <a:rPr lang="en-US" dirty="0"/>
              <a:t>A(2,n)</a:t>
            </a:r>
            <a:r>
              <a:rPr lang="he-IL" dirty="0"/>
              <a:t>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בשלב ראשון נכין את ה </a:t>
            </a:r>
            <a:r>
              <a:rPr lang="en-US" dirty="0"/>
              <a:t>buffer</a:t>
            </a:r>
            <a:r>
              <a:rPr lang="he-IL" dirty="0"/>
              <a:t> כמו בדוגמא הקודמת :</a:t>
            </a:r>
            <a:r>
              <a:rPr lang="en-US" dirty="0"/>
              <a:t> </a:t>
            </a:r>
            <a:endParaRPr lang="he-IL" dirty="0"/>
          </a:p>
          <a:p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E866-27BE-4058-8896-F8A593FFCDFD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20</a:t>
            </a:fld>
            <a:endParaRPr lang="he-IL"/>
          </a:p>
        </p:txBody>
      </p:sp>
      <p:pic>
        <p:nvPicPr>
          <p:cNvPr id="6" name="תמונה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325" y="3125635"/>
            <a:ext cx="5010849" cy="218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553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גרסת </a:t>
            </a:r>
            <a:r>
              <a:rPr lang="en-US" dirty="0"/>
              <a:t>A(2,n)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 err="1"/>
              <a:t>msg</a:t>
            </a:r>
            <a:r>
              <a:rPr lang="en-US" dirty="0"/>
              <a:t>: null‑terminated string printed before the result.</a:t>
            </a:r>
          </a:p>
          <a:p>
            <a:pPr algn="l" rtl="0"/>
            <a:r>
              <a:rPr lang="en-US" dirty="0" err="1"/>
              <a:t>nl</a:t>
            </a:r>
            <a:r>
              <a:rPr lang="en-US" dirty="0"/>
              <a:t>: newline character + 0, printed after the result.</a:t>
            </a:r>
          </a:p>
          <a:p>
            <a:pPr algn="l" rtl="0"/>
            <a:r>
              <a:rPr lang="en-US" dirty="0" err="1"/>
              <a:t>buf</a:t>
            </a:r>
            <a:r>
              <a:rPr lang="en-US" dirty="0"/>
              <a:t>: temporary buffer for integer‑to‑string conversion (used by </a:t>
            </a:r>
            <a:r>
              <a:rPr lang="en-US" dirty="0" err="1"/>
              <a:t>print_int</a:t>
            </a:r>
            <a:r>
              <a:rPr lang="en-US" dirty="0"/>
              <a:t>).</a:t>
            </a: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E866-27BE-4058-8896-F8A593FFCDFD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21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80127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הדפסת תוצאה בסגנון שפת </a:t>
            </a:r>
            <a:r>
              <a:rPr lang="en-US" dirty="0"/>
              <a:t>C</a:t>
            </a:r>
            <a:r>
              <a:rPr lang="he-IL" dirty="0"/>
              <a:t> </a:t>
            </a:r>
          </a:p>
        </p:txBody>
      </p:sp>
      <p:pic>
        <p:nvPicPr>
          <p:cNvPr id="6" name="מציין מיקום תוכן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6500" y="2285999"/>
            <a:ext cx="6743700" cy="3895726"/>
          </a:xfrm>
          <a:prstGeom prst="rect">
            <a:avLst/>
          </a:prstGeom>
        </p:spPr>
      </p:pic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E866-27BE-4058-8896-F8A593FFCDFD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22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562701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הדפסת תוצאה בסגנון שפת </a:t>
            </a:r>
            <a:r>
              <a:rPr lang="en-US" dirty="0"/>
              <a:t>C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אוגר </a:t>
            </a:r>
            <a:r>
              <a:rPr lang="en-US" dirty="0" err="1"/>
              <a:t>rdi</a:t>
            </a:r>
            <a:r>
              <a:rPr lang="he-IL" dirty="0"/>
              <a:t> מכיל את התוכן של הערך השלם שאותו רוצים להדפיס והוא מועתק אל </a:t>
            </a:r>
            <a:r>
              <a:rPr lang="en-US" dirty="0" err="1"/>
              <a:t>rax</a:t>
            </a:r>
            <a:r>
              <a:rPr lang="he-IL" dirty="0"/>
              <a:t> </a:t>
            </a:r>
          </a:p>
          <a:p>
            <a:r>
              <a:rPr lang="he-IL" dirty="0"/>
              <a:t>אוגר </a:t>
            </a:r>
            <a:r>
              <a:rPr lang="en-US" dirty="0" err="1"/>
              <a:t>rbx</a:t>
            </a:r>
            <a:r>
              <a:rPr lang="he-IL" dirty="0"/>
              <a:t> מאותחל ל 10 לצורך חלוקה ב 10 </a:t>
            </a:r>
            <a:r>
              <a:rPr lang="en-US" dirty="0"/>
              <a:t>div</a:t>
            </a:r>
            <a:r>
              <a:rPr lang="he-IL" dirty="0"/>
              <a:t> וזאת כדי לחלץ את הספרה </a:t>
            </a:r>
          </a:p>
          <a:p>
            <a:r>
              <a:rPr lang="he-IL" dirty="0"/>
              <a:t>כמו בדוגמא קודמת מאתחלים את ה </a:t>
            </a:r>
            <a:r>
              <a:rPr lang="en-US" dirty="0"/>
              <a:t>buffer</a:t>
            </a:r>
            <a:r>
              <a:rPr lang="he-IL" dirty="0"/>
              <a:t> מסופו וקיים מקרה פרטי לאפס: אם מופיע אפס פשוט מדפיסים </a:t>
            </a:r>
            <a:r>
              <a:rPr lang="en-US" dirty="0"/>
              <a:t>‘0’</a:t>
            </a:r>
            <a:r>
              <a:rPr lang="he-IL" dirty="0"/>
              <a:t>  </a:t>
            </a:r>
          </a:p>
          <a:p>
            <a:r>
              <a:rPr lang="he-IL" dirty="0"/>
              <a:t>בכל שלב בלולאה מבצעים חלוקה ב 10 כך שהתוצאה נשמרת ב </a:t>
            </a:r>
            <a:r>
              <a:rPr lang="en-US" dirty="0" err="1"/>
              <a:t>rax</a:t>
            </a:r>
            <a:r>
              <a:rPr lang="he-IL" dirty="0"/>
              <a:t> והשארית ב </a:t>
            </a:r>
            <a:r>
              <a:rPr lang="en-US" dirty="0" err="1"/>
              <a:t>rdx</a:t>
            </a:r>
            <a:endParaRPr lang="en-US" dirty="0"/>
          </a:p>
          <a:p>
            <a:r>
              <a:rPr lang="he-IL" dirty="0"/>
              <a:t>השארית הופכת לקוד </a:t>
            </a:r>
            <a:r>
              <a:rPr lang="en-US" dirty="0"/>
              <a:t>ASCII</a:t>
            </a:r>
            <a:r>
              <a:rPr lang="he-IL" dirty="0"/>
              <a:t> ונשמרת ב </a:t>
            </a:r>
            <a:r>
              <a:rPr lang="en-US" dirty="0"/>
              <a:t>buffer</a:t>
            </a:r>
            <a:r>
              <a:rPr lang="he-IL" dirty="0"/>
              <a:t> </a:t>
            </a:r>
            <a:endParaRPr lang="en-US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E866-27BE-4058-8896-F8A593FFCDFD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23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4229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הפונקציה הרקורסיבית </a:t>
            </a:r>
          </a:p>
        </p:txBody>
      </p:sp>
      <p:pic>
        <p:nvPicPr>
          <p:cNvPr id="6" name="מציין מיקום תוכן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0275" y="2468562"/>
            <a:ext cx="5019675" cy="3779838"/>
          </a:xfrm>
          <a:prstGeom prst="rect">
            <a:avLst/>
          </a:prstGeom>
        </p:spPr>
      </p:pic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E866-27BE-4058-8896-F8A593FFCDFD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24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96424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הורדת הסדר הרקורסיבי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e-IL" dirty="0"/>
              <a:t>כאשר </a:t>
            </a:r>
            <a:r>
              <a:rPr lang="en-US" dirty="0"/>
              <a:t>n&gt;0</a:t>
            </a:r>
            <a:r>
              <a:rPr lang="he-IL" dirty="0"/>
              <a:t> בצע  : </a:t>
            </a:r>
          </a:p>
          <a:p>
            <a:r>
              <a:rPr lang="he-IL" dirty="0"/>
              <a:t>חשב את </a:t>
            </a:r>
            <a:r>
              <a:rPr lang="en-US" dirty="0"/>
              <a:t>n-1</a:t>
            </a:r>
            <a:r>
              <a:rPr lang="he-IL" dirty="0"/>
              <a:t> ע"י </a:t>
            </a:r>
            <a:r>
              <a:rPr lang="en-US" dirty="0" err="1"/>
              <a:t>dec</a:t>
            </a:r>
            <a:r>
              <a:rPr lang="en-US" dirty="0"/>
              <a:t> </a:t>
            </a:r>
            <a:r>
              <a:rPr lang="en-US" dirty="0" err="1"/>
              <a:t>rdi</a:t>
            </a:r>
            <a:r>
              <a:rPr lang="he-IL" dirty="0"/>
              <a:t> </a:t>
            </a:r>
          </a:p>
          <a:p>
            <a:r>
              <a:rPr lang="en-US" dirty="0"/>
              <a:t>Push </a:t>
            </a:r>
            <a:r>
              <a:rPr lang="en-US" dirty="0" err="1"/>
              <a:t>rdi</a:t>
            </a:r>
            <a:r>
              <a:rPr lang="he-IL" dirty="0"/>
              <a:t> – כלומר דחוף את </a:t>
            </a:r>
            <a:r>
              <a:rPr lang="en-US" dirty="0"/>
              <a:t>n-1</a:t>
            </a:r>
            <a:r>
              <a:rPr lang="he-IL" dirty="0"/>
              <a:t> למחסנית</a:t>
            </a:r>
          </a:p>
          <a:p>
            <a:r>
              <a:rPr lang="he-IL" dirty="0"/>
              <a:t>בצע קריאה רקורסיבית עם </a:t>
            </a:r>
            <a:r>
              <a:rPr lang="en-US" dirty="0"/>
              <a:t>n-1</a:t>
            </a:r>
            <a:r>
              <a:rPr lang="he-IL" dirty="0"/>
              <a:t> ע"י </a:t>
            </a:r>
            <a:r>
              <a:rPr lang="en-US" dirty="0"/>
              <a:t>call ack2</a:t>
            </a:r>
            <a:r>
              <a:rPr lang="he-IL" dirty="0"/>
              <a:t> </a:t>
            </a:r>
          </a:p>
          <a:p>
            <a:r>
              <a:rPr lang="he-IL" dirty="0"/>
              <a:t>ישר את המחסנית בעזרת </a:t>
            </a:r>
            <a:r>
              <a:rPr lang="en-US" dirty="0"/>
              <a:t>add </a:t>
            </a:r>
            <a:r>
              <a:rPr lang="en-US" dirty="0" err="1"/>
              <a:t>rsp</a:t>
            </a:r>
            <a:r>
              <a:rPr lang="en-US" dirty="0"/>
              <a:t>, 8</a:t>
            </a:r>
            <a:r>
              <a:rPr lang="he-IL" dirty="0"/>
              <a:t> </a:t>
            </a:r>
          </a:p>
          <a:p>
            <a:r>
              <a:rPr lang="en-US" dirty="0"/>
              <a:t>Add rax,2</a:t>
            </a:r>
            <a:r>
              <a:rPr lang="he-IL" dirty="0"/>
              <a:t>  - כלומר חשב את התוצאה  : </a:t>
            </a:r>
            <a:r>
              <a:rPr lang="en-US" dirty="0"/>
              <a:t>result=</a:t>
            </a:r>
            <a:r>
              <a:rPr lang="en-US" dirty="0" err="1"/>
              <a:t>ack</a:t>
            </a:r>
            <a:r>
              <a:rPr lang="en-US" dirty="0"/>
              <a:t>(n-1)+2</a:t>
            </a:r>
            <a:r>
              <a:rPr lang="he-IL" dirty="0"/>
              <a:t> </a:t>
            </a:r>
          </a:p>
          <a:p>
            <a:r>
              <a:rPr lang="he-IL" dirty="0"/>
              <a:t>כלומר מבחינה מתמטית : </a:t>
            </a:r>
            <a:r>
              <a:rPr lang="en-US" dirty="0"/>
              <a:t>ack2(0)=3</a:t>
            </a:r>
            <a:r>
              <a:rPr lang="he-IL" dirty="0"/>
              <a:t> וכן </a:t>
            </a:r>
            <a:r>
              <a:rPr lang="en-US" dirty="0"/>
              <a:t>ack2(n) = ack2(n-1) + 2</a:t>
            </a: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E866-27BE-4058-8896-F8A593FFCDFD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25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70762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החלק של </a:t>
            </a:r>
            <a:r>
              <a:rPr lang="en-US" dirty="0"/>
              <a:t>start</a:t>
            </a:r>
            <a:r>
              <a:rPr lang="he-IL" dirty="0"/>
              <a:t> בתכנית </a:t>
            </a:r>
            <a:r>
              <a:rPr lang="en-US" dirty="0"/>
              <a:t>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המטרה היא לחשב ולהדפיס את </a:t>
            </a:r>
            <a:r>
              <a:rPr lang="en-US" dirty="0"/>
              <a:t>A(2,4)</a:t>
            </a:r>
          </a:p>
          <a:p>
            <a:r>
              <a:rPr lang="he-IL" dirty="0"/>
              <a:t>על כן </a:t>
            </a:r>
            <a:r>
              <a:rPr lang="en-US" dirty="0" err="1"/>
              <a:t>rdi</a:t>
            </a:r>
            <a:r>
              <a:rPr lang="he-IL" dirty="0"/>
              <a:t> מקבל ערך של </a:t>
            </a:r>
            <a:r>
              <a:rPr lang="en-US" dirty="0"/>
              <a:t>4 </a:t>
            </a:r>
            <a:r>
              <a:rPr lang="he-IL" dirty="0"/>
              <a:t> והתוצאה של </a:t>
            </a:r>
            <a:r>
              <a:rPr lang="en-US" dirty="0"/>
              <a:t>A(2,4)</a:t>
            </a:r>
            <a:r>
              <a:rPr lang="he-IL" dirty="0"/>
              <a:t> תאוחסן ב </a:t>
            </a:r>
            <a:r>
              <a:rPr lang="en-US" dirty="0" err="1"/>
              <a:t>rax</a:t>
            </a:r>
            <a:r>
              <a:rPr lang="he-IL" dirty="0"/>
              <a:t> </a:t>
            </a:r>
          </a:p>
          <a:p>
            <a:r>
              <a:rPr lang="he-IL" dirty="0"/>
              <a:t>התוצאה מועברת אל </a:t>
            </a:r>
            <a:r>
              <a:rPr lang="en-US" dirty="0" err="1"/>
              <a:t>rdi</a:t>
            </a:r>
            <a:r>
              <a:rPr lang="he-IL" dirty="0"/>
              <a:t> ואז קוראים </a:t>
            </a:r>
            <a:r>
              <a:rPr lang="he-IL" dirty="0" err="1"/>
              <a:t>לפונקצית</a:t>
            </a:r>
            <a:r>
              <a:rPr lang="he-IL" dirty="0"/>
              <a:t> הדפסה </a:t>
            </a:r>
          </a:p>
          <a:p>
            <a:r>
              <a:rPr lang="he-IL" dirty="0"/>
              <a:t>בסיום ההדפסה יוצאים עם </a:t>
            </a:r>
            <a:r>
              <a:rPr lang="en-US" dirty="0" err="1"/>
              <a:t>syscall</a:t>
            </a:r>
            <a:r>
              <a:rPr lang="en-US" dirty="0"/>
              <a:t> 60</a:t>
            </a:r>
            <a:r>
              <a:rPr lang="he-IL" dirty="0"/>
              <a:t> 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E866-27BE-4058-8896-F8A593FFCDFD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26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755993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דיאגרמת הקריאות של </a:t>
            </a:r>
            <a:r>
              <a:rPr lang="en-US" dirty="0"/>
              <a:t>A(2,4) </a:t>
            </a:r>
            <a:endParaRPr lang="he-IL" dirty="0"/>
          </a:p>
        </p:txBody>
      </p:sp>
      <p:pic>
        <p:nvPicPr>
          <p:cNvPr id="6" name="מציין מיקום תוכן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2939" y="2520795"/>
            <a:ext cx="7678222" cy="2229161"/>
          </a:xfrm>
          <a:prstGeom prst="rect">
            <a:avLst/>
          </a:prstGeom>
        </p:spPr>
      </p:pic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E866-27BE-4058-8896-F8A593FFCDFD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27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10455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עדכון </a:t>
            </a:r>
            <a:r>
              <a:rPr lang="en-US" dirty="0" err="1"/>
              <a:t>Makefile</a:t>
            </a:r>
            <a:r>
              <a:rPr lang="he-IL" dirty="0"/>
              <a:t>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he-IL" sz="3600" dirty="0"/>
              <a:t>כדי להריץ את שתי התכניות , בוצע עדכון לקובץ כך שההרצה תתבצע כדלקמן :</a:t>
            </a:r>
            <a:r>
              <a:rPr lang="en-US" sz="3600" dirty="0"/>
              <a:t> </a:t>
            </a:r>
            <a:endParaRPr lang="he-IL" sz="3600" dirty="0"/>
          </a:p>
          <a:p>
            <a:r>
              <a:rPr lang="he-IL" sz="3600" dirty="0"/>
              <a:t>הרצת </a:t>
            </a:r>
            <a:r>
              <a:rPr lang="he-IL" sz="3600" dirty="0" err="1"/>
              <a:t>אקרמן</a:t>
            </a:r>
            <a:r>
              <a:rPr lang="he-IL" sz="3600" dirty="0"/>
              <a:t> :</a:t>
            </a:r>
            <a:r>
              <a:rPr lang="en-US" sz="3600" dirty="0"/>
              <a:t> </a:t>
            </a:r>
            <a:endParaRPr lang="he-IL" sz="3600" dirty="0"/>
          </a:p>
          <a:p>
            <a:pPr algn="l" rtl="0"/>
            <a:r>
              <a:rPr lang="en-US" sz="3600" dirty="0"/>
              <a:t>Build : </a:t>
            </a:r>
            <a:r>
              <a:rPr lang="en-US" sz="3600" b="1" dirty="0"/>
              <a:t>make </a:t>
            </a:r>
            <a:r>
              <a:rPr lang="en-US" sz="3600" b="1" dirty="0" err="1"/>
              <a:t>ack</a:t>
            </a:r>
            <a:endParaRPr lang="en-US" sz="3600" b="1" dirty="0"/>
          </a:p>
          <a:p>
            <a:pPr algn="l" rtl="0"/>
            <a:r>
              <a:rPr lang="en-US" sz="3600" dirty="0"/>
              <a:t>Run : </a:t>
            </a:r>
            <a:r>
              <a:rPr lang="en-US" sz="3600" b="1" dirty="0"/>
              <a:t>make </a:t>
            </a:r>
            <a:r>
              <a:rPr lang="en-US" sz="3600" b="1" dirty="0" err="1"/>
              <a:t>run_ack</a:t>
            </a:r>
            <a:endParaRPr lang="en-US" sz="3600" b="1" dirty="0"/>
          </a:p>
          <a:p>
            <a:pPr algn="l" rtl="0"/>
            <a:r>
              <a:rPr lang="en-US" sz="3600" b="1" dirty="0"/>
              <a:t>Debug : make </a:t>
            </a:r>
            <a:r>
              <a:rPr lang="en-US" sz="3600" b="1" dirty="0" err="1"/>
              <a:t>debug_ack</a:t>
            </a:r>
            <a:endParaRPr lang="en-US" sz="3600" b="1" dirty="0"/>
          </a:p>
          <a:p>
            <a:pPr algn="r"/>
            <a:r>
              <a:rPr lang="he-IL" sz="3600" dirty="0"/>
              <a:t>הרצת התכנית לחישוב חזקה :</a:t>
            </a:r>
            <a:r>
              <a:rPr lang="en-US" sz="3600" dirty="0"/>
              <a:t> </a:t>
            </a:r>
            <a:endParaRPr lang="he-IL" sz="3600" dirty="0"/>
          </a:p>
          <a:p>
            <a:pPr algn="l" rtl="0"/>
            <a:r>
              <a:rPr lang="en-US" sz="3600" dirty="0"/>
              <a:t>Build : </a:t>
            </a:r>
            <a:r>
              <a:rPr lang="en-US" sz="3600" b="1" dirty="0"/>
              <a:t>make power</a:t>
            </a:r>
          </a:p>
          <a:p>
            <a:pPr algn="l" rtl="0"/>
            <a:r>
              <a:rPr lang="en-US" sz="3600" dirty="0"/>
              <a:t>Run : </a:t>
            </a:r>
            <a:r>
              <a:rPr lang="en-US" sz="3600" b="1" dirty="0"/>
              <a:t>make </a:t>
            </a:r>
            <a:r>
              <a:rPr lang="en-US" sz="3600" b="1" dirty="0" err="1"/>
              <a:t>run_power</a:t>
            </a:r>
            <a:endParaRPr lang="en-US" sz="3600" b="1" dirty="0"/>
          </a:p>
          <a:p>
            <a:pPr algn="l" rtl="0"/>
            <a:r>
              <a:rPr lang="en-US" sz="3600" dirty="0"/>
              <a:t>Clean everything : </a:t>
            </a:r>
            <a:r>
              <a:rPr lang="en-US" sz="3600" b="1" dirty="0"/>
              <a:t>make clean </a:t>
            </a:r>
          </a:p>
          <a:p>
            <a:pPr algn="l" rtl="0"/>
            <a:endParaRPr lang="he-IL" dirty="0"/>
          </a:p>
          <a:p>
            <a:pPr algn="l" rtl="0"/>
            <a:endParaRPr lang="he-IL" dirty="0"/>
          </a:p>
          <a:p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E866-27BE-4058-8896-F8A593FFCDFD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28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75683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FPU</a:t>
            </a: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19C28-B24D-4837-B7B8-F412FAADA61D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29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599270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err="1"/>
              <a:t>אג</a:t>
            </a:r>
            <a:r>
              <a:rPr lang="en-US" dirty="0"/>
              <a:t>'</a:t>
            </a:r>
            <a:r>
              <a:rPr lang="he-IL" dirty="0"/>
              <a:t>נדה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dirty="0"/>
              <a:t>הקדמה קצרה על </a:t>
            </a:r>
            <a:r>
              <a:rPr lang="en-US" dirty="0"/>
              <a:t>FLOAT</a:t>
            </a:r>
            <a:endParaRPr lang="he-IL" dirty="0"/>
          </a:p>
          <a:p>
            <a:r>
              <a:rPr lang="he-IL" dirty="0"/>
              <a:t>נבין את אופן הפעולה של </a:t>
            </a:r>
            <a:r>
              <a:rPr lang="en-US" dirty="0"/>
              <a:t>FPU</a:t>
            </a:r>
            <a:endParaRPr lang="he-IL" dirty="0"/>
          </a:p>
          <a:p>
            <a:r>
              <a:rPr lang="he-IL" dirty="0"/>
              <a:t>נחשב פונקציה באמצעות </a:t>
            </a:r>
            <a:r>
              <a:rPr lang="en-US" dirty="0"/>
              <a:t>x87</a:t>
            </a:r>
            <a:r>
              <a:rPr lang="he-IL" dirty="0"/>
              <a:t>, ונראה דרך נוספת לבצע חישוב זה</a:t>
            </a:r>
          </a:p>
          <a:p>
            <a:endParaRPr lang="he-IL" dirty="0"/>
          </a:p>
          <a:p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1AC70-2ED4-4EC0-8E4B-B8D664336993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30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26245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86F9E-685A-3CDA-F606-177713FA0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E9F7106-37B2-7925-ADED-1C965D11F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חלוקת הביטים ב</a:t>
            </a:r>
            <a:r>
              <a:rPr lang="en-US" dirty="0"/>
              <a:t>FLOAT</a:t>
            </a:r>
            <a:endParaRPr lang="he-IL" dirty="0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1673BA8-E57C-13A1-56E4-074C6D8B5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1AC70-2ED4-4EC0-8E4B-B8D664336993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0F0C6C34-DDEE-AE3E-CEB6-DE2BFFB06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31</a:t>
            </a:fld>
            <a:endParaRPr lang="he-IL"/>
          </a:p>
        </p:txBody>
      </p:sp>
      <p:pic>
        <p:nvPicPr>
          <p:cNvPr id="12" name="מציין מיקום תוכן 11">
            <a:extLst>
              <a:ext uri="{FF2B5EF4-FFF2-40B4-BE49-F238E27FC236}">
                <a16:creationId xmlns:a16="http://schemas.microsoft.com/office/drawing/2014/main" id="{98F3049D-993D-DB97-BCBE-750381AF85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84286" y="2585455"/>
            <a:ext cx="4898866" cy="3031574"/>
          </a:xfrm>
          <a:prstGeom prst="rect">
            <a:avLst/>
          </a:prstGeom>
        </p:spPr>
      </p:pic>
      <p:pic>
        <p:nvPicPr>
          <p:cNvPr id="14" name="תמונה 13">
            <a:extLst>
              <a:ext uri="{FF2B5EF4-FFF2-40B4-BE49-F238E27FC236}">
                <a16:creationId xmlns:a16="http://schemas.microsoft.com/office/drawing/2014/main" id="{DC49C2AC-F2A5-3062-F83D-109B26975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2" y="2650769"/>
            <a:ext cx="5288884" cy="2966260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7B0A70DA-B9C8-B01C-5590-0C80877F1F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152" y="5447230"/>
            <a:ext cx="4688441" cy="598835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CD66E679-5E92-E5B2-AE05-C3D7C619BB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5402" y="5499996"/>
            <a:ext cx="5394096" cy="546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2321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 point unit of x87 – FPU </a:t>
            </a:r>
            <a:r>
              <a:rPr lang="he-IL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he-IL" dirty="0"/>
                  <a:t>יחידה זו עוסקת במספרים בני 80 ביטים </a:t>
                </a:r>
              </a:p>
              <a:p>
                <a:r>
                  <a:rPr lang="he-IL" dirty="0"/>
                  <a:t>היא מספקת חומרה לצורך חישוב פונקציות אלמנטריות כגון  </a:t>
                </a:r>
                <a14:m>
                  <m:oMath xmlns:m="http://schemas.openxmlformats.org/officeDocument/2006/math">
                    <m:r>
                      <a:rPr lang="he-IL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he-I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he-IL" b="0" i="0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sinx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he-IL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he-IL" dirty="0"/>
                  <a:t> </a:t>
                </a:r>
              </a:p>
              <a:p>
                <a:r>
                  <a:rPr lang="he-IL" dirty="0"/>
                  <a:t>היא משתמשת בטכניקה מיוחדת לטיפול במחסנית</a:t>
                </a:r>
              </a:p>
              <a:p>
                <a:r>
                  <a:rPr lang="he-IL" dirty="0"/>
                  <a:t>משמשת לחישובים </a:t>
                </a:r>
                <a:r>
                  <a:rPr lang="he-IL" dirty="0" err="1"/>
                  <a:t>מדוייקים</a:t>
                </a:r>
                <a:r>
                  <a:rPr lang="he-IL" dirty="0"/>
                  <a:t>  באופן שהיחידה מבצעת חישובים </a:t>
                </a:r>
                <a:r>
                  <a:rPr lang="he-IL" dirty="0" err="1"/>
                  <a:t>מדוייקים</a:t>
                </a:r>
                <a:r>
                  <a:rPr lang="he-IL" dirty="0"/>
                  <a:t> ע"י שימוש ב 80 ביטים. </a:t>
                </a:r>
              </a:p>
            </p:txBody>
          </p:sp>
        </mc:Choice>
        <mc:Fallback xmlns="">
          <p:sp>
            <p:nvSpPr>
              <p:cNvPr id="3" name="מציין מיקום תוכן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98" t="-2569" r="-120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E866-27BE-4058-8896-F8A593FFCDFD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32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52735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שימוש המחסנית ב </a:t>
            </a:r>
            <a:r>
              <a:rPr lang="en-US" dirty="0"/>
              <a:t>FPU</a:t>
            </a:r>
            <a:r>
              <a:rPr lang="he-IL" dirty="0"/>
              <a:t>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295401" y="2566263"/>
            <a:ext cx="9601196" cy="3318936"/>
          </a:xfrm>
        </p:spPr>
        <p:txBody>
          <a:bodyPr/>
          <a:lstStyle/>
          <a:p>
            <a:r>
              <a:rPr lang="he-IL" dirty="0"/>
              <a:t>יחידת ה </a:t>
            </a:r>
            <a:r>
              <a:rPr lang="en-US" dirty="0"/>
              <a:t>FPU</a:t>
            </a:r>
            <a:r>
              <a:rPr lang="he-IL" dirty="0"/>
              <a:t> מטפלת במחסנית מיוחדת באמצעות האוגרים הבאים :</a:t>
            </a:r>
            <a:r>
              <a:rPr lang="en-US" dirty="0"/>
              <a:t> </a:t>
            </a:r>
            <a:endParaRPr lang="he-IL" dirty="0"/>
          </a:p>
          <a:p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E866-27BE-4058-8896-F8A593FFCDFD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33</a:t>
            </a:fld>
            <a:endParaRPr lang="he-IL"/>
          </a:p>
        </p:txBody>
      </p:sp>
      <p:pic>
        <p:nvPicPr>
          <p:cNvPr id="6" name="תמונה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676" y="3141524"/>
            <a:ext cx="4820323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927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שימוש המחסנית ב </a:t>
            </a:r>
            <a:r>
              <a:rPr lang="en-US" dirty="0"/>
              <a:t>FPU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פקודת </a:t>
            </a:r>
            <a:r>
              <a:rPr lang="en-US" dirty="0" err="1"/>
              <a:t>fld</a:t>
            </a:r>
            <a:r>
              <a:rPr lang="he-IL" dirty="0"/>
              <a:t> דוחף ערך למחסנית</a:t>
            </a:r>
          </a:p>
          <a:p>
            <a:r>
              <a:rPr lang="he-IL" dirty="0"/>
              <a:t>פקודת </a:t>
            </a:r>
            <a:r>
              <a:rPr lang="en-US" dirty="0" err="1"/>
              <a:t>fstp</a:t>
            </a:r>
            <a:r>
              <a:rPr lang="he-IL" dirty="0"/>
              <a:t> משחזרת ושולפת ערך מהמחסנית</a:t>
            </a:r>
          </a:p>
          <a:p>
            <a:r>
              <a:rPr lang="he-IL" dirty="0"/>
              <a:t>רוב הפקודות פועלות על </a:t>
            </a:r>
            <a:r>
              <a:rPr lang="en-US" dirty="0" err="1"/>
              <a:t>st</a:t>
            </a:r>
            <a:r>
              <a:rPr lang="en-US" dirty="0"/>
              <a:t>(0)</a:t>
            </a:r>
            <a:r>
              <a:rPr lang="he-IL" dirty="0"/>
              <a:t> ועל אוגר נוסף כך ש </a:t>
            </a:r>
            <a:r>
              <a:rPr lang="en-US" dirty="0" err="1"/>
              <a:t>st</a:t>
            </a:r>
            <a:r>
              <a:rPr lang="en-US" dirty="0"/>
              <a:t>(0)</a:t>
            </a:r>
            <a:r>
              <a:rPr lang="he-IL" dirty="0"/>
              <a:t> נחשב לאופרנד מועדף </a:t>
            </a:r>
          </a:p>
          <a:p>
            <a:r>
              <a:rPr lang="he-IL" b="1" dirty="0"/>
              <a:t>חייבים לנהל את המחסנית בזהירות כדי לא להגיע לגלישת מחסנית </a:t>
            </a:r>
          </a:p>
          <a:p>
            <a:endParaRPr lang="he-IL" b="1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E866-27BE-4058-8896-F8A593FFCDFD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34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15713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מבנה המחסנית במהלך החישוב </a:t>
            </a:r>
          </a:p>
        </p:txBody>
      </p:sp>
      <p:pic>
        <p:nvPicPr>
          <p:cNvPr id="6" name="מציין מיקום תוכן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5041" y="2468562"/>
            <a:ext cx="4462168" cy="3317875"/>
          </a:xfrm>
          <a:prstGeom prst="rect">
            <a:avLst/>
          </a:prstGeom>
        </p:spPr>
      </p:pic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E866-27BE-4058-8896-F8A593FFCDFD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35</a:t>
            </a:fld>
            <a:endParaRPr lang="he-IL"/>
          </a:p>
        </p:txBody>
      </p:sp>
      <p:sp>
        <p:nvSpPr>
          <p:cNvPr id="9" name="מציין מיקום תוכן 2">
            <a:extLst>
              <a:ext uri="{FF2B5EF4-FFF2-40B4-BE49-F238E27FC236}">
                <a16:creationId xmlns:a16="http://schemas.microsoft.com/office/drawing/2014/main" id="{CD88FBBC-B540-E012-3CC4-6E9C1D8E9547}"/>
              </a:ext>
            </a:extLst>
          </p:cNvPr>
          <p:cNvSpPr txBox="1">
            <a:spLocks/>
          </p:cNvSpPr>
          <p:nvPr/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he-IL" dirty="0"/>
              <a:t>האוגרים </a:t>
            </a:r>
            <a:r>
              <a:rPr lang="en-US" dirty="0"/>
              <a:t>st(X)</a:t>
            </a:r>
            <a:r>
              <a:rPr lang="he-IL" dirty="0"/>
              <a:t> הם אוגרים לוגיים </a:t>
            </a:r>
          </a:p>
          <a:p>
            <a:r>
              <a:rPr lang="he-IL" dirty="0"/>
              <a:t>האוגרים הפיזיים משתנים לפי הערך שיש ב</a:t>
            </a:r>
            <a:r>
              <a:rPr lang="en-US" dirty="0"/>
              <a:t>TOP</a:t>
            </a:r>
            <a:r>
              <a:rPr lang="he-IL" dirty="0"/>
              <a:t> </a:t>
            </a:r>
          </a:p>
          <a:p>
            <a:pPr marL="0" indent="0">
              <a:buNone/>
            </a:pPr>
            <a:r>
              <a:rPr lang="he-IL" dirty="0"/>
              <a:t>   בצורה מעגלית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822624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פקודות בסיסיות של </a:t>
            </a:r>
            <a:r>
              <a:rPr lang="en-US" dirty="0"/>
              <a:t>FPU</a:t>
            </a:r>
            <a:r>
              <a:rPr lang="he-IL" dirty="0"/>
              <a:t>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168659" y="2395200"/>
            <a:ext cx="9854681" cy="3853200"/>
          </a:xfrm>
        </p:spPr>
        <p:txBody>
          <a:bodyPr>
            <a:normAutofit fontScale="85000" lnSpcReduction="20000"/>
          </a:bodyPr>
          <a:lstStyle/>
          <a:p>
            <a:pPr algn="l" rtl="0"/>
            <a:r>
              <a:rPr lang="en-US" dirty="0"/>
              <a:t>Initializing</a:t>
            </a:r>
            <a:r>
              <a:rPr lang="en-US" b="1" dirty="0"/>
              <a:t> - </a:t>
            </a:r>
            <a:r>
              <a:rPr lang="en-US" b="1" dirty="0" err="1"/>
              <a:t>finit</a:t>
            </a:r>
            <a:endParaRPr lang="en-US" dirty="0"/>
          </a:p>
          <a:p>
            <a:pPr algn="l" rtl="0"/>
            <a:r>
              <a:rPr lang="en-US" dirty="0"/>
              <a:t>Loading and storing</a:t>
            </a:r>
          </a:p>
          <a:p>
            <a:pPr algn="l" rtl="0"/>
            <a:r>
              <a:rPr lang="en-US" b="1" dirty="0"/>
              <a:t>      </a:t>
            </a:r>
            <a:r>
              <a:rPr lang="en-US" b="1" dirty="0" err="1"/>
              <a:t>fld</a:t>
            </a:r>
            <a:r>
              <a:rPr lang="en-US" b="1" dirty="0"/>
              <a:t> qword [x] → push 64‑bit float</a:t>
            </a:r>
          </a:p>
          <a:p>
            <a:pPr algn="l" rtl="0"/>
            <a:r>
              <a:rPr lang="en-US" b="1" dirty="0"/>
              <a:t>      </a:t>
            </a:r>
            <a:r>
              <a:rPr lang="en-US" b="1" dirty="0" err="1"/>
              <a:t>fstp</a:t>
            </a:r>
            <a:r>
              <a:rPr lang="en-US" b="1" dirty="0"/>
              <a:t> qword [x] → store and pop</a:t>
            </a:r>
          </a:p>
          <a:p>
            <a:pPr algn="l" rtl="0"/>
            <a:r>
              <a:rPr lang="en-US" dirty="0"/>
              <a:t>Basic arithmetic</a:t>
            </a:r>
          </a:p>
          <a:p>
            <a:pPr algn="l" rtl="0"/>
            <a:r>
              <a:rPr lang="en-US" dirty="0"/>
              <a:t>       </a:t>
            </a:r>
            <a:r>
              <a:rPr lang="en-US" b="1" dirty="0" err="1"/>
              <a:t>fadd</a:t>
            </a:r>
            <a:r>
              <a:rPr lang="en-US" b="1" dirty="0"/>
              <a:t>, </a:t>
            </a:r>
            <a:r>
              <a:rPr lang="en-US" b="1" dirty="0" err="1"/>
              <a:t>fsub</a:t>
            </a:r>
            <a:r>
              <a:rPr lang="en-US" b="1" dirty="0"/>
              <a:t>, </a:t>
            </a:r>
            <a:r>
              <a:rPr lang="en-US" b="1" dirty="0" err="1"/>
              <a:t>fmul</a:t>
            </a:r>
            <a:r>
              <a:rPr lang="en-US" b="1" dirty="0"/>
              <a:t>, </a:t>
            </a:r>
            <a:r>
              <a:rPr lang="en-US" b="1" dirty="0" err="1"/>
              <a:t>fdiv</a:t>
            </a:r>
            <a:endParaRPr lang="en-US" b="1" dirty="0"/>
          </a:p>
          <a:p>
            <a:pPr algn="l" rtl="0"/>
            <a:r>
              <a:rPr lang="en-US" b="1" dirty="0"/>
              <a:t>       </a:t>
            </a:r>
            <a:r>
              <a:rPr lang="en-US" b="1" dirty="0" err="1"/>
              <a:t>faddp</a:t>
            </a:r>
            <a:r>
              <a:rPr lang="en-US" b="1" dirty="0"/>
              <a:t>, </a:t>
            </a:r>
            <a:r>
              <a:rPr lang="en-US" b="1" dirty="0" err="1"/>
              <a:t>fmulp</a:t>
            </a:r>
            <a:r>
              <a:rPr lang="en-US" b="1" dirty="0"/>
              <a:t> → arithmetic + pop</a:t>
            </a:r>
          </a:p>
          <a:p>
            <a:pPr algn="l" rtl="0"/>
            <a:r>
              <a:rPr lang="en-US" dirty="0"/>
              <a:t>Rounding and integer conversion</a:t>
            </a:r>
          </a:p>
          <a:p>
            <a:pPr algn="l" rtl="0"/>
            <a:r>
              <a:rPr lang="en-US" dirty="0"/>
              <a:t>      </a:t>
            </a:r>
            <a:r>
              <a:rPr lang="en-US" b="1" dirty="0" err="1"/>
              <a:t>frndint</a:t>
            </a:r>
            <a:r>
              <a:rPr lang="en-US" b="1" dirty="0"/>
              <a:t> → round to nearest integer</a:t>
            </a:r>
          </a:p>
          <a:p>
            <a:pPr algn="l" rtl="0"/>
            <a:r>
              <a:rPr lang="en-US" b="1" dirty="0"/>
              <a:t>      </a:t>
            </a:r>
            <a:r>
              <a:rPr lang="en-US" b="1" dirty="0" err="1"/>
              <a:t>fstp</a:t>
            </a:r>
            <a:r>
              <a:rPr lang="en-US" b="1" dirty="0"/>
              <a:t> -&gt; store full‑precision floating‑point value and pop</a:t>
            </a:r>
            <a:endParaRPr lang="he-IL" b="1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E866-27BE-4058-8896-F8A593FFCDFD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36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29481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פונקציות אלמנטריות של </a:t>
            </a:r>
            <a:r>
              <a:rPr lang="en-US" dirty="0"/>
              <a:t>FPU</a:t>
            </a:r>
            <a:r>
              <a:rPr lang="he-IL" dirty="0"/>
              <a:t>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להלן פונקציות שימושיות שקיימות ב</a:t>
            </a:r>
            <a:r>
              <a:rPr lang="en-US" dirty="0"/>
              <a:t>FPU</a:t>
            </a:r>
            <a:r>
              <a:rPr lang="he-IL" dirty="0"/>
              <a:t>:</a:t>
            </a:r>
            <a:r>
              <a:rPr lang="en-US" dirty="0"/>
              <a:t> </a:t>
            </a:r>
            <a:endParaRPr lang="he-IL" dirty="0"/>
          </a:p>
          <a:p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E866-27BE-4058-8896-F8A593FFCDFD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37</a:t>
            </a:fld>
            <a:endParaRPr lang="he-IL"/>
          </a:p>
        </p:txBody>
      </p:sp>
      <p:pic>
        <p:nvPicPr>
          <p:cNvPr id="6" name="תמונה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580" y="2945140"/>
            <a:ext cx="6840318" cy="30238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65854" y="5061858"/>
            <a:ext cx="3545394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/>
              <a:t> compute st(0) = st(1) × log₂(st(0))</a:t>
            </a:r>
            <a:endParaRPr lang="he-IL" b="1" dirty="0"/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E3FE4DED-DBE7-3ECA-E6CF-963FAE41CCE1}"/>
              </a:ext>
            </a:extLst>
          </p:cNvPr>
          <p:cNvSpPr txBox="1"/>
          <p:nvPr/>
        </p:nvSpPr>
        <p:spPr>
          <a:xfrm>
            <a:off x="1400175" y="5830902"/>
            <a:ext cx="1420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fldln2</a:t>
            </a:r>
            <a:endParaRPr lang="he-IL" dirty="0"/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009173C4-BD2C-591F-3815-A797F7428661}"/>
              </a:ext>
            </a:extLst>
          </p:cNvPr>
          <p:cNvSpPr txBox="1"/>
          <p:nvPr/>
        </p:nvSpPr>
        <p:spPr>
          <a:xfrm>
            <a:off x="4302609" y="5830902"/>
            <a:ext cx="144623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/>
              <a:t> pushes ln(2)</a:t>
            </a:r>
            <a:endParaRPr lang="he-IL" b="1" dirty="0"/>
          </a:p>
        </p:txBody>
      </p:sp>
    </p:spTree>
    <p:extLst>
      <p:ext uri="{BB962C8B-B14F-4D97-AF65-F5344CB8AC3E}">
        <p14:creationId xmlns:p14="http://schemas.microsoft.com/office/powerpoint/2010/main" val="3263284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פונקציות אלמנטריות של </a:t>
            </a:r>
            <a:r>
              <a:rPr lang="en-US" dirty="0"/>
              <a:t>FPU 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he-IL" dirty="0"/>
                  <a:t>נחשב באמצעותם את הביטויים : </a:t>
                </a:r>
              </a:p>
              <a:p>
                <a:pPr algn="l" rtl="0"/>
                <a:r>
                  <a:rPr lang="en-US" dirty="0"/>
                  <a:t>ln(x), log (x) ,  </a:t>
                </a:r>
                <a:r>
                  <a:rPr lang="en-US" dirty="0" err="1"/>
                  <a:t>eˣ</a:t>
                </a:r>
                <a:r>
                  <a:rPr lang="en-US" dirty="0"/>
                  <a:t> ,    10ˣ</a:t>
                </a:r>
              </a:p>
              <a:p>
                <a:pPr algn="r"/>
                <a:r>
                  <a:rPr lang="he-IL" dirty="0"/>
                  <a:t>כל החישובים מבוצעים ישירות ע"י החומרה</a:t>
                </a:r>
              </a:p>
              <a:p>
                <a:r>
                  <a:rPr lang="he-IL" dirty="0"/>
                  <a:t>הארכיטקטורה של </a:t>
                </a:r>
                <a:r>
                  <a:rPr lang="en-US" dirty="0"/>
                  <a:t>x87</a:t>
                </a:r>
                <a:r>
                  <a:rPr lang="he-IL" dirty="0"/>
                  <a:t> עובדת בבסיס 2, ולכן נעבוד באופן אופטימלי ע"י המרה לבסיס 2, דהיינו להשתמש בנוסחאות הבאות  :</a:t>
                </a:r>
                <a:r>
                  <a:rPr lang="en-US" dirty="0"/>
                  <a:t> </a:t>
                </a:r>
                <a:endParaRPr lang="he-IL" dirty="0"/>
              </a:p>
              <a:p>
                <a:pPr algn="l" rtl="0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𝑥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𝑒</m:t>
                        </m:r>
                      </m:sup>
                    </m:sSup>
                  </m:oMath>
                </a14:m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algn="l" rtl="0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𝑙𝑜𝑔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∙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𝑙𝑛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2</m:t>
                    </m:r>
                  </m:oMath>
                </a14:m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  </a:t>
                </a:r>
                <a:r>
                  <a:rPr lang="he-IL" sz="1600" dirty="0"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הוא ביטוי שניתן לדחוף אותו למחסנית כמו שראינו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𝑙𝑛</m:t>
                    </m:r>
                    <m:r>
                      <a:rPr lang="en-US" sz="16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2</m:t>
                    </m:r>
                  </m:oMath>
                </a14:m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algn="l" rtl="0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10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𝑥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10</m:t>
                        </m:r>
                      </m:sup>
                    </m:sSup>
                  </m:oMath>
                </a14:m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algn="l" rtl="0"/>
                <a:endParaRPr lang="he-IL" dirty="0"/>
              </a:p>
            </p:txBody>
          </p:sp>
        </mc:Choice>
        <mc:Fallback xmlns="">
          <p:sp>
            <p:nvSpPr>
              <p:cNvPr id="3" name="מציין מיקום תוכן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62" t="-3486" r="-826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E866-27BE-4058-8896-F8A593FFCDFD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38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58788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כותרת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he-IL" dirty="0"/>
                  <a:t>דוגמא – חישוב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he-IL" dirty="0"/>
                  <a:t> באמצעות פקודות </a:t>
                </a:r>
                <a:r>
                  <a:rPr lang="en-US" dirty="0"/>
                  <a:t>FPU</a:t>
                </a:r>
                <a:r>
                  <a:rPr lang="he-IL" dirty="0"/>
                  <a:t> </a:t>
                </a:r>
              </a:p>
            </p:txBody>
          </p:sp>
        </mc:Choice>
        <mc:Fallback xmlns="">
          <p:sp>
            <p:nvSpPr>
              <p:cNvPr id="2" name="כותרת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779" r="-254" b="-2336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מציין מיקום תוכן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he-IL" dirty="0"/>
                  <a:t>כאמור החישוב יבוצע באמצעות הנוסחה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he-IL" dirty="0"/>
                  <a:t>נחשב את הביטוי על ידי שימוש ברשימת הפקודות  שלהלן מתוך הארכיטקטורה :</a:t>
                </a:r>
                <a:r>
                  <a:rPr lang="en-US" dirty="0"/>
                  <a:t> </a:t>
                </a:r>
                <a:endParaRPr lang="he-IL" dirty="0"/>
              </a:p>
              <a:p>
                <a:pPr algn="l" rtl="0"/>
                <a:r>
                  <a:rPr lang="en-US" dirty="0"/>
                  <a:t>fldl2e → loads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lang="en-US" dirty="0"/>
              </a:p>
              <a:p>
                <a:pPr algn="l" rtl="0"/>
                <a:r>
                  <a:rPr lang="en-US" dirty="0" err="1"/>
                  <a:t>fmulp</a:t>
                </a:r>
                <a:r>
                  <a:rPr lang="en-US" dirty="0"/>
                  <a:t> → multiply</a:t>
                </a:r>
              </a:p>
              <a:p>
                <a:pPr algn="l" rtl="0"/>
                <a:r>
                  <a:rPr lang="en-US" dirty="0" err="1"/>
                  <a:t>frndint</a:t>
                </a:r>
                <a:r>
                  <a:rPr lang="en-US" dirty="0"/>
                  <a:t> → extract integer part</a:t>
                </a:r>
              </a:p>
              <a:p>
                <a:pPr algn="l" rtl="0"/>
                <a:r>
                  <a:rPr lang="en-US" dirty="0"/>
                  <a:t>f2xm1 → 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p>
                    </m:sSup>
                    <m:r>
                      <a:rPr lang="en-US" b="0" i="1" smtClean="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for fractional part</a:t>
                </a:r>
              </a:p>
              <a:p>
                <a:pPr algn="l" rtl="0"/>
                <a:r>
                  <a:rPr lang="en-US" dirty="0" err="1"/>
                  <a:t>fscale</a:t>
                </a:r>
                <a:r>
                  <a:rPr lang="en-US" dirty="0"/>
                  <a:t> → multiply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𝑖𝑛𝑡𝑒𝑔𝑒𝑟</m:t>
                        </m:r>
                      </m:sup>
                    </m:sSup>
                  </m:oMath>
                </a14:m>
                <a:endParaRPr lang="he-IL" dirty="0"/>
              </a:p>
            </p:txBody>
          </p:sp>
        </mc:Choice>
        <mc:Fallback>
          <p:sp>
            <p:nvSpPr>
              <p:cNvPr id="3" name="מציין מיקום תוכן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53" t="-3119" r="-101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E866-27BE-4058-8896-F8A593FFCDFD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39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085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כותרת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he-IL" dirty="0"/>
                  <a:t>חישוב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𝑥</m:t>
                        </m:r>
                      </m:sup>
                    </m:sSup>
                  </m:oMath>
                </a14:m>
                <a:endParaRPr lang="he-IL" dirty="0"/>
              </a:p>
            </p:txBody>
          </p:sp>
        </mc:Choice>
        <mc:Fallback>
          <p:sp>
            <p:nvSpPr>
              <p:cNvPr id="2" name="כותרת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140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E866-27BE-4058-8896-F8A593FFCDFD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40</a:t>
            </a:fld>
            <a:endParaRPr lang="he-IL"/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D654F988-6400-613C-B8C8-986722F19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8" y="2721914"/>
            <a:ext cx="3950121" cy="2251302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68549559-89B7-F1D9-2D33-33956476EB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564" y="2694174"/>
            <a:ext cx="4612269" cy="3181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615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C1EE2-51EE-89B4-1DE9-F7EBC24B8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כותרת 1">
                <a:extLst>
                  <a:ext uri="{FF2B5EF4-FFF2-40B4-BE49-F238E27FC236}">
                    <a16:creationId xmlns:a16="http://schemas.microsoft.com/office/drawing/2014/main" id="{C84D49DD-8ED0-5E6C-BA43-60409BEABB4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he-IL" dirty="0"/>
                  <a:t>חישוב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he-IL" dirty="0"/>
                  <a:t> - מבנה המחסנית במהלך החישוב </a:t>
                </a:r>
              </a:p>
            </p:txBody>
          </p:sp>
        </mc:Choice>
        <mc:Fallback>
          <p:sp>
            <p:nvSpPr>
              <p:cNvPr id="2" name="כותרת 1">
                <a:extLst>
                  <a:ext uri="{FF2B5EF4-FFF2-40B4-BE49-F238E27FC236}">
                    <a16:creationId xmlns:a16="http://schemas.microsoft.com/office/drawing/2014/main" id="{C84D49DD-8ED0-5E6C-BA43-60409BEABB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598C472-CC6F-6ADE-563D-6B965862C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e-IL" dirty="0"/>
              <a:t>להלן קטע קוד אשר ממחיש את השינויים במחסנית: </a:t>
            </a:r>
          </a:p>
          <a:p>
            <a:pPr algn="l" rtl="0"/>
            <a:r>
              <a:rPr lang="en-US" b="1" dirty="0" err="1"/>
              <a:t>fld</a:t>
            </a:r>
            <a:r>
              <a:rPr lang="en-US" b="1" dirty="0"/>
              <a:t> qword [x]     ; pushes x → </a:t>
            </a:r>
            <a:r>
              <a:rPr lang="en-US" b="1" dirty="0" err="1"/>
              <a:t>st</a:t>
            </a:r>
            <a:r>
              <a:rPr lang="en-US" b="1" dirty="0"/>
              <a:t>(0)=x</a:t>
            </a:r>
          </a:p>
          <a:p>
            <a:pPr algn="l" rtl="0"/>
            <a:r>
              <a:rPr lang="en-US" b="1" dirty="0"/>
              <a:t>fldl2e            ; pushes log2(e) → </a:t>
            </a:r>
            <a:r>
              <a:rPr lang="en-US" b="1" dirty="0" err="1"/>
              <a:t>st</a:t>
            </a:r>
            <a:r>
              <a:rPr lang="en-US" b="1" dirty="0"/>
              <a:t>(0)=log2(e), </a:t>
            </a:r>
            <a:r>
              <a:rPr lang="en-US" b="1" dirty="0" err="1"/>
              <a:t>st</a:t>
            </a:r>
            <a:r>
              <a:rPr lang="en-US" b="1" dirty="0"/>
              <a:t>(1)=x</a:t>
            </a:r>
          </a:p>
          <a:p>
            <a:pPr algn="l" rtl="0"/>
            <a:r>
              <a:rPr lang="en-US" b="1" dirty="0" err="1"/>
              <a:t>fmulp</a:t>
            </a:r>
            <a:r>
              <a:rPr lang="en-US" b="1" dirty="0"/>
              <a:t> st1, st0    ; </a:t>
            </a:r>
            <a:r>
              <a:rPr lang="en-US" b="1" dirty="0" err="1"/>
              <a:t>st</a:t>
            </a:r>
            <a:r>
              <a:rPr lang="en-US" b="1" dirty="0"/>
              <a:t>(0)=x*log2(e)</a:t>
            </a:r>
          </a:p>
          <a:p>
            <a:pPr algn="r"/>
            <a:r>
              <a:rPr lang="he-IL" dirty="0"/>
              <a:t>כל פקודת </a:t>
            </a:r>
            <a:r>
              <a:rPr lang="en-US" dirty="0" err="1"/>
              <a:t>fld</a:t>
            </a:r>
            <a:r>
              <a:rPr lang="he-IL" dirty="0"/>
              <a:t> דוחפת למחסנית ערך חדש </a:t>
            </a:r>
          </a:p>
          <a:p>
            <a:pPr algn="r"/>
            <a:r>
              <a:rPr lang="he-IL" dirty="0"/>
              <a:t>כל פקודת </a:t>
            </a:r>
            <a:r>
              <a:rPr lang="en-US" dirty="0" err="1"/>
              <a:t>fstp</a:t>
            </a:r>
            <a:r>
              <a:rPr lang="he-IL" dirty="0"/>
              <a:t> משחזרת נתון ושולפת אותו מתוך המחסנית </a:t>
            </a:r>
          </a:p>
          <a:p>
            <a:pPr algn="r"/>
            <a:r>
              <a:rPr lang="he-IL" dirty="0"/>
              <a:t>פעולות אריתמטיות עובדות עם המחסנית אבל אך ורק עם </a:t>
            </a:r>
            <a:r>
              <a:rPr lang="en-US" dirty="0" err="1"/>
              <a:t>st</a:t>
            </a:r>
            <a:r>
              <a:rPr lang="en-US" dirty="0"/>
              <a:t>(0) </a:t>
            </a:r>
            <a:r>
              <a:rPr lang="he-IL" dirty="0"/>
              <a:t> ועם </a:t>
            </a:r>
            <a:r>
              <a:rPr lang="en-US" dirty="0" err="1"/>
              <a:t>st</a:t>
            </a:r>
            <a:r>
              <a:rPr lang="en-US" dirty="0"/>
              <a:t>(1)</a:t>
            </a:r>
            <a:r>
              <a:rPr lang="he-IL" dirty="0"/>
              <a:t> 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38DE404-CD2A-F732-EE06-2BEDCCB00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E866-27BE-4058-8896-F8A593FFCDFD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332A38B6-D540-AD75-50FA-F4F07B932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41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8378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מבנה המחסנית במהלך החישוב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r>
                  <a:rPr lang="he-IL" dirty="0"/>
                  <a:t>להלן צעדי החישוב בתכנית  עם תיאור מצב המחסנית : </a:t>
                </a:r>
              </a:p>
              <a:p>
                <a:r>
                  <a:rPr lang="he-IL" dirty="0"/>
                  <a:t>1. טעינת הערך של מעריך החזקה </a:t>
                </a:r>
                <a:r>
                  <a:rPr lang="en-US" dirty="0"/>
                  <a:t>x</a:t>
                </a:r>
                <a:r>
                  <a:rPr lang="he-IL" dirty="0"/>
                  <a:t> : </a:t>
                </a:r>
                <a:r>
                  <a:rPr lang="en-US" b="1" dirty="0" err="1"/>
                  <a:t>fld</a:t>
                </a:r>
                <a:r>
                  <a:rPr lang="en-US" b="1" dirty="0"/>
                  <a:t> x</a:t>
                </a:r>
                <a:r>
                  <a:rPr lang="he-IL" b="1" dirty="0"/>
                  <a:t> </a:t>
                </a:r>
                <a:r>
                  <a:rPr lang="he-IL" dirty="0"/>
                  <a:t>ומצב המחסנית : </a:t>
                </a:r>
                <a:r>
                  <a:rPr lang="en-US" dirty="0" err="1"/>
                  <a:t>st</a:t>
                </a:r>
                <a:r>
                  <a:rPr lang="en-US" dirty="0"/>
                  <a:t>(0)=x</a:t>
                </a:r>
                <a:endParaRPr lang="he-IL" dirty="0"/>
              </a:p>
              <a:p>
                <a:r>
                  <a:rPr lang="he-IL" dirty="0"/>
                  <a:t>2. טעינת הערך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𝑙𝑜𝑔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𝑒</m:t>
                    </m:r>
                    <m:r>
                      <a:rPr lang="he-IL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  </m:t>
                    </m:r>
                  </m:oMath>
                </a14:m>
                <a:r>
                  <a:rPr lang="he-IL" dirty="0"/>
                  <a:t>  </a:t>
                </a:r>
                <a:r>
                  <a:rPr lang="en-US" b="1" dirty="0"/>
                  <a:t>fld2e</a:t>
                </a:r>
                <a:r>
                  <a:rPr lang="he-IL" b="1" dirty="0"/>
                  <a:t> </a:t>
                </a:r>
                <a:r>
                  <a:rPr lang="he-IL" dirty="0"/>
                  <a:t>ומצב המחסנית : </a:t>
                </a:r>
                <a:r>
                  <a:rPr lang="en-US" dirty="0" err="1"/>
                  <a:t>st</a:t>
                </a:r>
                <a:r>
                  <a:rPr lang="en-US" dirty="0"/>
                  <a:t>(0)=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𝑙𝑜𝑔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𝑒</m:t>
                    </m:r>
                  </m:oMath>
                </a14:m>
                <a:r>
                  <a:rPr lang="he-IL" dirty="0"/>
                  <a:t> וכן </a:t>
                </a:r>
                <a:r>
                  <a:rPr lang="en-US" dirty="0"/>
                  <a:t>s(1)=x</a:t>
                </a:r>
                <a:r>
                  <a:rPr lang="he-IL" dirty="0"/>
                  <a:t> </a:t>
                </a:r>
              </a:p>
              <a:p>
                <a:r>
                  <a:rPr lang="he-IL" dirty="0"/>
                  <a:t>3. ביצוע כפל : </a:t>
                </a:r>
                <a:r>
                  <a:rPr lang="en-US" b="1" dirty="0" err="1"/>
                  <a:t>fmulp</a:t>
                </a:r>
                <a:r>
                  <a:rPr lang="en-US" b="1" dirty="0"/>
                  <a:t> st1, st0</a:t>
                </a:r>
                <a:r>
                  <a:rPr lang="he-IL" b="1" dirty="0"/>
                  <a:t> </a:t>
                </a:r>
                <a:r>
                  <a:rPr lang="he-IL" dirty="0"/>
                  <a:t> מחסנית : </a:t>
                </a:r>
                <a:r>
                  <a:rPr lang="en-US" dirty="0"/>
                  <a:t>st(0) = x * log2(e) = y</a:t>
                </a:r>
                <a:endParaRPr lang="he-IL" dirty="0"/>
              </a:p>
              <a:p>
                <a:pPr algn="l" rtl="0"/>
                <a:r>
                  <a:rPr lang="en-US" b="1" dirty="0" err="1"/>
                  <a:t>st</a:t>
                </a:r>
                <a:r>
                  <a:rPr lang="en-US" b="1" dirty="0"/>
                  <a:t>(0) = y = x * log2(e)</a:t>
                </a:r>
              </a:p>
              <a:p>
                <a:pPr algn="l" rtl="0"/>
                <a:r>
                  <a:rPr lang="en-US" b="1" dirty="0" err="1"/>
                  <a:t>st</a:t>
                </a:r>
                <a:r>
                  <a:rPr lang="en-US" b="1" dirty="0"/>
                  <a:t>(1) = (previous value removed by </a:t>
                </a:r>
                <a:r>
                  <a:rPr lang="en-US" b="1" dirty="0" err="1"/>
                  <a:t>fmulp</a:t>
                </a:r>
                <a:r>
                  <a:rPr lang="en-US" b="1" dirty="0"/>
                  <a:t>)</a:t>
                </a:r>
                <a:endParaRPr lang="he-IL" b="1" dirty="0"/>
              </a:p>
              <a:p>
                <a:r>
                  <a:rPr lang="he-IL" b="1" dirty="0"/>
                  <a:t>4. </a:t>
                </a:r>
                <a:r>
                  <a:rPr lang="he-IL" dirty="0"/>
                  <a:t>שכפל את ערכו של </a:t>
                </a:r>
                <a:r>
                  <a:rPr lang="en-US" dirty="0"/>
                  <a:t>y</a:t>
                </a:r>
                <a:r>
                  <a:rPr lang="he-IL" dirty="0"/>
                  <a:t> : </a:t>
                </a:r>
                <a:r>
                  <a:rPr lang="en-US" b="1" dirty="0" err="1"/>
                  <a:t>fld</a:t>
                </a:r>
                <a:r>
                  <a:rPr lang="en-US" b="1" dirty="0"/>
                  <a:t> st0</a:t>
                </a:r>
                <a:r>
                  <a:rPr lang="he-IL" b="1" dirty="0"/>
                  <a:t> </a:t>
                </a:r>
                <a:r>
                  <a:rPr lang="he-IL" dirty="0"/>
                  <a:t>ולכן </a:t>
                </a:r>
                <a:r>
                  <a:rPr lang="en-US" dirty="0"/>
                  <a:t>st(0)=y , st(1)=y</a:t>
                </a:r>
                <a:r>
                  <a:rPr lang="he-IL" dirty="0"/>
                  <a:t> </a:t>
                </a:r>
              </a:p>
              <a:p>
                <a:r>
                  <a:rPr lang="he-IL" b="1" dirty="0"/>
                  <a:t>5. </a:t>
                </a:r>
                <a:r>
                  <a:rPr lang="he-IL" dirty="0"/>
                  <a:t>הרחב את החלק השלם של התוצאה : </a:t>
                </a:r>
                <a:r>
                  <a:rPr lang="en-US" b="1" dirty="0" err="1"/>
                  <a:t>frndint</a:t>
                </a:r>
                <a:r>
                  <a:rPr lang="he-IL" b="1" dirty="0"/>
                  <a:t> </a:t>
                </a:r>
                <a:r>
                  <a:rPr lang="he-IL" dirty="0"/>
                  <a:t>מצב המחסנית : </a:t>
                </a:r>
              </a:p>
              <a:p>
                <a:pPr algn="l" rtl="0"/>
                <a:r>
                  <a:rPr lang="en-US" dirty="0"/>
                  <a:t>st(0) = </a:t>
                </a:r>
                <a:r>
                  <a:rPr lang="en-US" dirty="0" err="1"/>
                  <a:t>int</a:t>
                </a:r>
                <a:r>
                  <a:rPr lang="en-US" dirty="0"/>
                  <a:t>(y)</a:t>
                </a:r>
              </a:p>
              <a:p>
                <a:pPr algn="l" rtl="0"/>
                <a:r>
                  <a:rPr lang="en-US" dirty="0"/>
                  <a:t>st(1) = y</a:t>
                </a:r>
                <a:endParaRPr lang="he-IL" dirty="0"/>
              </a:p>
            </p:txBody>
          </p:sp>
        </mc:Choice>
        <mc:Fallback xmlns="">
          <p:sp>
            <p:nvSpPr>
              <p:cNvPr id="3" name="מציין מיקום תוכן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81" t="-2385" r="-38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E866-27BE-4058-8896-F8A593FFCDFD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42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43993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מבנה המחסנית במהלך החישוב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dirty="0"/>
              <a:t>6. חשב את החלק השבור בתוצאה : </a:t>
            </a:r>
            <a:r>
              <a:rPr lang="en-US" b="1" dirty="0" err="1"/>
              <a:t>fsub</a:t>
            </a:r>
            <a:r>
              <a:rPr lang="en-US" b="1" dirty="0"/>
              <a:t> st1, st0</a:t>
            </a:r>
            <a:r>
              <a:rPr lang="he-IL" b="1" dirty="0"/>
              <a:t> </a:t>
            </a:r>
            <a:r>
              <a:rPr lang="he-IL" dirty="0"/>
              <a:t>ומצב המחסנית :</a:t>
            </a:r>
            <a:r>
              <a:rPr lang="en-US" dirty="0"/>
              <a:t> </a:t>
            </a:r>
            <a:endParaRPr lang="he-IL" dirty="0"/>
          </a:p>
          <a:p>
            <a:pPr algn="l" rtl="0"/>
            <a:r>
              <a:rPr lang="en-US" dirty="0"/>
              <a:t>st(0) = </a:t>
            </a:r>
            <a:r>
              <a:rPr lang="en-US" dirty="0" err="1"/>
              <a:t>int</a:t>
            </a:r>
            <a:r>
              <a:rPr lang="en-US" dirty="0"/>
              <a:t>(y)</a:t>
            </a:r>
          </a:p>
          <a:p>
            <a:pPr algn="l" rtl="0"/>
            <a:r>
              <a:rPr lang="en-US" dirty="0"/>
              <a:t>st(1) = </a:t>
            </a:r>
            <a:r>
              <a:rPr lang="en-US" dirty="0" err="1"/>
              <a:t>frac</a:t>
            </a:r>
            <a:r>
              <a:rPr lang="en-US" dirty="0"/>
              <a:t>(y)</a:t>
            </a:r>
          </a:p>
          <a:p>
            <a:pPr algn="l" rtl="0"/>
            <a:endParaRPr lang="en-US" dirty="0"/>
          </a:p>
          <a:p>
            <a:pPr algn="l" rtl="0"/>
            <a:endParaRPr lang="en-US" dirty="0"/>
          </a:p>
          <a:p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E866-27BE-4058-8896-F8A593FFCDFD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43</a:t>
            </a:fld>
            <a:endParaRPr lang="he-IL"/>
          </a:p>
        </p:txBody>
      </p:sp>
      <p:pic>
        <p:nvPicPr>
          <p:cNvPr id="6" name="תמונה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1" y="4264853"/>
            <a:ext cx="4915586" cy="110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565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מבנה המחסנית במהלך החישוב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הארכיטקטורה של </a:t>
            </a:r>
            <a:r>
              <a:rPr lang="en-US" dirty="0"/>
              <a:t>x87</a:t>
            </a:r>
            <a:r>
              <a:rPr lang="he-IL" dirty="0"/>
              <a:t> תמיד מבצעת פעולות אריתמטיות על </a:t>
            </a:r>
            <a:r>
              <a:rPr lang="en-US" dirty="0" err="1"/>
              <a:t>st</a:t>
            </a:r>
            <a:r>
              <a:rPr lang="en-US" dirty="0"/>
              <a:t>(0)</a:t>
            </a:r>
            <a:r>
              <a:rPr lang="he-IL" dirty="0"/>
              <a:t> </a:t>
            </a:r>
          </a:p>
          <a:p>
            <a:r>
              <a:rPr lang="he-IL" dirty="0"/>
              <a:t>פקודות כגון </a:t>
            </a:r>
            <a:r>
              <a:rPr lang="en-US" dirty="0" err="1"/>
              <a:t>fxch</a:t>
            </a:r>
            <a:r>
              <a:rPr lang="en-US" dirty="0"/>
              <a:t> st1</a:t>
            </a:r>
            <a:r>
              <a:rPr lang="he-IL" dirty="0"/>
              <a:t> מבצעת החלפת תכנים בין </a:t>
            </a:r>
            <a:r>
              <a:rPr lang="en-US" dirty="0" err="1"/>
              <a:t>st</a:t>
            </a:r>
            <a:r>
              <a:rPr lang="en-US" dirty="0"/>
              <a:t>(0)</a:t>
            </a:r>
            <a:r>
              <a:rPr lang="he-IL" dirty="0"/>
              <a:t> ל </a:t>
            </a:r>
            <a:r>
              <a:rPr lang="en-US" dirty="0" err="1"/>
              <a:t>st</a:t>
            </a:r>
            <a:r>
              <a:rPr lang="en-US" dirty="0"/>
              <a:t>(1)</a:t>
            </a:r>
            <a:r>
              <a:rPr lang="he-IL" dirty="0"/>
              <a:t> כך שהערך הנכון (למשל אצלנו החלק השבור של הביטוי) ימצא בראש המחסנית לפני שנבצע קריאה לפונקציה הרלוונטית (אצלנו זו פונקציית </a:t>
            </a:r>
            <a:r>
              <a:rPr lang="en-US" dirty="0"/>
              <a:t>f2xm1</a:t>
            </a:r>
            <a:r>
              <a:rPr lang="he-IL" dirty="0"/>
              <a:t>)</a:t>
            </a:r>
          </a:p>
          <a:p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E866-27BE-4058-8896-F8A593FFCDFD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44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27495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מבנה המחסנית לאחר </a:t>
            </a:r>
            <a:r>
              <a:rPr lang="en-US" dirty="0" err="1"/>
              <a:t>fxch</a:t>
            </a:r>
            <a:r>
              <a:rPr lang="he-IL" dirty="0"/>
              <a:t>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/>
              <a:t>Before </a:t>
            </a:r>
            <a:r>
              <a:rPr lang="en-US" dirty="0" err="1"/>
              <a:t>fxch</a:t>
            </a:r>
            <a:r>
              <a:rPr lang="en-US" dirty="0"/>
              <a:t> st1:</a:t>
            </a:r>
          </a:p>
          <a:p>
            <a:pPr algn="l" rtl="0"/>
            <a:r>
              <a:rPr lang="en-US" dirty="0"/>
              <a:t>                          </a:t>
            </a:r>
            <a:r>
              <a:rPr lang="en-US" b="1" dirty="0" err="1"/>
              <a:t>st</a:t>
            </a:r>
            <a:r>
              <a:rPr lang="en-US" b="1" dirty="0"/>
              <a:t>(0) = </a:t>
            </a:r>
            <a:r>
              <a:rPr lang="en-US" b="1" dirty="0" err="1"/>
              <a:t>int</a:t>
            </a:r>
            <a:r>
              <a:rPr lang="en-US" b="1" dirty="0"/>
              <a:t>(y)</a:t>
            </a:r>
          </a:p>
          <a:p>
            <a:pPr algn="l" rtl="0"/>
            <a:r>
              <a:rPr lang="en-US" b="1" dirty="0"/>
              <a:t>                          </a:t>
            </a:r>
            <a:r>
              <a:rPr lang="en-US" b="1" dirty="0" err="1"/>
              <a:t>st</a:t>
            </a:r>
            <a:r>
              <a:rPr lang="en-US" b="1" dirty="0"/>
              <a:t>(1) = </a:t>
            </a:r>
            <a:r>
              <a:rPr lang="en-US" b="1" dirty="0" err="1"/>
              <a:t>frac</a:t>
            </a:r>
            <a:r>
              <a:rPr lang="en-US" b="1" dirty="0"/>
              <a:t>(y)</a:t>
            </a:r>
          </a:p>
          <a:p>
            <a:pPr algn="l" rtl="0"/>
            <a:r>
              <a:rPr lang="en-US" dirty="0"/>
              <a:t>After </a:t>
            </a:r>
            <a:r>
              <a:rPr lang="en-US" dirty="0" err="1"/>
              <a:t>fxch</a:t>
            </a:r>
            <a:r>
              <a:rPr lang="en-US" dirty="0"/>
              <a:t> st1:</a:t>
            </a:r>
          </a:p>
          <a:p>
            <a:pPr algn="l" rtl="0"/>
            <a:r>
              <a:rPr lang="en-US" dirty="0"/>
              <a:t>                          </a:t>
            </a:r>
            <a:r>
              <a:rPr lang="en-US" b="1" dirty="0" err="1"/>
              <a:t>st</a:t>
            </a:r>
            <a:r>
              <a:rPr lang="en-US" b="1" dirty="0"/>
              <a:t>(0) = </a:t>
            </a:r>
            <a:r>
              <a:rPr lang="en-US" b="1" dirty="0" err="1"/>
              <a:t>frac</a:t>
            </a:r>
            <a:r>
              <a:rPr lang="en-US" b="1" dirty="0"/>
              <a:t>(y)</a:t>
            </a:r>
          </a:p>
          <a:p>
            <a:pPr algn="l" rtl="0"/>
            <a:r>
              <a:rPr lang="en-US" b="1" dirty="0"/>
              <a:t>                          </a:t>
            </a:r>
            <a:r>
              <a:rPr lang="en-US" b="1" dirty="0" err="1"/>
              <a:t>st</a:t>
            </a:r>
            <a:r>
              <a:rPr lang="en-US" b="1" dirty="0"/>
              <a:t>(1) = </a:t>
            </a:r>
            <a:r>
              <a:rPr lang="en-US" b="1" dirty="0" err="1"/>
              <a:t>int</a:t>
            </a:r>
            <a:r>
              <a:rPr lang="en-US" b="1" dirty="0"/>
              <a:t>(y)</a:t>
            </a:r>
            <a:endParaRPr lang="he-IL" b="1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E866-27BE-4058-8896-F8A593FFCDFD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45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884776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מבנה המחסנית במהלך החישוב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e-IL" dirty="0"/>
              <a:t>7. . חישוב 2 בחזקת החלק השבור של </a:t>
            </a:r>
            <a:r>
              <a:rPr lang="en-US" dirty="0"/>
              <a:t>y </a:t>
            </a:r>
            <a:r>
              <a:rPr lang="he-IL" dirty="0"/>
              <a:t>כלומר בחזקת </a:t>
            </a:r>
            <a:r>
              <a:rPr lang="en-US" dirty="0" err="1"/>
              <a:t>frac</a:t>
            </a:r>
            <a:r>
              <a:rPr lang="en-US" dirty="0"/>
              <a:t>(y) : </a:t>
            </a:r>
          </a:p>
          <a:p>
            <a:r>
              <a:rPr lang="he-IL" dirty="0"/>
              <a:t>לשם כך מתבצע רצף הפקודות הבא : </a:t>
            </a:r>
          </a:p>
          <a:p>
            <a:pPr algn="l" rtl="0"/>
            <a:r>
              <a:rPr lang="en-US" b="1" dirty="0" err="1"/>
              <a:t>fxch</a:t>
            </a:r>
            <a:endParaRPr lang="en-US" b="1" dirty="0"/>
          </a:p>
          <a:p>
            <a:pPr algn="l" rtl="0"/>
            <a:r>
              <a:rPr lang="en-US" b="1" dirty="0"/>
              <a:t>f2xm1</a:t>
            </a:r>
          </a:p>
          <a:p>
            <a:pPr algn="l" rtl="0"/>
            <a:r>
              <a:rPr lang="en-US" b="1" dirty="0"/>
              <a:t>fld1</a:t>
            </a:r>
          </a:p>
          <a:p>
            <a:pPr algn="l" rtl="0"/>
            <a:r>
              <a:rPr lang="en-US" b="1" dirty="0" err="1"/>
              <a:t>faddp</a:t>
            </a:r>
            <a:endParaRPr lang="en-US" b="1" dirty="0"/>
          </a:p>
          <a:p>
            <a:r>
              <a:rPr lang="he-IL" dirty="0"/>
              <a:t>הפקודה </a:t>
            </a:r>
            <a:r>
              <a:rPr lang="en-US" b="1" dirty="0"/>
              <a:t>f2xm1</a:t>
            </a:r>
            <a:r>
              <a:rPr lang="he-IL" b="1" dirty="0"/>
              <a:t> </a:t>
            </a:r>
            <a:r>
              <a:rPr lang="he-IL" dirty="0"/>
              <a:t>מחשבת את הביטוי                   לכן יש להוסיף 1 תוך שימוש בפקודות </a:t>
            </a:r>
            <a:r>
              <a:rPr lang="en-US" dirty="0"/>
              <a:t>fld1</a:t>
            </a:r>
            <a:r>
              <a:rPr lang="he-IL" dirty="0"/>
              <a:t> וכן   </a:t>
            </a:r>
            <a:r>
              <a:rPr lang="en-US" b="1" dirty="0" err="1"/>
              <a:t>faddp</a:t>
            </a:r>
            <a:endParaRPr lang="en-US" b="1" dirty="0"/>
          </a:p>
          <a:p>
            <a:endParaRPr lang="en-US" b="1" dirty="0"/>
          </a:p>
          <a:p>
            <a:pPr algn="r"/>
            <a:endParaRPr lang="en-US" dirty="0"/>
          </a:p>
          <a:p>
            <a:pPr algn="l" rtl="0"/>
            <a:endParaRPr lang="en-US" b="1" dirty="0"/>
          </a:p>
          <a:p>
            <a:pPr algn="l" rtl="0"/>
            <a:endParaRPr lang="en-US" b="1" dirty="0"/>
          </a:p>
          <a:p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E866-27BE-4058-8896-F8A593FFCDFD}" type="datetime8">
              <a:rPr lang="he-IL" smtClean="0"/>
              <a:t>07 יוני 26</a:t>
            </a:fld>
            <a:endParaRPr lang="he-IL" dirty="0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46</a:t>
            </a:fld>
            <a:endParaRPr lang="he-IL"/>
          </a:p>
        </p:txBody>
      </p:sp>
      <p:pic>
        <p:nvPicPr>
          <p:cNvPr id="6" name="תמונה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498" y="4933950"/>
            <a:ext cx="1178878" cy="504541"/>
          </a:xfrm>
          <a:prstGeom prst="rect">
            <a:avLst/>
          </a:prstGeom>
        </p:spPr>
      </p:pic>
      <p:sp>
        <p:nvSpPr>
          <p:cNvPr id="7" name="מציין מיקום תוכן 2">
            <a:extLst>
              <a:ext uri="{FF2B5EF4-FFF2-40B4-BE49-F238E27FC236}">
                <a16:creationId xmlns:a16="http://schemas.microsoft.com/office/drawing/2014/main" id="{0361D1F1-CA4F-46C5-2BBF-DD74A1424280}"/>
              </a:ext>
            </a:extLst>
          </p:cNvPr>
          <p:cNvSpPr txBox="1">
            <a:spLocks/>
          </p:cNvSpPr>
          <p:nvPr/>
        </p:nvSpPr>
        <p:spPr>
          <a:xfrm>
            <a:off x="2387875" y="5642728"/>
            <a:ext cx="8237374" cy="5040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e-IL" sz="1800" b="1" dirty="0"/>
              <a:t>הערה - </a:t>
            </a:r>
            <a:r>
              <a:rPr lang="en-US" sz="1800" b="1" dirty="0"/>
              <a:t>f2xm1</a:t>
            </a:r>
            <a:r>
              <a:rPr lang="he-IL" sz="1800" b="1" dirty="0"/>
              <a:t> פועל רק על ערכים בין 1 ל-1 ולכן אנחנו עובדים עם </a:t>
            </a:r>
            <a:r>
              <a:rPr lang="en-US" sz="1800" b="1" dirty="0"/>
              <a:t>frac</a:t>
            </a:r>
            <a:endParaRPr lang="he-IL" sz="1800" dirty="0"/>
          </a:p>
        </p:txBody>
      </p:sp>
    </p:spTree>
    <p:extLst>
      <p:ext uri="{BB962C8B-B14F-4D97-AF65-F5344CB8AC3E}">
        <p14:creationId xmlns:p14="http://schemas.microsoft.com/office/powerpoint/2010/main" val="1792338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סטטוס המחסנית</a:t>
            </a:r>
          </a:p>
        </p:txBody>
      </p:sp>
      <p:pic>
        <p:nvPicPr>
          <p:cNvPr id="6" name="מציין מיקום תוכן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2" y="2587518"/>
            <a:ext cx="5792008" cy="2165457"/>
          </a:xfrm>
          <a:prstGeom prst="rect">
            <a:avLst/>
          </a:prstGeom>
        </p:spPr>
      </p:pic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E866-27BE-4058-8896-F8A593FFCDFD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47</a:t>
            </a:fld>
            <a:endParaRPr lang="he-IL"/>
          </a:p>
        </p:txBody>
      </p:sp>
      <p:sp>
        <p:nvSpPr>
          <p:cNvPr id="7" name="TextBox 6"/>
          <p:cNvSpPr txBox="1"/>
          <p:nvPr/>
        </p:nvSpPr>
        <p:spPr>
          <a:xfrm>
            <a:off x="1902789" y="5054494"/>
            <a:ext cx="8212761" cy="95410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2800" b="1" dirty="0"/>
              <a:t>נשים לב כי הפקודה </a:t>
            </a:r>
            <a:r>
              <a:rPr lang="en-US" sz="2800" b="1" dirty="0" err="1"/>
              <a:t>fxch</a:t>
            </a:r>
            <a:r>
              <a:rPr lang="en-US" sz="2800" b="1" dirty="0"/>
              <a:t> st1</a:t>
            </a:r>
            <a:r>
              <a:rPr lang="he-IL" sz="2800" b="1" dirty="0"/>
              <a:t> מבצעת החלפה בין </a:t>
            </a:r>
            <a:r>
              <a:rPr lang="en-US" sz="2800" b="1" dirty="0" err="1"/>
              <a:t>st</a:t>
            </a:r>
            <a:r>
              <a:rPr lang="en-US" sz="2800" b="1" dirty="0"/>
              <a:t>(0)</a:t>
            </a:r>
            <a:r>
              <a:rPr lang="he-IL" sz="2800" b="1" dirty="0"/>
              <a:t> ל </a:t>
            </a:r>
            <a:r>
              <a:rPr lang="en-US" sz="2800" b="1" dirty="0" err="1"/>
              <a:t>st</a:t>
            </a:r>
            <a:r>
              <a:rPr lang="en-US" sz="2800" b="1" dirty="0"/>
              <a:t>(1)</a:t>
            </a:r>
            <a:r>
              <a:rPr lang="he-IL" sz="2800" b="1" dirty="0"/>
              <a:t> </a:t>
            </a:r>
            <a:endParaRPr lang="en-US" sz="2800" b="1" dirty="0"/>
          </a:p>
          <a:p>
            <a:r>
              <a:rPr lang="he-IL" sz="2800" b="1" dirty="0"/>
              <a:t>טרם ההחלפה </a:t>
            </a:r>
            <a:r>
              <a:rPr lang="en-US" sz="2800" b="1" dirty="0" err="1"/>
              <a:t>st</a:t>
            </a:r>
            <a:r>
              <a:rPr lang="en-US" sz="2800" b="1" dirty="0"/>
              <a:t>(0)=</a:t>
            </a:r>
            <a:r>
              <a:rPr lang="en-US" sz="2800" b="1" dirty="0" err="1"/>
              <a:t>int</a:t>
            </a:r>
            <a:r>
              <a:rPr lang="en-US" sz="2800" b="1" dirty="0"/>
              <a:t>(y)</a:t>
            </a:r>
            <a:r>
              <a:rPr lang="he-IL" sz="2800" b="1" dirty="0"/>
              <a:t> וכן </a:t>
            </a:r>
            <a:r>
              <a:rPr lang="en-US" sz="2800" b="1" dirty="0" err="1"/>
              <a:t>st</a:t>
            </a:r>
            <a:r>
              <a:rPr lang="en-US" sz="2800" b="1" dirty="0"/>
              <a:t>(1)=</a:t>
            </a:r>
            <a:r>
              <a:rPr lang="en-US" sz="2800" b="1" dirty="0" err="1"/>
              <a:t>frac</a:t>
            </a:r>
            <a:r>
              <a:rPr lang="en-US" sz="2800" b="1" dirty="0"/>
              <a:t>(y)</a:t>
            </a:r>
            <a:r>
              <a:rPr lang="he-IL" sz="28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80337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פעולת </a:t>
            </a:r>
            <a:r>
              <a:rPr lang="en-US" dirty="0" err="1"/>
              <a:t>fscale</a:t>
            </a:r>
            <a:r>
              <a:rPr lang="he-IL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he-IL" dirty="0"/>
                  <a:t>8. פעולת </a:t>
                </a:r>
                <a:r>
                  <a:rPr lang="en-US" dirty="0"/>
                  <a:t>scaling</a:t>
                </a:r>
                <a:r>
                  <a:rPr lang="he-IL" dirty="0"/>
                  <a:t> ע"י העלאת 2 בחזקת החלק השלם של </a:t>
                </a:r>
                <a:r>
                  <a:rPr lang="en-US" dirty="0"/>
                  <a:t>y</a:t>
                </a:r>
                <a:r>
                  <a:rPr lang="he-IL" dirty="0"/>
                  <a:t> שחושב קודם לכן. לשם כך משתמשים בפקודה </a:t>
                </a:r>
                <a:r>
                  <a:rPr lang="en-US" b="1" dirty="0" err="1"/>
                  <a:t>fscale</a:t>
                </a:r>
                <a:r>
                  <a:rPr lang="he-IL" dirty="0"/>
                  <a:t>  שנסביר </a:t>
                </a:r>
                <a:r>
                  <a:rPr lang="he-IL" dirty="0" err="1"/>
                  <a:t>מייד</a:t>
                </a:r>
                <a:r>
                  <a:rPr lang="he-IL" dirty="0"/>
                  <a:t> את תפקודה :</a:t>
                </a:r>
                <a:r>
                  <a:rPr lang="en-US" dirty="0"/>
                  <a:t> </a:t>
                </a:r>
                <a:endParaRPr lang="he-IL" dirty="0"/>
              </a:p>
              <a:p>
                <a:r>
                  <a:rPr lang="he-IL" dirty="0"/>
                  <a:t>היא מבצעת את הפעולה                                , כאשר </a:t>
                </a:r>
                <a:r>
                  <a:rPr lang="en-US" dirty="0"/>
                  <a:t>st(1)</a:t>
                </a:r>
                <a:r>
                  <a:rPr lang="he-IL" dirty="0"/>
                  <a:t> מומר למספר שלם</a:t>
                </a:r>
              </a:p>
              <a:p>
                <a:r>
                  <a:rPr lang="he-IL" dirty="0"/>
                  <a:t>הפקודה </a:t>
                </a:r>
                <a:r>
                  <a:rPr lang="en-US" b="1" dirty="0"/>
                  <a:t>f2xm1</a:t>
                </a:r>
                <a:r>
                  <a:rPr lang="he-IL" b="1" dirty="0"/>
                  <a:t> </a:t>
                </a:r>
                <a:r>
                  <a:rPr lang="he-IL" dirty="0"/>
                  <a:t>מסוגלת לחשב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2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p>
                    </m:sSup>
                    <m:r>
                      <a:rPr lang="en-US" sz="2200" i="1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200" i="1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200" i="1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he-IL" b="1" dirty="0"/>
                  <a:t> </a:t>
                </a:r>
                <a:r>
                  <a:rPr lang="he-IL" dirty="0"/>
                  <a:t>כאשר </a:t>
                </a:r>
              </a:p>
              <a:p>
                <a:r>
                  <a:rPr lang="he-IL" dirty="0"/>
                  <a:t>לכן היא עובדת רק  על החלק השבור של החזקה </a:t>
                </a:r>
              </a:p>
              <a:p>
                <a:r>
                  <a:rPr lang="he-IL" dirty="0"/>
                  <a:t>מסיבה זו נבצע פיצול של                        לשני חלקים :</a:t>
                </a:r>
                <a:r>
                  <a:rPr lang="en-US" dirty="0"/>
                  <a:t> </a:t>
                </a:r>
                <a:endParaRPr lang="he-IL" dirty="0"/>
              </a:p>
              <a:p>
                <a:r>
                  <a:rPr lang="he-IL" dirty="0"/>
                  <a:t>החלק השלם                   והחלק השבור :</a:t>
                </a:r>
                <a:r>
                  <a:rPr lang="en-US" dirty="0"/>
                  <a:t> </a:t>
                </a:r>
                <a:r>
                  <a:rPr lang="he-IL" dirty="0"/>
                  <a:t>   </a:t>
                </a:r>
              </a:p>
              <a:p>
                <a:endParaRPr lang="he-IL" dirty="0"/>
              </a:p>
            </p:txBody>
          </p:sp>
        </mc:Choice>
        <mc:Fallback xmlns="">
          <p:sp>
            <p:nvSpPr>
              <p:cNvPr id="3" name="מציין מיקום תוכן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3853" r="-120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E866-27BE-4058-8896-F8A593FFCDFD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48</a:t>
            </a:fld>
            <a:endParaRPr lang="he-IL"/>
          </a:p>
        </p:txBody>
      </p:sp>
      <p:pic>
        <p:nvPicPr>
          <p:cNvPr id="6" name="תמונה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7660" y="3194297"/>
            <a:ext cx="2543530" cy="666843"/>
          </a:xfrm>
          <a:prstGeom prst="rect">
            <a:avLst/>
          </a:prstGeom>
        </p:spPr>
      </p:pic>
      <p:pic>
        <p:nvPicPr>
          <p:cNvPr id="7" name="תמונה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5395" y="3747904"/>
            <a:ext cx="1362265" cy="476316"/>
          </a:xfrm>
          <a:prstGeom prst="rect">
            <a:avLst/>
          </a:prstGeom>
        </p:spPr>
      </p:pic>
      <p:pic>
        <p:nvPicPr>
          <p:cNvPr id="8" name="תמונה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4949" y="4720167"/>
            <a:ext cx="1629002" cy="581106"/>
          </a:xfrm>
          <a:prstGeom prst="rect">
            <a:avLst/>
          </a:prstGeom>
        </p:spPr>
      </p:pic>
      <p:pic>
        <p:nvPicPr>
          <p:cNvPr id="11" name="תמונה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1190" y="5098361"/>
            <a:ext cx="1047896" cy="543001"/>
          </a:xfrm>
          <a:prstGeom prst="rect">
            <a:avLst/>
          </a:prstGeom>
        </p:spPr>
      </p:pic>
      <p:pic>
        <p:nvPicPr>
          <p:cNvPr id="12" name="תמונה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1090" y="5239130"/>
            <a:ext cx="1209844" cy="57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045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פעולת </a:t>
            </a:r>
            <a:r>
              <a:rPr lang="en-US" dirty="0" err="1"/>
              <a:t>fscale</a:t>
            </a:r>
            <a:r>
              <a:rPr lang="he-IL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he-IL" dirty="0"/>
                  <a:t>על כן החישוב מחולק לשני חלקים כאשר כל חלק מבוצע  ע"י פקודה נפרדת :</a:t>
                </a:r>
              </a:p>
              <a:p>
                <a:endParaRPr lang="he-IL" dirty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𝑓</m:t>
                        </m:r>
                      </m:sup>
                    </m:sSup>
                  </m:oMath>
                </a14:m>
                <a:r>
                  <a:rPr lang="he-IL" dirty="0"/>
                  <a:t> באמצעות </a:t>
                </a:r>
                <a:r>
                  <a:rPr lang="en-US" b="1" dirty="0"/>
                  <a:t>f2xl</a:t>
                </a:r>
                <a:endParaRPr lang="he-IL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he-IL" dirty="0"/>
                  <a:t> באמצעות </a:t>
                </a:r>
                <a:r>
                  <a:rPr lang="en-US" b="1" dirty="0" err="1"/>
                  <a:t>fscale</a:t>
                </a:r>
                <a:r>
                  <a:rPr lang="he-IL" b="1" dirty="0"/>
                  <a:t> </a:t>
                </a:r>
              </a:p>
              <a:p>
                <a:r>
                  <a:rPr lang="he-IL" dirty="0"/>
                  <a:t>אז מה בעצם </a:t>
                </a:r>
                <a:r>
                  <a:rPr lang="en-US" dirty="0" err="1"/>
                  <a:t>fscale</a:t>
                </a:r>
                <a:r>
                  <a:rPr lang="en-US" dirty="0"/>
                  <a:t> </a:t>
                </a:r>
                <a:r>
                  <a:rPr lang="he-IL" dirty="0"/>
                  <a:t> מבצעת  ? </a:t>
                </a:r>
              </a:p>
              <a:p>
                <a:r>
                  <a:rPr lang="he-IL" dirty="0"/>
                  <a:t>תשובה : נניח כי המחסנית נראית כך : </a:t>
                </a:r>
                <a:r>
                  <a:rPr lang="en-US" dirty="0"/>
                  <a:t>st(0) = 2^f    st(1) = </a:t>
                </a:r>
                <a:r>
                  <a:rPr lang="en-US" dirty="0" err="1"/>
                  <a:t>i</a:t>
                </a:r>
                <a:endParaRPr lang="he-IL" dirty="0"/>
              </a:p>
              <a:p>
                <a:r>
                  <a:rPr lang="he-IL" dirty="0"/>
                  <a:t>אז לאחר ביצוע </a:t>
                </a:r>
                <a:r>
                  <a:rPr lang="en-US" dirty="0" err="1"/>
                  <a:t>fscale</a:t>
                </a:r>
                <a:r>
                  <a:rPr lang="he-IL" dirty="0"/>
                  <a:t> נקבל כי     </a:t>
                </a:r>
                <a:r>
                  <a:rPr lang="en-US" dirty="0"/>
                  <a:t>st(0) = st(0) * 2^(st(1))</a:t>
                </a:r>
                <a:r>
                  <a:rPr lang="he-IL" dirty="0"/>
                  <a:t>   ולכן התוצאה הסופית תיראה כך :</a:t>
                </a:r>
              </a:p>
              <a:p>
                <a:endParaRPr lang="he-IL" dirty="0"/>
              </a:p>
              <a:p>
                <a:endParaRPr lang="he-IL" dirty="0"/>
              </a:p>
              <a:p>
                <a:endParaRPr lang="he-IL" dirty="0"/>
              </a:p>
              <a:p>
                <a:endParaRPr lang="he-IL" dirty="0"/>
              </a:p>
              <a:p>
                <a:endParaRPr lang="he-IL" dirty="0"/>
              </a:p>
            </p:txBody>
          </p:sp>
        </mc:Choice>
        <mc:Fallback xmlns="">
          <p:sp>
            <p:nvSpPr>
              <p:cNvPr id="3" name="מציין מיקום תוכן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936" r="-101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E866-27BE-4058-8896-F8A593FFCDFD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49</a:t>
            </a:fld>
            <a:endParaRPr lang="he-IL"/>
          </a:p>
        </p:txBody>
      </p:sp>
      <p:pic>
        <p:nvPicPr>
          <p:cNvPr id="6" name="תמונה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8023" y="2870024"/>
            <a:ext cx="2695951" cy="838317"/>
          </a:xfrm>
          <a:prstGeom prst="rect">
            <a:avLst/>
          </a:prstGeom>
        </p:spPr>
      </p:pic>
      <p:pic>
        <p:nvPicPr>
          <p:cNvPr id="9" name="תמונה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1446" y="5722883"/>
            <a:ext cx="5239481" cy="77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318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המחשה באמצעות תיאור המחסנית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e-IL" b="1" dirty="0"/>
              <a:t>פקודת </a:t>
            </a:r>
            <a:r>
              <a:rPr lang="en-US" b="1" dirty="0" err="1"/>
              <a:t>fscale</a:t>
            </a:r>
            <a:r>
              <a:rPr lang="he-IL" b="1" dirty="0"/>
              <a:t> לא מבצעת שליפה מהמחסנית : היא אך ורק משנה את תוכנו של </a:t>
            </a:r>
            <a:r>
              <a:rPr lang="en-US" b="1" dirty="0" err="1"/>
              <a:t>st</a:t>
            </a:r>
            <a:r>
              <a:rPr lang="en-US" b="1" dirty="0"/>
              <a:t>(0)</a:t>
            </a:r>
            <a:r>
              <a:rPr lang="he-IL" b="1" dirty="0"/>
              <a:t> באמצעות החזקה שנמצאת ב </a:t>
            </a:r>
            <a:r>
              <a:rPr lang="en-US" b="1" dirty="0" err="1"/>
              <a:t>st</a:t>
            </a:r>
            <a:r>
              <a:rPr lang="en-US" b="1" dirty="0"/>
              <a:t>(1)</a:t>
            </a:r>
            <a:r>
              <a:rPr lang="he-IL" b="1" dirty="0"/>
              <a:t> </a:t>
            </a:r>
          </a:p>
          <a:p>
            <a:r>
              <a:rPr lang="he-IL" dirty="0"/>
              <a:t>לפני ביצוע </a:t>
            </a:r>
            <a:r>
              <a:rPr lang="en-US" dirty="0" err="1"/>
              <a:t>fscale</a:t>
            </a:r>
            <a:r>
              <a:rPr lang="he-IL" dirty="0"/>
              <a:t> המחסנית נראית כך : </a:t>
            </a:r>
          </a:p>
          <a:p>
            <a:pPr algn="l" rtl="0"/>
            <a:r>
              <a:rPr lang="en-US" b="1" dirty="0" err="1"/>
              <a:t>st</a:t>
            </a:r>
            <a:r>
              <a:rPr lang="en-US" b="1" dirty="0"/>
              <a:t>(0) = 2^f</a:t>
            </a:r>
          </a:p>
          <a:p>
            <a:pPr algn="l" rtl="0"/>
            <a:r>
              <a:rPr lang="en-US" b="1" dirty="0" err="1"/>
              <a:t>st</a:t>
            </a:r>
            <a:r>
              <a:rPr lang="en-US" b="1" dirty="0"/>
              <a:t>(1) = I</a:t>
            </a:r>
          </a:p>
          <a:p>
            <a:r>
              <a:rPr lang="he-IL" dirty="0"/>
              <a:t>ולאחריה : </a:t>
            </a:r>
            <a:r>
              <a:rPr lang="en-US" b="1" dirty="0" err="1"/>
              <a:t>st</a:t>
            </a:r>
            <a:r>
              <a:rPr lang="en-US" b="1" dirty="0"/>
              <a:t>(0) = 2^(</a:t>
            </a:r>
            <a:r>
              <a:rPr lang="en-US" b="1" dirty="0" err="1"/>
              <a:t>i+f</a:t>
            </a:r>
            <a:r>
              <a:rPr lang="en-US" b="1" dirty="0"/>
              <a:t>) = </a:t>
            </a:r>
            <a:r>
              <a:rPr lang="en-US" b="1" dirty="0" err="1"/>
              <a:t>e^x</a:t>
            </a:r>
            <a:endParaRPr lang="he-IL" b="1" dirty="0"/>
          </a:p>
          <a:p>
            <a:r>
              <a:rPr lang="he-IL" dirty="0"/>
              <a:t>קטע הקוד להלן ממחיש זאת </a:t>
            </a:r>
            <a:r>
              <a:rPr lang="he-IL" b="1" dirty="0"/>
              <a:t>: </a:t>
            </a:r>
          </a:p>
          <a:p>
            <a:pPr algn="l" rtl="0"/>
            <a:r>
              <a:rPr lang="en-US" b="1" dirty="0" err="1"/>
              <a:t>fscale</a:t>
            </a:r>
            <a:r>
              <a:rPr lang="en-US" b="1" dirty="0"/>
              <a:t>      ; </a:t>
            </a:r>
            <a:r>
              <a:rPr lang="en-US" b="1" dirty="0" err="1"/>
              <a:t>st</a:t>
            </a:r>
            <a:r>
              <a:rPr lang="en-US" b="1" dirty="0"/>
              <a:t>(0) = 2^frac(y) * 2^int(y)</a:t>
            </a:r>
            <a:endParaRPr lang="he-IL" b="1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E866-27BE-4058-8896-F8A593FFCDFD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50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10332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הצעד האחרון – וסיכום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dirty="0"/>
              <a:t>נשמור את התוצאה של </a:t>
            </a:r>
            <a:r>
              <a:rPr lang="en-US" dirty="0" err="1"/>
              <a:t>e^x</a:t>
            </a:r>
            <a:r>
              <a:rPr lang="he-IL" dirty="0"/>
              <a:t> בעזרת הפקודה </a:t>
            </a:r>
            <a:r>
              <a:rPr lang="en-US" dirty="0" err="1"/>
              <a:t>fstp</a:t>
            </a:r>
            <a:r>
              <a:rPr lang="he-IL" dirty="0"/>
              <a:t> אשר משמרת את הערך של </a:t>
            </a:r>
            <a:r>
              <a:rPr lang="en-US" dirty="0" err="1"/>
              <a:t>e^x</a:t>
            </a:r>
            <a:r>
              <a:rPr lang="he-IL" dirty="0"/>
              <a:t> בתקן </a:t>
            </a:r>
            <a:r>
              <a:rPr lang="en-US" dirty="0"/>
              <a:t>IEEE 754 </a:t>
            </a:r>
            <a:r>
              <a:rPr lang="he-IL" dirty="0"/>
              <a:t> כדי לחשב ערך מדויק של </a:t>
            </a:r>
            <a:r>
              <a:rPr lang="en-US" dirty="0" err="1"/>
              <a:t>e^x</a:t>
            </a:r>
            <a:r>
              <a:rPr lang="en-US" dirty="0"/>
              <a:t> </a:t>
            </a:r>
            <a:r>
              <a:rPr lang="he-IL" dirty="0"/>
              <a:t> עבור </a:t>
            </a:r>
            <a:r>
              <a:rPr lang="en-US" dirty="0"/>
              <a:t> -x=1 </a:t>
            </a:r>
            <a:r>
              <a:rPr lang="he-IL" dirty="0"/>
              <a:t> - כולל החלק השבור :</a:t>
            </a:r>
          </a:p>
          <a:p>
            <a:pPr algn="l" rtl="0"/>
            <a:r>
              <a:rPr lang="en-US" b="1" dirty="0" err="1"/>
              <a:t>fstp</a:t>
            </a:r>
            <a:r>
              <a:rPr lang="en-US" b="1" dirty="0"/>
              <a:t> qword [result]   ; store full-precision floating-point value</a:t>
            </a:r>
          </a:p>
          <a:p>
            <a:pPr algn="r"/>
            <a:r>
              <a:rPr lang="he-IL" dirty="0"/>
              <a:t>נעשה שימוש בשתי שיטות שאותן נפרט בשקפים הבאים :</a:t>
            </a:r>
            <a:r>
              <a:rPr lang="en-US" dirty="0"/>
              <a:t> </a:t>
            </a: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E866-27BE-4058-8896-F8A593FFCDFD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51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7124251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כותרת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he-IL" dirty="0"/>
                  <a:t>חישוב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𝑥</m:t>
                        </m:r>
                      </m:sup>
                    </m:sSup>
                  </m:oMath>
                </a14:m>
                <a:endParaRPr lang="he-IL" dirty="0"/>
              </a:p>
            </p:txBody>
          </p:sp>
        </mc:Choice>
        <mc:Fallback>
          <p:sp>
            <p:nvSpPr>
              <p:cNvPr id="2" name="כותרת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140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he-IL" dirty="0"/>
                  <a:t>נעשה כאן שימוש בנוסחה 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</m:oMath>
                </a14:m>
                <a:r>
                  <a:rPr lang="he-IL" dirty="0"/>
                  <a:t>:</a:t>
                </a:r>
              </a:p>
              <a:p>
                <a:endParaRPr lang="en-US" dirty="0"/>
              </a:p>
              <a:p>
                <a:endParaRPr lang="he-IL" dirty="0"/>
              </a:p>
            </p:txBody>
          </p:sp>
        </mc:Choice>
        <mc:Fallback xmlns="">
          <p:sp>
            <p:nvSpPr>
              <p:cNvPr id="3" name="מציין מיקום תוכן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t="-2569" r="-120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E866-27BE-4058-8896-F8A593FFCDFD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52</a:t>
            </a:fld>
            <a:endParaRPr lang="he-IL"/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23522018-F3B1-405A-DB82-FD5729FAC3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9141" y="2666299"/>
            <a:ext cx="4730718" cy="3480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443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שימוש ב</a:t>
            </a:r>
            <a:r>
              <a:rPr lang="en-US" dirty="0"/>
              <a:t> fyl2x</a:t>
            </a:r>
            <a:r>
              <a:rPr lang="he-IL" dirty="0"/>
              <a:t>לחישוב </a:t>
            </a:r>
            <a:r>
              <a:rPr lang="en-US" dirty="0"/>
              <a:t>ln(x)</a:t>
            </a: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E866-27BE-4058-8896-F8A593FFCDFD}" type="datetime8">
              <a:rPr lang="he-IL" smtClean="0"/>
              <a:t>07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53</a:t>
            </a:fld>
            <a:endParaRPr lang="he-IL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D59DA094-2E66-1634-B129-86BB48BA5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478" y="2747867"/>
            <a:ext cx="8668960" cy="136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5530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אורגני">
  <a:themeElements>
    <a:clrScheme name="אורגני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אורגני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אורגני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1716</TotalTime>
  <Words>2509</Words>
  <Application>Microsoft Office PowerPoint</Application>
  <PresentationFormat>מסך רחב</PresentationFormat>
  <Paragraphs>389</Paragraphs>
  <Slides>53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53</vt:i4>
      </vt:variant>
    </vt:vector>
  </HeadingPairs>
  <TitlesOfParts>
    <vt:vector size="58" baseType="lpstr">
      <vt:lpstr>Arial</vt:lpstr>
      <vt:lpstr>Calibri</vt:lpstr>
      <vt:lpstr>Cambria Math</vt:lpstr>
      <vt:lpstr>Garamond</vt:lpstr>
      <vt:lpstr>אורגני</vt:lpstr>
      <vt:lpstr>תרגול 8 </vt:lpstr>
      <vt:lpstr>אג'נדה </vt:lpstr>
      <vt:lpstr>חזרה וחיזוק בטיפול בפונקציה</vt:lpstr>
      <vt:lpstr>הפעלת מבניות ומסגור של המחסנית </vt:lpstr>
      <vt:lpstr>הפעלת מבניות ומסגור של המחסנית </vt:lpstr>
      <vt:lpstr>תכנית ראשונה – חישוב חזקה באמצעות רקורסיה </vt:lpstr>
      <vt:lpstr>תכנית ראשונה – חישוב חזקה באמצעות רקורסיה </vt:lpstr>
      <vt:lpstr>חלק ראשון – בדיקת מקרה הבסיס </vt:lpstr>
      <vt:lpstr>חלק שני – הכנה לקריאה הרקורסיבית </vt:lpstr>
      <vt:lpstr>חלק שני – הכנה לקריאה הרקורסיבית </vt:lpstr>
      <vt:lpstr>חלק שלישי – איסוף התוצאות </vt:lpstr>
      <vt:lpstr>הדפסת התוצאות </vt:lpstr>
      <vt:lpstr>הדפסת התוצאות </vt:lpstr>
      <vt:lpstr>הדפסת התוצאות </vt:lpstr>
      <vt:lpstr>הדפסת התוצאות </vt:lpstr>
      <vt:lpstr>שימוש ב syscall  להדפסת התוצאות </vt:lpstr>
      <vt:lpstr>הרצאה באמצעות Makefile </vt:lpstr>
      <vt:lpstr>פונקצית אקרמן </vt:lpstr>
      <vt:lpstr>פונקצית אקרמן </vt:lpstr>
      <vt:lpstr>גרסת A(2,n) </vt:lpstr>
      <vt:lpstr>גרסת A(2,n) </vt:lpstr>
      <vt:lpstr>הדפסת תוצאה בסגנון שפת C </vt:lpstr>
      <vt:lpstr>הדפסת תוצאה בסגנון שפת C </vt:lpstr>
      <vt:lpstr>הפונקציה הרקורסיבית </vt:lpstr>
      <vt:lpstr>הורדת הסדר הרקורסיבי </vt:lpstr>
      <vt:lpstr>החלק של start בתכנית  </vt:lpstr>
      <vt:lpstr>דיאגרמת הקריאות של A(2,4) </vt:lpstr>
      <vt:lpstr>עדכון Makefile </vt:lpstr>
      <vt:lpstr>FPU</vt:lpstr>
      <vt:lpstr>אג'נדה </vt:lpstr>
      <vt:lpstr>חלוקת הביטים בFLOAT</vt:lpstr>
      <vt:lpstr>Floating point unit of x87 – FPU  </vt:lpstr>
      <vt:lpstr>שימוש המחסנית ב FPU </vt:lpstr>
      <vt:lpstr>שימוש המחסנית ב FPU </vt:lpstr>
      <vt:lpstr>מבנה המחסנית במהלך החישוב </vt:lpstr>
      <vt:lpstr>פקודות בסיסיות של FPU </vt:lpstr>
      <vt:lpstr>פונקציות אלמנטריות של FPU </vt:lpstr>
      <vt:lpstr>פונקציות אלמנטריות של FPU </vt:lpstr>
      <vt:lpstr>דוגמא – חישוב e^x באמצעות פקודות FPU </vt:lpstr>
      <vt:lpstr>חישוב e^x</vt:lpstr>
      <vt:lpstr>חישוב e^x - מבנה המחסנית במהלך החישוב </vt:lpstr>
      <vt:lpstr>מבנה המחסנית במהלך החישוב </vt:lpstr>
      <vt:lpstr>מבנה המחסנית במהלך החישוב </vt:lpstr>
      <vt:lpstr>מבנה המחסנית במהלך החישוב </vt:lpstr>
      <vt:lpstr>מבנה המחסנית לאחר fxch </vt:lpstr>
      <vt:lpstr>מבנה המחסנית במהלך החישוב </vt:lpstr>
      <vt:lpstr>סטטוס המחסנית</vt:lpstr>
      <vt:lpstr>פעולת fscale </vt:lpstr>
      <vt:lpstr>פעולת fscale </vt:lpstr>
      <vt:lpstr>המחשה באמצעות תיאור המחסנית </vt:lpstr>
      <vt:lpstr>הצעד האחרון – וסיכום </vt:lpstr>
      <vt:lpstr>חישוב e^x</vt:lpstr>
      <vt:lpstr>שימוש ב fyl2xלחישוב ln(x)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תרגול 8</dc:title>
  <dc:creator>אורן אליעזר</dc:creator>
  <cp:lastModifiedBy>אריאל ברוך ביתן</cp:lastModifiedBy>
  <cp:revision>71</cp:revision>
  <cp:lastPrinted>2026-05-17T07:15:05Z</cp:lastPrinted>
  <dcterms:created xsi:type="dcterms:W3CDTF">2026-05-16T06:54:30Z</dcterms:created>
  <dcterms:modified xsi:type="dcterms:W3CDTF">2026-06-07T15:40:17Z</dcterms:modified>
</cp:coreProperties>
</file>