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45"/>
  </p:notesMasterIdLst>
  <p:sldIdLst>
    <p:sldId id="256" r:id="rId2"/>
    <p:sldId id="30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8" r:id="rId13"/>
    <p:sldId id="289" r:id="rId14"/>
    <p:sldId id="290" r:id="rId15"/>
    <p:sldId id="291" r:id="rId16"/>
    <p:sldId id="293" r:id="rId17"/>
    <p:sldId id="287" r:id="rId18"/>
    <p:sldId id="266" r:id="rId19"/>
    <p:sldId id="267" r:id="rId20"/>
    <p:sldId id="294" r:id="rId21"/>
    <p:sldId id="295" r:id="rId22"/>
    <p:sldId id="296" r:id="rId23"/>
    <p:sldId id="302" r:id="rId24"/>
    <p:sldId id="303" r:id="rId25"/>
    <p:sldId id="304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0616EB4-A16C-42F7-88BB-CEC513D1D481}" type="datetimeFigureOut">
              <a:rPr lang="he-IL" smtClean="0"/>
              <a:t>כ"ז/סיון/תשפ"ו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10BBF0E-2FFC-401B-A1E4-FBF9511AB5D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886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BBF0E-2FFC-401B-A1E4-FBF9511AB5DB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2115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3B827F1-7421-4B02-A0D9-6EE2CA89F169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224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3605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AC59-D454-4A50-998D-4D23A70228F6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05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67B7B-6509-402D-8AA3-7CCF59C8103A}" type="datetime8">
              <a:rPr lang="he-IL" smtClean="0"/>
              <a:t>12 יוני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184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6E3D6-C53A-46CE-9543-CA6DE82D6C97}" type="datetime8">
              <a:rPr lang="he-IL" smtClean="0"/>
              <a:t>12 יוני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236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D27F7-2543-448A-B25B-12451409A112}" type="datetime8">
              <a:rPr lang="he-IL" smtClean="0"/>
              <a:t>12 יוני 26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17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819F-BAC8-409C-B3A8-658CC6115608}" type="datetime8">
              <a:rPr lang="he-IL" smtClean="0"/>
              <a:t>12 יוני 26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94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F5124-F07C-45C4-871D-E87FDC1C77BF}" type="datetime8">
              <a:rPr lang="he-IL" smtClean="0"/>
              <a:t>12 יוני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61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9A8E-BE20-414C-A292-4EF709B2D2E6}" type="datetime8">
              <a:rPr lang="he-IL" smtClean="0"/>
              <a:t>12 יוני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8487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714B-BE49-4061-9F27-3F2877B52F92}" type="datetime8">
              <a:rPr lang="he-IL" smtClean="0"/>
              <a:t>12 יוני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4559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6C68-0425-4EAF-9BA5-F9A41CF551D3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290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F3B8E-16AA-4365-8054-FB6EA86B32E2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441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FF03-AAA8-4167-ABAD-E644D5B5558B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3343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31C9-9E71-4914-9516-7FFE5298A5B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108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או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F1EB-8246-4025-802E-47568FF4FFAA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547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CD84-2E93-4392-8007-59C40E95E32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311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2CC7-BD10-428B-8801-7B30D009C009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966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552638-18C2-4058-8306-543B0F800844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EA39328-7ABC-4199-9A75-17B1ED8772D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261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/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x87 Floating-Point in</a:t>
            </a:r>
            <a:endParaRPr lang="he-IL" sz="3200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x86-64 Assembly    Numerical Analysis: Real Problems, Real Numbers</a:t>
            </a:r>
            <a:endParaRPr lang="he-IL" sz="2400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9DFA-C6F5-4B68-9CDB-6DA962DC460D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032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שימוש ב</a:t>
            </a:r>
            <a:r>
              <a:rPr lang="en-US" dirty="0"/>
              <a:t> fyl2x</a:t>
            </a:r>
            <a:r>
              <a:rPr lang="he-IL" dirty="0"/>
              <a:t>לחישוב </a:t>
            </a:r>
            <a:r>
              <a:rPr lang="en-US" dirty="0"/>
              <a:t>ln(x)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E866-27BE-4058-8896-F8A593FFCDFD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F9DD-11D4-4EB6-8C89-A155AE0146B2}" type="slidenum">
              <a:rPr lang="he-IL" smtClean="0"/>
              <a:t>2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59DA094-2E66-1634-B129-86BB48BA5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478" y="2747867"/>
            <a:ext cx="8668960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53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תוכן התרגול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1. מציאת שורשים לפי שיטת </a:t>
            </a:r>
            <a:r>
              <a:rPr lang="en-US" dirty="0"/>
              <a:t>Newton-Raphson</a:t>
            </a:r>
            <a:r>
              <a:rPr lang="he-IL" dirty="0"/>
              <a:t> </a:t>
            </a:r>
          </a:p>
          <a:p>
            <a:r>
              <a:rPr lang="he-IL" dirty="0"/>
              <a:t>2. חישוב אורך קשת מעגל ואורך נקודות</a:t>
            </a:r>
          </a:p>
          <a:p>
            <a:r>
              <a:rPr lang="he-IL" dirty="0"/>
              <a:t>3. ביצוע אינטרפולציה של </a:t>
            </a:r>
            <a:r>
              <a:rPr lang="en-US" dirty="0"/>
              <a:t>Lagrange</a:t>
            </a:r>
            <a:r>
              <a:rPr lang="he-IL" dirty="0"/>
              <a:t> </a:t>
            </a:r>
          </a:p>
          <a:p>
            <a:r>
              <a:rPr lang="he-IL" dirty="0"/>
              <a:t>4. חישוב </a:t>
            </a:r>
            <a:r>
              <a:rPr lang="he-IL" dirty="0" err="1"/>
              <a:t>אינטגרלים</a:t>
            </a:r>
            <a:r>
              <a:rPr lang="he-IL" dirty="0"/>
              <a:t> לפי שיטת הטרפז של גאוס בנקודות צ</a:t>
            </a:r>
            <a:r>
              <a:rPr lang="en-US" dirty="0"/>
              <a:t>'</a:t>
            </a:r>
            <a:r>
              <a:rPr lang="he-IL" dirty="0" err="1"/>
              <a:t>בישב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A6DCA-CAC6-42ED-9E99-8DF67D2D4AF7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827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הארכיטקטורה של </a:t>
            </a:r>
            <a:r>
              <a:rPr lang="en-US" dirty="0"/>
              <a:t>x87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כוללת את האלמנטים הבאים :</a:t>
            </a:r>
            <a:r>
              <a:rPr lang="en-US" dirty="0"/>
              <a:t> </a:t>
            </a:r>
            <a:endParaRPr lang="he-IL" dirty="0"/>
          </a:p>
          <a:p>
            <a:r>
              <a:rPr lang="he-IL" dirty="0"/>
              <a:t>1. שמונה חריצים במחסנית </a:t>
            </a:r>
            <a:r>
              <a:rPr lang="en-US" dirty="0" err="1"/>
              <a:t>st</a:t>
            </a:r>
            <a:r>
              <a:rPr lang="en-US" dirty="0"/>
              <a:t>(0),</a:t>
            </a:r>
            <a:r>
              <a:rPr lang="en-US" dirty="0" err="1"/>
              <a:t>st</a:t>
            </a:r>
            <a:r>
              <a:rPr lang="en-US" dirty="0"/>
              <a:t>(1)…..</a:t>
            </a:r>
            <a:r>
              <a:rPr lang="en-US" dirty="0" err="1"/>
              <a:t>st</a:t>
            </a:r>
            <a:r>
              <a:rPr lang="en-US" dirty="0"/>
              <a:t>(7)</a:t>
            </a:r>
            <a:r>
              <a:rPr lang="he-IL" dirty="0"/>
              <a:t> כאשר </a:t>
            </a:r>
            <a:r>
              <a:rPr lang="en-US" dirty="0" err="1"/>
              <a:t>st</a:t>
            </a:r>
            <a:r>
              <a:rPr lang="en-US" dirty="0"/>
              <a:t>(0)</a:t>
            </a:r>
            <a:r>
              <a:rPr lang="he-IL" dirty="0"/>
              <a:t> הוא ראש המחסנית </a:t>
            </a:r>
          </a:p>
          <a:p>
            <a:r>
              <a:rPr lang="he-IL" dirty="0"/>
              <a:t>2.  כל אוגר מכיל 80 ביט לפי הפירוט הבא : </a:t>
            </a:r>
          </a:p>
          <a:p>
            <a:r>
              <a:rPr lang="he-IL" dirty="0"/>
              <a:t>    ביט סימן </a:t>
            </a:r>
          </a:p>
          <a:p>
            <a:r>
              <a:rPr lang="he-IL" dirty="0"/>
              <a:t>    15 ביטים של חזקה </a:t>
            </a:r>
            <a:r>
              <a:rPr lang="en-US" dirty="0"/>
              <a:t>exponent</a:t>
            </a:r>
            <a:r>
              <a:rPr lang="he-IL" dirty="0"/>
              <a:t> </a:t>
            </a:r>
          </a:p>
          <a:p>
            <a:r>
              <a:rPr lang="he-IL" dirty="0"/>
              <a:t>    64 ביטים של </a:t>
            </a:r>
            <a:r>
              <a:rPr lang="he-IL" dirty="0" err="1"/>
              <a:t>מנטיסה</a:t>
            </a:r>
            <a:r>
              <a:rPr lang="he-IL" dirty="0"/>
              <a:t> </a:t>
            </a:r>
          </a:p>
          <a:p>
            <a:pPr marL="0" indent="0">
              <a:buNone/>
            </a:pPr>
            <a:r>
              <a:rPr lang="he-IL" dirty="0"/>
              <a:t>מבנה זה מאפשר למערכת לטפל בערכים קטנים וגדולים מאוד בדיוק רב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957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פקודות נפוצות בארכיטקטורה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 err="1"/>
              <a:t>fld</a:t>
            </a:r>
            <a:r>
              <a:rPr lang="en-US" dirty="0"/>
              <a:t>   </a:t>
            </a:r>
            <a:r>
              <a:rPr lang="en-US" dirty="0" err="1"/>
              <a:t>src</a:t>
            </a:r>
            <a:r>
              <a:rPr lang="en-US" dirty="0"/>
              <a:t>     ; push </a:t>
            </a:r>
            <a:r>
              <a:rPr lang="en-US" dirty="0" err="1"/>
              <a:t>src</a:t>
            </a:r>
            <a:r>
              <a:rPr lang="en-US" dirty="0"/>
              <a:t> onto stack        ST(0) = </a:t>
            </a:r>
            <a:r>
              <a:rPr lang="en-US" dirty="0" err="1"/>
              <a:t>src</a:t>
            </a:r>
            <a:r>
              <a:rPr lang="en-US" dirty="0"/>
              <a:t>  </a:t>
            </a:r>
          </a:p>
          <a:p>
            <a:pPr algn="l" rtl="0"/>
            <a:r>
              <a:rPr lang="en-US" dirty="0" err="1"/>
              <a:t>fst</a:t>
            </a:r>
            <a:r>
              <a:rPr lang="en-US" dirty="0"/>
              <a:t>   </a:t>
            </a:r>
            <a:r>
              <a:rPr lang="en-US" dirty="0" err="1"/>
              <a:t>dst</a:t>
            </a:r>
            <a:r>
              <a:rPr lang="en-US" dirty="0"/>
              <a:t>     ; store ST(0) to </a:t>
            </a:r>
            <a:r>
              <a:rPr lang="en-US" dirty="0" err="1"/>
              <a:t>dst</a:t>
            </a:r>
            <a:r>
              <a:rPr lang="en-US" dirty="0"/>
              <a:t>         (stack unchanged)</a:t>
            </a:r>
          </a:p>
          <a:p>
            <a:pPr marL="0" indent="0" algn="l" rtl="0">
              <a:buNone/>
            </a:pPr>
            <a:r>
              <a:rPr lang="en-US" dirty="0"/>
              <a:t>    fstp  </a:t>
            </a:r>
            <a:r>
              <a:rPr lang="en-US" dirty="0" err="1"/>
              <a:t>dst</a:t>
            </a:r>
            <a:r>
              <a:rPr lang="en-US" dirty="0"/>
              <a:t>     ; store ST(0) to </a:t>
            </a:r>
            <a:r>
              <a:rPr lang="en-US" dirty="0" err="1"/>
              <a:t>dst</a:t>
            </a:r>
            <a:r>
              <a:rPr lang="en-US" dirty="0"/>
              <a:t> + pop   (stack shrinks)</a:t>
            </a:r>
          </a:p>
          <a:p>
            <a:pPr marL="0" indent="0" algn="l" rtl="0">
              <a:buNone/>
            </a:pPr>
            <a:r>
              <a:rPr lang="en-US" dirty="0"/>
              <a:t>    </a:t>
            </a:r>
            <a:r>
              <a:rPr lang="en-US" dirty="0" err="1"/>
              <a:t>fadd</a:t>
            </a:r>
            <a:r>
              <a:rPr lang="en-US" dirty="0"/>
              <a:t>   ; ST(1) = ST(1) + ST(0),  pop</a:t>
            </a:r>
          </a:p>
          <a:p>
            <a:pPr marL="0" indent="0" algn="l" rtl="0">
              <a:buNone/>
            </a:pPr>
            <a:r>
              <a:rPr lang="en-US" dirty="0"/>
              <a:t>    </a:t>
            </a:r>
            <a:r>
              <a:rPr lang="en-US" dirty="0" err="1"/>
              <a:t>fsub</a:t>
            </a:r>
            <a:r>
              <a:rPr lang="en-US" dirty="0"/>
              <a:t>   ; ST(1) = ST(1) – ST(</a:t>
            </a:r>
            <a:r>
              <a:rPr lang="en-US"/>
              <a:t>0),   </a:t>
            </a:r>
            <a:r>
              <a:rPr lang="en-US" dirty="0"/>
              <a:t>pop</a:t>
            </a:r>
          </a:p>
          <a:p>
            <a:pPr marL="0" indent="0" algn="l" rtl="0">
              <a:buNone/>
            </a:pPr>
            <a:r>
              <a:rPr lang="en-US" dirty="0"/>
              <a:t>    </a:t>
            </a:r>
            <a:r>
              <a:rPr lang="en-US" dirty="0" err="1"/>
              <a:t>fmul</a:t>
            </a:r>
            <a:r>
              <a:rPr lang="en-US" dirty="0"/>
              <a:t>   ; ST(1) = ST(1) × ST(0) 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680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פקודות נפוצות בארכיטקטורה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/>
              <a:t> </a:t>
            </a:r>
            <a:r>
              <a:rPr lang="en-US" dirty="0" err="1"/>
              <a:t>fdiv</a:t>
            </a:r>
            <a:r>
              <a:rPr lang="en-US" dirty="0"/>
              <a:t>   ; ST(1) = ST(1) / ST(0)</a:t>
            </a:r>
          </a:p>
          <a:p>
            <a:pPr algn="l" rtl="0"/>
            <a:r>
              <a:rPr lang="en-US" dirty="0"/>
              <a:t> fabs  ; ST(0) = |ST(0)|</a:t>
            </a:r>
          </a:p>
          <a:p>
            <a:pPr algn="l" rtl="0"/>
            <a:r>
              <a:rPr lang="en-US" dirty="0"/>
              <a:t> </a:t>
            </a:r>
            <a:r>
              <a:rPr lang="en-US" dirty="0" err="1"/>
              <a:t>fucomi</a:t>
            </a:r>
            <a:r>
              <a:rPr lang="en-US" dirty="0"/>
              <a:t> st0,st1 ; compare (sets CPU flags, like </a:t>
            </a:r>
            <a:r>
              <a:rPr lang="en-US" dirty="0" err="1"/>
              <a:t>cmp</a:t>
            </a:r>
            <a:r>
              <a:rPr lang="en-US" dirty="0"/>
              <a:t>)  </a:t>
            </a:r>
          </a:p>
          <a:p>
            <a:pPr marL="0" indent="0" algn="l" rtl="0">
              <a:buNone/>
            </a:pPr>
            <a:r>
              <a:rPr lang="en-US" dirty="0"/>
              <a:t>    fyl2x         ; ST(1) = ST(1) × log2(ST(0)), pop </a:t>
            </a:r>
          </a:p>
          <a:p>
            <a:pPr marL="0" indent="0" algn="l" rtl="0">
              <a:buNone/>
            </a:pPr>
            <a:r>
              <a:rPr lang="en-US" dirty="0"/>
              <a:t>    f2xm1         ; ST(0) = 2^ST(0) – 1   </a:t>
            </a:r>
          </a:p>
          <a:p>
            <a:pPr marL="0" indent="0" algn="l" rtl="0">
              <a:buNone/>
            </a:pPr>
            <a:r>
              <a:rPr lang="en-US" dirty="0"/>
              <a:t>    </a:t>
            </a:r>
            <a:r>
              <a:rPr lang="en-US" dirty="0" err="1"/>
              <a:t>fsin</a:t>
            </a:r>
            <a:r>
              <a:rPr lang="en-US" dirty="0"/>
              <a:t> / </a:t>
            </a:r>
            <a:r>
              <a:rPr lang="en-US" dirty="0" err="1"/>
              <a:t>fcos</a:t>
            </a:r>
            <a:r>
              <a:rPr lang="en-US" dirty="0"/>
              <a:t>   ; trigonometric (radians)</a:t>
            </a:r>
          </a:p>
          <a:p>
            <a:pPr marL="0" indent="0" algn="l" rtl="0">
              <a:buNone/>
            </a:pPr>
            <a:r>
              <a:rPr lang="en-US" dirty="0"/>
              <a:t>    </a:t>
            </a:r>
            <a:r>
              <a:rPr lang="en-US" dirty="0" err="1"/>
              <a:t>fsqrt</a:t>
            </a:r>
            <a:r>
              <a:rPr lang="en-US" dirty="0"/>
              <a:t>         ; square root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179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גדלי אופרנדים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err="1"/>
              <a:t>fld</a:t>
            </a:r>
            <a:r>
              <a:rPr lang="en-US" dirty="0"/>
              <a:t>  qword [</a:t>
            </a:r>
            <a:r>
              <a:rPr lang="en-US" dirty="0" err="1"/>
              <a:t>addr</a:t>
            </a:r>
            <a:r>
              <a:rPr lang="en-US" dirty="0"/>
              <a:t>]  → load 64-bit double</a:t>
            </a:r>
          </a:p>
          <a:p>
            <a:pPr algn="l" rtl="0"/>
            <a:r>
              <a:rPr lang="en-US" dirty="0" err="1"/>
              <a:t>fld</a:t>
            </a:r>
            <a:r>
              <a:rPr lang="en-US" dirty="0"/>
              <a:t>  </a:t>
            </a:r>
            <a:r>
              <a:rPr lang="en-US" dirty="0" err="1"/>
              <a:t>tword</a:t>
            </a:r>
            <a:r>
              <a:rPr lang="en-US" dirty="0"/>
              <a:t> [</a:t>
            </a:r>
            <a:r>
              <a:rPr lang="en-US" dirty="0" err="1"/>
              <a:t>addr</a:t>
            </a:r>
            <a:r>
              <a:rPr lang="en-US" dirty="0"/>
              <a:t>]  → load 80-bit extended (10 bytes)</a:t>
            </a:r>
          </a:p>
          <a:p>
            <a:pPr algn="l" rtl="0"/>
            <a:r>
              <a:rPr lang="en-US" dirty="0" err="1"/>
              <a:t>fstp</a:t>
            </a:r>
            <a:r>
              <a:rPr lang="en-US" dirty="0"/>
              <a:t> qword [</a:t>
            </a:r>
            <a:r>
              <a:rPr lang="en-US" dirty="0" err="1"/>
              <a:t>addr</a:t>
            </a:r>
            <a:r>
              <a:rPr lang="en-US" dirty="0"/>
              <a:t>]  → store 64-bit double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941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שיטת ניוטון </a:t>
            </a:r>
            <a:r>
              <a:rPr lang="he-IL" dirty="0" err="1"/>
              <a:t>רפסון</a:t>
            </a:r>
            <a:r>
              <a:rPr lang="he-IL" dirty="0"/>
              <a:t> לחישוב שורש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הבעיה: נתונה פונקציה </a:t>
            </a:r>
            <a:r>
              <a:rPr lang="en-US" dirty="0"/>
              <a:t>f(x)</a:t>
            </a:r>
            <a:r>
              <a:rPr lang="he-IL" dirty="0"/>
              <a:t> כלשהי.</a:t>
            </a:r>
          </a:p>
          <a:p>
            <a:r>
              <a:rPr lang="he-IL" dirty="0"/>
              <a:t>המשימה : למצוא את השורשים שלה דהיינו </a:t>
            </a:r>
            <a:r>
              <a:rPr lang="en-US" dirty="0"/>
              <a:t>x’ </a:t>
            </a:r>
            <a:r>
              <a:rPr lang="he-IL" dirty="0"/>
              <a:t> כך ש </a:t>
            </a:r>
            <a:r>
              <a:rPr lang="en-US" dirty="0"/>
              <a:t>f(x’)=0</a:t>
            </a:r>
            <a:r>
              <a:rPr lang="he-IL" dirty="0"/>
              <a:t> </a:t>
            </a:r>
          </a:p>
          <a:p>
            <a:r>
              <a:rPr lang="he-IL" dirty="0"/>
              <a:t>האלגוריתם : </a:t>
            </a:r>
          </a:p>
          <a:p>
            <a:r>
              <a:rPr lang="he-IL" dirty="0"/>
              <a:t>1. נחש ערך התחלתי </a:t>
            </a:r>
            <a:r>
              <a:rPr lang="en-US" dirty="0"/>
              <a:t>Xo</a:t>
            </a:r>
            <a:r>
              <a:rPr lang="he-IL" dirty="0"/>
              <a:t> והעבר משיק ל </a:t>
            </a:r>
            <a:r>
              <a:rPr lang="en-US" dirty="0"/>
              <a:t>(</a:t>
            </a:r>
            <a:r>
              <a:rPr lang="en-US" dirty="0" err="1"/>
              <a:t>Xo,f</a:t>
            </a:r>
            <a:r>
              <a:rPr lang="en-US" dirty="0"/>
              <a:t>(Xo) )</a:t>
            </a:r>
            <a:r>
              <a:rPr lang="he-IL" dirty="0"/>
              <a:t> כך שיפגוש את ציר </a:t>
            </a:r>
            <a:r>
              <a:rPr lang="en-US" dirty="0"/>
              <a:t>X</a:t>
            </a:r>
            <a:r>
              <a:rPr lang="he-IL" dirty="0"/>
              <a:t> בנקודה </a:t>
            </a:r>
            <a:r>
              <a:rPr lang="en-US" dirty="0"/>
              <a:t>X1</a:t>
            </a:r>
            <a:r>
              <a:rPr lang="he-IL" dirty="0"/>
              <a:t> </a:t>
            </a:r>
          </a:p>
          <a:p>
            <a:r>
              <a:rPr lang="he-IL" dirty="0"/>
              <a:t>2. העבר משיק ל </a:t>
            </a:r>
            <a:r>
              <a:rPr lang="en-US" dirty="0"/>
              <a:t>(X1, f(X1))</a:t>
            </a:r>
            <a:r>
              <a:rPr lang="he-IL" dirty="0"/>
              <a:t> כך שיפגוש את ציר </a:t>
            </a:r>
            <a:r>
              <a:rPr lang="en-US" dirty="0"/>
              <a:t>X</a:t>
            </a:r>
            <a:r>
              <a:rPr lang="he-IL" dirty="0"/>
              <a:t> בנקודה </a:t>
            </a:r>
            <a:r>
              <a:rPr lang="en-US" dirty="0"/>
              <a:t>X2</a:t>
            </a:r>
            <a:endParaRPr lang="he-IL" dirty="0"/>
          </a:p>
          <a:p>
            <a:r>
              <a:rPr lang="he-IL" dirty="0"/>
              <a:t>3. המשך בתהליך עד אשר </a:t>
            </a:r>
            <a:r>
              <a:rPr lang="en-US" dirty="0"/>
              <a:t>f(</a:t>
            </a:r>
            <a:r>
              <a:rPr lang="en-US" dirty="0" err="1"/>
              <a:t>Xn</a:t>
            </a:r>
            <a:r>
              <a:rPr lang="en-US" dirty="0"/>
              <a:t>)</a:t>
            </a:r>
            <a:r>
              <a:rPr lang="he-IL" dirty="0"/>
              <a:t> יהיה קרוב לאפס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017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שיטת ניוטון </a:t>
            </a:r>
            <a:r>
              <a:rPr lang="he-IL" dirty="0" err="1"/>
              <a:t>רפסון</a:t>
            </a:r>
            <a:r>
              <a:rPr lang="he-IL" dirty="0"/>
              <a:t> לחישוב שורש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/>
              <a:t>המשוואה </a:t>
            </a:r>
            <a:r>
              <a:rPr lang="he-IL" dirty="0" err="1"/>
              <a:t>האיטרטיבית</a:t>
            </a:r>
            <a:r>
              <a:rPr lang="he-IL" dirty="0"/>
              <a:t> :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he-IL" dirty="0"/>
              <a:t>דוגמא : מצא את השורש של </a:t>
            </a:r>
            <a:r>
              <a:rPr lang="en-US" dirty="0"/>
              <a:t>f(x) = x³ – 2</a:t>
            </a:r>
            <a:r>
              <a:rPr lang="he-IL" dirty="0"/>
              <a:t>  לכן </a:t>
            </a:r>
            <a:r>
              <a:rPr lang="en-US" dirty="0"/>
              <a:t> f'(x) = 3x²</a:t>
            </a:r>
            <a:r>
              <a:rPr lang="he-IL" dirty="0"/>
              <a:t> </a:t>
            </a:r>
          </a:p>
          <a:p>
            <a:r>
              <a:rPr lang="he-IL" dirty="0"/>
              <a:t>צעד 0 -  </a:t>
            </a:r>
            <a:r>
              <a:rPr lang="en-US" dirty="0"/>
              <a:t>x=1.5</a:t>
            </a:r>
          </a:p>
          <a:p>
            <a:r>
              <a:rPr lang="he-IL" dirty="0"/>
              <a:t>צעד 1 : </a:t>
            </a:r>
            <a:r>
              <a:rPr lang="en-US" dirty="0"/>
              <a:t> x = 1.5 – (1.5³–2)/(3·1.5²) = 1.5 – 1.375/6.75 ≈ 1.2963</a:t>
            </a:r>
            <a:endParaRPr lang="he-IL" dirty="0"/>
          </a:p>
          <a:p>
            <a:r>
              <a:rPr lang="he-IL" dirty="0"/>
              <a:t>צעד 2 : </a:t>
            </a:r>
            <a:r>
              <a:rPr lang="en-US" dirty="0"/>
              <a:t>x ≈ 1.2963 – 0.177/5.045 ≈ 1.2608</a:t>
            </a:r>
            <a:endParaRPr lang="he-IL" dirty="0"/>
          </a:p>
          <a:p>
            <a:r>
              <a:rPr lang="he-IL" dirty="0"/>
              <a:t>צעד 3 : </a:t>
            </a:r>
            <a:r>
              <a:rPr lang="en-US" dirty="0"/>
              <a:t>x ≈ 1.2600 </a:t>
            </a:r>
            <a:endParaRPr lang="he-IL" dirty="0"/>
          </a:p>
          <a:p>
            <a:pPr algn="ctr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9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299" y="2463800"/>
            <a:ext cx="3776952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9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בעייתיות בשיטת ניוטון </a:t>
            </a:r>
            <a:r>
              <a:rPr lang="he-IL" dirty="0" err="1"/>
              <a:t>רפסון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אם בוחרים </a:t>
            </a:r>
            <a:r>
              <a:rPr lang="en-US" dirty="0"/>
              <a:t>Xo</a:t>
            </a:r>
            <a:r>
              <a:rPr lang="he-IL" dirty="0"/>
              <a:t> רחוק מדי מהשורש עלולים לפספס אותו</a:t>
            </a:r>
          </a:p>
          <a:p>
            <a:r>
              <a:rPr lang="he-IL" dirty="0"/>
              <a:t>יש להיזהר מאיפוס של הנגזרת משום שאז לא ניתן להשתמש בנוסחה כלל </a:t>
            </a:r>
          </a:p>
          <a:p>
            <a:r>
              <a:rPr lang="he-IL" dirty="0"/>
              <a:t>במידה והנגזרת משנה סימן תכופות עלולים להיתקע בין שתי נקודות.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058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11</a:t>
            </a:fld>
            <a:endParaRPr lang="he-IL"/>
          </a:p>
        </p:txBody>
      </p:sp>
      <p:sp>
        <p:nvSpPr>
          <p:cNvPr id="12" name="כותרת 1">
            <a:extLst>
              <a:ext uri="{FF2B5EF4-FFF2-40B4-BE49-F238E27FC236}">
                <a16:creationId xmlns:a16="http://schemas.microsoft.com/office/drawing/2014/main" id="{A5508304-A8ED-1981-DD68-AFF5ADDD0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299" y="683985"/>
            <a:ext cx="8520402" cy="258962"/>
          </a:xfrm>
        </p:spPr>
        <p:txBody>
          <a:bodyPr>
            <a:normAutofit fontScale="90000"/>
          </a:bodyPr>
          <a:lstStyle/>
          <a:p>
            <a:r>
              <a:rPr lang="he-IL" dirty="0"/>
              <a:t>הגדרת המשתנים</a:t>
            </a:r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2854C0F9-F557-D5F3-32B6-8F7EB5F53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863" y="1209904"/>
            <a:ext cx="9536273" cy="503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116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D15DA-7191-7446-01A1-DBFC837E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9619F71-D5E9-5D40-2A76-83616C5B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6856BB3-B470-CF65-FE52-25D44239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12</a:t>
            </a:fld>
            <a:endParaRPr lang="he-IL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FBFF9652-1B3F-1774-74EC-D344E00D2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780" y="1241094"/>
            <a:ext cx="9039840" cy="4867606"/>
          </a:xfrm>
          <a:prstGeom prst="rect">
            <a:avLst/>
          </a:prstGeom>
        </p:spPr>
      </p:pic>
      <p:sp>
        <p:nvSpPr>
          <p:cNvPr id="12" name="כותרת 1">
            <a:extLst>
              <a:ext uri="{FF2B5EF4-FFF2-40B4-BE49-F238E27FC236}">
                <a16:creationId xmlns:a16="http://schemas.microsoft.com/office/drawing/2014/main" id="{887B2E06-7C42-3DD7-408C-56EC30938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499" y="749300"/>
            <a:ext cx="8520402" cy="258962"/>
          </a:xfrm>
        </p:spPr>
        <p:txBody>
          <a:bodyPr>
            <a:normAutofit fontScale="90000"/>
          </a:bodyPr>
          <a:lstStyle/>
          <a:p>
            <a:r>
              <a:rPr lang="he-IL" dirty="0"/>
              <a:t>חישוב </a:t>
            </a:r>
            <a:r>
              <a:rPr lang="en-US" dirty="0"/>
              <a:t>F</a:t>
            </a:r>
            <a:r>
              <a:rPr lang="he-IL" dirty="0"/>
              <a:t> ו</a:t>
            </a:r>
            <a:r>
              <a:rPr lang="en-US" dirty="0"/>
              <a:t>DF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08894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4B80A-584E-46B3-C9A2-55830AFA3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E0654C1-1888-26EE-F44E-36389BB06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3A23CF9-9C59-E0F4-A172-CCC94F8FC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13</a:t>
            </a:fld>
            <a:endParaRPr lang="he-IL"/>
          </a:p>
        </p:txBody>
      </p:sp>
      <p:sp>
        <p:nvSpPr>
          <p:cNvPr id="12" name="כותרת 1">
            <a:extLst>
              <a:ext uri="{FF2B5EF4-FFF2-40B4-BE49-F238E27FC236}">
                <a16:creationId xmlns:a16="http://schemas.microsoft.com/office/drawing/2014/main" id="{1A370696-A0A2-66BD-8514-D421E93B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136" y="1042779"/>
            <a:ext cx="8520402" cy="258962"/>
          </a:xfrm>
        </p:spPr>
        <p:txBody>
          <a:bodyPr>
            <a:normAutofit fontScale="90000"/>
          </a:bodyPr>
          <a:lstStyle/>
          <a:p>
            <a:r>
              <a:rPr lang="he-IL" dirty="0"/>
              <a:t>ביצוע החישוב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60BF9932-C163-68DC-AC6F-9BF74398F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09" y="2057992"/>
            <a:ext cx="9930582" cy="2403252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4783CBF2-0FCA-3EE7-59E5-3FA4B7B14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75" y="681654"/>
            <a:ext cx="3776952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0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C6A9B-EAA9-5EA8-8271-26F35FB80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816733E-F89B-953B-71A0-4668F2B03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0D10566-A1E4-23A2-83C9-5FC70A3D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14</a:t>
            </a:fld>
            <a:endParaRPr lang="he-IL"/>
          </a:p>
        </p:txBody>
      </p:sp>
      <p:sp>
        <p:nvSpPr>
          <p:cNvPr id="12" name="כותרת 1">
            <a:extLst>
              <a:ext uri="{FF2B5EF4-FFF2-40B4-BE49-F238E27FC236}">
                <a16:creationId xmlns:a16="http://schemas.microsoft.com/office/drawing/2014/main" id="{C125658B-1B17-44B4-0824-779FB958F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499" y="749300"/>
            <a:ext cx="8520402" cy="258962"/>
          </a:xfrm>
        </p:spPr>
        <p:txBody>
          <a:bodyPr>
            <a:normAutofit fontScale="90000"/>
          </a:bodyPr>
          <a:lstStyle/>
          <a:p>
            <a:r>
              <a:rPr lang="he-IL" dirty="0"/>
              <a:t>הלולאה הראשית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3C4DB3DD-0908-B4AB-7091-1A1CD5C85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2" y="1614487"/>
            <a:ext cx="993457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08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DD30-88FE-D82E-D1BC-BA1226BE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BA6C5CA-A51A-650A-DD6A-591C0A3E8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6A1CD32-199C-D77F-65AB-1A5C2C489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15</a:t>
            </a:fld>
            <a:endParaRPr lang="he-IL"/>
          </a:p>
        </p:txBody>
      </p:sp>
      <p:sp>
        <p:nvSpPr>
          <p:cNvPr id="12" name="כותרת 1">
            <a:extLst>
              <a:ext uri="{FF2B5EF4-FFF2-40B4-BE49-F238E27FC236}">
                <a16:creationId xmlns:a16="http://schemas.microsoft.com/office/drawing/2014/main" id="{F755839A-DE8D-5AE6-6D3C-EECB6B04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499" y="749300"/>
            <a:ext cx="8520402" cy="258962"/>
          </a:xfrm>
        </p:spPr>
        <p:txBody>
          <a:bodyPr>
            <a:noAutofit/>
          </a:bodyPr>
          <a:lstStyle/>
          <a:p>
            <a:r>
              <a:rPr lang="he-IL" sz="2800" dirty="0"/>
              <a:t>בדיקה אם הגענו קרוב ל0 או שעברנו מקסימום </a:t>
            </a:r>
            <a:r>
              <a:rPr lang="he-IL" sz="2800" dirty="0" err="1"/>
              <a:t>איטרציות</a:t>
            </a:r>
            <a:endParaRPr lang="he-IL" sz="2800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51C4868A-138D-9EA4-4745-F0DCF1112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955" y="1323009"/>
            <a:ext cx="8437490" cy="478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4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8CBBF-1E26-C884-9CFA-28D44C48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B615B37-EB42-CDD1-AA9D-44D5378C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7D5D8A2-271E-279F-CD39-AE647197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16</a:t>
            </a:fld>
            <a:endParaRPr lang="he-IL"/>
          </a:p>
        </p:txBody>
      </p:sp>
      <p:sp>
        <p:nvSpPr>
          <p:cNvPr id="12" name="כותרת 1">
            <a:extLst>
              <a:ext uri="{FF2B5EF4-FFF2-40B4-BE49-F238E27FC236}">
                <a16:creationId xmlns:a16="http://schemas.microsoft.com/office/drawing/2014/main" id="{077616EB-CCD2-6D6F-E942-007D65734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499" y="749300"/>
            <a:ext cx="8520402" cy="258962"/>
          </a:xfrm>
        </p:spPr>
        <p:txBody>
          <a:bodyPr>
            <a:normAutofit fontScale="90000"/>
          </a:bodyPr>
          <a:lstStyle/>
          <a:p>
            <a:r>
              <a:rPr lang="he-IL" dirty="0"/>
              <a:t>סיום והדפסה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D505143-B138-B517-EA03-77E7493AF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61" y="1742839"/>
            <a:ext cx="9869277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3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433E71-CCC0-C388-7424-85D82F362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F45F8B0-2E78-1624-0C91-73711059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תכנית ליישום אלגוריתם ניוטון </a:t>
            </a:r>
            <a:r>
              <a:rPr lang="he-IL" dirty="0" err="1"/>
              <a:t>רפסון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C810823-E2AB-DA57-BA21-119D90B40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 FUNCTIONS USED IN THE PROGRAM:  </a:t>
            </a:r>
          </a:p>
          <a:p>
            <a:pPr algn="l" rtl="0"/>
            <a:r>
              <a:rPr lang="en-US" dirty="0"/>
              <a:t>  f(x)  = x³ – 2         → </a:t>
            </a:r>
            <a:r>
              <a:rPr lang="en-US" dirty="0" err="1"/>
              <a:t>compute_f</a:t>
            </a:r>
            <a:r>
              <a:rPr lang="en-US" dirty="0"/>
              <a:t>  </a:t>
            </a:r>
          </a:p>
          <a:p>
            <a:pPr algn="l" rtl="0"/>
            <a:r>
              <a:rPr lang="en-US" dirty="0"/>
              <a:t>  f'(x) = 3x²            → </a:t>
            </a:r>
            <a:r>
              <a:rPr lang="en-US" dirty="0" err="1"/>
              <a:t>compute_df</a:t>
            </a:r>
            <a:endParaRPr lang="en-US" dirty="0"/>
          </a:p>
          <a:p>
            <a:pPr algn="l" rtl="0"/>
            <a:r>
              <a:rPr lang="en-US" dirty="0"/>
              <a:t>  x87 STACK LAYOUT during </a:t>
            </a:r>
            <a:r>
              <a:rPr lang="en-US" dirty="0" err="1"/>
              <a:t>compute_f</a:t>
            </a:r>
            <a:r>
              <a:rPr lang="en-US" dirty="0"/>
              <a:t>(x):   </a:t>
            </a:r>
          </a:p>
          <a:p>
            <a:pPr algn="l" rtl="0"/>
            <a:r>
              <a:rPr lang="en-US" dirty="0"/>
              <a:t>      Before call : ST(0) = x  </a:t>
            </a:r>
          </a:p>
          <a:p>
            <a:pPr algn="l" rtl="0"/>
            <a:r>
              <a:rPr lang="en-US" dirty="0"/>
              <a:t>     After  call : ST(0) = x³ – 2   (one value on stack)</a:t>
            </a:r>
            <a:endParaRPr lang="he-IL" dirty="0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A590198-2D1D-7007-0C68-DC01CBF3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51E89E9-0A0D-D10B-357E-47A2A0A3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339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תכנית ליישום אלגוריתם ניוטון </a:t>
            </a:r>
            <a:r>
              <a:rPr lang="he-IL" dirty="0" err="1"/>
              <a:t>רפסון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/>
              <a:t>MAIN LOOP (</a:t>
            </a:r>
            <a:r>
              <a:rPr lang="en-US" dirty="0" err="1"/>
              <a:t>newton_loop</a:t>
            </a:r>
            <a:r>
              <a:rPr lang="en-US" dirty="0"/>
              <a:t>):   </a:t>
            </a:r>
          </a:p>
          <a:p>
            <a:pPr algn="l" rtl="0"/>
            <a:r>
              <a:rPr lang="en-US" dirty="0"/>
              <a:t>      1. </a:t>
            </a:r>
            <a:r>
              <a:rPr lang="en-US" dirty="0" err="1"/>
              <a:t>compute_f</a:t>
            </a:r>
            <a:r>
              <a:rPr lang="en-US" dirty="0"/>
              <a:t>(x)   → ST(0) = f(x)</a:t>
            </a:r>
          </a:p>
          <a:p>
            <a:pPr algn="l" rtl="0"/>
            <a:r>
              <a:rPr lang="en-US" dirty="0"/>
              <a:t>      2. Check |ST(0)| &lt; tolerance → if yes, done</a:t>
            </a:r>
          </a:p>
          <a:p>
            <a:pPr algn="l" rtl="0"/>
            <a:r>
              <a:rPr lang="en-US" dirty="0"/>
              <a:t>      3. </a:t>
            </a:r>
            <a:r>
              <a:rPr lang="en-US" dirty="0" err="1"/>
              <a:t>compute_df</a:t>
            </a:r>
            <a:r>
              <a:rPr lang="en-US" dirty="0"/>
              <a:t>(x)  → ST(1) = f(x), ST(0) = f'(x)</a:t>
            </a:r>
          </a:p>
          <a:p>
            <a:pPr algn="l" rtl="0"/>
            <a:r>
              <a:rPr lang="en-US" dirty="0"/>
              <a:t>       4. </a:t>
            </a:r>
            <a:r>
              <a:rPr lang="en-US" dirty="0" err="1"/>
              <a:t>fdivp</a:t>
            </a:r>
            <a:r>
              <a:rPr lang="en-US" dirty="0"/>
              <a:t>          → ST(0) = f(x) / f'(x)   </a:t>
            </a:r>
          </a:p>
          <a:p>
            <a:pPr algn="l" rtl="0"/>
            <a:r>
              <a:rPr lang="en-US" dirty="0"/>
              <a:t>      5. </a:t>
            </a:r>
            <a:r>
              <a:rPr lang="en-US" dirty="0" err="1"/>
              <a:t>fsubp</a:t>
            </a:r>
            <a:r>
              <a:rPr lang="en-US" dirty="0"/>
              <a:t>          → ST(0) = x – f(x)/f'(x)   (this is </a:t>
            </a:r>
            <a:r>
              <a:rPr lang="en-US" dirty="0" err="1"/>
              <a:t>x_new</a:t>
            </a:r>
            <a:r>
              <a:rPr lang="en-US" dirty="0"/>
              <a:t>) </a:t>
            </a:r>
          </a:p>
          <a:p>
            <a:pPr algn="l" rtl="0"/>
            <a:r>
              <a:rPr lang="en-US" dirty="0"/>
              <a:t>        6. Store result as new x, repeat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328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תכנית ליישום אלגוריתם ניוטון </a:t>
            </a:r>
            <a:r>
              <a:rPr lang="he-IL" dirty="0" err="1"/>
              <a:t>רפסון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/>
            <a:r>
              <a:rPr lang="en-US" dirty="0"/>
              <a:t>KEY x87 INSTRUCTIONS used:   </a:t>
            </a:r>
          </a:p>
          <a:p>
            <a:pPr algn="l" rtl="0"/>
            <a:r>
              <a:rPr lang="en-US" dirty="0"/>
              <a:t>       </a:t>
            </a:r>
            <a:r>
              <a:rPr lang="en-US" dirty="0" err="1"/>
              <a:t>fld</a:t>
            </a:r>
            <a:r>
              <a:rPr lang="en-US" dirty="0"/>
              <a:t>   qword [x]    ; load current x</a:t>
            </a:r>
          </a:p>
          <a:p>
            <a:pPr algn="l" rtl="0"/>
            <a:r>
              <a:rPr lang="en-US" dirty="0"/>
              <a:t>        fmul  st0, st0     ; x²    </a:t>
            </a:r>
          </a:p>
          <a:p>
            <a:pPr algn="l" rtl="0"/>
            <a:r>
              <a:rPr lang="en-US" dirty="0"/>
              <a:t>         fmul  st0, st1     ; x³   (st1 still holds x) </a:t>
            </a:r>
          </a:p>
          <a:p>
            <a:pPr algn="l" rtl="0"/>
            <a:r>
              <a:rPr lang="en-US" dirty="0"/>
              <a:t>          </a:t>
            </a:r>
            <a:r>
              <a:rPr lang="en-US" dirty="0" err="1"/>
              <a:t>fsub</a:t>
            </a:r>
            <a:r>
              <a:rPr lang="en-US" dirty="0"/>
              <a:t>  qword [two]  ; x³ – 2   </a:t>
            </a:r>
          </a:p>
          <a:p>
            <a:pPr algn="l" rtl="0"/>
            <a:r>
              <a:rPr lang="en-US" dirty="0"/>
              <a:t>            </a:t>
            </a:r>
            <a:r>
              <a:rPr lang="en-US" dirty="0" err="1"/>
              <a:t>fabs</a:t>
            </a:r>
            <a:r>
              <a:rPr lang="en-US" dirty="0"/>
              <a:t>               ; |f(x)| for convergence test   </a:t>
            </a:r>
          </a:p>
          <a:p>
            <a:pPr algn="l" rtl="0"/>
            <a:r>
              <a:rPr lang="en-US" dirty="0"/>
              <a:t>           </a:t>
            </a:r>
            <a:r>
              <a:rPr lang="en-US" dirty="0" err="1"/>
              <a:t>fcomi</a:t>
            </a:r>
            <a:r>
              <a:rPr lang="en-US" dirty="0"/>
              <a:t> st0, st1     ; compare with tolerance (sets </a:t>
            </a:r>
            <a:r>
              <a:rPr lang="en-US" dirty="0" err="1"/>
              <a:t>rFLAGS</a:t>
            </a:r>
            <a:r>
              <a:rPr lang="en-US" dirty="0"/>
              <a:t>)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1172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7A41C-71FC-DA86-0423-07D01A59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2B5023A-E45B-BDC3-3B53-03DEFB5C8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DE70B4E-7929-CC4C-AC74-905310A9A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20</a:t>
            </a:fld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67B1B7F-BF8D-1493-0C41-E4630FA60CFC}"/>
              </a:ext>
            </a:extLst>
          </p:cNvPr>
          <p:cNvSpPr txBox="1">
            <a:spLocks/>
          </p:cNvSpPr>
          <p:nvPr/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1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e-IL" dirty="0"/>
              <a:t>חישוב קשת של מעגל</a:t>
            </a:r>
          </a:p>
        </p:txBody>
      </p:sp>
      <p:sp>
        <p:nvSpPr>
          <p:cNvPr id="7" name="מציין מיקום תוכן 2">
            <a:extLst>
              <a:ext uri="{FF2B5EF4-FFF2-40B4-BE49-F238E27FC236}">
                <a16:creationId xmlns:a16="http://schemas.microsoft.com/office/drawing/2014/main" id="{AB2EA098-5965-D75F-26CB-A2980783F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pPr algn="r"/>
            <a:r>
              <a:rPr lang="he-IL" dirty="0"/>
              <a:t>התוכנית מחשבת אורך קשת של 60 מעלות במעגל עם רדיוס 2.5 ומשווה אותה לאורך של המרחק (כלומר, הקו הישר) בין שתי הנקודות שיוצרות את הקשת</a:t>
            </a:r>
          </a:p>
          <a:p>
            <a:pPr algn="r"/>
            <a:r>
              <a:rPr lang="he-IL" dirty="0"/>
              <a:t>נראה שימוש בפונקציות טריגונומטריות</a:t>
            </a:r>
          </a:p>
        </p:txBody>
      </p:sp>
    </p:spTree>
    <p:extLst>
      <p:ext uri="{BB962C8B-B14F-4D97-AF65-F5344CB8AC3E}">
        <p14:creationId xmlns:p14="http://schemas.microsoft.com/office/powerpoint/2010/main" val="192325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A89D-3535-2FC0-5BB8-4C87E70F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8CC7977-387D-C3CE-2DCE-DB38AC853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9212DC7-BE84-8185-F3EA-45BCAAC0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21</a:t>
            </a:fld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5676C4F-4E49-FC8F-4A65-8B62AE36E550}"/>
              </a:ext>
            </a:extLst>
          </p:cNvPr>
          <p:cNvSpPr txBox="1">
            <a:spLocks/>
          </p:cNvSpPr>
          <p:nvPr/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1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e-IL" dirty="0"/>
              <a:t>חישוב קשת של מעגל - התוכנית</a:t>
            </a:r>
          </a:p>
        </p:txBody>
      </p:sp>
      <p:sp>
        <p:nvSpPr>
          <p:cNvPr id="7" name="מציין מיקום תוכן 2">
            <a:extLst>
              <a:ext uri="{FF2B5EF4-FFF2-40B4-BE49-F238E27FC236}">
                <a16:creationId xmlns:a16="http://schemas.microsoft.com/office/drawing/2014/main" id="{BFF6E995-1526-C717-AF41-11F6C49B8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pPr algn="r"/>
            <a:r>
              <a:rPr lang="he-IL" dirty="0"/>
              <a:t>1. התוכנית מחשבת את אורך הקשת</a:t>
            </a:r>
          </a:p>
          <a:p>
            <a:pPr algn="r"/>
            <a:r>
              <a:rPr lang="he-IL" dirty="0"/>
              <a:t>2. התוכנית מחשבת את שתי הנקודות לפי הנוסחה</a:t>
            </a:r>
          </a:p>
          <a:p>
            <a:pPr algn="l" rtl="0"/>
            <a:r>
              <a:rPr lang="en-US" dirty="0"/>
              <a:t>Point 1 (0):        x1 = R * cos(0),        y1 = R * sin(0)</a:t>
            </a:r>
          </a:p>
          <a:p>
            <a:pPr algn="l" rtl="0"/>
            <a:r>
              <a:rPr lang="en-US" dirty="0"/>
              <a:t>Point 2 (pi/3):   x2 = R * cos(pi/3),   y2 = R * sin(pi/3)</a:t>
            </a:r>
          </a:p>
          <a:p>
            <a:r>
              <a:rPr lang="he-IL" dirty="0"/>
              <a:t>3. התוכנית מחשבת את אורך </a:t>
            </a:r>
            <a:r>
              <a:rPr lang="en-US" dirty="0"/>
              <a:t>P1P2</a:t>
            </a:r>
          </a:p>
          <a:p>
            <a:r>
              <a:rPr lang="he-IL" dirty="0"/>
              <a:t>4. התוכנית מדפיסה את </a:t>
            </a:r>
            <a:r>
              <a:rPr lang="he-IL" dirty="0" err="1"/>
              <a:t>הכל</a:t>
            </a:r>
            <a:r>
              <a:rPr lang="he-IL" dirty="0"/>
              <a:t> ויוצאת</a:t>
            </a:r>
          </a:p>
        </p:txBody>
      </p:sp>
    </p:spTree>
    <p:extLst>
      <p:ext uri="{BB962C8B-B14F-4D97-AF65-F5344CB8AC3E}">
        <p14:creationId xmlns:p14="http://schemas.microsoft.com/office/powerpoint/2010/main" val="328019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F1C0-53FF-1A7D-5B62-0137C391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68772D9-E695-934A-8D15-7CD895865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8EA8043-6D71-093F-D096-CB72FFE4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22</a:t>
            </a:fld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211793E-42C5-35B1-D571-3BB854E02DCF}"/>
              </a:ext>
            </a:extLst>
          </p:cNvPr>
          <p:cNvSpPr txBox="1">
            <a:spLocks/>
          </p:cNvSpPr>
          <p:nvPr/>
        </p:nvSpPr>
        <p:spPr>
          <a:xfrm>
            <a:off x="1295402" y="179699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1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e-IL" dirty="0"/>
              <a:t>הגדרת משתנים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39FE61A9-9C63-7AA4-6E86-F4730C4D8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11" y="1178294"/>
            <a:ext cx="8745178" cy="493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2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0F99C-7777-1867-AB91-31A7C29B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7490782-97B1-3439-A67B-F5F0E36F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67C636A-989D-6FF5-91EB-6139A435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23</a:t>
            </a:fld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5E217CF-1877-EF83-0426-8D22363167F8}"/>
              </a:ext>
            </a:extLst>
          </p:cNvPr>
          <p:cNvSpPr txBox="1">
            <a:spLocks/>
          </p:cNvSpPr>
          <p:nvPr/>
        </p:nvSpPr>
        <p:spPr>
          <a:xfrm>
            <a:off x="1295402" y="179699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1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e-IL" dirty="0"/>
              <a:t>תחילת התוכנית וחישוב אורך הקשת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7D44FCBC-F402-FE90-F677-541FE8D99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52" y="1320885"/>
            <a:ext cx="10726647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23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DCAA3-86FB-9776-24FE-5A35EDF35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A9B140E-71B7-1A07-3BF6-B92783E22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653BC72-C81A-DC54-4781-9807988DB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24</a:t>
            </a:fld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D4676906-383E-A0DF-599E-87AB56C8B111}"/>
              </a:ext>
            </a:extLst>
          </p:cNvPr>
          <p:cNvSpPr txBox="1">
            <a:spLocks/>
          </p:cNvSpPr>
          <p:nvPr/>
        </p:nvSpPr>
        <p:spPr>
          <a:xfrm>
            <a:off x="1295402" y="179699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1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e-IL" dirty="0"/>
              <a:t>חישוב הנקודות </a:t>
            </a:r>
            <a:r>
              <a:rPr lang="en-US" dirty="0"/>
              <a:t>(P1, P2)</a:t>
            </a:r>
            <a:endParaRPr lang="he-IL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C0378543-1DD2-FDC3-1779-B2D38FAA3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480" y="1483566"/>
            <a:ext cx="8623039" cy="475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13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35F74-AC77-D90B-D074-8D4A3944C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ECD2264-A38A-9AED-D92E-87D83D1DD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EC7A3F6-55AF-A00F-7260-554A88F3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25</a:t>
            </a:fld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0BDB90C-7FB0-27B1-B121-F3054EF0BD68}"/>
              </a:ext>
            </a:extLst>
          </p:cNvPr>
          <p:cNvSpPr txBox="1">
            <a:spLocks/>
          </p:cNvSpPr>
          <p:nvPr/>
        </p:nvSpPr>
        <p:spPr>
          <a:xfrm>
            <a:off x="1295402" y="179699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1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e-IL" dirty="0"/>
              <a:t>הדפסות ויציאה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4BA36880-A3A3-53EF-9F98-824567102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923" y="1299334"/>
            <a:ext cx="9836154" cy="480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43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95402" y="972801"/>
            <a:ext cx="9601196" cy="1303867"/>
          </a:xfrm>
        </p:spPr>
        <p:txBody>
          <a:bodyPr/>
          <a:lstStyle/>
          <a:p>
            <a:r>
              <a:rPr lang="he-IL" dirty="0"/>
              <a:t>אינטרפולציית </a:t>
            </a:r>
            <a:r>
              <a:rPr lang="he-IL" dirty="0" err="1"/>
              <a:t>לגרנז</a:t>
            </a:r>
            <a:r>
              <a:rPr lang="en-US" dirty="0"/>
              <a:t>'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נתונות </a:t>
            </a:r>
            <a:r>
              <a:rPr lang="en-US" dirty="0"/>
              <a:t>n+1</a:t>
            </a:r>
            <a:r>
              <a:rPr lang="he-IL" dirty="0"/>
              <a:t> נקודות:  </a:t>
            </a:r>
            <a:r>
              <a:rPr lang="en-US" dirty="0"/>
              <a:t> (x0,y0), (x1,y1), …, (</a:t>
            </a:r>
            <a:r>
              <a:rPr lang="en-US" dirty="0" err="1"/>
              <a:t>xn,yn</a:t>
            </a:r>
            <a:r>
              <a:rPr lang="en-US" dirty="0"/>
              <a:t>),</a:t>
            </a:r>
          </a:p>
          <a:p>
            <a:r>
              <a:rPr lang="he-IL" dirty="0"/>
              <a:t>המשימה : מצא פולינום </a:t>
            </a:r>
            <a:r>
              <a:rPr lang="en-US" dirty="0"/>
              <a:t>P(x)</a:t>
            </a:r>
            <a:r>
              <a:rPr lang="he-IL" dirty="0"/>
              <a:t>  ממעלה </a:t>
            </a:r>
            <a:r>
              <a:rPr lang="en-US" dirty="0"/>
              <a:t>n</a:t>
            </a:r>
            <a:r>
              <a:rPr lang="he-IL" dirty="0"/>
              <a:t> אשר עובר בין כל הנקודות הנ"ל  כלומר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dirty="0"/>
              <a:t>P(x0)=y0, P(x1)=y1 …….P(</a:t>
            </a:r>
            <a:r>
              <a:rPr lang="en-US" dirty="0" err="1"/>
              <a:t>xn</a:t>
            </a:r>
            <a:r>
              <a:rPr lang="en-US" dirty="0"/>
              <a:t>)=</a:t>
            </a:r>
            <a:r>
              <a:rPr lang="en-US" dirty="0" err="1"/>
              <a:t>yn</a:t>
            </a:r>
            <a:endParaRPr lang="en-US" dirty="0"/>
          </a:p>
          <a:p>
            <a:pPr algn="r"/>
            <a:r>
              <a:rPr lang="he-IL" dirty="0"/>
              <a:t>בשלב ראשון מגדירים אוסף  פולינומים יסודיים של </a:t>
            </a:r>
            <a:r>
              <a:rPr lang="he-IL" dirty="0" err="1"/>
              <a:t>לגרנז</a:t>
            </a:r>
            <a:r>
              <a:rPr lang="en-US" dirty="0"/>
              <a:t>'</a:t>
            </a:r>
            <a:r>
              <a:rPr lang="he-IL" dirty="0"/>
              <a:t> :</a:t>
            </a:r>
            <a:r>
              <a:rPr lang="en-US" dirty="0"/>
              <a:t> </a:t>
            </a:r>
            <a:endParaRPr lang="he-IL" dirty="0"/>
          </a:p>
          <a:p>
            <a:pPr algn="l" rtl="0"/>
            <a:endParaRPr lang="he-IL" dirty="0"/>
          </a:p>
          <a:p>
            <a:pPr algn="r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26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727" y="4577919"/>
            <a:ext cx="8694543" cy="156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8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אינטרפולציית </a:t>
            </a:r>
            <a:r>
              <a:rPr lang="he-IL" dirty="0" err="1"/>
              <a:t>לגרנז</a:t>
            </a:r>
            <a:r>
              <a:rPr lang="he-IL" dirty="0"/>
              <a:t>'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בשלב שני מגדירים את פולינום האינטרפולציה כצירוף ליניארי של הפולינומים היסודיים של </a:t>
            </a:r>
            <a:r>
              <a:rPr lang="he-IL" dirty="0" err="1"/>
              <a:t>לגרנז</a:t>
            </a:r>
            <a:r>
              <a:rPr lang="en-US" dirty="0"/>
              <a:t>'</a:t>
            </a:r>
            <a:r>
              <a:rPr lang="he-IL" dirty="0"/>
              <a:t> באופן הבא :</a:t>
            </a:r>
            <a:r>
              <a:rPr lang="en-US" dirty="0"/>
              <a:t> </a:t>
            </a:r>
            <a:endParaRPr lang="he-IL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27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934" y="3498762"/>
            <a:ext cx="6144482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2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דוגמא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נגדיר 3 נקודות : (0,1), (1,2), (2,5)</a:t>
            </a:r>
          </a:p>
          <a:p>
            <a:r>
              <a:rPr lang="he-IL" dirty="0"/>
              <a:t>לכן הפולינומים היסודיים של </a:t>
            </a:r>
            <a:r>
              <a:rPr lang="he-IL" dirty="0" err="1"/>
              <a:t>לגרנז</a:t>
            </a:r>
            <a:r>
              <a:rPr lang="en-US" dirty="0"/>
              <a:t>'</a:t>
            </a:r>
            <a:r>
              <a:rPr lang="he-IL" dirty="0"/>
              <a:t> יהיו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dirty="0"/>
              <a:t>L0(x) = (x–1)(x–2)/((0–1)(0–2)) = (x–1)(x–2)/2    </a:t>
            </a:r>
          </a:p>
          <a:p>
            <a:pPr algn="l" rtl="0"/>
            <a:r>
              <a:rPr lang="en-US" dirty="0"/>
              <a:t>L1(x) = (x–0)(x–2)/((1–0)(1–2)) = x(x–2)/(–1)</a:t>
            </a:r>
          </a:p>
          <a:p>
            <a:pPr algn="l" rtl="0"/>
            <a:r>
              <a:rPr lang="en-US" dirty="0"/>
              <a:t>L2(x) = (x–0)(x–1)/((2–0)(2–1)) = x(x–1)/2</a:t>
            </a:r>
          </a:p>
          <a:p>
            <a:pPr algn="r"/>
            <a:r>
              <a:rPr lang="he-IL" dirty="0"/>
              <a:t>ופולינום האינטרפולציה יהיה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dirty="0"/>
              <a:t>P(x)   = 1·L0 + 2·L1 + 5·L2  = x² – x + 1 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030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האסטרטגיה של התכנית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ניצור לולאה חיצונית שתרוץ : </a:t>
            </a:r>
            <a:r>
              <a:rPr lang="en-US" dirty="0" err="1"/>
              <a:t>i</a:t>
            </a:r>
            <a:r>
              <a:rPr lang="en-US" dirty="0"/>
              <a:t>=0….n</a:t>
            </a:r>
            <a:r>
              <a:rPr lang="he-IL" dirty="0"/>
              <a:t> </a:t>
            </a:r>
          </a:p>
          <a:p>
            <a:r>
              <a:rPr lang="he-IL" dirty="0"/>
              <a:t>בתוך הלולאה החיצונית ניצור לולאה פנימית : </a:t>
            </a:r>
            <a:r>
              <a:rPr lang="en-US" dirty="0"/>
              <a:t>j=0….n</a:t>
            </a:r>
            <a:r>
              <a:rPr lang="he-IL" dirty="0"/>
              <a:t> כך ש </a:t>
            </a:r>
            <a:r>
              <a:rPr lang="en-US" dirty="0" err="1"/>
              <a:t>j≠i</a:t>
            </a:r>
            <a:endParaRPr lang="he-IL" dirty="0"/>
          </a:p>
          <a:p>
            <a:r>
              <a:rPr lang="he-IL" dirty="0"/>
              <a:t>   בכל שלב של הלולאה הפנימית נחשב את ערך הביטוי : </a:t>
            </a:r>
            <a:r>
              <a:rPr lang="en-US" dirty="0"/>
              <a:t>(x – </a:t>
            </a:r>
            <a:r>
              <a:rPr lang="en-US" dirty="0" err="1"/>
              <a:t>xj</a:t>
            </a:r>
            <a:r>
              <a:rPr lang="en-US" dirty="0"/>
              <a:t>)/(xi – </a:t>
            </a:r>
            <a:r>
              <a:rPr lang="en-US" dirty="0" err="1"/>
              <a:t>xj</a:t>
            </a:r>
            <a:r>
              <a:rPr lang="en-US" dirty="0"/>
              <a:t>) </a:t>
            </a:r>
            <a:r>
              <a:rPr lang="he-IL" dirty="0"/>
              <a:t> תוך שימוש בפקודות של  </a:t>
            </a:r>
            <a:r>
              <a:rPr lang="en-US" dirty="0"/>
              <a:t>x87</a:t>
            </a:r>
            <a:r>
              <a:rPr lang="he-IL" dirty="0"/>
              <a:t> , נכפול בערך של </a:t>
            </a:r>
            <a:r>
              <a:rPr lang="en-US" dirty="0" err="1"/>
              <a:t>yi</a:t>
            </a:r>
            <a:r>
              <a:rPr lang="he-IL" dirty="0"/>
              <a:t> ונסכם את הערך אל סכום מצטבר </a:t>
            </a:r>
          </a:p>
          <a:p>
            <a:r>
              <a:rPr lang="he-IL" dirty="0"/>
              <a:t>הסכום המצטבר הוא ערכו של פולינום האינטרפולציה המבוקש והוא נמצא ב </a:t>
            </a:r>
            <a:r>
              <a:rPr lang="en-US" dirty="0" err="1"/>
              <a:t>st</a:t>
            </a:r>
            <a:r>
              <a:rPr lang="en-US" dirty="0"/>
              <a:t>(0)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29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901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הסבר חלקים קריטיים בתכנית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שיעורי הנקודות </a:t>
            </a:r>
            <a:r>
              <a:rPr lang="en-US" dirty="0" err="1"/>
              <a:t>xs,ys</a:t>
            </a:r>
            <a:r>
              <a:rPr lang="he-IL" dirty="0"/>
              <a:t> מוגדרים כ 8 בתים משום ש </a:t>
            </a:r>
            <a:r>
              <a:rPr lang="en-US" dirty="0"/>
              <a:t>x87   </a:t>
            </a:r>
            <a:r>
              <a:rPr lang="he-IL" dirty="0"/>
              <a:t>   עובד עם 8 בתים. </a:t>
            </a:r>
          </a:p>
          <a:p>
            <a:r>
              <a:rPr lang="en-US" dirty="0" err="1"/>
              <a:t>Xs</a:t>
            </a:r>
            <a:r>
              <a:rPr lang="en-US" dirty="0"/>
              <a:t>[0]</a:t>
            </a:r>
            <a:r>
              <a:rPr lang="he-IL" dirty="0"/>
              <a:t> מצביע על שיעור </a:t>
            </a:r>
            <a:r>
              <a:rPr lang="en-US" dirty="0"/>
              <a:t>X</a:t>
            </a:r>
            <a:r>
              <a:rPr lang="he-IL" dirty="0"/>
              <a:t> של הנקודה הראשונה ו </a:t>
            </a:r>
            <a:r>
              <a:rPr lang="en-US" dirty="0" err="1"/>
              <a:t>Xs</a:t>
            </a:r>
            <a:r>
              <a:rPr lang="en-US" dirty="0"/>
              <a:t>[1]</a:t>
            </a:r>
            <a:r>
              <a:rPr lang="he-IL" dirty="0"/>
              <a:t> נמצא 8 כתובות קדימה ומייצב את שיעור </a:t>
            </a:r>
            <a:r>
              <a:rPr lang="en-US" dirty="0"/>
              <a:t>X</a:t>
            </a:r>
            <a:r>
              <a:rPr lang="he-IL" dirty="0"/>
              <a:t> של הנקודה </a:t>
            </a:r>
            <a:r>
              <a:rPr lang="he-IL" dirty="0" err="1"/>
              <a:t>השניה</a:t>
            </a:r>
            <a:r>
              <a:rPr lang="he-IL" dirty="0"/>
              <a:t> </a:t>
            </a:r>
            <a:r>
              <a:rPr lang="he-IL" dirty="0" err="1"/>
              <a:t>וכו</a:t>
            </a:r>
            <a:r>
              <a:rPr lang="en-US" dirty="0"/>
              <a:t>'</a:t>
            </a:r>
            <a:endParaRPr lang="he-IL" dirty="0"/>
          </a:p>
          <a:p>
            <a:r>
              <a:rPr lang="he-IL" dirty="0"/>
              <a:t>בהמשך בחלק של </a:t>
            </a:r>
            <a:r>
              <a:rPr lang="en-US" dirty="0" err="1"/>
              <a:t>compute_p</a:t>
            </a:r>
            <a:r>
              <a:rPr lang="he-IL" dirty="0"/>
              <a:t> נשמרים במחסנית 4 אוגרים : </a:t>
            </a:r>
            <a:r>
              <a:rPr lang="en-US" dirty="0" err="1"/>
              <a:t>rbx</a:t>
            </a:r>
            <a:r>
              <a:rPr lang="en-US" dirty="0"/>
              <a:t>, r14 r15</a:t>
            </a:r>
            <a:r>
              <a:rPr lang="he-IL" dirty="0"/>
              <a:t> כאשר </a:t>
            </a:r>
            <a:r>
              <a:rPr lang="en-US" dirty="0" err="1"/>
              <a:t>rbx</a:t>
            </a:r>
            <a:r>
              <a:rPr lang="he-IL" dirty="0"/>
              <a:t> מכיל את משתנה הלולאה </a:t>
            </a:r>
            <a:r>
              <a:rPr lang="en-US" dirty="0" err="1"/>
              <a:t>i</a:t>
            </a:r>
            <a:r>
              <a:rPr lang="he-IL" dirty="0"/>
              <a:t>, </a:t>
            </a:r>
            <a:r>
              <a:rPr lang="en-US" dirty="0"/>
              <a:t>r15=j </a:t>
            </a:r>
            <a:r>
              <a:rPr lang="he-IL" dirty="0"/>
              <a:t> ואילו </a:t>
            </a:r>
            <a:r>
              <a:rPr lang="en-US" dirty="0"/>
              <a:t>r14</a:t>
            </a:r>
            <a:r>
              <a:rPr lang="he-IL" dirty="0"/>
              <a:t> כתובת לאחסון. </a:t>
            </a: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30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441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הסבר חלקים קריטיים בתכנית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החלק הבא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b="1" dirty="0" err="1"/>
              <a:t>fldz</a:t>
            </a:r>
            <a:r>
              <a:rPr lang="en-US" b="1" dirty="0"/>
              <a:t>        ; pushes the constant +0.0 onto the FPU stack.</a:t>
            </a:r>
          </a:p>
          <a:p>
            <a:pPr algn="l" rtl="0"/>
            <a:r>
              <a:rPr lang="en-US" b="1" dirty="0"/>
              <a:t>fstp    qword [total]     ; total = 0.0 , stores ST0 into memory and POPS the stack.    </a:t>
            </a:r>
          </a:p>
          <a:p>
            <a:pPr algn="l" rtl="0"/>
            <a:r>
              <a:rPr lang="en-US" b="1" dirty="0"/>
              <a:t> </a:t>
            </a:r>
            <a:r>
              <a:rPr lang="en-US" b="1" dirty="0" err="1"/>
              <a:t>fldz</a:t>
            </a:r>
            <a:r>
              <a:rPr lang="en-US" b="1" dirty="0"/>
              <a:t>      </a:t>
            </a:r>
          </a:p>
          <a:p>
            <a:pPr algn="l" rtl="0"/>
            <a:r>
              <a:rPr lang="en-US" b="1" dirty="0"/>
              <a:t>fstp    qword [unity]     ; unity = 0.0</a:t>
            </a:r>
          </a:p>
          <a:p>
            <a:pPr algn="r"/>
            <a:r>
              <a:rPr lang="he-IL" dirty="0"/>
              <a:t>האיפוס הכפול נעשה בשל שיקולים של </a:t>
            </a:r>
            <a:r>
              <a:rPr lang="en-US" dirty="0"/>
              <a:t>x87</a:t>
            </a:r>
            <a:r>
              <a:rPr lang="he-IL" dirty="0"/>
              <a:t> </a:t>
            </a:r>
            <a:endParaRPr lang="en-US" dirty="0"/>
          </a:p>
          <a:p>
            <a:pPr marL="0" indent="0" algn="r">
              <a:buNone/>
            </a:pP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31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650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הסבר חלקים קריטיים בתכנית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הרצף הבא מטרתו ליצור ערך של 1 במחסנית כדי שהכפל המצטבר יתבצע נכון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dirty="0"/>
              <a:t> </a:t>
            </a:r>
            <a:r>
              <a:rPr lang="en-US" b="1" dirty="0"/>
              <a:t>fld1      </a:t>
            </a:r>
          </a:p>
          <a:p>
            <a:pPr algn="l" rtl="0"/>
            <a:r>
              <a:rPr lang="en-US" b="1" dirty="0"/>
              <a:t>fstp    qword [</a:t>
            </a:r>
            <a:r>
              <a:rPr lang="en-US" b="1" dirty="0" err="1"/>
              <a:t>num</a:t>
            </a:r>
            <a:r>
              <a:rPr lang="en-US" b="1" dirty="0"/>
              <a:t>]       ; </a:t>
            </a:r>
            <a:r>
              <a:rPr lang="en-US" b="1" dirty="0" err="1"/>
              <a:t>num</a:t>
            </a:r>
            <a:r>
              <a:rPr lang="en-US" b="1" dirty="0"/>
              <a:t> = 1.0  </a:t>
            </a:r>
          </a:p>
          <a:p>
            <a:pPr algn="l" rtl="0"/>
            <a:r>
              <a:rPr lang="en-US" b="1" dirty="0"/>
              <a:t>  fld1     </a:t>
            </a:r>
          </a:p>
          <a:p>
            <a:pPr algn="l" rtl="0"/>
            <a:r>
              <a:rPr lang="en-US" b="1" dirty="0"/>
              <a:t> fstp    qword [den]       ; den = 1.0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32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868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אוגרים קריטיים לתכנית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 rtl="0"/>
            <a:r>
              <a:rPr lang="en-US" dirty="0"/>
              <a:t>REGISTERS USED:   </a:t>
            </a:r>
          </a:p>
          <a:p>
            <a:pPr algn="l" rtl="0"/>
            <a:r>
              <a:rPr lang="en-US" dirty="0"/>
              <a:t>      </a:t>
            </a:r>
            <a:r>
              <a:rPr lang="en-US" dirty="0" err="1"/>
              <a:t>rsi</a:t>
            </a:r>
            <a:r>
              <a:rPr lang="en-US" dirty="0"/>
              <a:t> = outer loop index  </a:t>
            </a:r>
            <a:r>
              <a:rPr lang="en-US" dirty="0" err="1"/>
              <a:t>i</a:t>
            </a:r>
            <a:r>
              <a:rPr lang="en-US" dirty="0"/>
              <a:t>  (0..N-1)</a:t>
            </a:r>
          </a:p>
          <a:p>
            <a:pPr algn="l" rtl="0"/>
            <a:r>
              <a:rPr lang="en-US" dirty="0"/>
              <a:t>       </a:t>
            </a:r>
            <a:r>
              <a:rPr lang="en-US" dirty="0" err="1"/>
              <a:t>rdi</a:t>
            </a:r>
            <a:r>
              <a:rPr lang="en-US" dirty="0"/>
              <a:t> = inner loop index  j  (0..N-1)</a:t>
            </a:r>
          </a:p>
          <a:p>
            <a:pPr algn="l" rtl="0"/>
            <a:r>
              <a:rPr lang="en-US" dirty="0"/>
              <a:t>       </a:t>
            </a:r>
            <a:r>
              <a:rPr lang="en-US" dirty="0" err="1"/>
              <a:t>rcx</a:t>
            </a:r>
            <a:r>
              <a:rPr lang="en-US" dirty="0"/>
              <a:t> = loop counter</a:t>
            </a:r>
          </a:p>
          <a:p>
            <a:pPr marL="0" indent="0" algn="l" rtl="0">
              <a:buNone/>
            </a:pPr>
            <a:r>
              <a:rPr lang="en-US" dirty="0"/>
              <a:t>  x87 STACK at inner loop body: </a:t>
            </a:r>
          </a:p>
          <a:p>
            <a:pPr marL="0" indent="0" algn="l" rtl="0">
              <a:buNone/>
            </a:pPr>
            <a:r>
              <a:rPr lang="en-US" dirty="0"/>
              <a:t>        ST(0) = running numerator product  (x – </a:t>
            </a:r>
            <a:r>
              <a:rPr lang="en-US" dirty="0" err="1"/>
              <a:t>xj</a:t>
            </a:r>
            <a:r>
              <a:rPr lang="en-US" dirty="0"/>
              <a:t>)</a:t>
            </a:r>
          </a:p>
          <a:p>
            <a:pPr marL="0" indent="0" algn="l" rtl="0">
              <a:buNone/>
            </a:pPr>
            <a:r>
              <a:rPr lang="en-US" dirty="0"/>
              <a:t>        ST(1) = running denominator product(xi – </a:t>
            </a:r>
            <a:r>
              <a:rPr lang="en-US" dirty="0" err="1"/>
              <a:t>xj</a:t>
            </a:r>
            <a:r>
              <a:rPr lang="en-US" dirty="0"/>
              <a:t>)</a:t>
            </a:r>
          </a:p>
          <a:p>
            <a:pPr marL="0" indent="0" algn="l" rtl="0">
              <a:buNone/>
            </a:pPr>
            <a:r>
              <a:rPr lang="en-US" dirty="0"/>
              <a:t>        ST(2) = x   (the query point, kept on stack) </a:t>
            </a:r>
          </a:p>
          <a:p>
            <a:pPr marL="0" indent="0" algn="l" rtl="0">
              <a:buNone/>
            </a:pPr>
            <a:r>
              <a:rPr lang="en-US" dirty="0"/>
              <a:t>        ST(3) = accumulator (sum of </a:t>
            </a:r>
            <a:r>
              <a:rPr lang="en-US" dirty="0" err="1"/>
              <a:t>yi</a:t>
            </a:r>
            <a:r>
              <a:rPr lang="en-US" dirty="0"/>
              <a:t> * Li(x))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33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322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אלגוריתם הלולאה הפנימית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 rtl="0"/>
            <a:r>
              <a:rPr lang="en-US" dirty="0"/>
              <a:t> </a:t>
            </a:r>
            <a:r>
              <a:rPr lang="en-US" b="1" dirty="0"/>
              <a:t>if j == i: skip</a:t>
            </a:r>
          </a:p>
          <a:p>
            <a:pPr algn="l" rtl="0"/>
            <a:r>
              <a:rPr lang="en-US" b="1" dirty="0"/>
              <a:t>    </a:t>
            </a:r>
            <a:r>
              <a:rPr lang="en-US" b="1" dirty="0" err="1"/>
              <a:t>fld</a:t>
            </a:r>
            <a:r>
              <a:rPr lang="en-US" b="1" dirty="0"/>
              <a:t> qword [</a:t>
            </a:r>
            <a:r>
              <a:rPr lang="en-US" b="1" dirty="0" err="1"/>
              <a:t>xs</a:t>
            </a:r>
            <a:r>
              <a:rPr lang="en-US" b="1" dirty="0"/>
              <a:t> + j*8]     ; push </a:t>
            </a:r>
            <a:r>
              <a:rPr lang="en-US" b="1" dirty="0" err="1"/>
              <a:t>x_j</a:t>
            </a:r>
            <a:r>
              <a:rPr lang="en-US" b="1" dirty="0"/>
              <a:t> </a:t>
            </a:r>
          </a:p>
          <a:p>
            <a:pPr algn="l" rtl="0"/>
            <a:r>
              <a:rPr lang="en-US" b="1" dirty="0"/>
              <a:t>       </a:t>
            </a:r>
            <a:r>
              <a:rPr lang="en-US" b="1" dirty="0" err="1"/>
              <a:t>fld</a:t>
            </a:r>
            <a:r>
              <a:rPr lang="en-US" b="1" dirty="0"/>
              <a:t> st2                  ; copy x on top </a:t>
            </a:r>
          </a:p>
          <a:p>
            <a:pPr algn="l" rtl="0"/>
            <a:r>
              <a:rPr lang="en-US" b="1" dirty="0"/>
              <a:t>        </a:t>
            </a:r>
            <a:r>
              <a:rPr lang="en-US" b="1" dirty="0" err="1"/>
              <a:t>fsub</a:t>
            </a:r>
            <a:r>
              <a:rPr lang="en-US" b="1" dirty="0"/>
              <a:t> st0, st1            ; x – </a:t>
            </a:r>
            <a:r>
              <a:rPr lang="en-US" b="1" dirty="0" err="1"/>
              <a:t>x_j</a:t>
            </a:r>
            <a:r>
              <a:rPr lang="en-US" b="1" dirty="0"/>
              <a:t>  → numerator factor </a:t>
            </a:r>
          </a:p>
          <a:p>
            <a:pPr algn="l" rtl="0"/>
            <a:r>
              <a:rPr lang="en-US" b="1" dirty="0"/>
              <a:t>        fmul &lt;</a:t>
            </a:r>
            <a:r>
              <a:rPr lang="en-US" b="1" dirty="0" err="1"/>
              <a:t>num_accum</a:t>
            </a:r>
            <a:r>
              <a:rPr lang="en-US" b="1" dirty="0"/>
              <a:t>&gt;         ; multiply into numerator </a:t>
            </a:r>
          </a:p>
          <a:p>
            <a:pPr algn="l" rtl="0"/>
            <a:r>
              <a:rPr lang="en-US" b="1" dirty="0"/>
              <a:t>        </a:t>
            </a:r>
            <a:r>
              <a:rPr lang="en-US" b="1" dirty="0" err="1"/>
              <a:t>fld</a:t>
            </a:r>
            <a:r>
              <a:rPr lang="en-US" b="1" dirty="0"/>
              <a:t> qword [</a:t>
            </a:r>
            <a:r>
              <a:rPr lang="en-US" b="1" dirty="0" err="1"/>
              <a:t>xs</a:t>
            </a:r>
            <a:r>
              <a:rPr lang="en-US" b="1" dirty="0"/>
              <a:t> + </a:t>
            </a:r>
            <a:r>
              <a:rPr lang="en-US" b="1" dirty="0" err="1"/>
              <a:t>i</a:t>
            </a:r>
            <a:r>
              <a:rPr lang="en-US" b="1" dirty="0"/>
              <a:t>*8]     ; </a:t>
            </a:r>
            <a:r>
              <a:rPr lang="en-US" b="1" dirty="0" err="1"/>
              <a:t>x_i</a:t>
            </a:r>
            <a:r>
              <a:rPr lang="en-US" b="1" dirty="0"/>
              <a:t>    </a:t>
            </a:r>
          </a:p>
          <a:p>
            <a:pPr algn="l" rtl="0"/>
            <a:r>
              <a:rPr lang="en-US" b="1" dirty="0"/>
              <a:t>        </a:t>
            </a:r>
            <a:r>
              <a:rPr lang="en-US" b="1" dirty="0" err="1"/>
              <a:t>fsubr</a:t>
            </a:r>
            <a:r>
              <a:rPr lang="en-US" b="1" dirty="0"/>
              <a:t> st0, st1           ; </a:t>
            </a:r>
            <a:r>
              <a:rPr lang="en-US" b="1" dirty="0" err="1"/>
              <a:t>x_i</a:t>
            </a:r>
            <a:r>
              <a:rPr lang="en-US" b="1" dirty="0"/>
              <a:t> – </a:t>
            </a:r>
            <a:r>
              <a:rPr lang="en-US" b="1" dirty="0" err="1"/>
              <a:t>x_j</a:t>
            </a:r>
            <a:r>
              <a:rPr lang="en-US" b="1" dirty="0"/>
              <a:t> → denominator factor  </a:t>
            </a:r>
          </a:p>
          <a:p>
            <a:pPr algn="l" rtl="0"/>
            <a:r>
              <a:rPr lang="en-US" b="1" dirty="0"/>
              <a:t>        fmul &lt;</a:t>
            </a:r>
            <a:r>
              <a:rPr lang="en-US" b="1" dirty="0" err="1"/>
              <a:t>den_accum</a:t>
            </a:r>
            <a:r>
              <a:rPr lang="en-US" b="1" dirty="0"/>
              <a:t>&gt;         ; multiply into denominator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34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24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לאחר סיום הלולאה הפנימית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 </a:t>
            </a:r>
            <a:r>
              <a:rPr lang="en-US" b="1" dirty="0" err="1"/>
              <a:t>fdivp</a:t>
            </a:r>
            <a:r>
              <a:rPr lang="en-US" b="1" dirty="0"/>
              <a:t>                    ; </a:t>
            </a:r>
            <a:r>
              <a:rPr lang="en-US" b="1" dirty="0" err="1"/>
              <a:t>L_i</a:t>
            </a:r>
            <a:r>
              <a:rPr lang="en-US" b="1" dirty="0"/>
              <a:t>(x) = </a:t>
            </a:r>
            <a:r>
              <a:rPr lang="en-US" b="1" dirty="0" err="1"/>
              <a:t>num</a:t>
            </a:r>
            <a:r>
              <a:rPr lang="en-US" b="1" dirty="0"/>
              <a:t> / den  </a:t>
            </a:r>
          </a:p>
          <a:p>
            <a:pPr algn="l" rtl="0"/>
            <a:r>
              <a:rPr lang="en-US" b="1" dirty="0"/>
              <a:t>  fmul qword [</a:t>
            </a:r>
            <a:r>
              <a:rPr lang="en-US" b="1" dirty="0" err="1"/>
              <a:t>ys</a:t>
            </a:r>
            <a:r>
              <a:rPr lang="en-US" b="1" dirty="0"/>
              <a:t> + </a:t>
            </a:r>
            <a:r>
              <a:rPr lang="en-US" b="1" dirty="0" err="1"/>
              <a:t>i</a:t>
            </a:r>
            <a:r>
              <a:rPr lang="en-US" b="1" dirty="0"/>
              <a:t>*8]   ; </a:t>
            </a:r>
            <a:r>
              <a:rPr lang="en-US" b="1" dirty="0" err="1"/>
              <a:t>y_i</a:t>
            </a:r>
            <a:r>
              <a:rPr lang="en-US" b="1" dirty="0"/>
              <a:t> * </a:t>
            </a:r>
            <a:r>
              <a:rPr lang="en-US" b="1" dirty="0" err="1"/>
              <a:t>L_i</a:t>
            </a:r>
            <a:r>
              <a:rPr lang="en-US" b="1" dirty="0"/>
              <a:t>(x)  </a:t>
            </a:r>
          </a:p>
          <a:p>
            <a:pPr algn="l" rtl="0"/>
            <a:r>
              <a:rPr lang="en-US" b="1" dirty="0"/>
              <a:t>   </a:t>
            </a:r>
            <a:r>
              <a:rPr lang="en-US" b="1" dirty="0" err="1"/>
              <a:t>fadd</a:t>
            </a:r>
            <a:r>
              <a:rPr lang="en-US" b="1" dirty="0"/>
              <a:t> &lt;sum&gt;               ; add to running total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35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899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שיטת גאוס לחישוב אינטגרל בנק</a:t>
            </a:r>
            <a:r>
              <a:rPr lang="en-US" dirty="0"/>
              <a:t>'</a:t>
            </a:r>
            <a:r>
              <a:rPr lang="he-IL" dirty="0"/>
              <a:t> צ</a:t>
            </a:r>
            <a:r>
              <a:rPr lang="en-US" dirty="0"/>
              <a:t>'</a:t>
            </a:r>
            <a:r>
              <a:rPr lang="he-IL" dirty="0" err="1"/>
              <a:t>בישב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dirty="0"/>
                  <a:t>המטרה – חישוב אינטגרל מסוים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he-IL" dirty="0"/>
              </a:p>
              <a:p>
                <a:r>
                  <a:rPr lang="he-IL" dirty="0"/>
                  <a:t>התהליך : בחר </a:t>
                </a:r>
                <a:r>
                  <a:rPr lang="en-US" dirty="0"/>
                  <a:t>n</a:t>
                </a:r>
                <a:r>
                  <a:rPr lang="he-IL" dirty="0"/>
                  <a:t> נקודות </a:t>
                </a:r>
                <a:r>
                  <a:rPr lang="en-US" dirty="0"/>
                  <a:t>x1…</a:t>
                </a:r>
                <a:r>
                  <a:rPr lang="en-US" dirty="0" err="1"/>
                  <a:t>xn</a:t>
                </a:r>
                <a:r>
                  <a:rPr lang="he-IL" dirty="0"/>
                  <a:t> ומשקלים מתאימים להן : </a:t>
                </a:r>
                <a:r>
                  <a:rPr lang="en-US" dirty="0"/>
                  <a:t>ω1,</a:t>
                </a:r>
                <a:r>
                  <a:rPr lang="el-GR" dirty="0"/>
                  <a:t>ω</a:t>
                </a:r>
                <a:r>
                  <a:rPr lang="en-US" dirty="0"/>
                  <a:t>2….</a:t>
                </a:r>
                <a:r>
                  <a:rPr lang="el-GR" dirty="0"/>
                  <a:t>ω</a:t>
                </a:r>
                <a:r>
                  <a:rPr lang="en-US" dirty="0"/>
                  <a:t>n</a:t>
                </a:r>
                <a:r>
                  <a:rPr lang="he-IL" dirty="0"/>
                  <a:t> כך ש </a:t>
                </a:r>
              </a:p>
              <a:p>
                <a:pPr algn="l" rtl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𝑑𝑥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sz="14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נקודות צ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'</a:t>
                </a:r>
                <a:r>
                  <a:rPr lang="he-IL" dirty="0" err="1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בישב</a:t>
                </a:r>
                <a:r>
                  <a:rPr lang="he-IL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הן שורשים של פונקציה </a:t>
                </a:r>
                <a:r>
                  <a:rPr lang="he-IL" dirty="0" err="1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קוסינוסואידלית</a:t>
                </a:r>
                <a:r>
                  <a:rPr lang="he-IL" dirty="0"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: </a:t>
                </a:r>
              </a:p>
              <a:p>
                <a:pPr algn="r">
                  <a:lnSpc>
                    <a:spcPct val="107000"/>
                  </a:lnSpc>
                  <a:spcAft>
                    <a:spcPts val="800"/>
                  </a:spcAft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r">
                  <a:lnSpc>
                    <a:spcPct val="107000"/>
                  </a:lnSpc>
                  <a:spcAft>
                    <a:spcPts val="800"/>
                  </a:spcAft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l" rtl="0"/>
                <a:endParaRPr lang="en-US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r="-120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36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17" y="4968735"/>
            <a:ext cx="3515216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24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שיטת גאוס לחישוב אינטגרל בנק' </a:t>
            </a:r>
            <a:r>
              <a:rPr lang="he-IL" dirty="0" err="1"/>
              <a:t>צ'בישב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>
              <a:xfrm>
                <a:off x="1295402" y="2650064"/>
                <a:ext cx="9601196" cy="3318936"/>
              </a:xfrm>
            </p:spPr>
            <p:txBody>
              <a:bodyPr/>
              <a:lstStyle/>
              <a:p>
                <a:r>
                  <a:rPr lang="he-IL" dirty="0"/>
                  <a:t>המשקלים של צ</a:t>
                </a:r>
                <a:r>
                  <a:rPr lang="en-US" dirty="0"/>
                  <a:t>'</a:t>
                </a:r>
                <a:r>
                  <a:rPr lang="he-IL" dirty="0" err="1"/>
                  <a:t>בישב</a:t>
                </a:r>
                <a:r>
                  <a:rPr lang="he-IL" dirty="0"/>
                  <a:t> הינם                   </a:t>
                </a:r>
              </a:p>
              <a:p>
                <a:r>
                  <a:rPr lang="he-IL" dirty="0"/>
                  <a:t>היות </a:t>
                </a:r>
                <a:r>
                  <a:rPr lang="he-IL" dirty="0" err="1"/>
                  <a:t>וצבישב</a:t>
                </a:r>
                <a:r>
                  <a:rPr lang="he-IL" dirty="0"/>
                  <a:t> מוגדר על הקטע </a:t>
                </a:r>
                <a:r>
                  <a:rPr lang="en-US" dirty="0"/>
                  <a:t>[-1,1]</a:t>
                </a:r>
                <a:r>
                  <a:rPr lang="he-IL" dirty="0"/>
                  <a:t> אזי אם נתון קטע </a:t>
                </a:r>
                <a:r>
                  <a:rPr lang="en-US" dirty="0"/>
                  <a:t>[</a:t>
                </a:r>
                <a:r>
                  <a:rPr lang="en-US" dirty="0" err="1"/>
                  <a:t>a,b</a:t>
                </a:r>
                <a:r>
                  <a:rPr lang="en-US" dirty="0"/>
                  <a:t>]</a:t>
                </a:r>
                <a:r>
                  <a:rPr lang="he-IL" dirty="0"/>
                  <a:t> יש לבצע התמרה:</a:t>
                </a:r>
              </a:p>
              <a:p>
                <a:pPr algn="l" rtl="0"/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algn="l" rtl="0"/>
                <a:endParaRPr lang="en-US" dirty="0"/>
              </a:p>
              <a:p>
                <a:pPr algn="l" rtl="0"/>
                <a:endParaRPr lang="en-US" dirty="0"/>
              </a:p>
              <a:p>
                <a:r>
                  <a:rPr lang="en-US" dirty="0"/>
                  <a:t>‘</a:t>
                </a: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2" y="2650064"/>
                <a:ext cx="9601196" cy="3318936"/>
              </a:xfrm>
              <a:blipFill rotWithShape="0">
                <a:blip r:embed="rId2"/>
                <a:stretch>
                  <a:fillRect t="-3125" r="-1207" b="-183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37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265" y="2370664"/>
            <a:ext cx="1219370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9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שלבי האלגוריתם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1. חשב את הערכים                                       ע"י שימוש בפקודות </a:t>
            </a:r>
            <a:r>
              <a:rPr lang="en-US" dirty="0" err="1"/>
              <a:t>fcos</a:t>
            </a:r>
            <a:r>
              <a:rPr lang="en-US" dirty="0"/>
              <a:t> + </a:t>
            </a:r>
            <a:r>
              <a:rPr lang="en-US" dirty="0" err="1"/>
              <a:t>fldpi</a:t>
            </a:r>
            <a:endParaRPr lang="he-IL" dirty="0"/>
          </a:p>
          <a:p>
            <a:endParaRPr lang="he-IL" dirty="0"/>
          </a:p>
          <a:p>
            <a:r>
              <a:rPr lang="he-IL" dirty="0"/>
              <a:t>2. בצע התמרה מקטע </a:t>
            </a:r>
            <a:r>
              <a:rPr lang="en-US" dirty="0"/>
              <a:t>[</a:t>
            </a:r>
            <a:r>
              <a:rPr lang="en-US" dirty="0" err="1"/>
              <a:t>a,b</a:t>
            </a:r>
            <a:r>
              <a:rPr lang="en-US" dirty="0"/>
              <a:t>]</a:t>
            </a:r>
            <a:r>
              <a:rPr lang="he-IL" dirty="0"/>
              <a:t> ל </a:t>
            </a:r>
            <a:r>
              <a:rPr lang="en-US" dirty="0"/>
              <a:t>[-1,1]</a:t>
            </a:r>
            <a:r>
              <a:rPr lang="he-IL" dirty="0"/>
              <a:t> </a:t>
            </a:r>
          </a:p>
          <a:p>
            <a:r>
              <a:rPr lang="he-IL" dirty="0"/>
              <a:t>3. בצע את המכפלה והסכום עם המשקלים שהוגדרו קודם לכן </a:t>
            </a:r>
          </a:p>
          <a:p>
            <a:r>
              <a:rPr lang="he-IL" dirty="0"/>
              <a:t>4. כפול ב </a:t>
            </a:r>
            <a:r>
              <a:rPr lang="en-US" dirty="0"/>
              <a:t>(</a:t>
            </a:r>
            <a:r>
              <a:rPr lang="en-US" dirty="0" err="1"/>
              <a:t>a+b</a:t>
            </a:r>
            <a:r>
              <a:rPr lang="en-US" dirty="0"/>
              <a:t>)/2 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38</a:t>
            </a:fld>
            <a:endParaRPr lang="he-IL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425" y="2463800"/>
            <a:ext cx="2676899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9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משתנים בהן נעשה שימוש בתכנית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CONSTANTS STORED IN .data:  </a:t>
            </a:r>
          </a:p>
          <a:p>
            <a:pPr algn="l" rtl="0"/>
            <a:r>
              <a:rPr lang="en-US" dirty="0"/>
              <a:t>       </a:t>
            </a:r>
            <a:r>
              <a:rPr lang="en-US" b="1" dirty="0"/>
              <a:t>n        </a:t>
            </a:r>
            <a:r>
              <a:rPr lang="en-US" b="1" dirty="0" err="1"/>
              <a:t>equ</a:t>
            </a:r>
            <a:r>
              <a:rPr lang="en-US" b="1" dirty="0"/>
              <a:t>  8                ; number of nodes </a:t>
            </a:r>
          </a:p>
          <a:p>
            <a:pPr algn="l" rtl="0"/>
            <a:r>
              <a:rPr lang="en-US" b="1" dirty="0"/>
              <a:t>        pi       </a:t>
            </a:r>
            <a:r>
              <a:rPr lang="en-US" b="1" dirty="0" err="1"/>
              <a:t>dq</a:t>
            </a:r>
            <a:r>
              <a:rPr lang="en-US" b="1" dirty="0"/>
              <a:t>   3.14159265358979323846  </a:t>
            </a:r>
          </a:p>
          <a:p>
            <a:pPr algn="l" rtl="0"/>
            <a:r>
              <a:rPr lang="en-US" b="1" dirty="0"/>
              <a:t>        a        </a:t>
            </a:r>
            <a:r>
              <a:rPr lang="en-US" b="1" dirty="0" err="1"/>
              <a:t>dq</a:t>
            </a:r>
            <a:r>
              <a:rPr lang="en-US" b="1" dirty="0"/>
              <a:t>   0.0              ; lower limit  </a:t>
            </a:r>
          </a:p>
          <a:p>
            <a:pPr algn="l" rtl="0"/>
            <a:r>
              <a:rPr lang="en-US" b="1" dirty="0"/>
              <a:t>         b        </a:t>
            </a:r>
            <a:r>
              <a:rPr lang="en-US" b="1" dirty="0" err="1"/>
              <a:t>dq</a:t>
            </a:r>
            <a:r>
              <a:rPr lang="en-US" b="1" dirty="0"/>
              <a:t>   1.0              ; upper limit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39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212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פונקציות של </a:t>
            </a:r>
            <a:r>
              <a:rPr lang="en-US" dirty="0"/>
              <a:t>x87</a:t>
            </a:r>
            <a:r>
              <a:rPr lang="he-IL" dirty="0"/>
              <a:t> שנעשה בהן שימוש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 err="1"/>
              <a:t>fldpi</a:t>
            </a:r>
            <a:r>
              <a:rPr lang="en-US" b="1" dirty="0"/>
              <a:t>              ; push π onto FPU stack  </a:t>
            </a:r>
          </a:p>
          <a:p>
            <a:pPr algn="l" rtl="0"/>
            <a:r>
              <a:rPr lang="en-US" b="1" dirty="0"/>
              <a:t>  </a:t>
            </a:r>
            <a:r>
              <a:rPr lang="en-US" b="1" dirty="0" err="1"/>
              <a:t>fcos</a:t>
            </a:r>
            <a:r>
              <a:rPr lang="en-US" b="1" dirty="0"/>
              <a:t>               ; ST(0) = cos(ST(0))    </a:t>
            </a:r>
          </a:p>
          <a:p>
            <a:pPr algn="l" rtl="0"/>
            <a:r>
              <a:rPr lang="en-US" b="1" dirty="0"/>
              <a:t>  </a:t>
            </a:r>
            <a:r>
              <a:rPr lang="en-US" b="1" dirty="0" err="1"/>
              <a:t>fsin</a:t>
            </a:r>
            <a:r>
              <a:rPr lang="en-US" b="1" dirty="0"/>
              <a:t>               ; ST(0) = sin(ST(0))   (used in f(x) = sin(x))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40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7987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לולאת חישוב נקודות צ</a:t>
            </a:r>
            <a:r>
              <a:rPr lang="en-US" dirty="0"/>
              <a:t>'</a:t>
            </a:r>
            <a:r>
              <a:rPr lang="he-IL" dirty="0" err="1"/>
              <a:t>בישב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 rtl="0"/>
            <a:r>
              <a:rPr lang="en-US" dirty="0"/>
              <a:t> compute angle = (2i–1)*</a:t>
            </a:r>
            <a:r>
              <a:rPr lang="el-GR" dirty="0"/>
              <a:t>π / (2</a:t>
            </a:r>
            <a:r>
              <a:rPr lang="en-US" dirty="0"/>
              <a:t>n)  </a:t>
            </a:r>
          </a:p>
          <a:p>
            <a:pPr algn="l" rtl="0"/>
            <a:r>
              <a:rPr lang="en-US" dirty="0"/>
              <a:t>  </a:t>
            </a:r>
            <a:r>
              <a:rPr lang="en-US" b="1" dirty="0" err="1"/>
              <a:t>fildl</a:t>
            </a:r>
            <a:r>
              <a:rPr lang="en-US" b="1" dirty="0"/>
              <a:t>  [</a:t>
            </a:r>
            <a:r>
              <a:rPr lang="en-US" b="1" dirty="0" err="1"/>
              <a:t>i</a:t>
            </a:r>
            <a:r>
              <a:rPr lang="en-US" b="1" dirty="0"/>
              <a:t>]         ; push </a:t>
            </a:r>
            <a:r>
              <a:rPr lang="en-US" b="1" dirty="0" err="1"/>
              <a:t>i</a:t>
            </a:r>
            <a:r>
              <a:rPr lang="en-US" b="1" dirty="0"/>
              <a:t> as float  </a:t>
            </a:r>
          </a:p>
          <a:p>
            <a:pPr algn="l" rtl="0"/>
            <a:r>
              <a:rPr lang="en-US" b="1" dirty="0"/>
              <a:t>     </a:t>
            </a:r>
            <a:r>
              <a:rPr lang="en-US" b="1" dirty="0" err="1"/>
              <a:t>fadd</a:t>
            </a:r>
            <a:r>
              <a:rPr lang="en-US" b="1" dirty="0"/>
              <a:t>   st0, st0    ; 2i   </a:t>
            </a:r>
          </a:p>
          <a:p>
            <a:pPr algn="l" rtl="0"/>
            <a:r>
              <a:rPr lang="en-US" b="1" dirty="0"/>
              <a:t>    </a:t>
            </a:r>
            <a:r>
              <a:rPr lang="en-US" b="1" dirty="0" err="1"/>
              <a:t>fsub</a:t>
            </a:r>
            <a:r>
              <a:rPr lang="en-US" b="1" dirty="0"/>
              <a:t>   [one]       ; 2i – 1  </a:t>
            </a:r>
          </a:p>
          <a:p>
            <a:pPr algn="l" rtl="0"/>
            <a:r>
              <a:rPr lang="en-US" b="1" dirty="0"/>
              <a:t>      </a:t>
            </a:r>
            <a:r>
              <a:rPr lang="en-US" b="1" dirty="0" err="1"/>
              <a:t>fldpi</a:t>
            </a:r>
            <a:r>
              <a:rPr lang="en-US" b="1" dirty="0"/>
              <a:t>              ; push </a:t>
            </a:r>
            <a:r>
              <a:rPr lang="el-GR" b="1" dirty="0"/>
              <a:t>π    </a:t>
            </a:r>
            <a:endParaRPr lang="en-US" b="1" dirty="0"/>
          </a:p>
          <a:p>
            <a:pPr algn="l" rtl="0"/>
            <a:r>
              <a:rPr lang="en-US" b="1" dirty="0"/>
              <a:t>        fmul               ; (2i–1)*</a:t>
            </a:r>
            <a:r>
              <a:rPr lang="el-GR" b="1" dirty="0"/>
              <a:t>π </a:t>
            </a:r>
            <a:endParaRPr lang="en-US" b="1" dirty="0"/>
          </a:p>
          <a:p>
            <a:pPr algn="l" rtl="0"/>
            <a:r>
              <a:rPr lang="en-US" b="1" dirty="0"/>
              <a:t>      </a:t>
            </a:r>
            <a:r>
              <a:rPr lang="el-GR" b="1" dirty="0"/>
              <a:t>   </a:t>
            </a:r>
            <a:r>
              <a:rPr lang="en-US" b="1" dirty="0" err="1"/>
              <a:t>fildl</a:t>
            </a:r>
            <a:r>
              <a:rPr lang="en-US" b="1" dirty="0"/>
              <a:t>  [</a:t>
            </a:r>
            <a:r>
              <a:rPr lang="en-US" b="1" dirty="0" err="1"/>
              <a:t>two_n</a:t>
            </a:r>
            <a:r>
              <a:rPr lang="en-US" b="1" dirty="0"/>
              <a:t>]     ; push 2n    </a:t>
            </a:r>
          </a:p>
          <a:p>
            <a:pPr algn="l" rtl="0"/>
            <a:r>
              <a:rPr lang="en-US" b="1" dirty="0"/>
              <a:t>       </a:t>
            </a:r>
            <a:r>
              <a:rPr lang="en-US" b="1" dirty="0" err="1"/>
              <a:t>fdivp</a:t>
            </a:r>
            <a:r>
              <a:rPr lang="en-US" b="1" dirty="0"/>
              <a:t>              ; angle = (2i–1)*</a:t>
            </a:r>
            <a:r>
              <a:rPr lang="el-GR" b="1" dirty="0"/>
              <a:t>π/(2</a:t>
            </a:r>
            <a:r>
              <a:rPr lang="en-US" b="1" dirty="0"/>
              <a:t>n)    </a:t>
            </a:r>
          </a:p>
          <a:p>
            <a:pPr algn="l" rtl="0"/>
            <a:r>
              <a:rPr lang="en-US" b="1" dirty="0"/>
              <a:t>         </a:t>
            </a:r>
            <a:r>
              <a:rPr lang="en-US" b="1" dirty="0" err="1"/>
              <a:t>fcos</a:t>
            </a:r>
            <a:r>
              <a:rPr lang="en-US" b="1" dirty="0"/>
              <a:t>               ; </a:t>
            </a:r>
            <a:r>
              <a:rPr lang="en-US" b="1" dirty="0" err="1"/>
              <a:t>x_i</a:t>
            </a:r>
            <a:r>
              <a:rPr lang="en-US" b="1" dirty="0"/>
              <a:t> = cos(angle)     ← Chebyshev node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41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548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חישוב התמרת אינטרוול האינטגרציה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; </a:t>
            </a:r>
            <a:r>
              <a:rPr lang="en-US" dirty="0" err="1"/>
              <a:t>ti</a:t>
            </a:r>
            <a:r>
              <a:rPr lang="en-US" dirty="0"/>
              <a:t> = (b–a)/2 * xi + (</a:t>
            </a:r>
            <a:r>
              <a:rPr lang="en-US" dirty="0" err="1"/>
              <a:t>a+b</a:t>
            </a:r>
            <a:r>
              <a:rPr lang="en-US" dirty="0"/>
              <a:t>)/2 </a:t>
            </a:r>
          </a:p>
          <a:p>
            <a:pPr algn="l" rtl="0"/>
            <a:r>
              <a:rPr lang="en-US" dirty="0"/>
              <a:t>   </a:t>
            </a:r>
            <a:r>
              <a:rPr lang="en-US" b="1" dirty="0" err="1"/>
              <a:t>fld</a:t>
            </a:r>
            <a:r>
              <a:rPr lang="en-US" b="1" dirty="0"/>
              <a:t>    qword [b]  </a:t>
            </a:r>
          </a:p>
          <a:p>
            <a:pPr algn="l" rtl="0"/>
            <a:r>
              <a:rPr lang="en-US" b="1" dirty="0"/>
              <a:t>  </a:t>
            </a:r>
            <a:r>
              <a:rPr lang="en-US" b="1" dirty="0" err="1"/>
              <a:t>fsub</a:t>
            </a:r>
            <a:r>
              <a:rPr lang="en-US" b="1" dirty="0"/>
              <a:t>   qword [a]   ; b–a   </a:t>
            </a:r>
          </a:p>
          <a:p>
            <a:pPr algn="l" rtl="0"/>
            <a:r>
              <a:rPr lang="en-US" b="1" dirty="0"/>
              <a:t> fmul   [half]      ; (b–a)/2   </a:t>
            </a:r>
          </a:p>
          <a:p>
            <a:pPr algn="l" rtl="0"/>
            <a:r>
              <a:rPr lang="en-US" b="1" dirty="0"/>
              <a:t> fmul   st0, </a:t>
            </a:r>
            <a:r>
              <a:rPr lang="en-US" b="1" dirty="0" err="1"/>
              <a:t>st</a:t>
            </a:r>
            <a:r>
              <a:rPr lang="en-US" b="1" dirty="0"/>
              <a:t>(xi) ; (b–a)/2 * xi  </a:t>
            </a:r>
          </a:p>
          <a:p>
            <a:pPr algn="l" rtl="0"/>
            <a:r>
              <a:rPr lang="en-US" b="1" dirty="0"/>
              <a:t>  </a:t>
            </a:r>
            <a:r>
              <a:rPr lang="en-US" b="1" dirty="0" err="1"/>
              <a:t>fadd</a:t>
            </a:r>
            <a:r>
              <a:rPr lang="en-US" b="1" dirty="0"/>
              <a:t>   [midpoint]  ; + (</a:t>
            </a:r>
            <a:r>
              <a:rPr lang="en-US" b="1" dirty="0" err="1"/>
              <a:t>a+b</a:t>
            </a:r>
            <a:r>
              <a:rPr lang="en-US" b="1" dirty="0"/>
              <a:t>)/2   → </a:t>
            </a:r>
            <a:r>
              <a:rPr lang="en-US" b="1" dirty="0" err="1"/>
              <a:t>ti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42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843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איסוף התוצאות וסיום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 ; sum += </a:t>
            </a:r>
            <a:r>
              <a:rPr lang="en-US" dirty="0" err="1"/>
              <a:t>wi</a:t>
            </a:r>
            <a:r>
              <a:rPr lang="en-US" dirty="0"/>
              <a:t> * f(</a:t>
            </a:r>
            <a:r>
              <a:rPr lang="en-US" dirty="0" err="1"/>
              <a:t>ti</a:t>
            </a:r>
            <a:r>
              <a:rPr lang="en-US" dirty="0"/>
              <a:t>)                                             ; result = (b–a)/2 * sum </a:t>
            </a:r>
          </a:p>
          <a:p>
            <a:pPr algn="l" rtl="0"/>
            <a:r>
              <a:rPr lang="en-US" dirty="0"/>
              <a:t>  </a:t>
            </a:r>
            <a:r>
              <a:rPr lang="en-US" b="1" dirty="0" err="1"/>
              <a:t>fld</a:t>
            </a:r>
            <a:r>
              <a:rPr lang="en-US" b="1" dirty="0"/>
              <a:t> qword [</a:t>
            </a:r>
            <a:r>
              <a:rPr lang="en-US" b="1" dirty="0" err="1"/>
              <a:t>ti</a:t>
            </a:r>
            <a:r>
              <a:rPr lang="en-US" b="1" dirty="0"/>
              <a:t>]                                                           fmul   [</a:t>
            </a:r>
            <a:r>
              <a:rPr lang="en-US" b="1" dirty="0" err="1"/>
              <a:t>half_ba</a:t>
            </a:r>
            <a:r>
              <a:rPr lang="en-US" b="1" dirty="0"/>
              <a:t>] </a:t>
            </a:r>
          </a:p>
          <a:p>
            <a:pPr algn="l" rtl="0"/>
            <a:r>
              <a:rPr lang="en-US" b="1" dirty="0"/>
              <a:t>   call  </a:t>
            </a:r>
            <a:r>
              <a:rPr lang="en-US" b="1" dirty="0" err="1"/>
              <a:t>compute_f</a:t>
            </a:r>
            <a:r>
              <a:rPr lang="en-US" b="1" dirty="0"/>
              <a:t>    ; ST(0) = f(</a:t>
            </a:r>
            <a:r>
              <a:rPr lang="en-US" b="1" dirty="0" err="1"/>
              <a:t>ti</a:t>
            </a:r>
            <a:r>
              <a:rPr lang="en-US" b="1" dirty="0"/>
              <a:t>)                             fstp   qword [result]</a:t>
            </a:r>
          </a:p>
          <a:p>
            <a:pPr algn="l" rtl="0"/>
            <a:r>
              <a:rPr lang="en-US" b="1" dirty="0"/>
              <a:t>    fmul  qword [w]    ; </a:t>
            </a:r>
            <a:r>
              <a:rPr lang="en-US" b="1" dirty="0" err="1"/>
              <a:t>w_i</a:t>
            </a:r>
            <a:r>
              <a:rPr lang="en-US" b="1" dirty="0"/>
              <a:t> * f(</a:t>
            </a:r>
            <a:r>
              <a:rPr lang="en-US" b="1" dirty="0" err="1"/>
              <a:t>ti</a:t>
            </a:r>
            <a:r>
              <a:rPr lang="en-US" b="1" dirty="0"/>
              <a:t>)   </a:t>
            </a:r>
          </a:p>
          <a:p>
            <a:pPr algn="l" rtl="0"/>
            <a:r>
              <a:rPr lang="en-US" b="1" dirty="0"/>
              <a:t>     </a:t>
            </a:r>
            <a:r>
              <a:rPr lang="en-US" b="1" dirty="0" err="1"/>
              <a:t>fadd</a:t>
            </a:r>
            <a:r>
              <a:rPr lang="en-US" b="1" dirty="0"/>
              <a:t>  st1, st0     ; add to sum (st1)  </a:t>
            </a:r>
          </a:p>
          <a:p>
            <a:pPr algn="l" rtl="0"/>
            <a:r>
              <a:rPr lang="en-US" b="1" dirty="0"/>
              <a:t>      fstp  st0          ; pop  FINAL: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7FB-1AD2-4762-BE62-995A89CC9071}" type="datetime8">
              <a:rPr lang="he-IL" smtClean="0"/>
              <a:t>12 יוני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39328-7ABC-4199-9A75-17B1ED8772D1}" type="slidenum">
              <a:rPr lang="he-IL" smtClean="0"/>
              <a:t>43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984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אורגני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4341</TotalTime>
  <Words>2298</Words>
  <Application>Microsoft Office PowerPoint</Application>
  <PresentationFormat>מסך רחב</PresentationFormat>
  <Paragraphs>298</Paragraphs>
  <Slides>43</Slides>
  <Notes>1</Notes>
  <HiddenSlides>3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43</vt:i4>
      </vt:variant>
    </vt:vector>
  </HeadingPairs>
  <TitlesOfParts>
    <vt:vector size="48" baseType="lpstr">
      <vt:lpstr>Arial</vt:lpstr>
      <vt:lpstr>Calibri</vt:lpstr>
      <vt:lpstr>Cambria Math</vt:lpstr>
      <vt:lpstr>Garamond</vt:lpstr>
      <vt:lpstr>אורגני</vt:lpstr>
      <vt:lpstr> x87 Floating-Point in</vt:lpstr>
      <vt:lpstr>שימוש ב fyl2xלחישוב ln(x)</vt:lpstr>
      <vt:lpstr>תוכן התרגול </vt:lpstr>
      <vt:lpstr>הארכיטקטורה של x87 </vt:lpstr>
      <vt:lpstr>פקודות נפוצות בארכיטקטורה </vt:lpstr>
      <vt:lpstr>פקודות נפוצות בארכיטקטורה </vt:lpstr>
      <vt:lpstr>גדלי אופרנדים</vt:lpstr>
      <vt:lpstr>שיטת ניוטון רפסון לחישוב שורש</vt:lpstr>
      <vt:lpstr>שיטת ניוטון רפסון לחישוב שורש</vt:lpstr>
      <vt:lpstr>בעייתיות בשיטת ניוטון רפסון </vt:lpstr>
      <vt:lpstr>הגדרת המשתנים</vt:lpstr>
      <vt:lpstr>חישוב F וDF</vt:lpstr>
      <vt:lpstr>ביצוע החישוב</vt:lpstr>
      <vt:lpstr>הלולאה הראשית</vt:lpstr>
      <vt:lpstr>בדיקה אם הגענו קרוב ל0 או שעברנו מקסימום איטרציות</vt:lpstr>
      <vt:lpstr>סיום והדפסה</vt:lpstr>
      <vt:lpstr>תכנית ליישום אלגוריתם ניוטון רפסון</vt:lpstr>
      <vt:lpstr>תכנית ליישום אלגוריתם ניוטון רפסון</vt:lpstr>
      <vt:lpstr>תכנית ליישום אלגוריתם ניוטון רפסון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אינטרפולציית לגרנז' </vt:lpstr>
      <vt:lpstr>אינטרפולציית לגרנז' </vt:lpstr>
      <vt:lpstr>דוגמא </vt:lpstr>
      <vt:lpstr>האסטרטגיה של התכנית </vt:lpstr>
      <vt:lpstr>הסבר חלקים קריטיים בתכנית </vt:lpstr>
      <vt:lpstr>הסבר חלקים קריטיים בתכנית </vt:lpstr>
      <vt:lpstr>הסבר חלקים קריטיים בתכנית </vt:lpstr>
      <vt:lpstr>אוגרים קריטיים לתכנית </vt:lpstr>
      <vt:lpstr>אלגוריתם הלולאה הפנימית </vt:lpstr>
      <vt:lpstr>לאחר סיום הלולאה הפנימית </vt:lpstr>
      <vt:lpstr>שיטת גאוס לחישוב אינטגרל בנק' צ'בישב</vt:lpstr>
      <vt:lpstr>שיטת גאוס לחישוב אינטגרל בנק' צ'בישב</vt:lpstr>
      <vt:lpstr>שלבי האלגוריתם </vt:lpstr>
      <vt:lpstr>משתנים בהן נעשה שימוש בתכנית </vt:lpstr>
      <vt:lpstr>פונקציות של x87 שנעשה בהן שימוש </vt:lpstr>
      <vt:lpstr>לולאת חישוב נקודות צ'בישב </vt:lpstr>
      <vt:lpstr>חישוב התמרת אינטרוול האינטגרציה </vt:lpstr>
      <vt:lpstr>איסוף התוצאות וסיום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x87 Floating-Point in</dc:title>
  <dc:creator>אורן אליעזר</dc:creator>
  <cp:lastModifiedBy>אריאל ברוך ביתן</cp:lastModifiedBy>
  <cp:revision>27</cp:revision>
  <dcterms:created xsi:type="dcterms:W3CDTF">2026-05-22T19:10:45Z</dcterms:created>
  <dcterms:modified xsi:type="dcterms:W3CDTF">2026-06-13T18:57:12Z</dcterms:modified>
</cp:coreProperties>
</file>