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308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6" r:id="rId44"/>
    <p:sldId id="299" r:id="rId45"/>
    <p:sldId id="300" r:id="rId46"/>
    <p:sldId id="307" r:id="rId47"/>
    <p:sldId id="301" r:id="rId48"/>
    <p:sldId id="302" r:id="rId49"/>
    <p:sldId id="303" r:id="rId50"/>
    <p:sldId id="304" r:id="rId51"/>
    <p:sldId id="305" r:id="rId52"/>
    <p:sldId id="306" r:id="rId5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אורן אליעזר" initials="אא" lastIdx="1" clrIdx="0">
    <p:extLst>
      <p:ext uri="{19B8F6BF-5375-455C-9EA6-DF929625EA0E}">
        <p15:presenceInfo xmlns:p15="http://schemas.microsoft.com/office/powerpoint/2012/main" userId="אורן אליעז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1D9DD8A-70BF-40E6-810B-4CCA85687FF8}" type="datetimeFigureOut">
              <a:rPr lang="he-IL" smtClean="0"/>
              <a:t>ט"ז/אייר/תשפ"ו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A12B76C-97DD-4CA3-87A4-8AD7526EA5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949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12B76C-97DD-4CA3-87A4-8AD7526EA5E8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1678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C60314-2F8D-484F-9A12-33688479C4F8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46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23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E8B8-880C-45C6-9663-C5D9172ED4F1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01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1931C-A42E-42CA-8EF8-C2EEC7FA6242}" type="datetime8">
              <a:rPr lang="he-IL" smtClean="0"/>
              <a:t>03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975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F417-085C-481B-B124-9762A97C3BD1}" type="datetime8">
              <a:rPr lang="he-IL" smtClean="0"/>
              <a:t>03 מאי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3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C86C-BB4D-41A4-96FF-DE9A0D9DD373}" type="datetime8">
              <a:rPr lang="he-IL" smtClean="0"/>
              <a:t>03 מאי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82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E8A8F-E103-40F5-AF58-1922DBE02230}" type="datetime8">
              <a:rPr lang="he-IL" smtClean="0"/>
              <a:t>03 מאי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152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0449-0659-4DE1-9338-CCED16F0593E}" type="datetime8">
              <a:rPr lang="he-IL" smtClean="0"/>
              <a:t>03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12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148D-8B04-4DE8-9849-2C0DB1B9E8EF}" type="datetime8">
              <a:rPr lang="he-IL" smtClean="0"/>
              <a:t>03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284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8A2B-1780-46F3-BD89-C75D760E1CD2}" type="datetime8">
              <a:rPr lang="he-IL" smtClean="0"/>
              <a:t>03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853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FA06-709D-433A-BB7C-65AB81D13579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095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770B-90BA-40A6-9A29-029AA6123BE4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906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A366-4D53-46BA-ADFA-8F223EC4D20B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4617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228C-8F58-4615-83B6-BB184BE58DA3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523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CB6B-EBF2-414E-BBB5-5B3CFFA627A0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99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73CEF-3969-4F4C-B426-0B3B2CBE02BC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653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3355-E8AD-4B35-9427-FF08B7203591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82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723D30-EFB1-4BBB-A6C3-40866DA41DC4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5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תרגול 5 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פונקציות, פונקציות רקורסיביות , קריאות הדדיות ברקורסיה,  קריאה לפונקציות בשפת </a:t>
            </a:r>
            <a:r>
              <a:rPr lang="en-US" dirty="0"/>
              <a:t>C</a:t>
            </a:r>
            <a:r>
              <a:rPr lang="he-IL" dirty="0"/>
              <a:t> , קריאה  מתכנית בשפת </a:t>
            </a:r>
            <a:r>
              <a:rPr lang="en-US" dirty="0"/>
              <a:t>C</a:t>
            </a:r>
            <a:r>
              <a:rPr lang="he-IL" dirty="0"/>
              <a:t> לפונקציות באסמבלר , שימוש ב </a:t>
            </a:r>
            <a:r>
              <a:rPr lang="en-US" dirty="0"/>
              <a:t>extern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2DB2-9436-4C3B-97B7-9ADD0EBA4517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726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בתכנית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קריאות לפונקציות בשפת </a:t>
            </a:r>
            <a:r>
              <a:rPr lang="en-US" dirty="0"/>
              <a:t>C</a:t>
            </a:r>
            <a:r>
              <a:rPr lang="he-IL" dirty="0"/>
              <a:t> מאסמבלר ולהיפך</a:t>
            </a:r>
          </a:p>
          <a:p>
            <a:r>
              <a:rPr lang="he-IL" dirty="0"/>
              <a:t>קריאות רקורסיביות וקריאות הדדיות</a:t>
            </a:r>
          </a:p>
          <a:p>
            <a:r>
              <a:rPr lang="he-IL" dirty="0"/>
              <a:t>שימוש ב </a:t>
            </a:r>
            <a:r>
              <a:rPr lang="en-US" dirty="0"/>
              <a:t>extern</a:t>
            </a:r>
            <a:r>
              <a:rPr lang="he-IL" dirty="0"/>
              <a:t> לצורך שימוש בקלט</a:t>
            </a:r>
            <a:r>
              <a:rPr lang="en-US" dirty="0"/>
              <a:t>/</a:t>
            </a:r>
            <a:r>
              <a:rPr lang="he-IL" dirty="0"/>
              <a:t>פלט</a:t>
            </a:r>
          </a:p>
          <a:p>
            <a:r>
              <a:rPr lang="he-IL" dirty="0"/>
              <a:t>תכניות עם ארגומנטים</a:t>
            </a:r>
          </a:p>
          <a:p>
            <a:r>
              <a:rPr lang="he-IL" dirty="0"/>
              <a:t>קריאות </a:t>
            </a:r>
            <a:r>
              <a:rPr lang="en-US" dirty="0" err="1"/>
              <a:t>syscall</a:t>
            </a:r>
            <a:r>
              <a:rPr lang="he-IL" dirty="0"/>
              <a:t> לקלט/פלט</a:t>
            </a:r>
            <a:endParaRPr lang="en-US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DFA5-199B-4B05-9CF0-46962F389EEB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642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אופן הקריאה לפונקציות באסמבלר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שימוש באוגרים בני 64 ביט – הן כאוגרי מידע והן כאוגרי כתובת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6 פרמטרים ראשונים לפונקציה נמצאים באוגרים הבאים - </a:t>
            </a:r>
            <a:r>
              <a:rPr lang="pt-BR" dirty="0"/>
              <a:t>rdi, rsi, rdx, rcx, r8, r9</a:t>
            </a:r>
            <a:endParaRPr lang="he-IL" dirty="0"/>
          </a:p>
          <a:p>
            <a:r>
              <a:rPr lang="he-IL" dirty="0"/>
              <a:t>פרמטרים נוספים עוברים במחסנית</a:t>
            </a:r>
          </a:p>
          <a:p>
            <a:pPr algn="r"/>
            <a:r>
              <a:rPr lang="he-IL" dirty="0"/>
              <a:t>ערך מוחזר דרך </a:t>
            </a:r>
            <a:r>
              <a:rPr lang="en-US" dirty="0" err="1"/>
              <a:t>rax</a:t>
            </a:r>
            <a:r>
              <a:rPr lang="he-IL" dirty="0"/>
              <a:t> </a:t>
            </a:r>
          </a:p>
          <a:p>
            <a:r>
              <a:rPr lang="he-IL" dirty="0"/>
              <a:t>שימוש באוגרים : </a:t>
            </a:r>
            <a:r>
              <a:rPr lang="pt-BR" dirty="0"/>
              <a:t>rax, rcx, rdx, rsi, rdi, r8–r11</a:t>
            </a:r>
            <a:r>
              <a:rPr lang="he-IL" dirty="0"/>
              <a:t> - אוגרים שהפונקציה הקוראת צריכה לשמר בעוד שהפונקציה הנקראת יכולה לדרוס אותם - </a:t>
            </a:r>
            <a:r>
              <a:rPr lang="en-US" dirty="0"/>
              <a:t>caller saved </a:t>
            </a:r>
            <a:endParaRPr lang="he-IL" dirty="0"/>
          </a:p>
          <a:p>
            <a:r>
              <a:rPr lang="he-IL" dirty="0"/>
              <a:t>שימוש באוגרים  </a:t>
            </a:r>
            <a:r>
              <a:rPr lang="en-US" dirty="0"/>
              <a:t>  </a:t>
            </a:r>
            <a:r>
              <a:rPr lang="en-US" dirty="0" err="1"/>
              <a:t>rbx</a:t>
            </a:r>
            <a:r>
              <a:rPr lang="en-US" dirty="0"/>
              <a:t>, </a:t>
            </a:r>
            <a:r>
              <a:rPr lang="en-US" dirty="0" err="1"/>
              <a:t>rbp</a:t>
            </a:r>
            <a:r>
              <a:rPr lang="en-US" dirty="0"/>
              <a:t>, r12–r15</a:t>
            </a:r>
            <a:r>
              <a:rPr lang="he-IL" dirty="0"/>
              <a:t>כאוגרים שיש לשחזר את תכנם כאשר נעשה בהם שימוש - </a:t>
            </a:r>
            <a:r>
              <a:rPr lang="en-US" dirty="0"/>
              <a:t>callee saved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6F9B-4F77-4447-9AAD-3BF139D86DFE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556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כללי של פונקציה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/>
              <a:t>כל פונקציה הינה בעלת תווית. </a:t>
            </a:r>
          </a:p>
          <a:p>
            <a:r>
              <a:rPr lang="he-IL" dirty="0"/>
              <a:t>לכל פונקציה יש פתיח וסיומת קבועים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פתיח : </a:t>
            </a:r>
          </a:p>
          <a:p>
            <a:pPr algn="l" rtl="0"/>
            <a:r>
              <a:rPr lang="en-US" dirty="0"/>
              <a:t>push </a:t>
            </a:r>
            <a:r>
              <a:rPr lang="en-US" dirty="0" err="1"/>
              <a:t>rbp</a:t>
            </a:r>
            <a:endParaRPr lang="en-US" dirty="0"/>
          </a:p>
          <a:p>
            <a:pPr algn="l" rtl="0"/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rbp</a:t>
            </a:r>
            <a:r>
              <a:rPr lang="en-US" dirty="0"/>
              <a:t>, </a:t>
            </a:r>
            <a:r>
              <a:rPr lang="en-US" dirty="0" err="1"/>
              <a:t>rsp</a:t>
            </a:r>
            <a:endParaRPr lang="en-US" dirty="0"/>
          </a:p>
          <a:p>
            <a:pPr algn="r"/>
            <a:r>
              <a:rPr lang="he-IL" dirty="0"/>
              <a:t>סיומת : </a:t>
            </a:r>
          </a:p>
          <a:p>
            <a:pPr algn="l" rtl="0"/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rsp</a:t>
            </a:r>
            <a:r>
              <a:rPr lang="en-US" dirty="0"/>
              <a:t>, </a:t>
            </a:r>
            <a:r>
              <a:rPr lang="en-US" dirty="0" err="1"/>
              <a:t>rbp</a:t>
            </a:r>
            <a:endParaRPr lang="en-US" dirty="0"/>
          </a:p>
          <a:p>
            <a:pPr algn="l" rtl="0"/>
            <a:r>
              <a:rPr lang="en-US" dirty="0"/>
              <a:t>pop </a:t>
            </a:r>
            <a:r>
              <a:rPr lang="en-US" dirty="0" err="1"/>
              <a:t>rbp</a:t>
            </a:r>
            <a:endParaRPr lang="en-US" dirty="0"/>
          </a:p>
          <a:p>
            <a:pPr algn="l" rtl="0"/>
            <a:r>
              <a:rPr lang="en-US" dirty="0"/>
              <a:t>ret</a:t>
            </a:r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25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פונקציה המשך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עושים שימוש  בפתיח ובסיומת כאשר פונקציה שומרת משתנים לוקאליים במחסנית ,וכן כאשר עושה שימוש בפונקציות של שפות אחרות כגון </a:t>
            </a:r>
            <a:r>
              <a:rPr lang="en-US" dirty="0"/>
              <a:t>C</a:t>
            </a:r>
            <a:r>
              <a:rPr lang="he-IL" dirty="0"/>
              <a:t> </a:t>
            </a:r>
          </a:p>
          <a:p>
            <a:r>
              <a:rPr lang="he-IL" dirty="0"/>
              <a:t>מקרה נוסף לשימוש כזה נעשה כאשר יש לשחזר ערכים לאוגרים כגון </a:t>
            </a:r>
            <a:r>
              <a:rPr lang="en-US" dirty="0" err="1"/>
              <a:t>rbx</a:t>
            </a:r>
            <a:r>
              <a:rPr lang="he-IL" dirty="0"/>
              <a:t> </a:t>
            </a:r>
            <a:r>
              <a:rPr lang="en-US" dirty="0" err="1"/>
              <a:t>rbp</a:t>
            </a:r>
            <a:r>
              <a:rPr lang="he-IL" dirty="0"/>
              <a:t> </a:t>
            </a:r>
          </a:p>
          <a:p>
            <a:r>
              <a:rPr lang="he-IL" dirty="0"/>
              <a:t>במידה ופונקציה לא משנה תכנים של משתנים לוקליים ולא צריכה לשחזר תכנים אז אין כל מטרה לפתיח ולסיומת המוצעים. </a:t>
            </a:r>
          </a:p>
          <a:p>
            <a:r>
              <a:rPr lang="he-IL" dirty="0"/>
              <a:t>בשקף הבא נראה פונקציה פשוטה ללא צורך בכך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496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לפונקציה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he-IL" dirty="0"/>
              <a:t>פונקציה זו מסכמת  3 מספרים ושומרת את הסכום ב </a:t>
            </a:r>
            <a:r>
              <a:rPr lang="en-US" dirty="0" err="1"/>
              <a:t>rax</a:t>
            </a:r>
            <a:endParaRPr lang="en-US" dirty="0"/>
          </a:p>
          <a:p>
            <a:pPr algn="l" rtl="0"/>
            <a:r>
              <a:rPr lang="en-US" b="1" dirty="0"/>
              <a:t>global add3</a:t>
            </a:r>
          </a:p>
          <a:p>
            <a:pPr algn="l" rtl="0"/>
            <a:r>
              <a:rPr lang="en-US" b="1" dirty="0"/>
              <a:t>add3:</a:t>
            </a:r>
          </a:p>
          <a:p>
            <a:pPr algn="l" rtl="0"/>
            <a:r>
              <a:rPr lang="en-US" b="1" dirty="0"/>
              <a:t>    </a:t>
            </a: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rdi</a:t>
            </a:r>
            <a:endParaRPr lang="en-US" b="1" dirty="0"/>
          </a:p>
          <a:p>
            <a:pPr algn="l" rtl="0"/>
            <a:r>
              <a:rPr lang="en-US" b="1" dirty="0"/>
              <a:t>    add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rsi</a:t>
            </a:r>
            <a:endParaRPr lang="en-US" b="1" dirty="0"/>
          </a:p>
          <a:p>
            <a:pPr algn="l" rtl="0"/>
            <a:r>
              <a:rPr lang="en-US" b="1" dirty="0"/>
              <a:t>    add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rdx</a:t>
            </a:r>
            <a:endParaRPr lang="en-US" b="1" dirty="0"/>
          </a:p>
          <a:p>
            <a:pPr algn="l" rtl="0"/>
            <a:r>
              <a:rPr lang="en-US" b="1" dirty="0"/>
              <a:t>    ret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978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נשלב את הפונקציה הקודמת עם תכנית מלאה </a:t>
            </a:r>
            <a:br>
              <a:rPr lang="he-IL" dirty="0"/>
            </a:br>
            <a:r>
              <a:rPr lang="en-US" dirty="0"/>
              <a:t>func_demo.asm</a:t>
            </a:r>
            <a:r>
              <a:rPr lang="he-IL" dirty="0"/>
              <a:t>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66607"/>
            <a:ext cx="4236718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7</a:t>
            </a:fld>
            <a:endParaRPr lang="he-IL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487168"/>
            <a:ext cx="5746582" cy="286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7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הרצה </a:t>
            </a:r>
            <a:r>
              <a:rPr lang="he-IL" dirty="0" err="1"/>
              <a:t>ודיבוג</a:t>
            </a:r>
            <a:r>
              <a:rPr lang="he-IL" dirty="0"/>
              <a:t> של התכנית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func_demo.asm -o </a:t>
            </a:r>
            <a:r>
              <a:rPr lang="en-US" b="1" dirty="0" err="1"/>
              <a:t>func_demo.o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</a:t>
            </a:r>
            <a:r>
              <a:rPr lang="en-US" b="1" dirty="0" err="1"/>
              <a:t>func_demo.o</a:t>
            </a:r>
            <a:r>
              <a:rPr lang="en-US" b="1" dirty="0"/>
              <a:t> -o </a:t>
            </a:r>
            <a:r>
              <a:rPr lang="en-US" b="1" dirty="0" err="1"/>
              <a:t>func_demo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func_demo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831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קריאה </a:t>
            </a:r>
            <a:r>
              <a:rPr lang="he-IL" dirty="0" err="1"/>
              <a:t>לפונקצית</a:t>
            </a:r>
            <a:r>
              <a:rPr lang="he-IL" dirty="0"/>
              <a:t> אסמבלר מתוך תכנית </a:t>
            </a:r>
            <a:r>
              <a:rPr lang="en-US" dirty="0"/>
              <a:t>C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ניישם את קוד </a:t>
            </a:r>
            <a:r>
              <a:rPr lang="he-IL" dirty="0" err="1"/>
              <a:t>האסמבלי</a:t>
            </a:r>
            <a:r>
              <a:rPr lang="he-IL" dirty="0"/>
              <a:t> שראינו על ידי שימוש ב</a:t>
            </a:r>
            <a:r>
              <a:rPr lang="en-US" dirty="0"/>
              <a:t>C</a:t>
            </a:r>
            <a:r>
              <a:rPr lang="he-IL" dirty="0"/>
              <a:t> </a:t>
            </a:r>
            <a:r>
              <a:rPr lang="he-IL" dirty="0" err="1"/>
              <a:t>ובאסמבלי</a:t>
            </a:r>
            <a:endParaRPr lang="he-IL" dirty="0"/>
          </a:p>
          <a:p>
            <a:r>
              <a:rPr lang="he-IL" dirty="0"/>
              <a:t>ניצור שני קבצים : </a:t>
            </a:r>
          </a:p>
          <a:p>
            <a:r>
              <a:rPr lang="he-IL" dirty="0"/>
              <a:t>קובץ ראשון - </a:t>
            </a:r>
            <a:r>
              <a:rPr lang="en-US" dirty="0" err="1"/>
              <a:t>main_call_asm.c</a:t>
            </a:r>
            <a:r>
              <a:rPr lang="he-IL" dirty="0"/>
              <a:t>  נכתב בשפת </a:t>
            </a:r>
            <a:r>
              <a:rPr lang="en-US" dirty="0"/>
              <a:t>C</a:t>
            </a:r>
            <a:r>
              <a:rPr lang="he-IL" dirty="0"/>
              <a:t> ומבצע קריאה </a:t>
            </a:r>
            <a:r>
              <a:rPr lang="he-IL" dirty="0" err="1"/>
              <a:t>לפונקצית</a:t>
            </a:r>
            <a:r>
              <a:rPr lang="he-IL" dirty="0"/>
              <a:t> אסמבלר </a:t>
            </a:r>
          </a:p>
          <a:p>
            <a:r>
              <a:rPr lang="he-IL" dirty="0"/>
              <a:t>קובץ שני - </a:t>
            </a:r>
            <a:r>
              <a:rPr lang="en-US" dirty="0"/>
              <a:t>add3.asm</a:t>
            </a:r>
            <a:r>
              <a:rPr lang="he-IL" dirty="0"/>
              <a:t> פונקציה אשר מבצעת חיבור של 3 ערכים 10+20+30 כמקודם אבל נקראת מהתכנית בשפת </a:t>
            </a:r>
            <a:r>
              <a:rPr lang="en-US" dirty="0"/>
              <a:t>C</a:t>
            </a:r>
            <a:r>
              <a:rPr lang="he-IL" dirty="0"/>
              <a:t> אשר נכתבה בקובץ הראשון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429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1: </a:t>
            </a:r>
            <a:r>
              <a:rPr lang="en-US" dirty="0" err="1"/>
              <a:t>main_call_asm.c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309" y="2557463"/>
            <a:ext cx="7557382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431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2: add3.asm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520" y="2557463"/>
            <a:ext cx="8083295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513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and Run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add3.asm -o add3.o</a:t>
            </a:r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</a:t>
            </a:r>
            <a:r>
              <a:rPr lang="en-US" b="1" dirty="0" err="1"/>
              <a:t>main_call_asm.c</a:t>
            </a:r>
            <a:r>
              <a:rPr lang="en-US" b="1" dirty="0"/>
              <a:t> add3.o -o </a:t>
            </a:r>
            <a:r>
              <a:rPr lang="en-US" b="1" dirty="0" err="1"/>
              <a:t>call_asm_demo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call_asm_demo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574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printf_alignment_demo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הדוגמא הבאה מראה הכנה/יישור של המחסנית בטרם קוראים לפונקציה בשפת </a:t>
            </a:r>
            <a:r>
              <a:rPr lang="en-US" dirty="0"/>
              <a:t>C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כמו כן משתמשת בפורמט של </a:t>
            </a:r>
            <a:r>
              <a:rPr lang="en-US" dirty="0"/>
              <a:t>extern</a:t>
            </a:r>
            <a:r>
              <a:rPr lang="he-IL" dirty="0"/>
              <a:t> עבור </a:t>
            </a:r>
            <a:r>
              <a:rPr lang="en-US" dirty="0" err="1"/>
              <a:t>printf</a:t>
            </a:r>
            <a:endParaRPr lang="en-US" dirty="0"/>
          </a:p>
          <a:p>
            <a:pPr marL="0" indent="0">
              <a:buNone/>
            </a:pPr>
            <a:r>
              <a:rPr lang="he-IL" dirty="0" err="1"/>
              <a:t>פונקצית</a:t>
            </a:r>
            <a:r>
              <a:rPr lang="he-IL" dirty="0"/>
              <a:t> אסמבלר נקראת מתוך </a:t>
            </a:r>
            <a:r>
              <a:rPr lang="en-US" dirty="0"/>
              <a:t>main</a:t>
            </a:r>
            <a:r>
              <a:rPr lang="he-IL" dirty="0"/>
              <a:t> </a:t>
            </a:r>
          </a:p>
          <a:p>
            <a:pPr marL="0" indent="0">
              <a:buNone/>
            </a:pPr>
            <a:r>
              <a:rPr lang="he-IL" dirty="0"/>
              <a:t>מדגימה חזרה תקינה מהפונקציה הנקראת חזרה אל </a:t>
            </a:r>
            <a:r>
              <a:rPr lang="en-US" dirty="0"/>
              <a:t>main</a:t>
            </a:r>
            <a:r>
              <a:rPr lang="he-IL" dirty="0"/>
              <a:t> 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58651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14</a:t>
            </a:fld>
            <a:endParaRPr lang="he-IL"/>
          </a:p>
        </p:txBody>
      </p:sp>
      <p:sp>
        <p:nvSpPr>
          <p:cNvPr id="8" name="מציין מיקום תוכן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החלק הראשון – הפונקציה הנקראת : </a:t>
            </a:r>
          </a:p>
          <a:p>
            <a:pPr algn="l" rtl="0"/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F52C7A0-50DE-BFB6-C89C-42949CA96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62" y="3255640"/>
            <a:ext cx="6847829" cy="247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1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חלק שני – החלק של </a:t>
            </a:r>
            <a:r>
              <a:rPr lang="en-US" dirty="0"/>
              <a:t> main</a:t>
            </a:r>
            <a:r>
              <a:rPr lang="he-IL" dirty="0"/>
              <a:t>אשר  מבצע את הקריאה לפונקציה </a:t>
            </a:r>
            <a:r>
              <a:rPr lang="en-US" dirty="0"/>
              <a:t>add2</a:t>
            </a:r>
            <a:r>
              <a:rPr lang="he-IL" dirty="0"/>
              <a:t>: </a:t>
            </a:r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15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3E019BA8-06F2-0C4A-0F8E-F423186B4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95" y="3192933"/>
            <a:ext cx="831648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חלק שלישי :  שמירת התוצאה המתקבלת מהפונקציה הנקראת ב12</a:t>
            </a:r>
            <a:r>
              <a:rPr lang="en-US" dirty="0"/>
              <a:t> R</a:t>
            </a:r>
            <a:r>
              <a:rPr lang="he-IL" dirty="0"/>
              <a:t>(ושמירת 12</a:t>
            </a:r>
            <a:r>
              <a:rPr lang="en-US" dirty="0"/>
              <a:t>R</a:t>
            </a:r>
            <a:r>
              <a:rPr lang="he-IL" dirty="0"/>
              <a:t> במחסנית כי הוא באחריותנו) וכן הכנת הארגומנטים של הפקודה </a:t>
            </a:r>
            <a:r>
              <a:rPr lang="en-US" dirty="0" err="1"/>
              <a:t>printf</a:t>
            </a:r>
            <a:r>
              <a:rPr lang="he-IL" dirty="0"/>
              <a:t> :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16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21E2033B-BE64-BCFF-DCD6-D35EDC4A9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08" y="3361821"/>
            <a:ext cx="7895999" cy="303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62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חלק רביעי ואחרון : יישור המחסנית טרם הקריאה ל </a:t>
            </a:r>
            <a:r>
              <a:rPr lang="en-US" dirty="0" err="1"/>
              <a:t>printf</a:t>
            </a:r>
            <a:r>
              <a:rPr lang="he-IL" dirty="0"/>
              <a:t> וסיום התוכנית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17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AC7B2D42-1D71-7DD5-4965-6246D5803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5" y="2954789"/>
            <a:ext cx="6988629" cy="347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59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מדבגים תכנית עם פונקציות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בשלב ראשון מבצעים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/>
              <a:t>nasm -f elf64 -g -F dwarf printf_alignment_demo.asm -o </a:t>
            </a:r>
            <a:r>
              <a:rPr lang="en-US" b="1" dirty="0" err="1"/>
              <a:t>printf_alignment_demo.o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-g </a:t>
            </a:r>
            <a:r>
              <a:rPr lang="en-US" b="1" dirty="0" err="1"/>
              <a:t>printf_alignment_demo.o</a:t>
            </a:r>
            <a:r>
              <a:rPr lang="en-US" b="1" dirty="0"/>
              <a:t> -o </a:t>
            </a:r>
            <a:r>
              <a:rPr lang="en-US" b="1" dirty="0" err="1"/>
              <a:t>printf_alignment_demo</a:t>
            </a:r>
            <a:endParaRPr lang="en-US" b="1" dirty="0"/>
          </a:p>
          <a:p>
            <a:pPr marL="0" indent="0" algn="r">
              <a:buNone/>
            </a:pPr>
            <a:r>
              <a:rPr lang="he-IL" dirty="0"/>
              <a:t>כאשר </a:t>
            </a:r>
            <a:r>
              <a:rPr lang="en-US" dirty="0"/>
              <a:t>–g</a:t>
            </a:r>
            <a:r>
              <a:rPr lang="he-IL" dirty="0"/>
              <a:t> בשתי הפקודות הנ"ל מורה על אופציה של </a:t>
            </a:r>
            <a:r>
              <a:rPr lang="en-US" dirty="0"/>
              <a:t>debug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וכן </a:t>
            </a:r>
            <a:r>
              <a:rPr lang="en-US" dirty="0"/>
              <a:t>-F dwarf </a:t>
            </a:r>
            <a:r>
              <a:rPr lang="he-IL" dirty="0"/>
              <a:t> הוא פורמט מיוחד עבור </a:t>
            </a:r>
            <a:r>
              <a:rPr lang="en-US" dirty="0" err="1"/>
              <a:t>gdb</a:t>
            </a:r>
            <a:r>
              <a:rPr lang="he-IL" dirty="0"/>
              <a:t> לצורך </a:t>
            </a:r>
            <a:r>
              <a:rPr lang="en-US" dirty="0"/>
              <a:t>debug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3064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מדבגים תכנית עם פונקציות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בשלב שני  מפעילים </a:t>
            </a:r>
            <a:r>
              <a:rPr lang="en-US" dirty="0" err="1"/>
              <a:t>gdb</a:t>
            </a:r>
            <a:r>
              <a:rPr lang="he-IL" dirty="0"/>
              <a:t>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 err="1"/>
              <a:t>gdb</a:t>
            </a:r>
            <a:r>
              <a:rPr lang="en-US" b="1" dirty="0"/>
              <a:t> ./</a:t>
            </a:r>
            <a:r>
              <a:rPr lang="en-US" b="1" dirty="0" err="1"/>
              <a:t>printf_alignment_demo</a:t>
            </a:r>
            <a:endParaRPr lang="en-US" b="1" dirty="0"/>
          </a:p>
          <a:p>
            <a:pPr algn="r"/>
            <a:r>
              <a:rPr lang="he-IL" dirty="0"/>
              <a:t>כעת, היות ופרט ל </a:t>
            </a:r>
            <a:r>
              <a:rPr lang="en-US" dirty="0"/>
              <a:t>main</a:t>
            </a:r>
            <a:r>
              <a:rPr lang="he-IL" dirty="0"/>
              <a:t> יש בתכנית פונקציה נוספת , נבצע שתי פקודות </a:t>
            </a:r>
            <a:r>
              <a:rPr lang="en-US" dirty="0"/>
              <a:t>break </a:t>
            </a:r>
            <a:r>
              <a:rPr lang="he-IL" dirty="0"/>
              <a:t> : </a:t>
            </a:r>
          </a:p>
          <a:p>
            <a:pPr algn="l" rtl="0"/>
            <a:r>
              <a:rPr lang="en-US" dirty="0"/>
              <a:t>break main</a:t>
            </a:r>
          </a:p>
          <a:p>
            <a:pPr algn="l" rtl="0"/>
            <a:r>
              <a:rPr lang="en-US" dirty="0"/>
              <a:t>break add2</a:t>
            </a:r>
          </a:p>
          <a:p>
            <a:pPr algn="r"/>
            <a:r>
              <a:rPr lang="he-IL" dirty="0"/>
              <a:t>ואפשר גם לבצע </a:t>
            </a:r>
            <a:r>
              <a:rPr lang="en-US" dirty="0"/>
              <a:t>break</a:t>
            </a:r>
            <a:r>
              <a:rPr lang="he-IL" dirty="0"/>
              <a:t> גם לפני </a:t>
            </a:r>
            <a:r>
              <a:rPr lang="en-US" dirty="0" err="1"/>
              <a:t>printf</a:t>
            </a:r>
            <a:r>
              <a:rPr lang="he-IL" dirty="0"/>
              <a:t> אם רוצים</a:t>
            </a:r>
            <a:endParaRPr lang="en-US" dirty="0"/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866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מדבגים תכנית עם פונקציות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בשלב הבא רושמים ב </a:t>
            </a:r>
            <a:r>
              <a:rPr lang="en-US" dirty="0" err="1"/>
              <a:t>gdb</a:t>
            </a:r>
            <a:r>
              <a:rPr lang="en-US" dirty="0"/>
              <a:t>  </a:t>
            </a:r>
            <a:r>
              <a:rPr lang="he-IL" dirty="0"/>
              <a:t>   את הפקודה </a:t>
            </a:r>
            <a:r>
              <a:rPr lang="en-US" dirty="0"/>
              <a:t>run</a:t>
            </a:r>
            <a:r>
              <a:rPr lang="he-IL" dirty="0"/>
              <a:t> ונעצרים לפני </a:t>
            </a:r>
            <a:r>
              <a:rPr lang="en-US" dirty="0"/>
              <a:t>main</a:t>
            </a:r>
            <a:endParaRPr lang="he-IL" dirty="0"/>
          </a:p>
          <a:p>
            <a:r>
              <a:rPr lang="he-IL" dirty="0"/>
              <a:t> כעת , בתוך </a:t>
            </a:r>
            <a:r>
              <a:rPr lang="en-US" dirty="0"/>
              <a:t>main</a:t>
            </a:r>
            <a:r>
              <a:rPr lang="he-IL" dirty="0"/>
              <a:t> ניתן לרשום </a:t>
            </a:r>
            <a:r>
              <a:rPr lang="en-US" dirty="0" err="1"/>
              <a:t>si</a:t>
            </a:r>
            <a:r>
              <a:rPr lang="he-IL" dirty="0"/>
              <a:t> לצורך ביצוע צעד צעד – כרגיל , כך שאם יש קריאה לפונקציה נוספת , </a:t>
            </a:r>
            <a:r>
              <a:rPr lang="en-US" dirty="0" err="1"/>
              <a:t>si</a:t>
            </a:r>
            <a:r>
              <a:rPr lang="he-IL" dirty="0"/>
              <a:t> תיכנס לתוכה ותבצע גם אותה צעד צעד.</a:t>
            </a:r>
          </a:p>
          <a:p>
            <a:r>
              <a:rPr lang="he-IL" dirty="0"/>
              <a:t>אם רוצים לדלג על ביצוע פונקציה פנימית צעד צעד ולבצע אותה בבת אחת מבצעים </a:t>
            </a:r>
            <a:r>
              <a:rPr lang="en-US" dirty="0" err="1"/>
              <a:t>nexti</a:t>
            </a:r>
            <a:endParaRPr lang="en-US" dirty="0"/>
          </a:p>
          <a:p>
            <a:r>
              <a:rPr lang="he-IL" dirty="0"/>
              <a:t>כך למשל אם מגיעים לשורה של </a:t>
            </a:r>
            <a:r>
              <a:rPr lang="en-US" dirty="0"/>
              <a:t>call add2</a:t>
            </a:r>
            <a:r>
              <a:rPr lang="he-IL" dirty="0"/>
              <a:t> אזי לחיצה על </a:t>
            </a:r>
            <a:r>
              <a:rPr lang="en-US" dirty="0" err="1"/>
              <a:t>si</a:t>
            </a:r>
            <a:r>
              <a:rPr lang="he-IL" dirty="0"/>
              <a:t> תיכנס פנימה אל תוך הפונקציה ואילו </a:t>
            </a:r>
            <a:r>
              <a:rPr lang="en-US" dirty="0" err="1"/>
              <a:t>nexti</a:t>
            </a:r>
            <a:r>
              <a:rPr lang="he-IL" dirty="0"/>
              <a:t> תדלג עליה ותבצע אותה בבת אחת. </a:t>
            </a:r>
          </a:p>
          <a:p>
            <a:r>
              <a:rPr lang="he-IL" dirty="0"/>
              <a:t>אם רוצים לבצע מעקב אחר תוכן המחסנית תוך כדי הרצה מבצעים :</a:t>
            </a:r>
            <a:r>
              <a:rPr lang="en-US" dirty="0"/>
              <a:t>  </a:t>
            </a:r>
            <a:r>
              <a:rPr lang="en-US" b="1" dirty="0"/>
              <a:t>x/16gx $</a:t>
            </a:r>
            <a:r>
              <a:rPr lang="en-US" b="1" dirty="0" err="1"/>
              <a:t>rsp</a:t>
            </a:r>
            <a:endParaRPr lang="he-IL" b="1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966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C259-2087-B84F-6D15-213761E7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58A80F-F4DF-89D4-678B-D73AB93B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טיפ נוסף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DFFF37-2556-1623-97DC-97D69FD4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אם אנחנו רוצים לרוץ בלי לדבג עד לנקודת עצירה (</a:t>
            </a:r>
            <a:r>
              <a:rPr lang="en-US" dirty="0"/>
              <a:t>break</a:t>
            </a:r>
            <a:r>
              <a:rPr lang="he-IL" dirty="0"/>
              <a:t>) ששמנו, נשתמש בפקודה </a:t>
            </a:r>
            <a:r>
              <a:rPr lang="en-US" dirty="0"/>
              <a:t>continue</a:t>
            </a:r>
            <a:r>
              <a:rPr lang="he-IL" dirty="0"/>
              <a:t>, </a:t>
            </a:r>
            <a:r>
              <a:rPr lang="he-IL" dirty="0" err="1"/>
              <a:t>והדיבאגר</a:t>
            </a:r>
            <a:r>
              <a:rPr lang="he-IL" dirty="0"/>
              <a:t> ימשיך עד לנקודת העצירה הבאה ששמנו</a:t>
            </a:r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5C6DD3-318A-0A96-DCB3-9DB191BF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09A3C38-31E3-7C30-69D6-2394EA3F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2522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רקורסיבית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התכנית שלהלן  מכילה שני קבצים :</a:t>
            </a:r>
            <a:r>
              <a:rPr lang="en-US" dirty="0"/>
              <a:t> </a:t>
            </a:r>
            <a:r>
              <a:rPr lang="he-IL" dirty="0"/>
              <a:t>קובץ ראשון – קובץ </a:t>
            </a:r>
            <a:r>
              <a:rPr lang="en-US" dirty="0"/>
              <a:t>C</a:t>
            </a:r>
            <a:r>
              <a:rPr lang="he-IL" dirty="0"/>
              <a:t> המכיל </a:t>
            </a:r>
            <a:r>
              <a:rPr lang="he-IL" dirty="0" err="1"/>
              <a:t>פונקצית</a:t>
            </a:r>
            <a:r>
              <a:rPr lang="he-IL" dirty="0"/>
              <a:t> </a:t>
            </a:r>
            <a:r>
              <a:rPr lang="en-US" dirty="0"/>
              <a:t>main</a:t>
            </a:r>
            <a:r>
              <a:rPr lang="he-IL" dirty="0"/>
              <a:t> המאתחלת משתנה </a:t>
            </a:r>
            <a:r>
              <a:rPr lang="en-US" dirty="0" err="1"/>
              <a:t>int</a:t>
            </a:r>
            <a:r>
              <a:rPr lang="he-IL" dirty="0"/>
              <a:t> בערך של 472.</a:t>
            </a:r>
          </a:p>
          <a:p>
            <a:r>
              <a:rPr lang="he-IL" dirty="0"/>
              <a:t>קובץ שני – קובץ </a:t>
            </a:r>
            <a:r>
              <a:rPr lang="en-US" dirty="0" err="1"/>
              <a:t>asm</a:t>
            </a:r>
            <a:r>
              <a:rPr lang="en-US" dirty="0"/>
              <a:t>  </a:t>
            </a:r>
            <a:r>
              <a:rPr lang="he-IL" dirty="0"/>
              <a:t>   המכיל פונקציה רקורסיבית אשר מקבלת את הערך המספרי ומחשבת ברקורסיה את סכום הספרות של המספר.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9235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קובץ </a:t>
            </a:r>
            <a:r>
              <a:rPr lang="en-US" dirty="0"/>
              <a:t>C</a:t>
            </a:r>
            <a:r>
              <a:rPr lang="he-IL" dirty="0"/>
              <a:t> לתכנית </a:t>
            </a:r>
            <a:r>
              <a:rPr lang="en-US" dirty="0" err="1"/>
              <a:t>main_sum_digits.c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he-IL" dirty="0"/>
              <a:t>קובץ זה מכיל את הפונקציה הראשית אשר קוראת לפונקציה הרקורסיבית : </a:t>
            </a:r>
          </a:p>
          <a:p>
            <a:pPr algn="l" rtl="0"/>
            <a:br>
              <a:rPr lang="en-US" dirty="0"/>
            </a:b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23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397" y="3147049"/>
            <a:ext cx="7811590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44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קובץ </a:t>
            </a:r>
            <a:r>
              <a:rPr lang="en-US" dirty="0"/>
              <a:t>ASM</a:t>
            </a:r>
            <a:r>
              <a:rPr lang="he-IL" dirty="0"/>
              <a:t> לתכנית </a:t>
            </a:r>
            <a:r>
              <a:rPr lang="en-US" dirty="0"/>
              <a:t>sum_digits.asm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קובץ זה מתאר הלכה למעשה את הפונקציה הרקורסיבית לחישוב סכום ספרות המספר</a:t>
            </a:r>
          </a:p>
          <a:p>
            <a:r>
              <a:rPr lang="he-IL" dirty="0"/>
              <a:t>תנאי העצירה : בודק אם הערך המספרי הוא חד ספרתי. במידה וכן – מוחזר הערך</a:t>
            </a:r>
          </a:p>
          <a:p>
            <a:r>
              <a:rPr lang="he-IL" dirty="0"/>
              <a:t>במידה ולא – הערך המספרי קטן פי 10 ע"י שימוש </a:t>
            </a:r>
            <a:r>
              <a:rPr lang="he-IL" dirty="0" err="1"/>
              <a:t>בפקדות</a:t>
            </a:r>
            <a:r>
              <a:rPr lang="he-IL" dirty="0"/>
              <a:t> </a:t>
            </a:r>
            <a:r>
              <a:rPr lang="en-US" dirty="0"/>
              <a:t>div</a:t>
            </a:r>
            <a:r>
              <a:rPr lang="he-IL" dirty="0"/>
              <a:t> כך שהשארית מסוכמת אל תוך אוגר הסכום </a:t>
            </a:r>
            <a:r>
              <a:rPr lang="en-US" dirty="0" err="1"/>
              <a:t>rax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2861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E8A8F-E103-40F5-AF58-1922DBE02230}" type="datetime8">
              <a:rPr lang="he-IL" smtClean="0"/>
              <a:t>03 מאי 26</a:t>
            </a:fld>
            <a:endParaRPr lang="he-IL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25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10" y="529058"/>
            <a:ext cx="7278362" cy="5824081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57" y="739806"/>
            <a:ext cx="6229135" cy="336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92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סדר הקריאות והביצוע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436" y="2649784"/>
            <a:ext cx="9323108" cy="313323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0795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סדר הקריאות והביצוע המשך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216" y="2560883"/>
            <a:ext cx="9168382" cy="313323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1375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סדר הקריאות והביצוע המשך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793035"/>
            <a:ext cx="9457942" cy="2846730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863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חזרה מהרקורסיה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952" y="2557463"/>
            <a:ext cx="8010143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579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חזרה מהרקורסיה המשך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40" y="2640640"/>
            <a:ext cx="8046720" cy="313323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0784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אופן </a:t>
            </a:r>
            <a:r>
              <a:rPr lang="he-IL" dirty="0" err="1"/>
              <a:t>הקמפול</a:t>
            </a:r>
            <a:r>
              <a:rPr lang="he-IL" dirty="0"/>
              <a:t> וההרצה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elf64 -g -F dwarf sum_digits.asm -o </a:t>
            </a:r>
            <a:r>
              <a:rPr lang="en-US" b="1" dirty="0" err="1"/>
              <a:t>sum_digits.o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-g </a:t>
            </a:r>
            <a:r>
              <a:rPr lang="en-US" b="1" dirty="0" err="1"/>
              <a:t>main_sum_digits.c</a:t>
            </a:r>
            <a:r>
              <a:rPr lang="en-US" b="1" dirty="0"/>
              <a:t> </a:t>
            </a:r>
            <a:r>
              <a:rPr lang="en-US" b="1" dirty="0" err="1"/>
              <a:t>sum_digits.o</a:t>
            </a:r>
            <a:r>
              <a:rPr lang="en-US" b="1" dirty="0"/>
              <a:t> -o </a:t>
            </a:r>
            <a:r>
              <a:rPr lang="en-US" b="1" dirty="0" err="1"/>
              <a:t>sum_digits_demo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sum_digits_demo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8697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פונקציות רקורסיביות הדדיות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פונקציות רקורסיביות נקראות הדדיות אם הן קוראות זו לזו, במקום פונקציה אחת אשר קוראת לפונקציה רקורסיבית , כגון </a:t>
            </a:r>
            <a:r>
              <a:rPr lang="en-US" dirty="0"/>
              <a:t>main</a:t>
            </a:r>
            <a:r>
              <a:rPr lang="he-IL" dirty="0"/>
              <a:t> אשר קוראת לפונקציה רקורסיבית. </a:t>
            </a:r>
          </a:p>
          <a:p>
            <a:r>
              <a:rPr lang="he-IL" dirty="0"/>
              <a:t>בכל צעד רקורסיבי תתקיים קפיצה מפונקציה רקורסיבית אחת לפונקציה רקורסיבית אחרת. </a:t>
            </a:r>
          </a:p>
          <a:p>
            <a:r>
              <a:rPr lang="he-IL" dirty="0"/>
              <a:t>דוגמא – בדיקת זוגיות של מספר טבעי </a:t>
            </a:r>
            <a:r>
              <a:rPr lang="en-US" dirty="0"/>
              <a:t>n</a:t>
            </a:r>
            <a:r>
              <a:rPr lang="he-IL" dirty="0"/>
              <a:t> : </a:t>
            </a:r>
          </a:p>
          <a:p>
            <a:pPr algn="l" rtl="0"/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5010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– בדיקת זוגיות של מספר טבעי 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824" y="2557463"/>
            <a:ext cx="7598664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402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היכן ההדדיות בדיוק ?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נניח רוצים לבדוק אם 4 הוא מספר זוגי. </a:t>
            </a:r>
          </a:p>
          <a:p>
            <a:r>
              <a:rPr lang="he-IL" dirty="0"/>
              <a:t>על כן ננהל פינג פונג של קריאות באופן הבא :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34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92" y="3694223"/>
            <a:ext cx="6525536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79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קובץ הקריאה </a:t>
            </a:r>
            <a:r>
              <a:rPr lang="en-US" dirty="0" err="1"/>
              <a:t>is_even_main.c</a:t>
            </a:r>
            <a:r>
              <a:rPr lang="he-IL" dirty="0"/>
              <a:t>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651" y="2611214"/>
            <a:ext cx="9116697" cy="3210373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9909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Is_even.asm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644" y="2468562"/>
            <a:ext cx="4802772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36</a:t>
            </a:fld>
            <a:endParaRPr lang="he-IL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63" y="2509022"/>
            <a:ext cx="5464027" cy="35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96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אופן </a:t>
            </a:r>
            <a:r>
              <a:rPr lang="he-IL" dirty="0" err="1"/>
              <a:t>הקמפול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elf64 -g -F dwarf is_even.asm -o </a:t>
            </a:r>
            <a:r>
              <a:rPr lang="en-US" b="1" dirty="0" err="1"/>
              <a:t>is_even.o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-g </a:t>
            </a:r>
            <a:r>
              <a:rPr lang="en-US" b="1" dirty="0" err="1"/>
              <a:t>main_is_even.c</a:t>
            </a:r>
            <a:r>
              <a:rPr lang="en-US" b="1" dirty="0"/>
              <a:t>  </a:t>
            </a:r>
            <a:r>
              <a:rPr lang="en-US" b="1" dirty="0" err="1"/>
              <a:t>main_is_even.o</a:t>
            </a:r>
            <a:r>
              <a:rPr lang="en-US" b="1" dirty="0"/>
              <a:t> -o </a:t>
            </a:r>
            <a:r>
              <a:rPr lang="en-US" b="1" dirty="0" err="1"/>
              <a:t>is_even_demo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is_even_demo</a:t>
            </a:r>
            <a:endParaRPr lang="en-US" b="1" dirty="0"/>
          </a:p>
          <a:p>
            <a:pPr algn="r"/>
            <a:r>
              <a:rPr lang="he-IL" dirty="0"/>
              <a:t>הפלט המתקבל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/>
              <a:t>7 is even 0       (false)</a:t>
            </a:r>
          </a:p>
          <a:p>
            <a:pPr algn="l" rtl="0"/>
            <a:r>
              <a:rPr lang="en-US" b="1" dirty="0"/>
              <a:t>7 is odd 1         (true)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690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מהו </a:t>
            </a:r>
            <a:r>
              <a:rPr lang="en-US" dirty="0" err="1"/>
              <a:t>stdin</a:t>
            </a:r>
            <a:r>
              <a:rPr lang="en-US" dirty="0"/>
              <a:t> </a:t>
            </a:r>
            <a:r>
              <a:rPr lang="he-IL" dirty="0"/>
              <a:t>? 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 err="1"/>
              <a:t>stdin</a:t>
            </a:r>
            <a:endParaRPr lang="en-US" b="1" dirty="0"/>
          </a:p>
          <a:p>
            <a:pPr algn="l" rtl="0"/>
            <a:r>
              <a:rPr lang="en-US" dirty="0"/>
              <a:t>The default input stream.</a:t>
            </a:r>
          </a:p>
          <a:p>
            <a:pPr algn="l" rtl="0"/>
            <a:r>
              <a:rPr lang="en-US" dirty="0"/>
              <a:t>Usually connected to the keyboard.</a:t>
            </a:r>
          </a:p>
          <a:p>
            <a:pPr algn="l" rtl="0"/>
            <a:r>
              <a:rPr lang="en-US" dirty="0"/>
              <a:t>File descriptor 0.</a:t>
            </a:r>
          </a:p>
          <a:p>
            <a:pPr algn="l" rtl="0"/>
            <a:r>
              <a:rPr lang="en-US" dirty="0"/>
              <a:t>Buffered (line‑buffered when connected to a terminal).</a:t>
            </a:r>
          </a:p>
          <a:p>
            <a:pPr algn="l" rtl="0"/>
            <a:r>
              <a:rPr lang="en-US" dirty="0"/>
              <a:t>Used by functions like </a:t>
            </a:r>
            <a:r>
              <a:rPr lang="en-US" dirty="0" err="1"/>
              <a:t>scanf</a:t>
            </a:r>
            <a:r>
              <a:rPr lang="en-US" dirty="0"/>
              <a:t>, </a:t>
            </a:r>
            <a:r>
              <a:rPr lang="en-US" dirty="0" err="1"/>
              <a:t>fgets</a:t>
            </a:r>
            <a:r>
              <a:rPr lang="en-US" dirty="0"/>
              <a:t>, and system calls like read(0, ...).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1151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מהו </a:t>
            </a:r>
            <a:r>
              <a:rPr lang="en-US" dirty="0" err="1"/>
              <a:t>stdout</a:t>
            </a:r>
            <a:r>
              <a:rPr lang="en-US" dirty="0"/>
              <a:t> </a:t>
            </a:r>
            <a:r>
              <a:rPr lang="he-IL" dirty="0"/>
              <a:t> 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 err="1"/>
              <a:t>stdout</a:t>
            </a:r>
            <a:r>
              <a:rPr lang="en-US" b="1" dirty="0"/>
              <a:t> </a:t>
            </a:r>
          </a:p>
          <a:p>
            <a:pPr algn="l" rtl="0"/>
            <a:r>
              <a:rPr lang="en-US" dirty="0"/>
              <a:t>The default output stream.</a:t>
            </a:r>
          </a:p>
          <a:p>
            <a:pPr algn="l" rtl="0"/>
            <a:r>
              <a:rPr lang="en-US" dirty="0"/>
              <a:t>Usually connected to the terminal.</a:t>
            </a:r>
          </a:p>
          <a:p>
            <a:pPr algn="l" rtl="0"/>
            <a:r>
              <a:rPr lang="en-US" dirty="0"/>
              <a:t>File descriptor 1.</a:t>
            </a:r>
          </a:p>
          <a:p>
            <a:pPr algn="l" rtl="0"/>
            <a:r>
              <a:rPr lang="en-US" dirty="0"/>
              <a:t>Buffered (line‑buffered for terminals, fully buffered for files).</a:t>
            </a:r>
          </a:p>
          <a:p>
            <a:pPr algn="l" rtl="0"/>
            <a:r>
              <a:rPr lang="en-US" dirty="0"/>
              <a:t>Used by </a:t>
            </a:r>
            <a:r>
              <a:rPr lang="en-US" dirty="0" err="1"/>
              <a:t>printf</a:t>
            </a:r>
            <a:r>
              <a:rPr lang="en-US" dirty="0"/>
              <a:t>, puts, and system calls like write(1, ...).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5170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מהו </a:t>
            </a:r>
            <a:r>
              <a:rPr lang="en-US" dirty="0" err="1"/>
              <a:t>stderr</a:t>
            </a:r>
            <a:r>
              <a:rPr lang="he-IL" dirty="0"/>
              <a:t> ? 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The default error output stream.</a:t>
            </a:r>
          </a:p>
          <a:p>
            <a:pPr algn="l" rtl="0"/>
            <a:r>
              <a:rPr lang="en-US" dirty="0"/>
              <a:t>Usually connected to the terminal.</a:t>
            </a:r>
          </a:p>
          <a:p>
            <a:pPr algn="l" rtl="0"/>
            <a:r>
              <a:rPr lang="en-US" dirty="0"/>
              <a:t>File descriptor 2.</a:t>
            </a:r>
          </a:p>
          <a:p>
            <a:pPr algn="l" rtl="0"/>
            <a:r>
              <a:rPr lang="en-US" dirty="0"/>
              <a:t>Unbuffered (always flushed immediately).</a:t>
            </a:r>
          </a:p>
          <a:p>
            <a:pPr algn="l" rtl="0"/>
            <a:r>
              <a:rPr lang="en-US" dirty="0"/>
              <a:t>Used by </a:t>
            </a:r>
            <a:r>
              <a:rPr lang="en-US" dirty="0" err="1"/>
              <a:t>fprintf</a:t>
            </a:r>
            <a:r>
              <a:rPr lang="en-US" dirty="0"/>
              <a:t>(</a:t>
            </a:r>
            <a:r>
              <a:rPr lang="en-US" dirty="0" err="1"/>
              <a:t>stderr</a:t>
            </a:r>
            <a:r>
              <a:rPr lang="en-US" dirty="0"/>
              <a:t>, ...) and system calls like write(2, ...).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5359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in </a:t>
            </a:r>
            <a:r>
              <a:rPr lang="en-US" dirty="0" err="1"/>
              <a:t>linux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אילו קריאות מערכת של לינוקס ונסביר אותן : 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41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89" y="3217126"/>
            <a:ext cx="7863671" cy="289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30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קריאת </a:t>
            </a:r>
            <a:r>
              <a:rPr lang="en-US" dirty="0"/>
              <a:t>write </a:t>
            </a:r>
            <a:r>
              <a:rPr lang="he-IL" dirty="0"/>
              <a:t> בלינוקס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310" y="2606451"/>
            <a:ext cx="8097380" cy="3219899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9815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בדוגמא זו ניצור קובץ בשפת </a:t>
            </a:r>
            <a:r>
              <a:rPr lang="en-US" dirty="0"/>
              <a:t>C</a:t>
            </a:r>
            <a:r>
              <a:rPr lang="he-IL" dirty="0"/>
              <a:t> אשר קורא נתונים מתוך </a:t>
            </a:r>
            <a:r>
              <a:rPr lang="en-US" dirty="0" err="1"/>
              <a:t>stdin</a:t>
            </a:r>
            <a:r>
              <a:rPr lang="he-IL" dirty="0"/>
              <a:t> (מקלדת) , מדפיס את הקלט למסך (</a:t>
            </a:r>
            <a:r>
              <a:rPr lang="en-US" dirty="0" err="1"/>
              <a:t>stdout</a:t>
            </a:r>
            <a:r>
              <a:rPr lang="he-IL" dirty="0"/>
              <a:t>) וכותב הודעת שגיאה ל </a:t>
            </a:r>
            <a:r>
              <a:rPr lang="en-US" dirty="0" err="1"/>
              <a:t>stderr</a:t>
            </a:r>
            <a:r>
              <a:rPr lang="he-IL" dirty="0"/>
              <a:t> </a:t>
            </a:r>
          </a:p>
          <a:p>
            <a:r>
              <a:rPr lang="he-IL" dirty="0"/>
              <a:t>כמו כן ניצור קובץ אסמבלר אשר משתמש בקריאות מערכת </a:t>
            </a:r>
            <a:r>
              <a:rPr lang="en-US" dirty="0"/>
              <a:t>read write</a:t>
            </a:r>
            <a:r>
              <a:rPr lang="he-IL" dirty="0"/>
              <a:t>.</a:t>
            </a:r>
          </a:p>
          <a:p>
            <a:r>
              <a:rPr lang="he-IL" dirty="0"/>
              <a:t>הערה – כל כתיבה או קריאה ב </a:t>
            </a:r>
            <a:r>
              <a:rPr lang="en-US" dirty="0" err="1"/>
              <a:t>linux</a:t>
            </a:r>
            <a:r>
              <a:rPr lang="he-IL" dirty="0"/>
              <a:t> עובדת עם קבצים , כולל לוח המקשים וכולל המסך. כשהתכנית שלהלן תרוץ,  מעה"פ </a:t>
            </a:r>
            <a:r>
              <a:rPr lang="en-US" dirty="0" err="1"/>
              <a:t>linux</a:t>
            </a:r>
            <a:r>
              <a:rPr lang="he-IL" dirty="0"/>
              <a:t> אוטומטית תפתח 3 קבצים : אחד לקלט – </a:t>
            </a:r>
            <a:r>
              <a:rPr lang="en-US" dirty="0" err="1"/>
              <a:t>stdin</a:t>
            </a:r>
            <a:r>
              <a:rPr lang="he-IL" dirty="0"/>
              <a:t> השני לפלט – </a:t>
            </a:r>
            <a:r>
              <a:rPr lang="en-US" dirty="0" err="1"/>
              <a:t>stdout</a:t>
            </a:r>
            <a:r>
              <a:rPr lang="en-US" dirty="0"/>
              <a:t> </a:t>
            </a:r>
            <a:r>
              <a:rPr lang="he-IL" dirty="0"/>
              <a:t> והשלישי ל </a:t>
            </a:r>
            <a:r>
              <a:rPr lang="en-US" dirty="0" err="1"/>
              <a:t>stderr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179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demo_stdio.c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395729"/>
            <a:ext cx="8031478" cy="371297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24628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asm_demo.asm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956" y="2575751"/>
            <a:ext cx="3966220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45</a:t>
            </a:fld>
            <a:endParaRPr lang="he-IL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384" y="2575751"/>
            <a:ext cx="5440525" cy="35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819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קמפול</a:t>
            </a:r>
            <a:r>
              <a:rPr lang="he-IL" dirty="0"/>
              <a:t> והרצה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/>
              <a:t>nasm</a:t>
            </a:r>
            <a:r>
              <a:rPr lang="en-US" dirty="0"/>
              <a:t> –f elf64 –g –F dwarf asm_demo.asm –o </a:t>
            </a:r>
            <a:r>
              <a:rPr lang="en-US" dirty="0" err="1"/>
              <a:t>asm_demo.o</a:t>
            </a:r>
            <a:endParaRPr lang="en-US" dirty="0"/>
          </a:p>
          <a:p>
            <a:pPr algn="l" rtl="0"/>
            <a:r>
              <a:rPr lang="en-US" dirty="0" err="1"/>
              <a:t>gcc</a:t>
            </a:r>
            <a:r>
              <a:rPr lang="en-US" dirty="0"/>
              <a:t> –c –g </a:t>
            </a:r>
            <a:r>
              <a:rPr lang="en-US" dirty="0" err="1"/>
              <a:t>demo_stdio.c</a:t>
            </a:r>
            <a:r>
              <a:rPr lang="en-US" dirty="0"/>
              <a:t> –o </a:t>
            </a:r>
            <a:r>
              <a:rPr lang="en-US" dirty="0" err="1"/>
              <a:t>demo_stdio.o</a:t>
            </a:r>
            <a:endParaRPr lang="en-US" dirty="0"/>
          </a:p>
          <a:p>
            <a:pPr algn="l" rtl="0"/>
            <a:r>
              <a:rPr lang="en-US" dirty="0" err="1"/>
              <a:t>gcc</a:t>
            </a:r>
            <a:r>
              <a:rPr lang="en-US" dirty="0"/>
              <a:t> –no-pie –g </a:t>
            </a:r>
            <a:r>
              <a:rPr lang="en-US" dirty="0" err="1"/>
              <a:t>demo_stdio.o</a:t>
            </a:r>
            <a:r>
              <a:rPr lang="en-US" dirty="0"/>
              <a:t> </a:t>
            </a:r>
            <a:r>
              <a:rPr lang="en-US" dirty="0" err="1"/>
              <a:t>asm_demo.o</a:t>
            </a:r>
            <a:r>
              <a:rPr lang="en-US" dirty="0"/>
              <a:t> –o </a:t>
            </a:r>
            <a:r>
              <a:rPr lang="en-US" dirty="0" err="1"/>
              <a:t>std_demo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34548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הסבר לתכנית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ראשית  - לגבי הקובץ בשפת </a:t>
            </a:r>
            <a:r>
              <a:rPr lang="en-US" dirty="0"/>
              <a:t>C</a:t>
            </a:r>
            <a:r>
              <a:rPr lang="he-IL" dirty="0"/>
              <a:t> – קיימת פקודה בשם </a:t>
            </a:r>
            <a:r>
              <a:rPr lang="en-US" dirty="0" err="1"/>
              <a:t>fflush</a:t>
            </a:r>
            <a:r>
              <a:rPr lang="en-US" dirty="0"/>
              <a:t> </a:t>
            </a:r>
            <a:r>
              <a:rPr lang="he-IL" dirty="0"/>
              <a:t> : היות והתכנית קולטת מהמשתמש תוכן , עליה לשמור אותו במקום זמני בזיכרון טרם הדפסתו. </a:t>
            </a:r>
          </a:p>
          <a:p>
            <a:r>
              <a:rPr lang="he-IL" dirty="0"/>
              <a:t>הסיבה : יש לבדוק אם התקן הפלט – במקרה שלנו </a:t>
            </a:r>
            <a:r>
              <a:rPr lang="en-US" dirty="0" err="1"/>
              <a:t>stdout</a:t>
            </a:r>
            <a:r>
              <a:rPr lang="he-IL" dirty="0"/>
              <a:t> פנוי. במידה ולא פנוי , התוכן נאגר בחוצץ וממתין לפניות של התקן הפלט. </a:t>
            </a:r>
          </a:p>
          <a:p>
            <a:r>
              <a:rPr lang="he-IL" dirty="0"/>
              <a:t>פעולת ה </a:t>
            </a:r>
            <a:r>
              <a:rPr lang="en-US" dirty="0" err="1"/>
              <a:t>fflush</a:t>
            </a:r>
            <a:r>
              <a:rPr lang="he-IL" dirty="0"/>
              <a:t> חשובה במקרים בהם הפלט מופנה אל קובץ כלשהו ולאו דווקא למסך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7777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אופן העבודה של קובץ ה </a:t>
            </a:r>
            <a:r>
              <a:rPr lang="en-US" dirty="0" err="1"/>
              <a:t>asm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קובץ זה מדגים כיצד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כותבים ל </a:t>
            </a:r>
            <a:r>
              <a:rPr lang="en-US" dirty="0" err="1"/>
              <a:t>stdout</a:t>
            </a:r>
            <a:r>
              <a:rPr lang="en-US" dirty="0"/>
              <a:t> </a:t>
            </a:r>
            <a:r>
              <a:rPr lang="he-IL" dirty="0"/>
              <a:t> (</a:t>
            </a:r>
            <a:r>
              <a:rPr lang="en-US" dirty="0" err="1"/>
              <a:t>fd</a:t>
            </a:r>
            <a:r>
              <a:rPr lang="en-US" dirty="0"/>
              <a:t>=1</a:t>
            </a:r>
            <a:r>
              <a:rPr lang="he-IL" dirty="0"/>
              <a:t>)</a:t>
            </a:r>
          </a:p>
          <a:p>
            <a:r>
              <a:rPr lang="he-IL" dirty="0"/>
              <a:t>כותבים ל </a:t>
            </a:r>
            <a:r>
              <a:rPr lang="en-US" dirty="0" err="1"/>
              <a:t>stderr</a:t>
            </a:r>
            <a:r>
              <a:rPr lang="en-US" dirty="0"/>
              <a:t> </a:t>
            </a:r>
            <a:r>
              <a:rPr lang="he-IL" dirty="0"/>
              <a:t> (</a:t>
            </a:r>
            <a:r>
              <a:rPr lang="en-US" dirty="0" err="1"/>
              <a:t>fd</a:t>
            </a:r>
            <a:r>
              <a:rPr lang="en-US" dirty="0"/>
              <a:t>=2</a:t>
            </a:r>
            <a:r>
              <a:rPr lang="he-IL" dirty="0"/>
              <a:t>)</a:t>
            </a:r>
            <a:br>
              <a:rPr lang="en-US" dirty="0"/>
            </a:br>
            <a:r>
              <a:rPr lang="he-IL" dirty="0"/>
              <a:t>קוראים מידע מהמקלדת  (</a:t>
            </a:r>
            <a:r>
              <a:rPr lang="en-US" dirty="0" err="1"/>
              <a:t>stdin</a:t>
            </a:r>
            <a:r>
              <a:rPr lang="he-IL" dirty="0"/>
              <a:t> </a:t>
            </a:r>
            <a:r>
              <a:rPr lang="en-US" dirty="0" err="1"/>
              <a:t>fd</a:t>
            </a:r>
            <a:r>
              <a:rPr lang="en-US" dirty="0"/>
              <a:t>=0</a:t>
            </a:r>
            <a:r>
              <a:rPr lang="he-IL" dirty="0"/>
              <a:t>) </a:t>
            </a:r>
          </a:p>
          <a:p>
            <a:r>
              <a:rPr lang="he-IL" dirty="0"/>
              <a:t>וכיצד הקלט שנקלט מודפס ב </a:t>
            </a:r>
            <a:r>
              <a:rPr lang="en-US" dirty="0" err="1"/>
              <a:t>stdout</a:t>
            </a:r>
            <a:r>
              <a:rPr lang="he-IL" dirty="0"/>
              <a:t> חזרה </a:t>
            </a:r>
          </a:p>
          <a:p>
            <a:r>
              <a:rPr lang="he-IL" dirty="0"/>
              <a:t>בשקפים הבאים נראה את כל הפעולות הנ"ל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7856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כתיבה למסך </a:t>
            </a:r>
            <a:r>
              <a:rPr lang="en-US" dirty="0"/>
              <a:t>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626" y="3173267"/>
            <a:ext cx="7868748" cy="2086266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8226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כתיבה ל </a:t>
            </a:r>
            <a:r>
              <a:rPr lang="en-US" dirty="0" err="1"/>
              <a:t>stderr</a:t>
            </a:r>
            <a:r>
              <a:rPr lang="he-IL" dirty="0"/>
              <a:t>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310" y="3301873"/>
            <a:ext cx="7735380" cy="182905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03386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קריאה מהמקלדת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257" y="3182794"/>
            <a:ext cx="8135485" cy="2067213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0041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הדהוד של הקלט על המסך </a:t>
            </a:r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678" y="3173267"/>
            <a:ext cx="8554644" cy="2086266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03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74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7402</TotalTime>
  <Words>1726</Words>
  <Application>Microsoft Office PowerPoint</Application>
  <PresentationFormat>מסך רחב</PresentationFormat>
  <Paragraphs>276</Paragraphs>
  <Slides>52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52</vt:i4>
      </vt:variant>
    </vt:vector>
  </HeadingPairs>
  <TitlesOfParts>
    <vt:vector size="56" baseType="lpstr">
      <vt:lpstr>Arial</vt:lpstr>
      <vt:lpstr>Calibri</vt:lpstr>
      <vt:lpstr>Garamond</vt:lpstr>
      <vt:lpstr>אורגני</vt:lpstr>
      <vt:lpstr>תרגול 5 </vt:lpstr>
      <vt:lpstr>מה בתכנית ? </vt:lpstr>
      <vt:lpstr>אופן הקריאה לפונקציות באסמבלר </vt:lpstr>
      <vt:lpstr>מבנה כללי של פונקציה</vt:lpstr>
      <vt:lpstr>מבנה פונקציה המשך</vt:lpstr>
      <vt:lpstr>דוגמא לפונקציה </vt:lpstr>
      <vt:lpstr>נשלב את הפונקציה הקודמת עם תכנית מלאה  func_demo.asm </vt:lpstr>
      <vt:lpstr>הרצה ודיבוג של התכנית </vt:lpstr>
      <vt:lpstr>קריאה לפונקצית אסמבלר מתוך תכנית C </vt:lpstr>
      <vt:lpstr>File 1: main_call_asm.c</vt:lpstr>
      <vt:lpstr>File 2: add3.asm</vt:lpstr>
      <vt:lpstr>Build and Run Commands</vt:lpstr>
      <vt:lpstr>printf_alignment_demo</vt:lpstr>
      <vt:lpstr>printf_alignment_demo.asm</vt:lpstr>
      <vt:lpstr>printf_alignment_demo.asm</vt:lpstr>
      <vt:lpstr>printf_alignment_demo.asm</vt:lpstr>
      <vt:lpstr>printf_alignment_demo.asm</vt:lpstr>
      <vt:lpstr>איך מדבגים תכנית עם פונקציות ? </vt:lpstr>
      <vt:lpstr>איך מדבגים תכנית עם פונקציות ? </vt:lpstr>
      <vt:lpstr>איך מדבגים תכנית עם פונקציות ? </vt:lpstr>
      <vt:lpstr>טיפ נוסף</vt:lpstr>
      <vt:lpstr>תכנית רקורסיבית</vt:lpstr>
      <vt:lpstr>קובץ C לתכנית main_sum_digits.c</vt:lpstr>
      <vt:lpstr>קובץ ASM לתכנית sum_digits.asm</vt:lpstr>
      <vt:lpstr>מצגת של PowerPoint‏</vt:lpstr>
      <vt:lpstr>סדר הקריאות והביצוע </vt:lpstr>
      <vt:lpstr>סדר הקריאות והביצוע המשך </vt:lpstr>
      <vt:lpstr>סדר הקריאות והביצוע המשך </vt:lpstr>
      <vt:lpstr>חזרה מהרקורסיה </vt:lpstr>
      <vt:lpstr>חזרה מהרקורסיה המשך </vt:lpstr>
      <vt:lpstr>אופן הקמפול וההרצה </vt:lpstr>
      <vt:lpstr>פונקציות רקורסיביות הדדיות </vt:lpstr>
      <vt:lpstr>דוגמא – בדיקת זוגיות של מספר טבעי  </vt:lpstr>
      <vt:lpstr>היכן ההדדיות בדיוק ? </vt:lpstr>
      <vt:lpstr>קובץ הקריאה is_even_main.c </vt:lpstr>
      <vt:lpstr>Is_even.asm</vt:lpstr>
      <vt:lpstr>אופן הקמפול </vt:lpstr>
      <vt:lpstr>מהו stdin ?  </vt:lpstr>
      <vt:lpstr>מהו stdout   ? </vt:lpstr>
      <vt:lpstr>מהו stderr ?  </vt:lpstr>
      <vt:lpstr>read in linux </vt:lpstr>
      <vt:lpstr>קריאת write  בלינוקס </vt:lpstr>
      <vt:lpstr>דוגמא </vt:lpstr>
      <vt:lpstr>demo_stdio.c</vt:lpstr>
      <vt:lpstr>asm_demo.asm</vt:lpstr>
      <vt:lpstr>קמפול והרצה </vt:lpstr>
      <vt:lpstr>הסבר לתכנית </vt:lpstr>
      <vt:lpstr>אופן העבודה של קובץ ה asm </vt:lpstr>
      <vt:lpstr>כתיבה למסך  </vt:lpstr>
      <vt:lpstr>כתיבה ל stderr </vt:lpstr>
      <vt:lpstr>קריאה מהמקלדת </vt:lpstr>
      <vt:lpstr>הדהוד של הקלט על המסך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תרגול 5</dc:title>
  <dc:creator>אורן אליעזר</dc:creator>
  <cp:lastModifiedBy>אריאל ברוך ביתן</cp:lastModifiedBy>
  <cp:revision>47</cp:revision>
  <dcterms:created xsi:type="dcterms:W3CDTF">2026-03-19T13:28:20Z</dcterms:created>
  <dcterms:modified xsi:type="dcterms:W3CDTF">2026-05-03T14:19:22Z</dcterms:modified>
</cp:coreProperties>
</file>