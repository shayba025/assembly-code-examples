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6" r:id="rId44"/>
    <p:sldId id="299" r:id="rId45"/>
    <p:sldId id="300" r:id="rId46"/>
    <p:sldId id="307" r:id="rId47"/>
    <p:sldId id="301" r:id="rId48"/>
    <p:sldId id="302" r:id="rId49"/>
    <p:sldId id="303" r:id="rId50"/>
    <p:sldId id="304" r:id="rId51"/>
    <p:sldId id="305" r:id="rId52"/>
    <p:sldId id="306" r:id="rId53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אורן אליעזר" initials="אא" lastIdx="1" clrIdx="0">
    <p:extLst>
      <p:ext uri="{19B8F6BF-5375-455C-9EA6-DF929625EA0E}">
        <p15:presenceInfo xmlns:p15="http://schemas.microsoft.com/office/powerpoint/2012/main" userId="אורן אליעז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E1D9DD8A-70BF-40E6-810B-4CCA85687FF8}" type="datetimeFigureOut">
              <a:rPr lang="he-IL" smtClean="0"/>
              <a:t>ד'/ניסן/תשפ"ו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4A12B76C-97DD-4CA3-87A4-8AD7526EA5E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949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12B76C-97DD-4CA3-87A4-8AD7526EA5E8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1678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C60314-2F8D-484F-9A12-33688479C4F8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46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23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E8B8-880C-45C6-9663-C5D9172ED4F1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01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1931C-A42E-42CA-8EF8-C2EEC7FA6242}" type="datetime8">
              <a:rPr lang="he-IL" smtClean="0"/>
              <a:t>22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975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F417-085C-481B-B124-9762A97C3BD1}" type="datetime8">
              <a:rPr lang="he-IL" smtClean="0"/>
              <a:t>22 מרץ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3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C86C-BB4D-41A4-96FF-DE9A0D9DD373}" type="datetime8">
              <a:rPr lang="he-IL" smtClean="0"/>
              <a:t>22 מרץ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82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E8A8F-E103-40F5-AF58-1922DBE02230}" type="datetime8">
              <a:rPr lang="he-IL" smtClean="0"/>
              <a:t>22 מרץ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152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10449-0659-4DE1-9338-CCED16F0593E}" type="datetime8">
              <a:rPr lang="he-IL" smtClean="0"/>
              <a:t>22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12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148D-8B04-4DE8-9849-2C0DB1B9E8EF}" type="datetime8">
              <a:rPr lang="he-IL" smtClean="0"/>
              <a:t>22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284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8A2B-1780-46F3-BD89-C75D760E1CD2}" type="datetime8">
              <a:rPr lang="he-IL" smtClean="0"/>
              <a:t>22 מרץ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853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FA06-709D-433A-BB7C-65AB81D13579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095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770B-90BA-40A6-9A29-029AA6123BE4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906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A366-4D53-46BA-ADFA-8F223EC4D20B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4617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228C-8F58-4615-83B6-BB184BE58DA3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523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CB6B-EBF2-414E-BBB5-5B3CFFA627A0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99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73CEF-3969-4F4C-B426-0B3B2CBE02BC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653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3355-E8AD-4B35-9427-FF08B7203591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82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723D30-EFB1-4BBB-A6C3-40866DA41DC4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D0E98E-E5DE-4FBA-A1BC-5678C1343B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5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תרגול 5 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smtClean="0"/>
              <a:t>פונקציות, פונקציות רקורסיביות , קריאות הדדיות ברקורסיה,  קריאה לפונקציות בשפת </a:t>
            </a:r>
            <a:r>
              <a:rPr lang="en-US" dirty="0" smtClean="0"/>
              <a:t>C</a:t>
            </a:r>
            <a:r>
              <a:rPr lang="he-IL" dirty="0" smtClean="0"/>
              <a:t> , קריאה  מתכנית בשפת </a:t>
            </a:r>
            <a:r>
              <a:rPr lang="en-US" dirty="0" smtClean="0"/>
              <a:t>C</a:t>
            </a:r>
            <a:r>
              <a:rPr lang="he-IL" dirty="0" smtClean="0"/>
              <a:t> לפונקציות באסמבלר , שימוש ב </a:t>
            </a:r>
            <a:r>
              <a:rPr lang="en-US" dirty="0" smtClean="0"/>
              <a:t>extern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2DB2-9436-4C3B-97B7-9ADD0EBA4517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726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מה בתכנית ?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פונקציות המטפלות בנתונים בני 64 ביט</a:t>
            </a:r>
          </a:p>
          <a:p>
            <a:r>
              <a:rPr lang="he-IL" dirty="0" smtClean="0"/>
              <a:t>קריאות רקורסיביות וקריאות הדדיות</a:t>
            </a:r>
          </a:p>
          <a:p>
            <a:r>
              <a:rPr lang="he-IL" dirty="0" smtClean="0"/>
              <a:t>קריאות לפונקציות בשפת </a:t>
            </a:r>
            <a:r>
              <a:rPr lang="en-US" dirty="0" smtClean="0"/>
              <a:t>C</a:t>
            </a:r>
            <a:r>
              <a:rPr lang="he-IL" dirty="0" smtClean="0"/>
              <a:t> מאסמבלר ולהיפך</a:t>
            </a:r>
          </a:p>
          <a:p>
            <a:r>
              <a:rPr lang="he-IL" dirty="0" smtClean="0"/>
              <a:t>שימוש ב </a:t>
            </a:r>
            <a:r>
              <a:rPr lang="en-US" dirty="0" smtClean="0"/>
              <a:t>extern</a:t>
            </a:r>
            <a:r>
              <a:rPr lang="he-IL" dirty="0" smtClean="0"/>
              <a:t> לצורך שימוש בקלט</a:t>
            </a:r>
            <a:r>
              <a:rPr lang="en-US" dirty="0" smtClean="0"/>
              <a:t>/</a:t>
            </a:r>
            <a:r>
              <a:rPr lang="he-IL" dirty="0" smtClean="0"/>
              <a:t>פלט</a:t>
            </a:r>
          </a:p>
          <a:p>
            <a:r>
              <a:rPr lang="he-IL" dirty="0" smtClean="0"/>
              <a:t>תכניות עם ארגומנטים</a:t>
            </a:r>
            <a:endParaRPr lang="en-US" dirty="0" smtClean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DFA5-199B-4B05-9CF0-46962F389EEB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642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אופן הקריאה לפונקציות באסמבלר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שימוש באוגרים בני 64 ביט – הן כאוגרי מידע והן כאוגרי כתובת :</a:t>
            </a:r>
            <a:r>
              <a:rPr lang="en-US" dirty="0" smtClean="0"/>
              <a:t> </a:t>
            </a:r>
            <a:endParaRPr lang="he-IL" dirty="0" smtClean="0"/>
          </a:p>
          <a:p>
            <a:pPr algn="r"/>
            <a:r>
              <a:rPr lang="pt-BR" dirty="0"/>
              <a:t>rdi, rsi, rdx, rcx, r8, </a:t>
            </a:r>
            <a:r>
              <a:rPr lang="pt-BR" dirty="0" smtClean="0"/>
              <a:t>r9</a:t>
            </a:r>
            <a:endParaRPr lang="he-IL" dirty="0" smtClean="0"/>
          </a:p>
          <a:p>
            <a:pPr algn="r"/>
            <a:r>
              <a:rPr lang="he-IL" dirty="0" smtClean="0"/>
              <a:t>ערך מוחזר דרך </a:t>
            </a:r>
            <a:r>
              <a:rPr lang="en-US" dirty="0" err="1" smtClean="0"/>
              <a:t>rax</a:t>
            </a:r>
            <a:r>
              <a:rPr lang="he-IL" dirty="0" smtClean="0"/>
              <a:t> </a:t>
            </a:r>
          </a:p>
          <a:p>
            <a:r>
              <a:rPr lang="he-IL" dirty="0" smtClean="0"/>
              <a:t>שימוש באוגרים : </a:t>
            </a:r>
            <a:r>
              <a:rPr lang="pt-BR" dirty="0"/>
              <a:t>rax, rcx, rdx, rsi, rdi, </a:t>
            </a:r>
            <a:r>
              <a:rPr lang="pt-BR" dirty="0" smtClean="0"/>
              <a:t>r8–r11</a:t>
            </a:r>
            <a:r>
              <a:rPr lang="he-IL" dirty="0" smtClean="0"/>
              <a:t> כאוגרים שהתכנית הראשית רוצה לשמר בעוד שהפונקציה הנקראת יכולה לדרוס אותם </a:t>
            </a:r>
          </a:p>
          <a:p>
            <a:r>
              <a:rPr lang="he-IL" dirty="0" smtClean="0"/>
              <a:t>שימוש באוגרים  </a:t>
            </a:r>
            <a:r>
              <a:rPr lang="en-US" dirty="0" smtClean="0"/>
              <a:t>  </a:t>
            </a:r>
            <a:r>
              <a:rPr lang="en-US" dirty="0" err="1" smtClean="0"/>
              <a:t>rbx</a:t>
            </a:r>
            <a:r>
              <a:rPr lang="en-US" dirty="0"/>
              <a:t>, </a:t>
            </a:r>
            <a:r>
              <a:rPr lang="en-US" dirty="0" err="1"/>
              <a:t>rbp</a:t>
            </a:r>
            <a:r>
              <a:rPr lang="en-US" dirty="0"/>
              <a:t>, </a:t>
            </a:r>
            <a:r>
              <a:rPr lang="en-US" dirty="0" smtClean="0"/>
              <a:t>r12–r15</a:t>
            </a:r>
            <a:r>
              <a:rPr lang="he-IL" dirty="0" smtClean="0"/>
              <a:t>כאוגרים שיש לשחזר את תכנם טרם החזרה מהפונקציה אל התכנית הראשית 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6F9B-4F77-4447-9AAD-3BF139D86DFE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556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מבנה כללי של פונקציה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 smtClean="0"/>
              <a:t>כל פונקציה הינה בעלת תווית. </a:t>
            </a:r>
          </a:p>
          <a:p>
            <a:r>
              <a:rPr lang="he-IL" dirty="0" smtClean="0"/>
              <a:t>לכל פונקציה יש פתיח וסיומת קבועים :</a:t>
            </a:r>
            <a:r>
              <a:rPr lang="en-US" dirty="0" smtClean="0"/>
              <a:t> </a:t>
            </a:r>
            <a:endParaRPr lang="he-IL" dirty="0" smtClean="0"/>
          </a:p>
          <a:p>
            <a:r>
              <a:rPr lang="he-IL" dirty="0" smtClean="0"/>
              <a:t>פתיח : </a:t>
            </a:r>
          </a:p>
          <a:p>
            <a:pPr algn="l" rtl="0"/>
            <a:r>
              <a:rPr lang="en-US" dirty="0"/>
              <a:t>push </a:t>
            </a:r>
            <a:r>
              <a:rPr lang="en-US" dirty="0" err="1"/>
              <a:t>rbp</a:t>
            </a:r>
            <a:endParaRPr lang="en-US" dirty="0"/>
          </a:p>
          <a:p>
            <a:pPr algn="l" rtl="0"/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rbp</a:t>
            </a:r>
            <a:r>
              <a:rPr lang="en-US" dirty="0"/>
              <a:t>, </a:t>
            </a:r>
            <a:r>
              <a:rPr lang="en-US" dirty="0" err="1" smtClean="0"/>
              <a:t>rsp</a:t>
            </a:r>
            <a:endParaRPr lang="en-US" dirty="0" smtClean="0"/>
          </a:p>
          <a:p>
            <a:pPr algn="r"/>
            <a:r>
              <a:rPr lang="he-IL" dirty="0" smtClean="0"/>
              <a:t>סיומת : </a:t>
            </a:r>
          </a:p>
          <a:p>
            <a:pPr algn="l" rtl="0"/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rsp</a:t>
            </a:r>
            <a:r>
              <a:rPr lang="en-US" dirty="0"/>
              <a:t>, </a:t>
            </a:r>
            <a:r>
              <a:rPr lang="en-US" dirty="0" err="1"/>
              <a:t>rbp</a:t>
            </a:r>
            <a:endParaRPr lang="en-US" dirty="0"/>
          </a:p>
          <a:p>
            <a:pPr algn="l" rtl="0"/>
            <a:r>
              <a:rPr lang="en-US" dirty="0"/>
              <a:t>pop </a:t>
            </a:r>
            <a:r>
              <a:rPr lang="en-US" dirty="0" err="1"/>
              <a:t>rbp</a:t>
            </a:r>
            <a:endParaRPr lang="en-US" dirty="0"/>
          </a:p>
          <a:p>
            <a:pPr algn="l" rtl="0"/>
            <a:r>
              <a:rPr lang="en-US" dirty="0"/>
              <a:t>ret</a:t>
            </a:r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25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מבנה פונקציה המשך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עושים שימוש  </a:t>
            </a:r>
            <a:r>
              <a:rPr lang="he-IL" dirty="0"/>
              <a:t>ב</a:t>
            </a:r>
            <a:r>
              <a:rPr lang="he-IL" dirty="0" smtClean="0"/>
              <a:t>פתיח ובסיומת כאשר פונקציה שומרת משתנים לוקאליים במחסנית ,וכן כאשר עושה שימוש בפונקציות של שפות אחרות כגון </a:t>
            </a:r>
            <a:r>
              <a:rPr lang="en-US" dirty="0" smtClean="0"/>
              <a:t>C</a:t>
            </a:r>
            <a:r>
              <a:rPr lang="he-IL" dirty="0" smtClean="0"/>
              <a:t> </a:t>
            </a:r>
          </a:p>
          <a:p>
            <a:r>
              <a:rPr lang="he-IL" dirty="0" smtClean="0"/>
              <a:t>מקרה נוסף לשימוש כזה נעשה כאשר יש לשחזר ערכים לאוגרים כגון </a:t>
            </a:r>
            <a:r>
              <a:rPr lang="en-US" dirty="0" err="1" smtClean="0"/>
              <a:t>rbx</a:t>
            </a:r>
            <a:r>
              <a:rPr lang="he-IL" dirty="0" smtClean="0"/>
              <a:t> </a:t>
            </a:r>
            <a:r>
              <a:rPr lang="en-US" dirty="0" err="1" smtClean="0"/>
              <a:t>rbp</a:t>
            </a:r>
            <a:r>
              <a:rPr lang="he-IL" dirty="0" smtClean="0"/>
              <a:t> </a:t>
            </a:r>
          </a:p>
          <a:p>
            <a:r>
              <a:rPr lang="he-IL" dirty="0" smtClean="0"/>
              <a:t>במידה ופונקציה לא משנה תכנים של משתנים לוקליים ולא צריכה לשחזר תכנים אז אין כל מטרה לפתיח ולסיומת המוצעים. </a:t>
            </a:r>
          </a:p>
          <a:p>
            <a:r>
              <a:rPr lang="he-IL" dirty="0" smtClean="0"/>
              <a:t>בשקף הבא נראה פונקציה פשוטה ללא צורך בכך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496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לפונקציה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he-IL" dirty="0" smtClean="0"/>
              <a:t>פונקציה זו מסכמת  3 מספרים ושומרת את הסכום ב </a:t>
            </a:r>
            <a:r>
              <a:rPr lang="en-US" dirty="0" err="1" smtClean="0"/>
              <a:t>rax</a:t>
            </a:r>
            <a:endParaRPr lang="en-US" dirty="0" smtClean="0"/>
          </a:p>
          <a:p>
            <a:pPr algn="l" rtl="0"/>
            <a:r>
              <a:rPr lang="en-US" b="1" dirty="0" smtClean="0"/>
              <a:t>global </a:t>
            </a:r>
            <a:r>
              <a:rPr lang="en-US" b="1" dirty="0"/>
              <a:t>add3</a:t>
            </a:r>
          </a:p>
          <a:p>
            <a:pPr algn="l" rtl="0"/>
            <a:r>
              <a:rPr lang="en-US" b="1" dirty="0"/>
              <a:t>add3:</a:t>
            </a:r>
          </a:p>
          <a:p>
            <a:pPr algn="l" rtl="0"/>
            <a:r>
              <a:rPr lang="en-US" b="1" dirty="0"/>
              <a:t>    </a:t>
            </a:r>
            <a:r>
              <a:rPr lang="en-US" b="1" dirty="0" err="1"/>
              <a:t>mov</a:t>
            </a:r>
            <a:r>
              <a:rPr lang="en-US" b="1" dirty="0"/>
              <a:t>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rdi</a:t>
            </a:r>
            <a:endParaRPr lang="en-US" b="1" dirty="0"/>
          </a:p>
          <a:p>
            <a:pPr algn="l" rtl="0"/>
            <a:r>
              <a:rPr lang="en-US" b="1" dirty="0"/>
              <a:t>    add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rsi</a:t>
            </a:r>
            <a:endParaRPr lang="en-US" b="1" dirty="0"/>
          </a:p>
          <a:p>
            <a:pPr algn="l" rtl="0"/>
            <a:r>
              <a:rPr lang="en-US" b="1" dirty="0"/>
              <a:t>    add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rdx</a:t>
            </a:r>
            <a:endParaRPr lang="en-US" b="1" dirty="0"/>
          </a:p>
          <a:p>
            <a:pPr algn="l" rtl="0"/>
            <a:r>
              <a:rPr lang="en-US" b="1" dirty="0"/>
              <a:t>    ret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978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נשלב את הפונקציה הקודמת עם תכנית מלאה </a:t>
            </a:r>
            <a:br>
              <a:rPr lang="he-IL" dirty="0" smtClean="0"/>
            </a:br>
            <a:r>
              <a:rPr lang="en-US" dirty="0" smtClean="0"/>
              <a:t>func_demo.asm</a:t>
            </a:r>
            <a:r>
              <a:rPr lang="he-IL" dirty="0" smtClean="0"/>
              <a:t>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66607"/>
            <a:ext cx="4236718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7</a:t>
            </a:fld>
            <a:endParaRPr lang="he-IL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487168"/>
            <a:ext cx="5746582" cy="286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7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הרצה </a:t>
            </a:r>
            <a:r>
              <a:rPr lang="he-IL" dirty="0" err="1" smtClean="0"/>
              <a:t>ודיבוג</a:t>
            </a:r>
            <a:r>
              <a:rPr lang="he-IL" dirty="0" smtClean="0"/>
              <a:t> של התכנית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func_demo.asm -o </a:t>
            </a:r>
            <a:r>
              <a:rPr lang="en-US" b="1" dirty="0" err="1"/>
              <a:t>func_demo.o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</a:t>
            </a:r>
            <a:r>
              <a:rPr lang="en-US" b="1" dirty="0" err="1"/>
              <a:t>func_demo.o</a:t>
            </a:r>
            <a:r>
              <a:rPr lang="en-US" b="1" dirty="0"/>
              <a:t> -o </a:t>
            </a:r>
            <a:r>
              <a:rPr lang="en-US" b="1" dirty="0" err="1"/>
              <a:t>func_demo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func_demo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831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קריאה </a:t>
            </a:r>
            <a:r>
              <a:rPr lang="he-IL" dirty="0" err="1" smtClean="0"/>
              <a:t>לפונקצית</a:t>
            </a:r>
            <a:r>
              <a:rPr lang="he-IL" dirty="0" smtClean="0"/>
              <a:t> אסמבלר מתוך תכנית </a:t>
            </a:r>
            <a:r>
              <a:rPr lang="en-US" dirty="0" smtClean="0"/>
              <a:t>C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ניצור שני קבצים : </a:t>
            </a:r>
          </a:p>
          <a:p>
            <a:r>
              <a:rPr lang="he-IL" dirty="0" smtClean="0"/>
              <a:t>קובץ ראשון - </a:t>
            </a:r>
            <a:r>
              <a:rPr lang="en-US" dirty="0" err="1" smtClean="0"/>
              <a:t>main_call_asm.c</a:t>
            </a:r>
            <a:r>
              <a:rPr lang="he-IL" dirty="0" smtClean="0"/>
              <a:t>  נכתב בשפת </a:t>
            </a:r>
            <a:r>
              <a:rPr lang="en-US" dirty="0" smtClean="0"/>
              <a:t>C</a:t>
            </a:r>
            <a:r>
              <a:rPr lang="he-IL" dirty="0" smtClean="0"/>
              <a:t> ומבצע קריאה </a:t>
            </a:r>
            <a:r>
              <a:rPr lang="he-IL" dirty="0" err="1" smtClean="0"/>
              <a:t>לפונקצית</a:t>
            </a:r>
            <a:r>
              <a:rPr lang="he-IL" dirty="0" smtClean="0"/>
              <a:t> אסמבלר </a:t>
            </a:r>
          </a:p>
          <a:p>
            <a:r>
              <a:rPr lang="he-IL" dirty="0" smtClean="0"/>
              <a:t>קובץ שני - </a:t>
            </a:r>
            <a:r>
              <a:rPr lang="en-US" dirty="0" smtClean="0"/>
              <a:t>add3.asm</a:t>
            </a:r>
            <a:r>
              <a:rPr lang="he-IL" dirty="0" smtClean="0"/>
              <a:t> פונקציה אשר מבצעת חיבור של 3 ערכים 10+20+30 כמקודם אבל נקראת מהתכנית בשפת </a:t>
            </a:r>
            <a:r>
              <a:rPr lang="en-US" dirty="0" smtClean="0"/>
              <a:t>C</a:t>
            </a:r>
            <a:r>
              <a:rPr lang="he-IL" dirty="0" smtClean="0"/>
              <a:t> אשר נכתבה בקובץ הראשון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429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1: </a:t>
            </a:r>
            <a:r>
              <a:rPr lang="en-US" dirty="0" err="1"/>
              <a:t>main_call_asm.c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309" y="2557463"/>
            <a:ext cx="7557382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431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2: add3.asm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520" y="2557463"/>
            <a:ext cx="8083295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513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and Run </a:t>
            </a:r>
            <a:r>
              <a:rPr lang="en-US" dirty="0" smtClean="0"/>
              <a:t>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add3.asm -o add3.o</a:t>
            </a:r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</a:t>
            </a:r>
            <a:r>
              <a:rPr lang="en-US" b="1" dirty="0" err="1"/>
              <a:t>main_call_asm.c</a:t>
            </a:r>
            <a:r>
              <a:rPr lang="en-US" b="1" dirty="0"/>
              <a:t> add3.o -o </a:t>
            </a:r>
            <a:r>
              <a:rPr lang="en-US" b="1" dirty="0" err="1"/>
              <a:t>call_asm_demo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call_asm_demo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574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3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 smtClean="0"/>
              <a:t>הדוגמא הבאה מראה הכנה מלאה של המחסנית בטרם קוראים לפונקציה בשפת </a:t>
            </a:r>
            <a:r>
              <a:rPr lang="en-US" dirty="0" smtClean="0"/>
              <a:t>C</a:t>
            </a:r>
            <a:endParaRPr lang="he-IL" dirty="0" smtClean="0"/>
          </a:p>
          <a:p>
            <a:pPr marL="0" indent="0">
              <a:buNone/>
            </a:pPr>
            <a:r>
              <a:rPr lang="he-IL" dirty="0" smtClean="0"/>
              <a:t>כמו כן משתמשת בפורמט של </a:t>
            </a:r>
            <a:r>
              <a:rPr lang="en-US" dirty="0" smtClean="0"/>
              <a:t>extern</a:t>
            </a:r>
            <a:r>
              <a:rPr lang="he-IL" dirty="0" smtClean="0"/>
              <a:t> עבור </a:t>
            </a:r>
            <a:r>
              <a:rPr lang="en-US" dirty="0" err="1" smtClean="0"/>
              <a:t>printf</a:t>
            </a:r>
            <a:endParaRPr lang="en-US" dirty="0" smtClean="0"/>
          </a:p>
          <a:p>
            <a:pPr marL="0" indent="0">
              <a:buNone/>
            </a:pPr>
            <a:r>
              <a:rPr lang="he-IL" dirty="0" err="1" smtClean="0"/>
              <a:t>פונקצית</a:t>
            </a:r>
            <a:r>
              <a:rPr lang="he-IL" dirty="0" smtClean="0"/>
              <a:t> אסמבלר נקראת מתוך </a:t>
            </a:r>
            <a:r>
              <a:rPr lang="en-US" dirty="0" smtClean="0"/>
              <a:t>main</a:t>
            </a:r>
            <a:r>
              <a:rPr lang="he-IL" dirty="0" smtClean="0"/>
              <a:t> </a:t>
            </a:r>
          </a:p>
          <a:p>
            <a:pPr marL="0" indent="0">
              <a:buNone/>
            </a:pPr>
            <a:r>
              <a:rPr lang="he-IL" dirty="0" smtClean="0"/>
              <a:t>מדגימה חזרה תקינה מהפונקציה הנקראת חזרה אל </a:t>
            </a:r>
            <a:r>
              <a:rPr lang="en-US" dirty="0" smtClean="0"/>
              <a:t>main</a:t>
            </a:r>
            <a:r>
              <a:rPr lang="he-IL" dirty="0" smtClean="0"/>
              <a:t> 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58651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14</a:t>
            </a:fld>
            <a:endParaRPr lang="he-IL"/>
          </a:p>
        </p:txBody>
      </p:sp>
      <p:sp>
        <p:nvSpPr>
          <p:cNvPr id="8" name="מציין מיקום תוכן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החלק הראשון – הפונקציה הנקראת : </a:t>
            </a:r>
          </a:p>
          <a:p>
            <a:pPr algn="l" rtl="0"/>
            <a:endParaRPr lang="he-IL" dirty="0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918" y="2952231"/>
            <a:ext cx="6504996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1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 smtClean="0"/>
              <a:t>חלק שני – החלק של </a:t>
            </a:r>
            <a:r>
              <a:rPr lang="en-US" dirty="0" smtClean="0"/>
              <a:t> main</a:t>
            </a:r>
            <a:r>
              <a:rPr lang="he-IL" dirty="0" smtClean="0"/>
              <a:t>אשר  מבצע את הקריאה לפונקציה </a:t>
            </a:r>
            <a:r>
              <a:rPr lang="en-US" dirty="0" smtClean="0"/>
              <a:t>add2</a:t>
            </a:r>
            <a:r>
              <a:rPr lang="he-IL" dirty="0" smtClean="0"/>
              <a:t>: </a:t>
            </a:r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15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05" y="3374136"/>
            <a:ext cx="10443429" cy="273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חלק שלישי :  שמירת התוצאה המתקבלת מהפונקציה הנקראת וכן הכנת הארגומנטים של הפקודה </a:t>
            </a:r>
            <a:r>
              <a:rPr lang="en-US" dirty="0" err="1" smtClean="0"/>
              <a:t>printf</a:t>
            </a:r>
            <a:r>
              <a:rPr lang="he-IL" dirty="0" smtClean="0"/>
              <a:t>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16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23" y="3367036"/>
            <a:ext cx="9188522" cy="304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6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printf_alignment_demo.asm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חלק רביעי ואחרון : הכנת המחסנית טרם הקריאה ל </a:t>
            </a:r>
            <a:r>
              <a:rPr lang="en-US" dirty="0" err="1" smtClean="0"/>
              <a:t>printf</a:t>
            </a:r>
            <a:r>
              <a:rPr lang="he-IL" dirty="0" smtClean="0"/>
              <a:t>  אוגר המצביע </a:t>
            </a:r>
            <a:r>
              <a:rPr lang="en-US" dirty="0" err="1" smtClean="0"/>
              <a:t>rsp</a:t>
            </a:r>
            <a:r>
              <a:rPr lang="he-IL" dirty="0" smtClean="0"/>
              <a:t> צריך להכיל לפחות 16 בתים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17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76" y="3123999"/>
            <a:ext cx="7086592" cy="311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5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הסבר לחלק הרביעי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בהתאם לארכיטקטורה, על מנת שתכנית לא תקרוס, יש לדרוש כי הכתובת המאוחסנת באוגר </a:t>
            </a:r>
            <a:r>
              <a:rPr lang="en-US" dirty="0" smtClean="0"/>
              <a:t>RSP</a:t>
            </a:r>
            <a:r>
              <a:rPr lang="he-IL" dirty="0" smtClean="0"/>
              <a:t> צריכה להיות כפולה של 16 בתים. </a:t>
            </a:r>
          </a:p>
          <a:p>
            <a:r>
              <a:rPr lang="he-IL" dirty="0" smtClean="0"/>
              <a:t>אלא שיש טוויסט בעלילה : ברגע שמבצעים קריאת </a:t>
            </a:r>
            <a:r>
              <a:rPr lang="en-US" dirty="0" smtClean="0"/>
              <a:t>CALL</a:t>
            </a:r>
            <a:r>
              <a:rPr lang="he-IL" dirty="0" smtClean="0"/>
              <a:t> נדחפת למחסנית כתובת בת 8 ביט שהיא כתובת החזרה , לכן כדי שהכלל יתקיים , יש לדרוש כי לפני פקודת </a:t>
            </a:r>
            <a:r>
              <a:rPr lang="en-US" dirty="0" smtClean="0"/>
              <a:t>CALL</a:t>
            </a:r>
            <a:r>
              <a:rPr lang="he-IL" dirty="0" smtClean="0"/>
              <a:t> יש לאתחל את </a:t>
            </a:r>
            <a:r>
              <a:rPr lang="en-US" dirty="0" smtClean="0"/>
              <a:t>RSP</a:t>
            </a:r>
            <a:r>
              <a:rPr lang="he-IL" dirty="0" smtClean="0"/>
              <a:t> בערך שהוא כפולה של 16-8=8.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7562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איך מדבגים תכנית עם פונקציות ?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בשלב ראשון מבצעים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b="1" dirty="0"/>
              <a:t>nasm -f elf64 -g -F dwarf printf_alignment_demo.asm -o </a:t>
            </a:r>
            <a:r>
              <a:rPr lang="en-US" b="1" dirty="0" err="1"/>
              <a:t>printf_alignment_demo.o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-g </a:t>
            </a:r>
            <a:r>
              <a:rPr lang="en-US" b="1" dirty="0" err="1"/>
              <a:t>printf_alignment_demo.o</a:t>
            </a:r>
            <a:r>
              <a:rPr lang="en-US" b="1" dirty="0"/>
              <a:t> -o </a:t>
            </a:r>
            <a:r>
              <a:rPr lang="en-US" b="1" dirty="0" err="1"/>
              <a:t>printf_alignment_demo</a:t>
            </a:r>
            <a:endParaRPr lang="en-US" b="1" dirty="0"/>
          </a:p>
          <a:p>
            <a:pPr marL="0" indent="0" algn="r">
              <a:buNone/>
            </a:pPr>
            <a:r>
              <a:rPr lang="he-IL" dirty="0" smtClean="0"/>
              <a:t>כאשר </a:t>
            </a:r>
            <a:r>
              <a:rPr lang="en-US" dirty="0" smtClean="0"/>
              <a:t>–g</a:t>
            </a:r>
            <a:r>
              <a:rPr lang="he-IL" dirty="0" smtClean="0"/>
              <a:t>בשתי הפקודות הנ"ל מורה על אופציה של </a:t>
            </a:r>
            <a:r>
              <a:rPr lang="en-US" dirty="0" smtClean="0"/>
              <a:t>debug</a:t>
            </a:r>
            <a:endParaRPr lang="he-IL" dirty="0" smtClean="0"/>
          </a:p>
          <a:p>
            <a:pPr marL="0" indent="0">
              <a:buNone/>
            </a:pPr>
            <a:r>
              <a:rPr lang="he-IL" dirty="0" smtClean="0"/>
              <a:t>וכן </a:t>
            </a:r>
            <a:r>
              <a:rPr lang="en-US" dirty="0"/>
              <a:t>-F dwarf </a:t>
            </a:r>
            <a:r>
              <a:rPr lang="he-IL" dirty="0" smtClean="0"/>
              <a:t> הוא פורמט מיוחד עבור </a:t>
            </a:r>
            <a:r>
              <a:rPr lang="en-US" dirty="0" err="1" smtClean="0"/>
              <a:t>gdb</a:t>
            </a:r>
            <a:r>
              <a:rPr lang="he-IL" dirty="0" smtClean="0"/>
              <a:t> לצורך </a:t>
            </a:r>
            <a:r>
              <a:rPr lang="en-US" dirty="0" smtClean="0"/>
              <a:t>debug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3064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מדבגים תכנית עם פונקציות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בשלב שני </a:t>
            </a:r>
            <a:r>
              <a:rPr lang="he-IL" dirty="0"/>
              <a:t> </a:t>
            </a:r>
            <a:r>
              <a:rPr lang="he-IL" dirty="0" smtClean="0"/>
              <a:t>מפעילים </a:t>
            </a:r>
            <a:r>
              <a:rPr lang="en-US" dirty="0" err="1" smtClean="0"/>
              <a:t>gdb</a:t>
            </a:r>
            <a:r>
              <a:rPr lang="he-IL" dirty="0" smtClean="0"/>
              <a:t>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b="1" dirty="0" err="1"/>
              <a:t>gdb</a:t>
            </a:r>
            <a:r>
              <a:rPr lang="en-US" b="1" dirty="0"/>
              <a:t> ./</a:t>
            </a:r>
            <a:r>
              <a:rPr lang="en-US" b="1" dirty="0" err="1"/>
              <a:t>printf_alignment_demo</a:t>
            </a:r>
            <a:endParaRPr lang="en-US" b="1" dirty="0"/>
          </a:p>
          <a:p>
            <a:pPr algn="r"/>
            <a:r>
              <a:rPr lang="he-IL" dirty="0" smtClean="0"/>
              <a:t>כעת, היות ופרט ל </a:t>
            </a:r>
            <a:r>
              <a:rPr lang="en-US" dirty="0" smtClean="0"/>
              <a:t>main</a:t>
            </a:r>
            <a:r>
              <a:rPr lang="he-IL" dirty="0" smtClean="0"/>
              <a:t> יש בתכנית פונקציה נוספת , נבצע שתי פקודות </a:t>
            </a:r>
            <a:r>
              <a:rPr lang="en-US" dirty="0" smtClean="0"/>
              <a:t>break </a:t>
            </a:r>
            <a:r>
              <a:rPr lang="he-IL" dirty="0" smtClean="0"/>
              <a:t> : </a:t>
            </a:r>
          </a:p>
          <a:p>
            <a:pPr algn="l" rtl="0"/>
            <a:r>
              <a:rPr lang="en-US" dirty="0" smtClean="0"/>
              <a:t>break main</a:t>
            </a:r>
          </a:p>
          <a:p>
            <a:pPr algn="l" rtl="0"/>
            <a:r>
              <a:rPr lang="en-US" dirty="0" smtClean="0"/>
              <a:t>break add2</a:t>
            </a:r>
          </a:p>
          <a:p>
            <a:pPr algn="r"/>
            <a:r>
              <a:rPr lang="he-IL" dirty="0" smtClean="0"/>
              <a:t>ואפשר גם לבצע </a:t>
            </a:r>
            <a:r>
              <a:rPr lang="en-US" dirty="0" smtClean="0"/>
              <a:t>break</a:t>
            </a:r>
            <a:r>
              <a:rPr lang="he-IL" dirty="0" smtClean="0"/>
              <a:t> גם לפני </a:t>
            </a:r>
            <a:r>
              <a:rPr lang="en-US" dirty="0" err="1" smtClean="0"/>
              <a:t>printf</a:t>
            </a:r>
            <a:r>
              <a:rPr lang="he-IL" dirty="0" smtClean="0"/>
              <a:t> אם רוצים</a:t>
            </a:r>
            <a:endParaRPr lang="en-US" dirty="0" smtClean="0"/>
          </a:p>
          <a:p>
            <a:pPr marL="0" indent="0" algn="l" rtl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866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מדבגים תכנית עם פונקציות ?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בשלב הבא רושמים ב </a:t>
            </a:r>
            <a:r>
              <a:rPr lang="en-US" dirty="0" err="1" smtClean="0"/>
              <a:t>gdb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he-IL" dirty="0" smtClean="0"/>
              <a:t>   את הפקודה </a:t>
            </a:r>
            <a:r>
              <a:rPr lang="en-US" dirty="0" smtClean="0"/>
              <a:t>run</a:t>
            </a:r>
            <a:r>
              <a:rPr lang="he-IL" dirty="0" smtClean="0"/>
              <a:t> ונעצרים לפני </a:t>
            </a:r>
            <a:r>
              <a:rPr lang="en-US" dirty="0" smtClean="0"/>
              <a:t>main</a:t>
            </a:r>
            <a:endParaRPr lang="he-IL" dirty="0" smtClean="0"/>
          </a:p>
          <a:p>
            <a:r>
              <a:rPr lang="he-IL" dirty="0"/>
              <a:t> </a:t>
            </a:r>
            <a:r>
              <a:rPr lang="he-IL" dirty="0" smtClean="0"/>
              <a:t>כעת , בתוך </a:t>
            </a:r>
            <a:r>
              <a:rPr lang="en-US" dirty="0" smtClean="0"/>
              <a:t>main</a:t>
            </a:r>
            <a:r>
              <a:rPr lang="he-IL" dirty="0" smtClean="0"/>
              <a:t> ניתן לרשום </a:t>
            </a:r>
            <a:r>
              <a:rPr lang="en-US" dirty="0" err="1" smtClean="0"/>
              <a:t>si</a:t>
            </a:r>
            <a:r>
              <a:rPr lang="he-IL" dirty="0" smtClean="0"/>
              <a:t> לצורך ביצוע צעד צעד – כרגיל , כך שאם יש קריאה לפונקציה נוספת , </a:t>
            </a:r>
            <a:r>
              <a:rPr lang="en-US" dirty="0" err="1" smtClean="0"/>
              <a:t>si</a:t>
            </a:r>
            <a:r>
              <a:rPr lang="he-IL" dirty="0" smtClean="0"/>
              <a:t> תיכנס לתוכה ותבצע גם אותה צעד צעד.</a:t>
            </a:r>
          </a:p>
          <a:p>
            <a:r>
              <a:rPr lang="he-IL" dirty="0" smtClean="0"/>
              <a:t>אם רוצים לדלג על ביצוע פונקציה פנימית צעד צעד ולבצע אותה בבת אחת מבצעים </a:t>
            </a:r>
            <a:r>
              <a:rPr lang="en-US" dirty="0" err="1" smtClean="0"/>
              <a:t>nexti</a:t>
            </a:r>
            <a:endParaRPr lang="en-US" dirty="0" smtClean="0"/>
          </a:p>
          <a:p>
            <a:r>
              <a:rPr lang="he-IL" dirty="0" smtClean="0"/>
              <a:t>כך למשל אם מגיעים לשורה של </a:t>
            </a:r>
            <a:r>
              <a:rPr lang="en-US" dirty="0" smtClean="0"/>
              <a:t>call add2</a:t>
            </a:r>
            <a:r>
              <a:rPr lang="he-IL" dirty="0" smtClean="0"/>
              <a:t> אזי לחיצה על </a:t>
            </a:r>
            <a:r>
              <a:rPr lang="en-US" dirty="0" err="1" smtClean="0"/>
              <a:t>si</a:t>
            </a:r>
            <a:r>
              <a:rPr lang="he-IL" dirty="0" smtClean="0"/>
              <a:t> תיכנס פנימה אל תוך הפונקציה ואילו </a:t>
            </a:r>
            <a:r>
              <a:rPr lang="en-US" dirty="0" err="1" smtClean="0"/>
              <a:t>nexti</a:t>
            </a:r>
            <a:r>
              <a:rPr lang="he-IL" dirty="0" smtClean="0"/>
              <a:t> תדלג עליה ותבצע אותה בבת אחת. </a:t>
            </a:r>
          </a:p>
          <a:p>
            <a:r>
              <a:rPr lang="he-IL" dirty="0" smtClean="0"/>
              <a:t>אם רוצים לבצע מעקב אחר תוכן המחסנית תוך כדי הרצה מבצעים :</a:t>
            </a:r>
            <a:r>
              <a:rPr lang="en-US" dirty="0" smtClean="0"/>
              <a:t>  </a:t>
            </a:r>
            <a:r>
              <a:rPr lang="en-US" b="1" dirty="0" smtClean="0"/>
              <a:t>x/16gx </a:t>
            </a:r>
            <a:r>
              <a:rPr lang="en-US" b="1" dirty="0"/>
              <a:t>$</a:t>
            </a:r>
            <a:r>
              <a:rPr lang="en-US" b="1" dirty="0" err="1" smtClean="0"/>
              <a:t>rsp</a:t>
            </a:r>
            <a:endParaRPr lang="he-IL" b="1" dirty="0" smtClean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966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תכנית רקורסיבית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</a:t>
            </a:r>
            <a:r>
              <a:rPr lang="he-IL" dirty="0" smtClean="0"/>
              <a:t>תכנית שלהלן  מכילה שני קבצים :</a:t>
            </a:r>
            <a:r>
              <a:rPr lang="en-US" dirty="0" smtClean="0"/>
              <a:t> </a:t>
            </a:r>
            <a:r>
              <a:rPr lang="he-IL" dirty="0" smtClean="0"/>
              <a:t>קובץ ראשון – קובץ </a:t>
            </a:r>
            <a:r>
              <a:rPr lang="en-US" dirty="0" smtClean="0"/>
              <a:t>C</a:t>
            </a:r>
            <a:r>
              <a:rPr lang="he-IL" dirty="0" smtClean="0"/>
              <a:t> המכיל </a:t>
            </a:r>
            <a:r>
              <a:rPr lang="he-IL" dirty="0" err="1" smtClean="0"/>
              <a:t>פונקצית</a:t>
            </a:r>
            <a:r>
              <a:rPr lang="he-IL" dirty="0" smtClean="0"/>
              <a:t> </a:t>
            </a:r>
            <a:r>
              <a:rPr lang="en-US" dirty="0" smtClean="0"/>
              <a:t>main</a:t>
            </a:r>
            <a:r>
              <a:rPr lang="he-IL" dirty="0" smtClean="0"/>
              <a:t> המאתחלת משתנה </a:t>
            </a:r>
            <a:r>
              <a:rPr lang="en-US" dirty="0" err="1" smtClean="0"/>
              <a:t>int</a:t>
            </a:r>
            <a:r>
              <a:rPr lang="he-IL" dirty="0" smtClean="0"/>
              <a:t> בערך של 472.</a:t>
            </a:r>
          </a:p>
          <a:p>
            <a:r>
              <a:rPr lang="he-IL" dirty="0" smtClean="0"/>
              <a:t>קובץ שני – קובץ </a:t>
            </a:r>
            <a:r>
              <a:rPr lang="en-US" dirty="0" err="1" smtClean="0"/>
              <a:t>asm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he-IL" dirty="0" smtClean="0"/>
              <a:t>   המכיל פונקציה רקורסיבית אשר מקבלת את הערך המספרי ומחשבת ברקורסיה את סכום הספרות של המספר.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9235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קובץ ראשון לתכנית </a:t>
            </a:r>
            <a:r>
              <a:rPr lang="en-US" dirty="0" err="1"/>
              <a:t>main_sum_digits.c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he-IL" dirty="0" smtClean="0"/>
              <a:t>קובץ זה מכיל את הפונקציה הראשית אשר קוראת לפונקציה הרקורסיבית : </a:t>
            </a:r>
          </a:p>
          <a:p>
            <a:pPr algn="l" rtl="0"/>
            <a:r>
              <a:rPr lang="en-US" dirty="0" smtClean="0"/>
              <a:t/>
            </a:r>
            <a:br>
              <a:rPr lang="en-US" dirty="0" smtClean="0"/>
            </a:b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23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397" y="3147049"/>
            <a:ext cx="7811590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4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קובץ שני לתכנית </a:t>
            </a:r>
            <a:r>
              <a:rPr lang="en-US" dirty="0"/>
              <a:t>sum_digits.asm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קובץ זה מתאר הלכה למעשה את הפונקציה הרקורסיבית לחישוב סכום ספרות המספר</a:t>
            </a:r>
          </a:p>
          <a:p>
            <a:r>
              <a:rPr lang="he-IL" dirty="0" smtClean="0"/>
              <a:t>תנאי העצירה : בודק אם הערך המספרי הוא חד ספרתי. במידה וכן – מוחזר הערך</a:t>
            </a:r>
          </a:p>
          <a:p>
            <a:r>
              <a:rPr lang="he-IL" dirty="0" smtClean="0"/>
              <a:t>במידה ולא – הערך המספרי קטן פי 10 ע"י שימוש </a:t>
            </a:r>
            <a:r>
              <a:rPr lang="he-IL" dirty="0" err="1" smtClean="0"/>
              <a:t>בפקדות</a:t>
            </a:r>
            <a:r>
              <a:rPr lang="he-IL" dirty="0" smtClean="0"/>
              <a:t> </a:t>
            </a:r>
            <a:r>
              <a:rPr lang="en-US" dirty="0" smtClean="0"/>
              <a:t>div</a:t>
            </a:r>
            <a:r>
              <a:rPr lang="he-IL" dirty="0" smtClean="0"/>
              <a:t> כך שהשארית מסוכמת אל תוך אוגר הסכום </a:t>
            </a:r>
            <a:r>
              <a:rPr lang="en-US" dirty="0" err="1" smtClean="0"/>
              <a:t>rax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286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E8A8F-E103-40F5-AF58-1922DBE02230}" type="datetime8">
              <a:rPr lang="he-IL" smtClean="0"/>
              <a:t>22 מרץ 26</a:t>
            </a:fld>
            <a:endParaRPr lang="he-IL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25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10" y="529058"/>
            <a:ext cx="7278362" cy="5824081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57" y="739806"/>
            <a:ext cx="6229135" cy="336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9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סדר הקריאות והביצוע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436" y="2649784"/>
            <a:ext cx="9323108" cy="313323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079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סדר הקריאות והביצוע המשך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216" y="2560883"/>
            <a:ext cx="9168382" cy="313323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137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סדר הקריאות והביצוע המשך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793035"/>
            <a:ext cx="9457942" cy="2846730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86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חזרה מהרקורסיה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952" y="2557463"/>
            <a:ext cx="8010143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57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חזרה מהרקורסיה המשך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40" y="2640640"/>
            <a:ext cx="8046720" cy="313323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078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אופן </a:t>
            </a:r>
            <a:r>
              <a:rPr lang="he-IL" dirty="0" err="1" smtClean="0"/>
              <a:t>הקמפול</a:t>
            </a:r>
            <a:r>
              <a:rPr lang="he-IL" dirty="0" smtClean="0"/>
              <a:t> וההרצה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elf64 -g -F dwarf sum_digits.asm -o </a:t>
            </a:r>
            <a:r>
              <a:rPr lang="en-US" b="1" dirty="0" err="1"/>
              <a:t>sum_digits.o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-g </a:t>
            </a:r>
            <a:r>
              <a:rPr lang="en-US" b="1" dirty="0" err="1"/>
              <a:t>main_sum_digits.c</a:t>
            </a:r>
            <a:r>
              <a:rPr lang="en-US" b="1" dirty="0"/>
              <a:t> </a:t>
            </a:r>
            <a:r>
              <a:rPr lang="en-US" b="1" dirty="0" err="1"/>
              <a:t>sum_digits.o</a:t>
            </a:r>
            <a:r>
              <a:rPr lang="en-US" b="1" dirty="0"/>
              <a:t> -o </a:t>
            </a:r>
            <a:r>
              <a:rPr lang="en-US" b="1" dirty="0" err="1"/>
              <a:t>sum_digits_demo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sum_digits_demo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869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פונקציות רקורסיביות הדדיות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פונקציות רקורסיביות נקראות הדדיות אם הן קוראות זו לזו, במקום פונקציה אחת אשר קוראת לפונקציה רקורסיבית , כגון </a:t>
            </a:r>
            <a:r>
              <a:rPr lang="en-US" dirty="0" smtClean="0"/>
              <a:t>main</a:t>
            </a:r>
            <a:r>
              <a:rPr lang="he-IL" dirty="0" smtClean="0"/>
              <a:t> אשר קוראת לפונקציה רקורסיבית. </a:t>
            </a:r>
          </a:p>
          <a:p>
            <a:r>
              <a:rPr lang="he-IL" dirty="0" smtClean="0"/>
              <a:t>בכל צעד רקורסיבי תתקיים קפיצה מפונקציה רקורסיבית אחת לפונקציה רקורסיבית אחרת. </a:t>
            </a:r>
          </a:p>
          <a:p>
            <a:r>
              <a:rPr lang="he-IL" dirty="0" smtClean="0"/>
              <a:t>דוגמא – בדיקת זוגיות של מספר טבעי </a:t>
            </a:r>
            <a:r>
              <a:rPr lang="en-US" dirty="0" smtClean="0"/>
              <a:t>n</a:t>
            </a:r>
            <a:r>
              <a:rPr lang="he-IL" dirty="0" smtClean="0"/>
              <a:t> : </a:t>
            </a:r>
          </a:p>
          <a:p>
            <a:pPr algn="l" rtl="0"/>
            <a:endParaRPr lang="he-IL" dirty="0" smtClean="0"/>
          </a:p>
          <a:p>
            <a:pPr algn="l" rtl="0"/>
            <a:endParaRPr lang="he-IL" dirty="0" smtClean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5010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– בדיקת זוגיות של מספר טבעי 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824" y="2557463"/>
            <a:ext cx="7598664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402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היכן ההדדיות בדיוק ?</a:t>
            </a:r>
            <a:r>
              <a:rPr lang="en-US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נניח רוצים לבדוק אם 4 הוא מספר זוגי. </a:t>
            </a:r>
          </a:p>
          <a:p>
            <a:r>
              <a:rPr lang="he-IL" dirty="0" smtClean="0"/>
              <a:t>על כן ננהל פינג פונג של קריאות באופן הבא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34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92" y="3694223"/>
            <a:ext cx="6525536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79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קובץ הקריאה </a:t>
            </a:r>
            <a:r>
              <a:rPr lang="en-US" dirty="0" err="1" smtClean="0"/>
              <a:t>is_even_main.c</a:t>
            </a:r>
            <a:r>
              <a:rPr lang="he-IL" dirty="0" smtClean="0"/>
              <a:t>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651" y="2611214"/>
            <a:ext cx="9116697" cy="3210373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9909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Is_even.asm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644" y="2468562"/>
            <a:ext cx="4802772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36</a:t>
            </a:fld>
            <a:endParaRPr lang="he-IL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63" y="2509022"/>
            <a:ext cx="5464027" cy="35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96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אופן </a:t>
            </a:r>
            <a:r>
              <a:rPr lang="he-IL" dirty="0" err="1" smtClean="0"/>
              <a:t>הקמפול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nasm -f elf64 -g -F dwarf </a:t>
            </a:r>
            <a:r>
              <a:rPr lang="en-US" b="1" dirty="0" smtClean="0"/>
              <a:t>is_even.asm </a:t>
            </a:r>
            <a:r>
              <a:rPr lang="en-US" b="1" dirty="0"/>
              <a:t>-o </a:t>
            </a:r>
            <a:r>
              <a:rPr lang="en-US" b="1" dirty="0" err="1" smtClean="0"/>
              <a:t>is_even.o</a:t>
            </a:r>
            <a:endParaRPr lang="en-US" b="1" dirty="0"/>
          </a:p>
          <a:p>
            <a:pPr algn="l" rtl="0"/>
            <a:r>
              <a:rPr lang="en-US" b="1" dirty="0" err="1"/>
              <a:t>gcc</a:t>
            </a:r>
            <a:r>
              <a:rPr lang="en-US" b="1" dirty="0"/>
              <a:t> -no-pie -g </a:t>
            </a:r>
            <a:r>
              <a:rPr lang="en-US" b="1" dirty="0" err="1" smtClean="0"/>
              <a:t>main_is_even.c</a:t>
            </a:r>
            <a:r>
              <a:rPr lang="en-US" b="1" dirty="0" smtClean="0"/>
              <a:t>  </a:t>
            </a:r>
            <a:r>
              <a:rPr lang="en-US" b="1" dirty="0" err="1" smtClean="0"/>
              <a:t>main_is_even.o</a:t>
            </a:r>
            <a:r>
              <a:rPr lang="en-US" b="1" dirty="0" smtClean="0"/>
              <a:t> </a:t>
            </a:r>
            <a:r>
              <a:rPr lang="en-US" b="1" dirty="0"/>
              <a:t>-o </a:t>
            </a:r>
            <a:r>
              <a:rPr lang="en-US" b="1" dirty="0" err="1" smtClean="0"/>
              <a:t>is_even_demo</a:t>
            </a:r>
            <a:endParaRPr lang="en-US" b="1" dirty="0"/>
          </a:p>
          <a:p>
            <a:pPr algn="l" rtl="0"/>
            <a:r>
              <a:rPr lang="en-US" b="1" dirty="0" smtClean="0"/>
              <a:t>./</a:t>
            </a:r>
            <a:r>
              <a:rPr lang="en-US" b="1" dirty="0" err="1" smtClean="0"/>
              <a:t>is_even_demo</a:t>
            </a:r>
            <a:endParaRPr lang="en-US" b="1" dirty="0"/>
          </a:p>
          <a:p>
            <a:pPr algn="r"/>
            <a:r>
              <a:rPr lang="he-IL" dirty="0" smtClean="0"/>
              <a:t>הפלט המתקבל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b="1" dirty="0"/>
              <a:t>7 is even </a:t>
            </a:r>
            <a:r>
              <a:rPr lang="en-US" b="1" dirty="0" smtClean="0"/>
              <a:t>0       (false)</a:t>
            </a:r>
            <a:endParaRPr lang="en-US" b="1" dirty="0"/>
          </a:p>
          <a:p>
            <a:pPr algn="l" rtl="0"/>
            <a:r>
              <a:rPr lang="en-US" b="1" dirty="0"/>
              <a:t>7 is odd </a:t>
            </a:r>
            <a:r>
              <a:rPr lang="en-US" b="1" dirty="0" smtClean="0"/>
              <a:t>1         (true)</a:t>
            </a:r>
            <a:endParaRPr lang="en-US" b="1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690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מהו </a:t>
            </a:r>
            <a:r>
              <a:rPr lang="en-US" dirty="0" err="1" smtClean="0"/>
              <a:t>stdin</a:t>
            </a:r>
            <a:r>
              <a:rPr lang="en-US" dirty="0" smtClean="0"/>
              <a:t> </a:t>
            </a:r>
            <a:r>
              <a:rPr lang="he-IL" dirty="0" smtClean="0"/>
              <a:t>? 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 err="1"/>
              <a:t>s</a:t>
            </a:r>
            <a:r>
              <a:rPr lang="en-US" b="1" dirty="0" err="1" smtClean="0"/>
              <a:t>tdin</a:t>
            </a:r>
            <a:endParaRPr lang="en-US" b="1" dirty="0" smtClean="0"/>
          </a:p>
          <a:p>
            <a:pPr algn="l" rtl="0"/>
            <a:r>
              <a:rPr lang="en-US" dirty="0" smtClean="0"/>
              <a:t>The </a:t>
            </a:r>
            <a:r>
              <a:rPr lang="en-US" dirty="0"/>
              <a:t>default input stream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Usually </a:t>
            </a:r>
            <a:r>
              <a:rPr lang="en-US" dirty="0"/>
              <a:t>connected to the keyboard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File </a:t>
            </a:r>
            <a:r>
              <a:rPr lang="en-US" dirty="0"/>
              <a:t>descriptor 0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Buffered </a:t>
            </a:r>
            <a:r>
              <a:rPr lang="en-US" dirty="0"/>
              <a:t>(line‑buffered when connected to a terminal</a:t>
            </a:r>
            <a:r>
              <a:rPr lang="en-US" dirty="0" smtClean="0"/>
              <a:t>).</a:t>
            </a:r>
          </a:p>
          <a:p>
            <a:pPr algn="l" rtl="0"/>
            <a:r>
              <a:rPr lang="en-US" dirty="0" smtClean="0"/>
              <a:t>Used </a:t>
            </a:r>
            <a:r>
              <a:rPr lang="en-US" dirty="0"/>
              <a:t>by functions like </a:t>
            </a:r>
            <a:r>
              <a:rPr lang="en-US" dirty="0" err="1"/>
              <a:t>scanf</a:t>
            </a:r>
            <a:r>
              <a:rPr lang="en-US" dirty="0"/>
              <a:t>, </a:t>
            </a:r>
            <a:r>
              <a:rPr lang="en-US" dirty="0" err="1"/>
              <a:t>fgets</a:t>
            </a:r>
            <a:r>
              <a:rPr lang="en-US" dirty="0"/>
              <a:t>, and system calls like read(0, ...).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1151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מהו </a:t>
            </a:r>
            <a:r>
              <a:rPr lang="en-US" dirty="0" err="1" smtClean="0"/>
              <a:t>stdout</a:t>
            </a:r>
            <a:r>
              <a:rPr lang="en-US" dirty="0" smtClean="0"/>
              <a:t> </a:t>
            </a:r>
            <a:r>
              <a:rPr lang="he-IL" dirty="0" smtClean="0"/>
              <a:t>  ?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 err="1"/>
              <a:t>s</a:t>
            </a:r>
            <a:r>
              <a:rPr lang="en-US" b="1" dirty="0" err="1" smtClean="0"/>
              <a:t>tdout</a:t>
            </a:r>
            <a:r>
              <a:rPr lang="en-US" b="1" dirty="0" smtClean="0"/>
              <a:t> </a:t>
            </a:r>
          </a:p>
          <a:p>
            <a:pPr algn="l" rtl="0"/>
            <a:r>
              <a:rPr lang="en-US" dirty="0" smtClean="0"/>
              <a:t>The </a:t>
            </a:r>
            <a:r>
              <a:rPr lang="en-US" dirty="0"/>
              <a:t>default output stream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Usually </a:t>
            </a:r>
            <a:r>
              <a:rPr lang="en-US" dirty="0"/>
              <a:t>connected to the terminal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File </a:t>
            </a:r>
            <a:r>
              <a:rPr lang="en-US" dirty="0"/>
              <a:t>descriptor 1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Buffered </a:t>
            </a:r>
            <a:r>
              <a:rPr lang="en-US" dirty="0"/>
              <a:t>(line‑buffered for terminals, fully buffered for files</a:t>
            </a:r>
            <a:r>
              <a:rPr lang="en-US" dirty="0" smtClean="0"/>
              <a:t>).</a:t>
            </a:r>
          </a:p>
          <a:p>
            <a:pPr algn="l" rtl="0"/>
            <a:r>
              <a:rPr lang="en-US" dirty="0" smtClean="0"/>
              <a:t>Used </a:t>
            </a:r>
            <a:r>
              <a:rPr lang="en-US" dirty="0"/>
              <a:t>by </a:t>
            </a:r>
            <a:r>
              <a:rPr lang="en-US" dirty="0" err="1"/>
              <a:t>printf</a:t>
            </a:r>
            <a:r>
              <a:rPr lang="en-US" dirty="0"/>
              <a:t>, puts, and system calls like write(1, ...).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5170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מהו </a:t>
            </a:r>
            <a:r>
              <a:rPr lang="en-US" dirty="0" err="1" smtClean="0"/>
              <a:t>stderr</a:t>
            </a:r>
            <a:r>
              <a:rPr lang="he-IL" dirty="0" smtClean="0"/>
              <a:t> ? </a:t>
            </a:r>
            <a:r>
              <a:rPr lang="en-US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The default error output stream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Usually </a:t>
            </a:r>
            <a:r>
              <a:rPr lang="en-US" dirty="0"/>
              <a:t>connected to the terminal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File </a:t>
            </a:r>
            <a:r>
              <a:rPr lang="en-US" dirty="0"/>
              <a:t>descriptor 2</a:t>
            </a:r>
            <a:r>
              <a:rPr lang="en-US" dirty="0" smtClean="0"/>
              <a:t>.</a:t>
            </a:r>
          </a:p>
          <a:p>
            <a:pPr algn="l" rtl="0"/>
            <a:r>
              <a:rPr lang="en-US" dirty="0" smtClean="0"/>
              <a:t>Unbuffered </a:t>
            </a:r>
            <a:r>
              <a:rPr lang="en-US" dirty="0"/>
              <a:t>(always flushed immediately</a:t>
            </a:r>
            <a:r>
              <a:rPr lang="en-US" dirty="0" smtClean="0"/>
              <a:t>).</a:t>
            </a:r>
          </a:p>
          <a:p>
            <a:pPr algn="l" rtl="0"/>
            <a:r>
              <a:rPr lang="en-US" dirty="0" smtClean="0"/>
              <a:t>Used </a:t>
            </a:r>
            <a:r>
              <a:rPr lang="en-US" dirty="0"/>
              <a:t>by </a:t>
            </a:r>
            <a:r>
              <a:rPr lang="en-US" dirty="0" err="1"/>
              <a:t>fprintf</a:t>
            </a:r>
            <a:r>
              <a:rPr lang="en-US" dirty="0"/>
              <a:t>(</a:t>
            </a:r>
            <a:r>
              <a:rPr lang="en-US" dirty="0" err="1"/>
              <a:t>stderr</a:t>
            </a:r>
            <a:r>
              <a:rPr lang="en-US" dirty="0"/>
              <a:t>, ...) and system calls like write(2, ...).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5359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in </a:t>
            </a:r>
            <a:r>
              <a:rPr lang="en-US" dirty="0" err="1" smtClean="0"/>
              <a:t>linux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אילו קריאות מערכת של לינוקס ונסביר אותן : 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41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89" y="3217126"/>
            <a:ext cx="7863671" cy="289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30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קריאת </a:t>
            </a:r>
            <a:r>
              <a:rPr lang="en-US" dirty="0" smtClean="0"/>
              <a:t>write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בלינוקס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310" y="2606451"/>
            <a:ext cx="8097380" cy="3219899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9815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בדוגמא זו ניצור קובץ בשפת </a:t>
            </a:r>
            <a:r>
              <a:rPr lang="en-US" dirty="0" smtClean="0"/>
              <a:t>C</a:t>
            </a:r>
            <a:r>
              <a:rPr lang="he-IL" dirty="0" smtClean="0"/>
              <a:t> אשר קורא נתונים מתוך </a:t>
            </a:r>
            <a:r>
              <a:rPr lang="en-US" dirty="0" err="1" smtClean="0"/>
              <a:t>stdin</a:t>
            </a:r>
            <a:r>
              <a:rPr lang="he-IL" dirty="0" smtClean="0"/>
              <a:t> (מקלדת) , מדפיס את הקלט למסך (</a:t>
            </a:r>
            <a:r>
              <a:rPr lang="en-US" dirty="0" err="1" smtClean="0"/>
              <a:t>stdout</a:t>
            </a:r>
            <a:r>
              <a:rPr lang="he-IL" dirty="0" smtClean="0"/>
              <a:t>) וכותב הודעת שגיאה ל </a:t>
            </a:r>
            <a:r>
              <a:rPr lang="en-US" dirty="0" err="1" smtClean="0"/>
              <a:t>stderr</a:t>
            </a:r>
            <a:r>
              <a:rPr lang="he-IL" dirty="0" smtClean="0"/>
              <a:t> </a:t>
            </a:r>
          </a:p>
          <a:p>
            <a:r>
              <a:rPr lang="he-IL" dirty="0" smtClean="0"/>
              <a:t>כמו כן ניצור קובץ אסמבלר אשר משתמש בקריאות מערכת </a:t>
            </a:r>
            <a:r>
              <a:rPr lang="en-US" dirty="0" smtClean="0"/>
              <a:t>read write</a:t>
            </a:r>
            <a:r>
              <a:rPr lang="he-IL" dirty="0" smtClean="0"/>
              <a:t>.</a:t>
            </a:r>
          </a:p>
          <a:p>
            <a:r>
              <a:rPr lang="he-IL" dirty="0" smtClean="0"/>
              <a:t>הערה – כל כתיבה או קריאה ב </a:t>
            </a:r>
            <a:r>
              <a:rPr lang="en-US" dirty="0" err="1" smtClean="0"/>
              <a:t>linux</a:t>
            </a:r>
            <a:r>
              <a:rPr lang="he-IL" dirty="0" smtClean="0"/>
              <a:t> עובדת עם קבצים , כולל לוח המקשים וכולל המסך. כשהתכנית שלהלן תרוץ,  מעה"פ </a:t>
            </a:r>
            <a:r>
              <a:rPr lang="en-US" dirty="0" err="1" smtClean="0"/>
              <a:t>linux</a:t>
            </a:r>
            <a:r>
              <a:rPr lang="he-IL" dirty="0" smtClean="0"/>
              <a:t> אוטומטית תפתח 3 קבצים : אחד לקלט – </a:t>
            </a:r>
            <a:r>
              <a:rPr lang="en-US" dirty="0" err="1" smtClean="0"/>
              <a:t>stdin</a:t>
            </a:r>
            <a:r>
              <a:rPr lang="he-IL" dirty="0" smtClean="0"/>
              <a:t> השני לפלט – </a:t>
            </a:r>
            <a:r>
              <a:rPr lang="en-US" dirty="0" err="1" smtClean="0"/>
              <a:t>stdout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והשלישי ל </a:t>
            </a:r>
            <a:r>
              <a:rPr lang="en-US" dirty="0" err="1" smtClean="0"/>
              <a:t>stderr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179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demo_stdio.c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395729"/>
            <a:ext cx="8031478" cy="3712972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246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asm_demo.asm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956" y="2575751"/>
            <a:ext cx="3966220" cy="331787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45</a:t>
            </a:fld>
            <a:endParaRPr lang="he-IL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384" y="2575751"/>
            <a:ext cx="5440525" cy="35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8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 smtClean="0"/>
              <a:t>קמפול</a:t>
            </a:r>
            <a:r>
              <a:rPr lang="he-IL" dirty="0" smtClean="0"/>
              <a:t> והרצה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 smtClean="0"/>
              <a:t>nasm</a:t>
            </a:r>
            <a:r>
              <a:rPr lang="en-US" dirty="0" smtClean="0"/>
              <a:t> –f elf64 –g –F dwarf asm_demo.asm –o </a:t>
            </a:r>
            <a:r>
              <a:rPr lang="en-US" dirty="0" err="1" smtClean="0"/>
              <a:t>asm_demo.o</a:t>
            </a:r>
            <a:endParaRPr lang="en-US" dirty="0" smtClean="0"/>
          </a:p>
          <a:p>
            <a:pPr algn="l" rtl="0"/>
            <a:r>
              <a:rPr lang="en-US" dirty="0" err="1" smtClean="0"/>
              <a:t>gcc</a:t>
            </a:r>
            <a:r>
              <a:rPr lang="en-US" dirty="0" smtClean="0"/>
              <a:t> –c –g </a:t>
            </a:r>
            <a:r>
              <a:rPr lang="en-US" dirty="0" err="1" smtClean="0"/>
              <a:t>demo_stdio.c</a:t>
            </a:r>
            <a:r>
              <a:rPr lang="en-US" dirty="0" smtClean="0"/>
              <a:t> –o </a:t>
            </a:r>
            <a:r>
              <a:rPr lang="en-US" dirty="0" err="1" smtClean="0"/>
              <a:t>demo_stdio.o</a:t>
            </a:r>
            <a:endParaRPr lang="en-US" dirty="0" smtClean="0"/>
          </a:p>
          <a:p>
            <a:pPr algn="l" rtl="0"/>
            <a:r>
              <a:rPr lang="en-US" dirty="0" err="1" smtClean="0"/>
              <a:t>gcc</a:t>
            </a:r>
            <a:r>
              <a:rPr lang="en-US" dirty="0" smtClean="0"/>
              <a:t> –no-pie –g </a:t>
            </a:r>
            <a:r>
              <a:rPr lang="en-US" dirty="0" err="1" smtClean="0"/>
              <a:t>demo_stdio.o</a:t>
            </a:r>
            <a:r>
              <a:rPr lang="en-US" dirty="0" smtClean="0"/>
              <a:t> </a:t>
            </a:r>
            <a:r>
              <a:rPr lang="en-US" dirty="0" err="1" smtClean="0"/>
              <a:t>asm_demo.o</a:t>
            </a:r>
            <a:r>
              <a:rPr lang="en-US" dirty="0" smtClean="0"/>
              <a:t> –o </a:t>
            </a:r>
            <a:r>
              <a:rPr lang="en-US" dirty="0" err="1" smtClean="0"/>
              <a:t>std_demo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34548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הסבר לתכנית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ראשית  - לגבי הקובץ בשפת </a:t>
            </a:r>
            <a:r>
              <a:rPr lang="en-US" dirty="0" smtClean="0"/>
              <a:t>C</a:t>
            </a:r>
            <a:r>
              <a:rPr lang="he-IL" dirty="0" smtClean="0"/>
              <a:t> – קיימת פקודה בשם </a:t>
            </a:r>
            <a:r>
              <a:rPr lang="en-US" dirty="0" err="1" smtClean="0"/>
              <a:t>fflush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: היות והתכנית קולטת מהמשתמש תוכן , עליה לשמור אותו במקום זמני בזיכרון טרם הדפסתו. </a:t>
            </a:r>
          </a:p>
          <a:p>
            <a:r>
              <a:rPr lang="he-IL" dirty="0" smtClean="0"/>
              <a:t>הסיבה : יש לבדוק אם התקן הפלט – במקרה שלנו </a:t>
            </a:r>
            <a:r>
              <a:rPr lang="en-US" dirty="0" err="1" smtClean="0"/>
              <a:t>stdout</a:t>
            </a:r>
            <a:r>
              <a:rPr lang="he-IL" dirty="0" smtClean="0"/>
              <a:t> פנוי. במידה ולא פנוי , התוכן נאגר בחוצץ וממתין לפניות של התקן הפלט. </a:t>
            </a:r>
          </a:p>
          <a:p>
            <a:r>
              <a:rPr lang="he-IL" dirty="0" smtClean="0"/>
              <a:t>פעולת ה </a:t>
            </a:r>
            <a:r>
              <a:rPr lang="en-US" dirty="0" err="1" smtClean="0"/>
              <a:t>fflush</a:t>
            </a:r>
            <a:r>
              <a:rPr lang="he-IL" dirty="0" smtClean="0"/>
              <a:t> חשובה במקרים בהם הפלט מופנה אל קובץ כלשהו ולאו דווקא למסך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7777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אופן העבודה של קובץ ה </a:t>
            </a:r>
            <a:r>
              <a:rPr lang="en-US" dirty="0" err="1" smtClean="0"/>
              <a:t>asm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קובץ זה מדגים כיצד :</a:t>
            </a:r>
            <a:r>
              <a:rPr lang="en-US" dirty="0" smtClean="0"/>
              <a:t> </a:t>
            </a:r>
            <a:endParaRPr lang="he-IL" dirty="0" smtClean="0"/>
          </a:p>
          <a:p>
            <a:r>
              <a:rPr lang="he-IL" dirty="0" smtClean="0"/>
              <a:t>כותבים ל </a:t>
            </a:r>
            <a:r>
              <a:rPr lang="en-US" dirty="0" err="1" smtClean="0"/>
              <a:t>stdout</a:t>
            </a:r>
            <a:r>
              <a:rPr lang="en-US" dirty="0"/>
              <a:t> </a:t>
            </a:r>
            <a:r>
              <a:rPr lang="he-IL" dirty="0" smtClean="0"/>
              <a:t> (</a:t>
            </a:r>
            <a:r>
              <a:rPr lang="en-US" dirty="0" err="1" smtClean="0"/>
              <a:t>fd</a:t>
            </a:r>
            <a:r>
              <a:rPr lang="en-US" dirty="0" smtClean="0"/>
              <a:t>=1</a:t>
            </a:r>
            <a:r>
              <a:rPr lang="he-IL" dirty="0" smtClean="0"/>
              <a:t>)</a:t>
            </a:r>
          </a:p>
          <a:p>
            <a:r>
              <a:rPr lang="he-IL" dirty="0" smtClean="0"/>
              <a:t>כותבים ל </a:t>
            </a:r>
            <a:r>
              <a:rPr lang="en-US" dirty="0" err="1" smtClean="0"/>
              <a:t>stderr</a:t>
            </a:r>
            <a:r>
              <a:rPr lang="en-US" dirty="0"/>
              <a:t> </a:t>
            </a:r>
            <a:r>
              <a:rPr lang="he-IL" dirty="0" smtClean="0"/>
              <a:t> (</a:t>
            </a:r>
            <a:r>
              <a:rPr lang="en-US" dirty="0" err="1" smtClean="0"/>
              <a:t>fd</a:t>
            </a:r>
            <a:r>
              <a:rPr lang="en-US" dirty="0" smtClean="0"/>
              <a:t>=2</a:t>
            </a:r>
            <a:r>
              <a:rPr lang="he-IL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he-IL" dirty="0" smtClean="0"/>
              <a:t>קוראים מידע מהמקלדת </a:t>
            </a:r>
            <a:r>
              <a:rPr lang="he-IL" dirty="0"/>
              <a:t> </a:t>
            </a:r>
            <a:r>
              <a:rPr lang="he-IL" dirty="0" smtClean="0"/>
              <a:t>(</a:t>
            </a:r>
            <a:r>
              <a:rPr lang="en-US" dirty="0" err="1" smtClean="0"/>
              <a:t>stdin</a:t>
            </a:r>
            <a:r>
              <a:rPr lang="he-IL" dirty="0" smtClean="0"/>
              <a:t> </a:t>
            </a:r>
            <a:r>
              <a:rPr lang="en-US" dirty="0" err="1" smtClean="0"/>
              <a:t>fd</a:t>
            </a:r>
            <a:r>
              <a:rPr lang="en-US" dirty="0" smtClean="0"/>
              <a:t>=0</a:t>
            </a:r>
            <a:r>
              <a:rPr lang="he-IL" dirty="0" smtClean="0"/>
              <a:t>) </a:t>
            </a:r>
          </a:p>
          <a:p>
            <a:r>
              <a:rPr lang="he-IL" dirty="0" smtClean="0"/>
              <a:t>וכיצד הקלט שנקלט מודפס ב </a:t>
            </a:r>
            <a:r>
              <a:rPr lang="en-US" dirty="0" err="1" smtClean="0"/>
              <a:t>stdout</a:t>
            </a:r>
            <a:r>
              <a:rPr lang="he-IL" dirty="0" smtClean="0"/>
              <a:t> חזרה </a:t>
            </a:r>
          </a:p>
          <a:p>
            <a:r>
              <a:rPr lang="he-IL" dirty="0" smtClean="0"/>
              <a:t>בשקפים הבאים נראה את כל הפעולות הנ"</a:t>
            </a:r>
            <a:r>
              <a:rPr lang="he-IL" dirty="0"/>
              <a:t>ל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7856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כתיבה למסך </a:t>
            </a:r>
            <a:r>
              <a:rPr lang="en-US" dirty="0" smtClean="0"/>
              <a:t>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626" y="3173267"/>
            <a:ext cx="7868748" cy="2086266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49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8226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כתיבה ל </a:t>
            </a:r>
            <a:r>
              <a:rPr lang="en-US" dirty="0" err="1" smtClean="0"/>
              <a:t>stderr</a:t>
            </a:r>
            <a:r>
              <a:rPr lang="he-IL" dirty="0" smtClean="0"/>
              <a:t>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310" y="3301873"/>
            <a:ext cx="7735380" cy="1829055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03386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קריאה מהמקלדת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257" y="3182794"/>
            <a:ext cx="8135485" cy="2067213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0041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הדהוד של הקלט על המסך </a:t>
            </a:r>
            <a:endParaRPr lang="he-IL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678" y="3173267"/>
            <a:ext cx="8554644" cy="2086266"/>
          </a:xfrm>
          <a:prstGeom prst="rect">
            <a:avLst/>
          </a:prstGeom>
        </p:spPr>
      </p:pic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213D-6E15-445B-9718-EC1AF7A839A6}" type="datetime8">
              <a:rPr lang="he-IL" smtClean="0"/>
              <a:t>22 מרץ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52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74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5351</TotalTime>
  <Words>1467</Words>
  <Application>Microsoft Office PowerPoint</Application>
  <PresentationFormat>מסך רחב</PresentationFormat>
  <Paragraphs>275</Paragraphs>
  <Slides>52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52</vt:i4>
      </vt:variant>
    </vt:vector>
  </HeadingPairs>
  <TitlesOfParts>
    <vt:vector size="57" baseType="lpstr">
      <vt:lpstr>Arial</vt:lpstr>
      <vt:lpstr>Calibri</vt:lpstr>
      <vt:lpstr>Garamond</vt:lpstr>
      <vt:lpstr>Times New Roman</vt:lpstr>
      <vt:lpstr>אורגני</vt:lpstr>
      <vt:lpstr>תרגול 5 </vt:lpstr>
      <vt:lpstr>מה בתכנית ? </vt:lpstr>
      <vt:lpstr>אופן הקריאה לפונקציות באסמבלר </vt:lpstr>
      <vt:lpstr>מבנה כללי של פונקציה</vt:lpstr>
      <vt:lpstr>מבנה פונקציה המשך</vt:lpstr>
      <vt:lpstr>דוגמא לפונקציה </vt:lpstr>
      <vt:lpstr>נשלב את הפונקציה הקודמת עם תכנית מלאה  func_demo.asm </vt:lpstr>
      <vt:lpstr>הרצה ודיבוג של התכנית </vt:lpstr>
      <vt:lpstr>קריאה לפונקצית אסמבלר מתוך תכנית C </vt:lpstr>
      <vt:lpstr>File 1: main_call_asm.c</vt:lpstr>
      <vt:lpstr>File 2: add3.asm</vt:lpstr>
      <vt:lpstr>Build and Run Commands</vt:lpstr>
      <vt:lpstr>דוגמא 3 </vt:lpstr>
      <vt:lpstr>printf_alignment_demo.asm</vt:lpstr>
      <vt:lpstr>printf_alignment_demo.asm</vt:lpstr>
      <vt:lpstr>printf_alignment_demo.asm</vt:lpstr>
      <vt:lpstr>printf_alignment_demo.asm</vt:lpstr>
      <vt:lpstr>הסבר לחלק הרביעי </vt:lpstr>
      <vt:lpstr>איך מדבגים תכנית עם פונקציות ? </vt:lpstr>
      <vt:lpstr>איך מדבגים תכנית עם פונקציות ? </vt:lpstr>
      <vt:lpstr>איך מדבגים תכנית עם פונקציות ? </vt:lpstr>
      <vt:lpstr>תכנית רקורסיבית</vt:lpstr>
      <vt:lpstr>קובץ ראשון לתכנית main_sum_digits.c</vt:lpstr>
      <vt:lpstr>קובץ שני לתכנית sum_digits.asm</vt:lpstr>
      <vt:lpstr>מצגת של PowerPoint</vt:lpstr>
      <vt:lpstr>סדר הקריאות והביצוע </vt:lpstr>
      <vt:lpstr>סדר הקריאות והביצוע המשך </vt:lpstr>
      <vt:lpstr>סדר הקריאות והביצוע המשך </vt:lpstr>
      <vt:lpstr>חזרה מהרקורסיה </vt:lpstr>
      <vt:lpstr>חזרה מהרקורסיה המשך </vt:lpstr>
      <vt:lpstr>אופן הקמפול וההרצה </vt:lpstr>
      <vt:lpstr>פונקציות רקורסיביות הדדיות </vt:lpstr>
      <vt:lpstr>דוגמא – בדיקת זוגיות של מספר טבעי  </vt:lpstr>
      <vt:lpstr>היכן ההדדיות בדיוק ? </vt:lpstr>
      <vt:lpstr>קובץ הקריאה is_even_main.c </vt:lpstr>
      <vt:lpstr>Is_even.asm</vt:lpstr>
      <vt:lpstr>אופן הקמפול </vt:lpstr>
      <vt:lpstr>מהו stdin ?  </vt:lpstr>
      <vt:lpstr>מהו stdout   ? </vt:lpstr>
      <vt:lpstr>מהו stderr ?  </vt:lpstr>
      <vt:lpstr>read in linux </vt:lpstr>
      <vt:lpstr>קריאת write  בלינוקס </vt:lpstr>
      <vt:lpstr>דוגמא </vt:lpstr>
      <vt:lpstr>demo_stdio.c</vt:lpstr>
      <vt:lpstr>asm_demo.asm</vt:lpstr>
      <vt:lpstr>קמפול והרצה </vt:lpstr>
      <vt:lpstr>הסבר לתכנית </vt:lpstr>
      <vt:lpstr>אופן העבודה של קובץ ה asm </vt:lpstr>
      <vt:lpstr>כתיבה למסך  </vt:lpstr>
      <vt:lpstr>כתיבה ל stderr </vt:lpstr>
      <vt:lpstr>קריאה מהמקלדת </vt:lpstr>
      <vt:lpstr>הדהוד של הקלט על המסך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תרגול 5</dc:title>
  <dc:creator>אורן אליעזר</dc:creator>
  <cp:lastModifiedBy>אורן אליעזר</cp:lastModifiedBy>
  <cp:revision>44</cp:revision>
  <cp:lastPrinted>2026-03-22T16:30:33Z</cp:lastPrinted>
  <dcterms:created xsi:type="dcterms:W3CDTF">2026-03-19T13:28:20Z</dcterms:created>
  <dcterms:modified xsi:type="dcterms:W3CDTF">2026-03-23T09:25:28Z</dcterms:modified>
</cp:coreProperties>
</file>