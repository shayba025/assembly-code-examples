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78" r:id="rId9"/>
    <p:sldId id="262" r:id="rId10"/>
    <p:sldId id="263" r:id="rId11"/>
    <p:sldId id="279" r:id="rId12"/>
    <p:sldId id="284" r:id="rId13"/>
    <p:sldId id="264" r:id="rId14"/>
    <p:sldId id="265" r:id="rId15"/>
    <p:sldId id="266" r:id="rId16"/>
    <p:sldId id="280" r:id="rId17"/>
    <p:sldId id="267" r:id="rId18"/>
    <p:sldId id="268" r:id="rId19"/>
    <p:sldId id="269" r:id="rId20"/>
    <p:sldId id="281" r:id="rId21"/>
    <p:sldId id="271" r:id="rId22"/>
    <p:sldId id="272" r:id="rId23"/>
    <p:sldId id="282" r:id="rId24"/>
    <p:sldId id="276" r:id="rId25"/>
    <p:sldId id="283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/>
              <a:t>פעולות לוגיות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39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פעולות לוגיות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עיקר התרגול יעסוק בפעולות לוגיות, החלפת תכנים בין אוגרים ועוד.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421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err="1" smtClean="0"/>
              <a:t>xchg</a:t>
            </a:r>
            <a:r>
              <a:rPr lang="he-IL" dirty="0" smtClean="0"/>
              <a:t> (קובץ </a:t>
            </a:r>
            <a:r>
              <a:rPr lang="en-US" dirty="0" smtClean="0"/>
              <a:t>xchg.asm</a:t>
            </a:r>
            <a:r>
              <a:rPr lang="he-IL" dirty="0" smtClean="0"/>
              <a:t>)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פעולה זו מחליפה תכנים בין שני אוגרים </a:t>
            </a:r>
          </a:p>
          <a:p>
            <a:r>
              <a:rPr lang="he-IL" dirty="0" smtClean="0"/>
              <a:t>דוגמא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 smtClean="0"/>
              <a:t>mov </a:t>
            </a:r>
            <a:r>
              <a:rPr lang="en-US" dirty="0" err="1" smtClean="0"/>
              <a:t>rax</a:t>
            </a:r>
            <a:r>
              <a:rPr lang="en-US" dirty="0" smtClean="0"/>
              <a:t>, 1234</a:t>
            </a:r>
          </a:p>
          <a:p>
            <a:pPr algn="l" rtl="0"/>
            <a:r>
              <a:rPr lang="en-US" dirty="0" smtClean="0"/>
              <a:t>mov </a:t>
            </a:r>
            <a:r>
              <a:rPr lang="en-US" dirty="0" err="1" smtClean="0"/>
              <a:t>rbx</a:t>
            </a:r>
            <a:r>
              <a:rPr lang="en-US" dirty="0" smtClean="0"/>
              <a:t>, 5678</a:t>
            </a:r>
          </a:p>
          <a:p>
            <a:pPr marL="0" indent="0" algn="l" rtl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xchg</a:t>
            </a:r>
            <a:r>
              <a:rPr lang="en-US" dirty="0" smtClean="0"/>
              <a:t> </a:t>
            </a:r>
            <a:r>
              <a:rPr lang="en-US" dirty="0" err="1" smtClean="0"/>
              <a:t>rax</a:t>
            </a:r>
            <a:r>
              <a:rPr lang="en-US" dirty="0" smtClean="0"/>
              <a:t>, </a:t>
            </a:r>
            <a:r>
              <a:rPr lang="en-US" dirty="0" err="1" smtClean="0"/>
              <a:t>rbx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8279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not</a:t>
            </a:r>
            <a:r>
              <a:rPr lang="he-IL" dirty="0" smtClean="0"/>
              <a:t> </a:t>
            </a:r>
            <a:r>
              <a:rPr lang="he-IL" dirty="0" smtClean="0"/>
              <a:t>(קובץ  </a:t>
            </a:r>
            <a:r>
              <a:rPr lang="en-US" dirty="0" smtClean="0"/>
              <a:t>notal.asm</a:t>
            </a:r>
            <a:r>
              <a:rPr lang="he-IL" dirty="0" smtClean="0"/>
              <a:t>)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פעולה זו הופכת כל ביט באוגר  כלומר ביט שערכו היה 0 הופך ל 1 ולהיפך.</a:t>
            </a:r>
          </a:p>
          <a:p>
            <a:r>
              <a:rPr lang="he-IL" dirty="0" smtClean="0"/>
              <a:t>דוגמא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/>
              <a:t>mov </a:t>
            </a:r>
            <a:r>
              <a:rPr lang="en-US" dirty="0" err="1"/>
              <a:t>rax</a:t>
            </a:r>
            <a:r>
              <a:rPr lang="en-US" dirty="0"/>
              <a:t>, 0x12345678abcdef0</a:t>
            </a:r>
          </a:p>
          <a:p>
            <a:pPr algn="l" rtl="0"/>
            <a:r>
              <a:rPr lang="en-US" dirty="0"/>
              <a:t>mov </a:t>
            </a:r>
            <a:r>
              <a:rPr lang="en-US" dirty="0" err="1"/>
              <a:t>bx</a:t>
            </a:r>
            <a:r>
              <a:rPr lang="en-US" dirty="0"/>
              <a:t>, ax</a:t>
            </a:r>
          </a:p>
          <a:p>
            <a:pPr algn="l" rtl="0"/>
            <a:r>
              <a:rPr lang="en-US" dirty="0"/>
              <a:t>not </a:t>
            </a:r>
            <a:r>
              <a:rPr lang="en-US" dirty="0" err="1"/>
              <a:t>bx</a:t>
            </a:r>
            <a:endParaRPr lang="en-US" dirty="0"/>
          </a:p>
          <a:p>
            <a:r>
              <a:rPr lang="he-IL" dirty="0" smtClean="0"/>
              <a:t>האוגר </a:t>
            </a:r>
            <a:r>
              <a:rPr lang="en-US" dirty="0" smtClean="0"/>
              <a:t>ax</a:t>
            </a:r>
            <a:r>
              <a:rPr lang="he-IL" dirty="0" smtClean="0"/>
              <a:t> יכיל את 4 הספרות הימניות (16 ביטים התחתונים) של </a:t>
            </a:r>
            <a:r>
              <a:rPr lang="en-US" dirty="0" err="1" smtClean="0"/>
              <a:t>rax</a:t>
            </a:r>
            <a:r>
              <a:rPr lang="he-IL" dirty="0" smtClean="0"/>
              <a:t> . כלומר טרם ההחלפה </a:t>
            </a:r>
            <a:r>
              <a:rPr lang="en-US" dirty="0" smtClean="0"/>
              <a:t>ax=def0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2773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not</a:t>
            </a:r>
            <a:r>
              <a:rPr lang="he-IL" dirty="0" smtClean="0"/>
              <a:t>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כעת </a:t>
            </a:r>
            <a:r>
              <a:rPr lang="en-US" dirty="0" smtClean="0"/>
              <a:t>ax=def0</a:t>
            </a:r>
            <a:r>
              <a:rPr lang="he-IL" dirty="0" smtClean="0"/>
              <a:t> ואם נמיר אותו לבינארי נקבל : </a:t>
            </a:r>
          </a:p>
          <a:p>
            <a:pPr algn="l" rtl="0"/>
            <a:r>
              <a:rPr lang="en-US" dirty="0" smtClean="0"/>
              <a:t>Ax = 1101 1110 1111 0000</a:t>
            </a:r>
          </a:p>
          <a:p>
            <a:pPr algn="r"/>
            <a:r>
              <a:rPr lang="he-IL" dirty="0" smtClean="0"/>
              <a:t>תוכן זה מועבר אל אוגר </a:t>
            </a:r>
            <a:r>
              <a:rPr lang="en-US" dirty="0" err="1" smtClean="0"/>
              <a:t>bx</a:t>
            </a:r>
            <a:r>
              <a:rPr lang="he-IL" dirty="0" smtClean="0"/>
              <a:t>  ובשלב הבא תוכנו של </a:t>
            </a:r>
            <a:r>
              <a:rPr lang="en-US" dirty="0" err="1" smtClean="0"/>
              <a:t>bx</a:t>
            </a:r>
            <a:r>
              <a:rPr lang="he-IL" dirty="0" smtClean="0"/>
              <a:t> מתהפך ע"י </a:t>
            </a:r>
            <a:r>
              <a:rPr lang="en-US" dirty="0" smtClean="0"/>
              <a:t>not</a:t>
            </a:r>
            <a:r>
              <a:rPr lang="he-IL" dirty="0" smtClean="0"/>
              <a:t>.</a:t>
            </a:r>
          </a:p>
          <a:p>
            <a:pPr algn="r"/>
            <a:r>
              <a:rPr lang="he-IL" dirty="0" smtClean="0"/>
              <a:t>הפעולה </a:t>
            </a:r>
            <a:r>
              <a:rPr lang="en-US" dirty="0" smtClean="0"/>
              <a:t>not</a:t>
            </a:r>
            <a:r>
              <a:rPr lang="he-IL" dirty="0" smtClean="0"/>
              <a:t> תגרום לכך  ש </a:t>
            </a:r>
            <a:r>
              <a:rPr lang="en-US" dirty="0" err="1" smtClean="0"/>
              <a:t>bx</a:t>
            </a:r>
            <a:r>
              <a:rPr lang="en-US" dirty="0" smtClean="0"/>
              <a:t>=0010 0001 0000 1111</a:t>
            </a:r>
            <a:r>
              <a:rPr lang="he-IL" dirty="0" smtClean="0"/>
              <a:t> כלומר </a:t>
            </a:r>
            <a:r>
              <a:rPr lang="en-US" dirty="0" err="1" smtClean="0"/>
              <a:t>bx</a:t>
            </a:r>
            <a:r>
              <a:rPr lang="en-US" dirty="0" smtClean="0"/>
              <a:t>=210f</a:t>
            </a:r>
            <a:r>
              <a:rPr lang="he-IL" dirty="0" smtClean="0"/>
              <a:t> בבסיס 16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164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  OR</a:t>
            </a:r>
            <a:r>
              <a:rPr lang="he-IL" dirty="0" smtClean="0"/>
              <a:t>(קובץ  </a:t>
            </a:r>
            <a:r>
              <a:rPr lang="en-US" dirty="0" smtClean="0"/>
              <a:t>orax.asm</a:t>
            </a:r>
            <a:r>
              <a:rPr lang="he-IL" dirty="0" smtClean="0"/>
              <a:t>)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OR </a:t>
            </a:r>
            <a:r>
              <a:rPr lang="he-IL" dirty="0" smtClean="0"/>
              <a:t> מיועדת לשם אילוץ ביטים </a:t>
            </a:r>
            <a:r>
              <a:rPr lang="he-IL" dirty="0" err="1" smtClean="0"/>
              <a:t>מסויימים</a:t>
            </a:r>
            <a:r>
              <a:rPr lang="he-IL" dirty="0" smtClean="0"/>
              <a:t> ל </a:t>
            </a:r>
            <a:r>
              <a:rPr lang="en-US" dirty="0" smtClean="0"/>
              <a:t>‘1’</a:t>
            </a:r>
            <a:r>
              <a:rPr lang="he-IL" dirty="0" smtClean="0"/>
              <a:t> , דהיינו אם ביט מסוים טרם הפעולה היה בערך של </a:t>
            </a:r>
            <a:r>
              <a:rPr lang="en-US" dirty="0" smtClean="0"/>
              <a:t>‘0’</a:t>
            </a:r>
            <a:r>
              <a:rPr lang="he-IL" dirty="0" smtClean="0"/>
              <a:t> אז לאחריה הוא הופך ל </a:t>
            </a:r>
            <a:r>
              <a:rPr lang="en-US" dirty="0" smtClean="0"/>
              <a:t>‘1’</a:t>
            </a:r>
            <a:r>
              <a:rPr lang="he-IL" dirty="0" smtClean="0"/>
              <a:t> ובמידה והיה בעל ערך של </a:t>
            </a:r>
            <a:r>
              <a:rPr lang="en-US" dirty="0" smtClean="0"/>
              <a:t>‘1’</a:t>
            </a:r>
            <a:r>
              <a:rPr lang="he-IL" dirty="0" smtClean="0"/>
              <a:t> הוא נשאר כך ללא שינוי. </a:t>
            </a:r>
          </a:p>
        </p:txBody>
      </p:sp>
    </p:spTree>
    <p:extLst>
      <p:ext uri="{BB962C8B-B14F-4D97-AF65-F5344CB8AC3E}">
        <p14:creationId xmlns:p14="http://schemas.microsoft.com/office/powerpoint/2010/main" val="1793288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OR</a:t>
            </a:r>
            <a:r>
              <a:rPr lang="he-IL" dirty="0" smtClean="0"/>
              <a:t> המשך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OR</a:t>
            </a:r>
            <a:r>
              <a:rPr lang="he-IL" dirty="0" smtClean="0"/>
              <a:t> משפיעה על הדגלים הבאים באופן הבא :</a:t>
            </a:r>
            <a:r>
              <a:rPr lang="en-US" dirty="0" smtClean="0"/>
              <a:t> </a:t>
            </a:r>
            <a:endParaRPr lang="he-IL" dirty="0" smtClean="0"/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33" y="3022793"/>
            <a:ext cx="8769819" cy="305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0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OR</a:t>
            </a:r>
            <a:r>
              <a:rPr lang="he-IL" dirty="0" smtClean="0"/>
              <a:t> המשך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 smtClean="0"/>
              <a:t>החשוב מכל בנוגע לאוגר הדגלים  : פעולת </a:t>
            </a:r>
            <a:r>
              <a:rPr lang="en-US" b="1" dirty="0" smtClean="0"/>
              <a:t>OR</a:t>
            </a:r>
            <a:r>
              <a:rPr lang="he-IL" b="1" dirty="0" smtClean="0"/>
              <a:t>  מאפסת הן את דגל ה </a:t>
            </a:r>
            <a:r>
              <a:rPr lang="en-US" b="1" dirty="0" smtClean="0"/>
              <a:t>carry</a:t>
            </a:r>
            <a:r>
              <a:rPr lang="he-IL" b="1" dirty="0" smtClean="0"/>
              <a:t> והן את דגל ה </a:t>
            </a:r>
            <a:r>
              <a:rPr lang="en-US" b="1" dirty="0" smtClean="0"/>
              <a:t>OF</a:t>
            </a:r>
            <a:r>
              <a:rPr lang="he-IL" b="1" dirty="0" smtClean="0"/>
              <a:t>  - דגל הגלישה. </a:t>
            </a:r>
          </a:p>
          <a:p>
            <a:r>
              <a:rPr lang="he-IL" dirty="0" smtClean="0"/>
              <a:t>כמו כן , דגל </a:t>
            </a:r>
            <a:r>
              <a:rPr lang="en-US" dirty="0" smtClean="0"/>
              <a:t>AF</a:t>
            </a:r>
            <a:r>
              <a:rPr lang="he-IL" dirty="0" smtClean="0"/>
              <a:t> (דגל ה </a:t>
            </a:r>
            <a:r>
              <a:rPr lang="en-US" dirty="0" smtClean="0"/>
              <a:t>adjust</a:t>
            </a:r>
            <a:r>
              <a:rPr lang="he-IL" dirty="0" smtClean="0"/>
              <a:t>) לא מוגדר אחרי פעולה זו. </a:t>
            </a:r>
          </a:p>
          <a:p>
            <a:r>
              <a:rPr lang="he-IL" dirty="0" smtClean="0"/>
              <a:t>דגל זה מקבל ערך של 1 אם יש נשא בין ביט מספר 3 לביט מספר 4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515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OR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דוגמא : נרצה להפוך את ערכי הביטים אשר שווים 0 ב 16 ביט התחתונים של </a:t>
            </a:r>
            <a:r>
              <a:rPr lang="en-US" dirty="0" err="1"/>
              <a:t>rax</a:t>
            </a:r>
            <a:r>
              <a:rPr lang="he-IL" dirty="0"/>
              <a:t> , דהיינו את החלק של 7788 לאחדים  כך שבסיום הפעולה נקבל בחלק התחתון </a:t>
            </a:r>
            <a:r>
              <a:rPr lang="en-US" dirty="0"/>
              <a:t>FFFF</a:t>
            </a:r>
            <a:r>
              <a:rPr lang="he-IL" dirty="0"/>
              <a:t> </a:t>
            </a:r>
          </a:p>
          <a:p>
            <a:r>
              <a:rPr lang="he-IL" dirty="0"/>
              <a:t>לשם כך נשתמש ב "מסיכה" אשר תאוחסן באוגר </a:t>
            </a:r>
            <a:r>
              <a:rPr lang="en-US" dirty="0" err="1"/>
              <a:t>rbx</a:t>
            </a:r>
            <a:r>
              <a:rPr lang="he-IL" dirty="0"/>
              <a:t> אשר תוכנו יהיה כזה אשר יתאים לפעולת </a:t>
            </a:r>
            <a:r>
              <a:rPr lang="en-US" dirty="0"/>
              <a:t>OR</a:t>
            </a:r>
            <a:r>
              <a:rPr lang="he-IL" dirty="0"/>
              <a:t> עם </a:t>
            </a:r>
            <a:r>
              <a:rPr lang="en-US" dirty="0"/>
              <a:t>RAX</a:t>
            </a:r>
            <a:r>
              <a:rPr lang="he-IL" dirty="0"/>
              <a:t> לקבלת התוצאה </a:t>
            </a:r>
            <a:r>
              <a:rPr lang="he-IL" dirty="0" smtClean="0"/>
              <a:t>הרצויה</a:t>
            </a:r>
            <a:endParaRPr lang="en-US" dirty="0" smtClean="0"/>
          </a:p>
          <a:p>
            <a:pPr algn="l" rtl="0"/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 err="1"/>
              <a:t>rax</a:t>
            </a:r>
            <a:r>
              <a:rPr lang="en-US" dirty="0"/>
              <a:t>, 0x1122334455667788</a:t>
            </a:r>
          </a:p>
          <a:p>
            <a:pPr algn="l" rtl="0"/>
            <a:r>
              <a:rPr lang="en-US" dirty="0"/>
              <a:t>mov </a:t>
            </a:r>
            <a:r>
              <a:rPr lang="en-US" dirty="0" err="1" smtClean="0"/>
              <a:t>rbx</a:t>
            </a:r>
            <a:r>
              <a:rPr lang="en-US" dirty="0" smtClean="0"/>
              <a:t>, 0x8877      ; the right mask </a:t>
            </a:r>
          </a:p>
          <a:p>
            <a:pPr algn="l" rtl="0"/>
            <a:r>
              <a:rPr lang="en-US" dirty="0" smtClean="0"/>
              <a:t>or </a:t>
            </a:r>
            <a:r>
              <a:rPr lang="en-US" dirty="0" err="1" smtClean="0"/>
              <a:t>rax</a:t>
            </a:r>
            <a:r>
              <a:rPr lang="en-US" dirty="0" smtClean="0"/>
              <a:t>, </a:t>
            </a:r>
            <a:r>
              <a:rPr lang="en-US" dirty="0" err="1" smtClean="0"/>
              <a:t>rbx</a:t>
            </a:r>
            <a:endParaRPr lang="he-IL" dirty="0"/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8565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AND</a:t>
            </a:r>
            <a:r>
              <a:rPr lang="he-IL" dirty="0" smtClean="0"/>
              <a:t> </a:t>
            </a:r>
            <a:r>
              <a:rPr lang="he-IL" dirty="0" smtClean="0"/>
              <a:t>(</a:t>
            </a:r>
            <a:r>
              <a:rPr lang="en-US" dirty="0" smtClean="0"/>
              <a:t>andrax.asm</a:t>
            </a:r>
            <a:r>
              <a:rPr lang="he-IL" dirty="0" smtClean="0"/>
              <a:t>)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פעולת </a:t>
            </a:r>
            <a:r>
              <a:rPr lang="en-US" dirty="0" smtClean="0"/>
              <a:t>AND</a:t>
            </a:r>
            <a:r>
              <a:rPr lang="he-IL" dirty="0" smtClean="0"/>
              <a:t> בניגוד לפעולת </a:t>
            </a:r>
            <a:r>
              <a:rPr lang="en-US" dirty="0" smtClean="0"/>
              <a:t>OR</a:t>
            </a:r>
            <a:r>
              <a:rPr lang="he-IL" dirty="0" smtClean="0"/>
              <a:t> מאפסת ביטים. </a:t>
            </a:r>
          </a:p>
          <a:p>
            <a:r>
              <a:rPr lang="he-IL" dirty="0" smtClean="0"/>
              <a:t>כך למשל אם בדוגמא הקודמת </a:t>
            </a:r>
            <a:r>
              <a:rPr lang="he-IL" dirty="0"/>
              <a:t>נרצה להפוך את ערכי הביטים אשר שווים </a:t>
            </a:r>
            <a:r>
              <a:rPr lang="he-IL" dirty="0" smtClean="0"/>
              <a:t>1 </a:t>
            </a:r>
            <a:r>
              <a:rPr lang="he-IL" dirty="0"/>
              <a:t>ב 16 ביט </a:t>
            </a:r>
            <a:r>
              <a:rPr lang="he-IL" dirty="0" smtClean="0"/>
              <a:t>העליונים  </a:t>
            </a:r>
            <a:r>
              <a:rPr lang="he-IL" dirty="0"/>
              <a:t>של </a:t>
            </a:r>
            <a:r>
              <a:rPr lang="en-US" dirty="0" err="1"/>
              <a:t>rax</a:t>
            </a:r>
            <a:r>
              <a:rPr lang="he-IL" dirty="0"/>
              <a:t> , דהיינו את החלק של </a:t>
            </a:r>
            <a:r>
              <a:rPr lang="he-IL" dirty="0" smtClean="0"/>
              <a:t>1122 לאפסים   </a:t>
            </a:r>
            <a:r>
              <a:rPr lang="he-IL" dirty="0"/>
              <a:t>כך שבסיום הפעולה נקבל בחלק </a:t>
            </a:r>
            <a:r>
              <a:rPr lang="he-IL" dirty="0" smtClean="0"/>
              <a:t>העליון </a:t>
            </a:r>
            <a:r>
              <a:rPr lang="en-US" dirty="0" smtClean="0"/>
              <a:t>0000</a:t>
            </a:r>
            <a:r>
              <a:rPr lang="he-IL" dirty="0" smtClean="0"/>
              <a:t>. שוב , גם כאן </a:t>
            </a:r>
            <a:r>
              <a:rPr lang="en-US" dirty="0" smtClean="0"/>
              <a:t>RBX</a:t>
            </a:r>
            <a:r>
              <a:rPr lang="he-IL" dirty="0" smtClean="0"/>
              <a:t> יקבל מסיכה מתאימה לאיפוס :</a:t>
            </a:r>
            <a:r>
              <a:rPr lang="en-US" dirty="0" smtClean="0"/>
              <a:t> </a:t>
            </a:r>
            <a:endParaRPr lang="he-IL" dirty="0" smtClean="0"/>
          </a:p>
          <a:p>
            <a:pPr lvl="0" algn="l" rtl="0">
              <a:buClr>
                <a:srgbClr val="83992A"/>
              </a:buClr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mov </a:t>
            </a:r>
            <a:r>
              <a:rPr lang="en-US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rax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, 0x1122334455667788</a:t>
            </a:r>
          </a:p>
          <a:p>
            <a:pPr lvl="0" algn="l" rtl="0">
              <a:buClr>
                <a:srgbClr val="83992A"/>
              </a:buClr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mov </a:t>
            </a:r>
            <a:r>
              <a:rPr lang="en-US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rbx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, 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0x00ffffffffffffffffffff       ; the mask 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lvl="0" algn="l" rtl="0">
              <a:buClr>
                <a:srgbClr val="83992A"/>
              </a:buClr>
            </a:pP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and  </a:t>
            </a:r>
            <a:r>
              <a:rPr lang="en-US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rax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, </a:t>
            </a:r>
            <a:r>
              <a:rPr lang="en-US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rbx</a:t>
            </a:r>
            <a:endParaRPr lang="he-IL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algn="l" rtl="0"/>
            <a:endParaRPr lang="he-IL" dirty="0" smtClean="0"/>
          </a:p>
          <a:p>
            <a:endParaRPr lang="he-IL" dirty="0" smtClean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42513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השפעת </a:t>
            </a:r>
            <a:r>
              <a:rPr lang="en-US" dirty="0" smtClean="0"/>
              <a:t>AND</a:t>
            </a:r>
            <a:r>
              <a:rPr lang="he-IL" dirty="0" smtClean="0"/>
              <a:t> על הדגלים 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645" y="2557463"/>
            <a:ext cx="7322710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77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היפוך ביטים לאוגר </a:t>
            </a:r>
            <a:r>
              <a:rPr lang="en-US" dirty="0" smtClean="0"/>
              <a:t>(invert.asm)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הקדמה : אוגר </a:t>
            </a:r>
            <a:r>
              <a:rPr lang="en-US" dirty="0" err="1" smtClean="0"/>
              <a:t>rax</a:t>
            </a:r>
            <a:r>
              <a:rPr lang="he-IL" dirty="0" smtClean="0"/>
              <a:t> כידוע הוא אוגר של 64 ביטים. החלק התחתון שלו בן 32 ביטים נקרא </a:t>
            </a:r>
            <a:r>
              <a:rPr lang="en-US" dirty="0" err="1" smtClean="0"/>
              <a:t>eax</a:t>
            </a:r>
            <a:r>
              <a:rPr lang="he-IL" dirty="0" smtClean="0"/>
              <a:t> </a:t>
            </a:r>
          </a:p>
          <a:p>
            <a:r>
              <a:rPr lang="he-IL" dirty="0" smtClean="0"/>
              <a:t>כעת , כל פעולה שמתבצעת על 32 ביטים  הנמוכים של האוגר המלא </a:t>
            </a:r>
            <a:r>
              <a:rPr lang="en-US" dirty="0" err="1" smtClean="0"/>
              <a:t>rax</a:t>
            </a:r>
            <a:r>
              <a:rPr lang="he-IL" dirty="0" smtClean="0"/>
              <a:t> בן ה 64 ביט, מאפסת את החלק העליון של האוגר. </a:t>
            </a:r>
          </a:p>
          <a:p>
            <a:r>
              <a:rPr lang="he-IL" dirty="0" smtClean="0"/>
              <a:t>תופעת האיפוס של החלק העליון מתרחשת אך ורק בפעולות של 32 ביטים. </a:t>
            </a:r>
          </a:p>
          <a:p>
            <a:r>
              <a:rPr lang="he-IL" dirty="0" smtClean="0"/>
              <a:t>לכן בקוד  הנ"ל הפקודה </a:t>
            </a:r>
            <a:r>
              <a:rPr lang="en-US" dirty="0" smtClean="0"/>
              <a:t>not </a:t>
            </a:r>
            <a:r>
              <a:rPr lang="en-US" dirty="0" err="1" smtClean="0"/>
              <a:t>eax</a:t>
            </a:r>
            <a:r>
              <a:rPr lang="he-IL" dirty="0" smtClean="0"/>
              <a:t> מבצעת היפוך ל 32 ביטים הנמוכים של </a:t>
            </a:r>
            <a:r>
              <a:rPr lang="en-US" dirty="0" err="1" smtClean="0"/>
              <a:t>rax</a:t>
            </a:r>
            <a:r>
              <a:rPr lang="he-IL" dirty="0" smtClean="0"/>
              <a:t> אבל במקביל גם מאפסת את העליונים. 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63621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החלפת תכנים בין שני אוגרים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קיימת פעולה באסמבלר בשם </a:t>
            </a:r>
            <a:r>
              <a:rPr lang="en-US" dirty="0" err="1" smtClean="0"/>
              <a:t>xchg</a:t>
            </a:r>
            <a:r>
              <a:rPr lang="he-IL" dirty="0" smtClean="0"/>
              <a:t> אשר מחליפה תכנים בין אוגרים – אותה ראינו בשקפים קודמים. </a:t>
            </a:r>
          </a:p>
          <a:p>
            <a:r>
              <a:rPr lang="he-IL" dirty="0" smtClean="0"/>
              <a:t>הדרך השנייה לבצע זאת היא באמצעות פעולות של </a:t>
            </a:r>
            <a:r>
              <a:rPr lang="en-US" dirty="0" err="1" smtClean="0"/>
              <a:t>xor</a:t>
            </a:r>
            <a:r>
              <a:rPr lang="he-IL" dirty="0" smtClean="0"/>
              <a:t> כפי שנראה להלן :</a:t>
            </a:r>
            <a:r>
              <a:rPr lang="en-US" dirty="0" smtClean="0"/>
              <a:t> </a:t>
            </a:r>
            <a:endParaRPr lang="he-IL" dirty="0" smtClean="0"/>
          </a:p>
          <a:p>
            <a:pPr marL="0" indent="0" algn="l" rtl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06658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XOR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נציג להלן את טבלת האמת של שער זה : </a:t>
            </a:r>
          </a:p>
          <a:p>
            <a:pPr algn="ctr"/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32" y="2954387"/>
            <a:ext cx="3877216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תכונות פעולת </a:t>
            </a:r>
            <a:r>
              <a:rPr lang="en-US" dirty="0" smtClean="0"/>
              <a:t>XOR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altLang="he-IL" dirty="0"/>
              <a:t>x XOR 0 = x,</a:t>
            </a:r>
          </a:p>
          <a:p>
            <a:pPr algn="l" rtl="0"/>
            <a:r>
              <a:rPr lang="en-US" altLang="he-IL" dirty="0"/>
              <a:t>x XOR 1 = ~x,</a:t>
            </a:r>
          </a:p>
          <a:p>
            <a:pPr algn="l" rtl="0"/>
            <a:r>
              <a:rPr lang="en-US" altLang="he-IL" dirty="0"/>
              <a:t>x XOR x = 0,</a:t>
            </a:r>
          </a:p>
          <a:p>
            <a:pPr algn="l" rtl="0"/>
            <a:r>
              <a:rPr lang="en-US" altLang="he-IL" dirty="0"/>
              <a:t>x XOR y = y XOR x,</a:t>
            </a:r>
          </a:p>
          <a:p>
            <a:pPr algn="l" rtl="0"/>
            <a:r>
              <a:rPr lang="en-US" altLang="he-IL" dirty="0"/>
              <a:t>(x XOR y) XOR z =</a:t>
            </a:r>
            <a:br>
              <a:rPr lang="en-US" altLang="he-IL" dirty="0"/>
            </a:br>
            <a:r>
              <a:rPr lang="en-US" altLang="he-IL" dirty="0"/>
              <a:t>x XOR (y XOR z),</a:t>
            </a:r>
          </a:p>
          <a:p>
            <a:pPr algn="l" rtl="0"/>
            <a:r>
              <a:rPr lang="en-US" altLang="he-IL" dirty="0" err="1"/>
              <a:t>xor</a:t>
            </a:r>
            <a:r>
              <a:rPr lang="en-US" altLang="he-IL" dirty="0"/>
              <a:t> cl, cl – </a:t>
            </a:r>
            <a:br>
              <a:rPr lang="en-US" altLang="he-IL" dirty="0"/>
            </a:br>
            <a:r>
              <a:rPr lang="en-US" altLang="he-IL" dirty="0"/>
              <a:t>The fastest way to zero a register!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66707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השפעת</a:t>
            </a:r>
            <a:r>
              <a:rPr lang="he-IL" dirty="0"/>
              <a:t> </a:t>
            </a:r>
            <a:r>
              <a:rPr lang="en-US" dirty="0" smtClean="0"/>
              <a:t>XOR</a:t>
            </a:r>
            <a:r>
              <a:rPr lang="he-IL" dirty="0" smtClean="0"/>
              <a:t> על הדגלים 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3223" y="2557463"/>
            <a:ext cx="644555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48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החלפת תכנים בין אוגרים באמצעות </a:t>
            </a:r>
            <a:r>
              <a:rPr lang="en-US" dirty="0" smtClean="0"/>
              <a:t>XOR</a:t>
            </a:r>
            <a:r>
              <a:rPr lang="he-IL" dirty="0" smtClean="0"/>
              <a:t>(</a:t>
            </a:r>
            <a:r>
              <a:rPr lang="en-US" dirty="0" smtClean="0"/>
              <a:t>xorschg.asm</a:t>
            </a:r>
            <a:r>
              <a:rPr lang="he-IL" dirty="0" smtClean="0"/>
              <a:t>)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mov </a:t>
            </a:r>
            <a:r>
              <a:rPr lang="en-US" dirty="0" err="1" smtClean="0"/>
              <a:t>rax</a:t>
            </a:r>
            <a:r>
              <a:rPr lang="en-US" dirty="0" smtClean="0"/>
              <a:t>, 0x1234</a:t>
            </a:r>
          </a:p>
          <a:p>
            <a:pPr algn="l" rtl="0"/>
            <a:r>
              <a:rPr lang="en-US" dirty="0" smtClean="0"/>
              <a:t>mov </a:t>
            </a:r>
            <a:r>
              <a:rPr lang="en-US" dirty="0" err="1" smtClean="0"/>
              <a:t>rbx</a:t>
            </a:r>
            <a:r>
              <a:rPr lang="en-US" dirty="0" smtClean="0"/>
              <a:t> , 0x5678</a:t>
            </a:r>
          </a:p>
          <a:p>
            <a:pPr algn="l" rtl="0"/>
            <a:r>
              <a:rPr lang="en-US" dirty="0" err="1" smtClean="0"/>
              <a:t>xor</a:t>
            </a:r>
            <a:r>
              <a:rPr lang="en-US" dirty="0" smtClean="0"/>
              <a:t> </a:t>
            </a:r>
            <a:r>
              <a:rPr lang="en-US" dirty="0" err="1"/>
              <a:t>rax</a:t>
            </a:r>
            <a:r>
              <a:rPr lang="en-US" dirty="0"/>
              <a:t>, </a:t>
            </a:r>
            <a:r>
              <a:rPr lang="en-US" dirty="0" err="1" smtClean="0"/>
              <a:t>rbx</a:t>
            </a:r>
            <a:r>
              <a:rPr lang="en-US" dirty="0" smtClean="0"/>
              <a:t>   ; </a:t>
            </a:r>
            <a:r>
              <a:rPr lang="en-US" dirty="0" err="1" smtClean="0"/>
              <a:t>rax</a:t>
            </a:r>
            <a:r>
              <a:rPr lang="en-US" dirty="0" smtClean="0"/>
              <a:t> = 0x444D </a:t>
            </a:r>
            <a:endParaRPr lang="en-US" dirty="0"/>
          </a:p>
          <a:p>
            <a:pPr algn="l" rtl="0"/>
            <a:r>
              <a:rPr lang="en-US" dirty="0" err="1"/>
              <a:t>xor</a:t>
            </a:r>
            <a:r>
              <a:rPr lang="en-US" dirty="0"/>
              <a:t> </a:t>
            </a:r>
            <a:r>
              <a:rPr lang="en-US" dirty="0" err="1"/>
              <a:t>rbx</a:t>
            </a:r>
            <a:r>
              <a:rPr lang="en-US" dirty="0"/>
              <a:t>, </a:t>
            </a:r>
            <a:r>
              <a:rPr lang="en-US" dirty="0" err="1" smtClean="0"/>
              <a:t>rax</a:t>
            </a:r>
            <a:r>
              <a:rPr lang="en-US" dirty="0" smtClean="0"/>
              <a:t>     ; </a:t>
            </a:r>
            <a:r>
              <a:rPr lang="en-US" dirty="0" err="1" smtClean="0"/>
              <a:t>rbx</a:t>
            </a:r>
            <a:r>
              <a:rPr lang="en-US" dirty="0" smtClean="0"/>
              <a:t> = 0x1234</a:t>
            </a:r>
            <a:endParaRPr lang="en-US" dirty="0"/>
          </a:p>
          <a:p>
            <a:pPr algn="l" rtl="0"/>
            <a:r>
              <a:rPr lang="en-US" dirty="0" err="1"/>
              <a:t>xor</a:t>
            </a:r>
            <a:r>
              <a:rPr lang="en-US" dirty="0"/>
              <a:t> </a:t>
            </a:r>
            <a:r>
              <a:rPr lang="en-US" dirty="0" err="1"/>
              <a:t>rax</a:t>
            </a:r>
            <a:r>
              <a:rPr lang="en-US" dirty="0"/>
              <a:t>, </a:t>
            </a:r>
            <a:r>
              <a:rPr lang="en-US" dirty="0" err="1" smtClean="0"/>
              <a:t>rbx</a:t>
            </a:r>
            <a:r>
              <a:rPr lang="en-US" dirty="0" smtClean="0"/>
              <a:t>     ; </a:t>
            </a:r>
            <a:r>
              <a:rPr lang="en-US" dirty="0" err="1" smtClean="0"/>
              <a:t>rax</a:t>
            </a:r>
            <a:r>
              <a:rPr lang="en-US" dirty="0" smtClean="0"/>
              <a:t> = 0x5678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92864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TEST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smtClean="0"/>
              <a:t>test</a:t>
            </a:r>
            <a:r>
              <a:rPr lang="he-IL" dirty="0" smtClean="0"/>
              <a:t> היא פעולה אשר מבצעת </a:t>
            </a:r>
            <a:r>
              <a:rPr lang="en-US" dirty="0" smtClean="0"/>
              <a:t>AND</a:t>
            </a:r>
            <a:r>
              <a:rPr lang="he-IL" dirty="0" smtClean="0"/>
              <a:t> על האוגרים מבלי להרוס את תוכנם. היא משפיעה אך ורק על הדגלים.  </a:t>
            </a:r>
          </a:p>
          <a:p>
            <a:r>
              <a:rPr lang="he-IL" dirty="0" smtClean="0"/>
              <a:t>היא שימושית בעיקר בביצוע קפיצות. </a:t>
            </a:r>
          </a:p>
          <a:p>
            <a:r>
              <a:rPr lang="he-IL" dirty="0" smtClean="0"/>
              <a:t>ההשפעה של </a:t>
            </a:r>
            <a:r>
              <a:rPr lang="en-US" dirty="0" smtClean="0"/>
              <a:t>TEST</a:t>
            </a:r>
            <a:r>
              <a:rPr lang="he-IL" dirty="0" smtClean="0"/>
              <a:t> על הדגלים זהה לזו של </a:t>
            </a:r>
            <a:r>
              <a:rPr lang="en-US" dirty="0" smtClean="0"/>
              <a:t>AND</a:t>
            </a:r>
            <a:r>
              <a:rPr lang="he-IL" dirty="0" smtClean="0"/>
              <a:t> </a:t>
            </a:r>
          </a:p>
          <a:p>
            <a:r>
              <a:rPr lang="he-IL" dirty="0" smtClean="0"/>
              <a:t>דוגמא : </a:t>
            </a:r>
            <a:r>
              <a:rPr lang="en-US" dirty="0" smtClean="0"/>
              <a:t>test </a:t>
            </a:r>
            <a:r>
              <a:rPr lang="en-US" dirty="0" err="1" smtClean="0"/>
              <a:t>rdi</a:t>
            </a:r>
            <a:r>
              <a:rPr lang="en-US" dirty="0" smtClean="0"/>
              <a:t>, </a:t>
            </a:r>
            <a:r>
              <a:rPr lang="en-US" dirty="0" err="1" smtClean="0"/>
              <a:t>rdi</a:t>
            </a:r>
            <a:r>
              <a:rPr lang="he-IL" dirty="0"/>
              <a:t> </a:t>
            </a:r>
            <a:r>
              <a:rPr lang="he-IL" dirty="0" smtClean="0"/>
              <a:t>משמשת לבדיקה  אם אוגר </a:t>
            </a:r>
            <a:r>
              <a:rPr lang="en-US" dirty="0" err="1" smtClean="0"/>
              <a:t>rdi</a:t>
            </a:r>
            <a:r>
              <a:rPr lang="he-IL" dirty="0" smtClean="0"/>
              <a:t> התאפס, כלומר לאחריה נבדק דגל ה </a:t>
            </a:r>
            <a:r>
              <a:rPr lang="en-US" dirty="0" smtClean="0"/>
              <a:t>zero</a:t>
            </a:r>
            <a:r>
              <a:rPr lang="en-US" dirty="0"/>
              <a:t> </a:t>
            </a:r>
            <a:r>
              <a:rPr lang="he-IL" dirty="0" smtClean="0"/>
              <a:t> למשל ע"י </a:t>
            </a:r>
            <a:r>
              <a:rPr lang="en-US" dirty="0" err="1" smtClean="0"/>
              <a:t>jz</a:t>
            </a:r>
            <a:r>
              <a:rPr lang="he-IL" dirty="0" smtClean="0"/>
              <a:t>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6732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err="1" smtClean="0"/>
              <a:t>shr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פעולה זו מבצעת הזזה ימינה של תוכנו של האוגר. </a:t>
            </a:r>
          </a:p>
          <a:p>
            <a:r>
              <a:rPr lang="he-IL" dirty="0" smtClean="0"/>
              <a:t>יש לה שתי תצורות : </a:t>
            </a:r>
          </a:p>
          <a:p>
            <a:pPr algn="l" rtl="0"/>
            <a:r>
              <a:rPr lang="en-US" dirty="0" smtClean="0"/>
              <a:t>1. </a:t>
            </a:r>
            <a:r>
              <a:rPr lang="en-US" dirty="0" err="1" smtClean="0"/>
              <a:t>shr</a:t>
            </a:r>
            <a:r>
              <a:rPr lang="en-US" dirty="0" smtClean="0"/>
              <a:t> </a:t>
            </a:r>
            <a:r>
              <a:rPr lang="en-US" dirty="0" err="1" smtClean="0"/>
              <a:t>reg</a:t>
            </a:r>
            <a:r>
              <a:rPr lang="en-US" dirty="0" smtClean="0"/>
              <a:t> , count  </a:t>
            </a:r>
          </a:p>
          <a:p>
            <a:pPr algn="l" rtl="0"/>
            <a:r>
              <a:rPr lang="en-US" dirty="0" smtClean="0"/>
              <a:t>2. </a:t>
            </a:r>
            <a:r>
              <a:rPr lang="en-US" dirty="0" err="1" smtClean="0"/>
              <a:t>shr</a:t>
            </a:r>
            <a:r>
              <a:rPr lang="en-US" dirty="0" smtClean="0"/>
              <a:t> </a:t>
            </a:r>
            <a:r>
              <a:rPr lang="en-US" dirty="0" err="1" smtClean="0"/>
              <a:t>reg</a:t>
            </a:r>
            <a:r>
              <a:rPr lang="en-US" dirty="0" smtClean="0"/>
              <a:t>, </a:t>
            </a:r>
            <a:r>
              <a:rPr lang="en-US" dirty="0" err="1" smtClean="0"/>
              <a:t>rcx</a:t>
            </a:r>
            <a:endParaRPr lang="en-US" dirty="0" smtClean="0"/>
          </a:p>
          <a:p>
            <a:pPr algn="r"/>
            <a:r>
              <a:rPr lang="he-IL" dirty="0" smtClean="0"/>
              <a:t>הראשונה מציינת כמה הזזות לבצע ימינה</a:t>
            </a:r>
          </a:p>
          <a:p>
            <a:pPr algn="r"/>
            <a:r>
              <a:rPr lang="he-IL" dirty="0" err="1" smtClean="0"/>
              <a:t>השניה</a:t>
            </a:r>
            <a:r>
              <a:rPr lang="he-IL" dirty="0" smtClean="0"/>
              <a:t> מציינת כי יש לבצע הזזות ימינה לפי הערך השמור ב </a:t>
            </a:r>
            <a:r>
              <a:rPr lang="en-US" dirty="0" err="1" smtClean="0"/>
              <a:t>rcx</a:t>
            </a:r>
            <a:r>
              <a:rPr lang="he-IL" dirty="0" smtClean="0"/>
              <a:t>. </a:t>
            </a:r>
          </a:p>
          <a:p>
            <a:pPr algn="r"/>
            <a:r>
              <a:rPr lang="he-IL" dirty="0" smtClean="0"/>
              <a:t>זו הדרך היעילה ביותר לחלק מספר ב 2 או בכפולות של 2. </a:t>
            </a:r>
            <a:endParaRPr lang="en-US" dirty="0" smtClean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183" y="3514251"/>
            <a:ext cx="4452593" cy="9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87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השפעה על הדגלים 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229" y="2557463"/>
            <a:ext cx="888554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40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פעולת </a:t>
            </a:r>
            <a:r>
              <a:rPr lang="en-US" dirty="0" err="1" smtClean="0"/>
              <a:t>shl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 smtClean="0"/>
              <a:t>פעולה זו מבצעת הזזה שמאלה  של תוכנו של האוגר. </a:t>
            </a:r>
          </a:p>
          <a:p>
            <a:r>
              <a:rPr lang="he-IL" dirty="0" smtClean="0"/>
              <a:t>יש לה שתי תצורות : </a:t>
            </a:r>
          </a:p>
          <a:p>
            <a:pPr algn="l" rtl="0"/>
            <a:r>
              <a:rPr lang="en-US" dirty="0" smtClean="0"/>
              <a:t>1. </a:t>
            </a:r>
            <a:r>
              <a:rPr lang="en-US" dirty="0" err="1" smtClean="0"/>
              <a:t>shl</a:t>
            </a:r>
            <a:r>
              <a:rPr lang="en-US" dirty="0" smtClean="0"/>
              <a:t> </a:t>
            </a:r>
            <a:r>
              <a:rPr lang="en-US" dirty="0" err="1" smtClean="0"/>
              <a:t>reg</a:t>
            </a:r>
            <a:r>
              <a:rPr lang="en-US" dirty="0" smtClean="0"/>
              <a:t> , count  </a:t>
            </a:r>
          </a:p>
          <a:p>
            <a:pPr algn="l" rtl="0"/>
            <a:r>
              <a:rPr lang="en-US" dirty="0" smtClean="0"/>
              <a:t>2. </a:t>
            </a:r>
            <a:r>
              <a:rPr lang="en-US" dirty="0" err="1" smtClean="0"/>
              <a:t>shl</a:t>
            </a:r>
            <a:r>
              <a:rPr lang="en-US" dirty="0" smtClean="0"/>
              <a:t> </a:t>
            </a:r>
            <a:r>
              <a:rPr lang="en-US" dirty="0" err="1" smtClean="0"/>
              <a:t>reg</a:t>
            </a:r>
            <a:r>
              <a:rPr lang="en-US" dirty="0" smtClean="0"/>
              <a:t>, </a:t>
            </a:r>
            <a:r>
              <a:rPr lang="en-US" dirty="0" err="1" smtClean="0"/>
              <a:t>rcx</a:t>
            </a:r>
            <a:endParaRPr lang="en-US" dirty="0" smtClean="0"/>
          </a:p>
          <a:p>
            <a:pPr algn="r"/>
            <a:r>
              <a:rPr lang="he-IL" dirty="0" smtClean="0"/>
              <a:t>הראשונה מציינת כמה הזזות לבצע שמאלה </a:t>
            </a:r>
          </a:p>
          <a:p>
            <a:pPr algn="r"/>
            <a:r>
              <a:rPr lang="he-IL" dirty="0" err="1" smtClean="0"/>
              <a:t>השניה</a:t>
            </a:r>
            <a:r>
              <a:rPr lang="he-IL" dirty="0" smtClean="0"/>
              <a:t> מציינת כי יש לבצע הזזות שמאלה  לפי הערך השמור ב </a:t>
            </a:r>
            <a:r>
              <a:rPr lang="en-US" dirty="0" err="1" smtClean="0"/>
              <a:t>rcx</a:t>
            </a:r>
            <a:r>
              <a:rPr lang="he-IL" dirty="0" smtClean="0"/>
              <a:t>. </a:t>
            </a:r>
          </a:p>
          <a:p>
            <a:pPr algn="r"/>
            <a:r>
              <a:rPr lang="he-IL" dirty="0" smtClean="0"/>
              <a:t>זו הדרך היעילה ביותר לכפול  מספר ב 2 או בכפולות של 2.  </a:t>
            </a:r>
          </a:p>
          <a:p>
            <a:pPr algn="r"/>
            <a:r>
              <a:rPr lang="he-IL" dirty="0" smtClean="0"/>
              <a:t>יש לה השפעה זהה על הדגלים לזו של </a:t>
            </a:r>
            <a:r>
              <a:rPr lang="en-US" dirty="0" err="1" smtClean="0"/>
              <a:t>shl</a:t>
            </a:r>
            <a:r>
              <a:rPr lang="he-IL" dirty="0" smtClean="0"/>
              <a:t> </a:t>
            </a:r>
            <a:endParaRPr lang="en-US" dirty="0" smtClean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955" y="3230457"/>
            <a:ext cx="4034087" cy="98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54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מניית מספר האחדים בתוכנו של </a:t>
            </a:r>
            <a:r>
              <a:rPr lang="he-IL" dirty="0" smtClean="0"/>
              <a:t>אוגר (</a:t>
            </a:r>
            <a:r>
              <a:rPr lang="en-US" dirty="0" smtClean="0"/>
              <a:t>countones.asm</a:t>
            </a:r>
            <a:r>
              <a:rPr lang="he-IL" dirty="0" smtClean="0"/>
              <a:t>)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להלן נראה תכנית אשר מבצעת מנייה של אחדים :</a:t>
            </a:r>
            <a:r>
              <a:rPr lang="en-US" dirty="0" smtClean="0"/>
              <a:t> </a:t>
            </a:r>
          </a:p>
          <a:p>
            <a:pPr algn="l" rtl="0"/>
            <a:r>
              <a:rPr lang="en-US" dirty="0" smtClean="0"/>
              <a:t>global main                            </a:t>
            </a:r>
          </a:p>
          <a:p>
            <a:pPr algn="l" rtl="0"/>
            <a:r>
              <a:rPr lang="en-US" dirty="0" smtClean="0"/>
              <a:t>main</a:t>
            </a:r>
            <a:r>
              <a:rPr lang="en-US" dirty="0"/>
              <a:t>: </a:t>
            </a:r>
            <a:r>
              <a:rPr lang="en-US" dirty="0" smtClean="0"/>
              <a:t>                                         </a:t>
            </a:r>
            <a:r>
              <a:rPr lang="en-US" dirty="0" err="1" smtClean="0"/>
              <a:t>cont</a:t>
            </a:r>
            <a:r>
              <a:rPr lang="en-US" dirty="0" smtClean="0"/>
              <a:t>: test </a:t>
            </a:r>
            <a:r>
              <a:rPr lang="en-US" dirty="0" err="1" smtClean="0"/>
              <a:t>rdi</a:t>
            </a:r>
            <a:r>
              <a:rPr lang="en-US" dirty="0" smtClean="0"/>
              <a:t>, </a:t>
            </a:r>
            <a:r>
              <a:rPr lang="en-US" dirty="0" err="1" smtClean="0"/>
              <a:t>rdi</a:t>
            </a:r>
            <a:r>
              <a:rPr lang="en-US" dirty="0" smtClean="0"/>
              <a:t>                   </a:t>
            </a:r>
            <a:r>
              <a:rPr lang="en-US" dirty="0" err="1" smtClean="0"/>
              <a:t>jmp</a:t>
            </a:r>
            <a:r>
              <a:rPr lang="en-US" dirty="0" smtClean="0"/>
              <a:t> </a:t>
            </a:r>
            <a:r>
              <a:rPr lang="en-US" dirty="0" err="1" smtClean="0"/>
              <a:t>cont</a:t>
            </a:r>
            <a:endParaRPr lang="en-US" dirty="0"/>
          </a:p>
          <a:p>
            <a:pPr algn="l" rtl="0"/>
            <a:r>
              <a:rPr lang="en-US" dirty="0"/>
              <a:t>   mov </a:t>
            </a:r>
            <a:r>
              <a:rPr lang="en-US" dirty="0" err="1"/>
              <a:t>rax</a:t>
            </a:r>
            <a:r>
              <a:rPr lang="en-US" dirty="0"/>
              <a:t>, </a:t>
            </a:r>
            <a:r>
              <a:rPr lang="en-US" dirty="0" smtClean="0"/>
              <a:t>0                                        </a:t>
            </a:r>
            <a:r>
              <a:rPr lang="en-US" dirty="0" err="1" smtClean="0"/>
              <a:t>jz</a:t>
            </a:r>
            <a:r>
              <a:rPr lang="en-US" dirty="0" smtClean="0"/>
              <a:t> done                         doe: </a:t>
            </a:r>
            <a:r>
              <a:rPr lang="en-US" dirty="0" err="1" smtClean="0"/>
              <a:t>nop</a:t>
            </a:r>
            <a:endParaRPr lang="en-US" dirty="0"/>
          </a:p>
          <a:p>
            <a:pPr algn="l" rtl="0"/>
            <a:r>
              <a:rPr lang="en-US" dirty="0"/>
              <a:t>   mov </a:t>
            </a:r>
            <a:r>
              <a:rPr lang="en-US" dirty="0" err="1"/>
              <a:t>rdi</a:t>
            </a:r>
            <a:r>
              <a:rPr lang="en-US" dirty="0"/>
              <a:t> , </a:t>
            </a:r>
            <a:r>
              <a:rPr lang="en-US" dirty="0" smtClean="0"/>
              <a:t>0x0f0f                              </a:t>
            </a:r>
            <a:r>
              <a:rPr lang="en-US" dirty="0" err="1" smtClean="0"/>
              <a:t>shr</a:t>
            </a:r>
            <a:r>
              <a:rPr lang="en-US" dirty="0" smtClean="0"/>
              <a:t> </a:t>
            </a:r>
            <a:r>
              <a:rPr lang="en-US" dirty="0" err="1" smtClean="0"/>
              <a:t>rdi</a:t>
            </a:r>
            <a:r>
              <a:rPr lang="en-US" dirty="0" smtClean="0"/>
              <a:t>, 1</a:t>
            </a:r>
            <a:endParaRPr lang="en-US" dirty="0"/>
          </a:p>
          <a:p>
            <a:pPr algn="l" rtl="0"/>
            <a:r>
              <a:rPr lang="en-US" dirty="0" smtClean="0"/>
              <a:t>                                                         </a:t>
            </a:r>
            <a:r>
              <a:rPr lang="en-US" dirty="0" err="1" smtClean="0"/>
              <a:t>adc</a:t>
            </a:r>
            <a:r>
              <a:rPr lang="en-US" dirty="0" smtClean="0"/>
              <a:t> </a:t>
            </a:r>
            <a:r>
              <a:rPr lang="en-US" dirty="0" err="1" smtClean="0"/>
              <a:t>eax</a:t>
            </a:r>
            <a:r>
              <a:rPr lang="en-US" dirty="0" smtClean="0"/>
              <a:t>, 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302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מניית מספר האחדים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התכנית מבצעת מנייה למספר האחדים של אוגר </a:t>
            </a:r>
            <a:r>
              <a:rPr lang="en-US" dirty="0" err="1" smtClean="0"/>
              <a:t>rdi</a:t>
            </a:r>
            <a:r>
              <a:rPr lang="he-IL" dirty="0" smtClean="0"/>
              <a:t>.</a:t>
            </a:r>
          </a:p>
          <a:p>
            <a:r>
              <a:rPr lang="he-IL" dirty="0" smtClean="0"/>
              <a:t>בכל שלב היא מזיזה את תוכנו של </a:t>
            </a:r>
            <a:r>
              <a:rPr lang="en-US" dirty="0" err="1" smtClean="0"/>
              <a:t>rdi</a:t>
            </a:r>
            <a:r>
              <a:rPr lang="he-IL" dirty="0" smtClean="0"/>
              <a:t> מקום אחד ימינה באמצעות פקודת </a:t>
            </a:r>
            <a:r>
              <a:rPr lang="en-US" dirty="0" err="1" smtClean="0"/>
              <a:t>shr</a:t>
            </a:r>
            <a:r>
              <a:rPr lang="he-IL" dirty="0" smtClean="0"/>
              <a:t>. </a:t>
            </a:r>
          </a:p>
          <a:p>
            <a:r>
              <a:rPr lang="he-IL" dirty="0" smtClean="0"/>
              <a:t>היות ו </a:t>
            </a:r>
            <a:r>
              <a:rPr lang="en-US" dirty="0" err="1" smtClean="0"/>
              <a:t>shr</a:t>
            </a:r>
            <a:r>
              <a:rPr lang="he-IL" dirty="0" smtClean="0"/>
              <a:t> מדליקה את דגל ה </a:t>
            </a:r>
            <a:r>
              <a:rPr lang="en-US" dirty="0" smtClean="0"/>
              <a:t>carry</a:t>
            </a:r>
            <a:r>
              <a:rPr lang="he-IL" dirty="0" smtClean="0"/>
              <a:t> ברגע שמופיע 1, אזי כל הדלקה שלו מתווספת למונה אשר נמצא באוגר </a:t>
            </a:r>
            <a:r>
              <a:rPr lang="en-US" dirty="0" err="1" smtClean="0"/>
              <a:t>rax</a:t>
            </a:r>
            <a:r>
              <a:rPr lang="en-US" dirty="0"/>
              <a:t> </a:t>
            </a:r>
            <a:r>
              <a:rPr lang="he-IL" dirty="0" smtClean="0"/>
              <a:t> כך שבסיום ערכו של </a:t>
            </a:r>
            <a:r>
              <a:rPr lang="en-US" dirty="0" err="1" smtClean="0"/>
              <a:t>rax</a:t>
            </a:r>
            <a:r>
              <a:rPr lang="he-IL" dirty="0" smtClean="0"/>
              <a:t> מכיל את כל האחדים. </a:t>
            </a:r>
          </a:p>
          <a:p>
            <a:r>
              <a:rPr lang="he-IL" dirty="0" smtClean="0"/>
              <a:t>כל הזזה ימינה של תוכנו של </a:t>
            </a:r>
            <a:r>
              <a:rPr lang="en-US" dirty="0" err="1" smtClean="0"/>
              <a:t>rdi</a:t>
            </a:r>
            <a:r>
              <a:rPr lang="he-IL" dirty="0" smtClean="0"/>
              <a:t> גורמת לערכו לקטון עד אשר מתאפס. </a:t>
            </a:r>
          </a:p>
          <a:p>
            <a:r>
              <a:rPr lang="he-IL" dirty="0" smtClean="0"/>
              <a:t>בדיקת האיפוס של </a:t>
            </a:r>
            <a:r>
              <a:rPr lang="en-US" dirty="0" err="1" smtClean="0"/>
              <a:t>rdi</a:t>
            </a:r>
            <a:r>
              <a:rPr lang="he-IL" dirty="0" smtClean="0"/>
              <a:t> נעשית באמצעות </a:t>
            </a:r>
            <a:r>
              <a:rPr lang="en-US" dirty="0" smtClean="0"/>
              <a:t>TEST</a:t>
            </a:r>
            <a:r>
              <a:rPr lang="he-IL" dirty="0" smtClean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7934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פקודת </a:t>
            </a:r>
            <a:r>
              <a:rPr lang="en-US" dirty="0" smtClean="0"/>
              <a:t>BT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פקודה זו מקבלת מיקום (אינדקס) של ביט  באופרנד ובודקת אם באותו מיקום הביט דולק. במידה וכן – היא תדליק את דגל ה </a:t>
            </a:r>
            <a:r>
              <a:rPr lang="en-US" dirty="0" smtClean="0"/>
              <a:t>carry</a:t>
            </a:r>
            <a:r>
              <a:rPr lang="he-IL" dirty="0" smtClean="0"/>
              <a:t> – אחרת – לא. </a:t>
            </a:r>
          </a:p>
          <a:p>
            <a:r>
              <a:rPr lang="he-IL" dirty="0" smtClean="0"/>
              <a:t>הדגל היחידי שמושפע מפעולה זו הוא דגל ה </a:t>
            </a:r>
            <a:r>
              <a:rPr lang="en-US" dirty="0" smtClean="0"/>
              <a:t>carry</a:t>
            </a:r>
            <a:r>
              <a:rPr lang="he-IL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1261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לפקודת </a:t>
            </a:r>
            <a:r>
              <a:rPr lang="en-US" dirty="0" smtClean="0"/>
              <a:t>BT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5" name="מציין מיקום תוכן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בדוגמא להלן בודקים אם ביט מס</a:t>
            </a:r>
            <a:r>
              <a:rPr lang="en-US" dirty="0" smtClean="0"/>
              <a:t>'</a:t>
            </a:r>
            <a:r>
              <a:rPr lang="he-IL" dirty="0" smtClean="0"/>
              <a:t> 3 דלוק</a:t>
            </a:r>
          </a:p>
          <a:p>
            <a:r>
              <a:rPr lang="he-IL" dirty="0" smtClean="0"/>
              <a:t>נעיר כי הספירה מתחילה מ 0 ומימין.</a:t>
            </a:r>
          </a:p>
          <a:p>
            <a:r>
              <a:rPr lang="he-IL" dirty="0" smtClean="0"/>
              <a:t>במקרה זה הביט כבוי ולכן דגל ה </a:t>
            </a:r>
            <a:r>
              <a:rPr lang="en-US" dirty="0" smtClean="0"/>
              <a:t>carry</a:t>
            </a:r>
            <a:r>
              <a:rPr lang="he-IL" dirty="0" smtClean="0"/>
              <a:t> כבוי</a:t>
            </a:r>
            <a:r>
              <a:rPr lang="en-US" dirty="0" smtClean="0"/>
              <a:t> </a:t>
            </a:r>
            <a:endParaRPr lang="he-IL" dirty="0"/>
          </a:p>
        </p:txBody>
      </p:sp>
      <p:pic>
        <p:nvPicPr>
          <p:cNvPr id="6" name="מציין מיקום תוכן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98" y="2557462"/>
            <a:ext cx="495320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04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חילוק ע"י כפל </a:t>
            </a:r>
            <a:r>
              <a:rPr lang="he-IL" dirty="0" smtClean="0"/>
              <a:t>בהופכי (</a:t>
            </a:r>
            <a:r>
              <a:rPr lang="en-US" dirty="0" smtClean="0"/>
              <a:t>divbymul.asm</a:t>
            </a:r>
            <a:r>
              <a:rPr lang="he-IL" dirty="0" smtClean="0"/>
              <a:t>)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נניח רוצים לחלק </a:t>
            </a:r>
            <a:r>
              <a:rPr lang="en-US" dirty="0" smtClean="0"/>
              <a:t>a/b</a:t>
            </a:r>
            <a:r>
              <a:rPr lang="he-IL" dirty="0" smtClean="0"/>
              <a:t> ונרצה לבצע זאת ע"י כפל של </a:t>
            </a:r>
            <a:r>
              <a:rPr lang="en-US" dirty="0" smtClean="0"/>
              <a:t>a*1/b</a:t>
            </a:r>
            <a:r>
              <a:rPr lang="he-IL" dirty="0" smtClean="0"/>
              <a:t> </a:t>
            </a:r>
          </a:p>
          <a:p>
            <a:r>
              <a:rPr lang="he-IL" dirty="0" smtClean="0"/>
              <a:t>לשם כך נצטרך לבצע הכנה כך שבאוגר </a:t>
            </a:r>
            <a:r>
              <a:rPr lang="he-IL" dirty="0" err="1" smtClean="0"/>
              <a:t>יעודי</a:t>
            </a:r>
            <a:r>
              <a:rPr lang="he-IL" dirty="0" smtClean="0"/>
              <a:t> יימצא הערך ההופכי של </a:t>
            </a:r>
            <a:r>
              <a:rPr lang="en-US" dirty="0" smtClean="0"/>
              <a:t>b</a:t>
            </a:r>
            <a:r>
              <a:rPr lang="he-IL" dirty="0" smtClean="0"/>
              <a:t> .</a:t>
            </a:r>
          </a:p>
          <a:p>
            <a:r>
              <a:rPr lang="he-IL" dirty="0" smtClean="0"/>
              <a:t>ניתן להראות כי </a:t>
            </a:r>
            <a:r>
              <a:rPr lang="en-US" dirty="0" smtClean="0"/>
              <a:t>1/b</a:t>
            </a:r>
            <a:r>
              <a:rPr lang="he-IL" dirty="0" smtClean="0"/>
              <a:t> שקול לביטוי :</a:t>
            </a:r>
            <a:r>
              <a:rPr lang="en-US" dirty="0"/>
              <a:t> 1/b  ≈  (2^64 / b</a:t>
            </a:r>
            <a:r>
              <a:rPr lang="en-US" dirty="0" smtClean="0"/>
              <a:t>)</a:t>
            </a:r>
            <a:endParaRPr lang="he-IL" dirty="0" smtClean="0"/>
          </a:p>
          <a:p>
            <a:r>
              <a:rPr lang="he-IL" dirty="0" smtClean="0"/>
              <a:t>התכנית מבצעת חלוקה של 64 ב 7 תוך שימוש בכפל בהפכי אבל מאחסנת רק את החלק השלם ב </a:t>
            </a:r>
            <a:r>
              <a:rPr lang="en-US" dirty="0" err="1" smtClean="0"/>
              <a:t>rax</a:t>
            </a:r>
            <a:r>
              <a:rPr lang="he-IL" smtClean="0"/>
              <a:t>  , כלומר את 9 </a:t>
            </a:r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13806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פקודות </a:t>
            </a:r>
            <a:r>
              <a:rPr lang="en-US" dirty="0" smtClean="0"/>
              <a:t>BSR, </a:t>
            </a:r>
            <a:r>
              <a:rPr lang="en-US" dirty="0" smtClean="0"/>
              <a:t>BSF</a:t>
            </a:r>
            <a:r>
              <a:rPr lang="he-IL" dirty="0" smtClean="0"/>
              <a:t> (</a:t>
            </a:r>
            <a:r>
              <a:rPr lang="en-US" dirty="0" smtClean="0"/>
              <a:t>bsf.asm</a:t>
            </a:r>
            <a:r>
              <a:rPr lang="he-IL" dirty="0" smtClean="0"/>
              <a:t> )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פקודת </a:t>
            </a:r>
            <a:r>
              <a:rPr lang="en-US" dirty="0" smtClean="0"/>
              <a:t>BSF</a:t>
            </a:r>
            <a:r>
              <a:rPr lang="he-IL" dirty="0" smtClean="0"/>
              <a:t> סורקת אוגר החל מהביט הפחות חשוב </a:t>
            </a:r>
            <a:r>
              <a:rPr lang="en-US" dirty="0" smtClean="0"/>
              <a:t>–LSB</a:t>
            </a:r>
            <a:r>
              <a:rPr lang="he-IL" dirty="0" smtClean="0"/>
              <a:t> עד אשר מוצאת את ה 1 הראשון ומציינת היכן נמצא</a:t>
            </a:r>
          </a:p>
          <a:p>
            <a:r>
              <a:rPr lang="en-US" dirty="0" smtClean="0"/>
              <a:t>BSR  </a:t>
            </a:r>
            <a:r>
              <a:rPr lang="he-IL" dirty="0" smtClean="0"/>
              <a:t> עובדת בכיוון הפוך ופועלת החל מהביט המשמעותי ביותר </a:t>
            </a:r>
            <a:r>
              <a:rPr lang="en-US" dirty="0" smtClean="0"/>
              <a:t>MSB</a:t>
            </a:r>
            <a:r>
              <a:rPr lang="he-IL" dirty="0" smtClean="0"/>
              <a:t> ימינה עד אשר מוצאת את ה 1 הראשון.</a:t>
            </a:r>
          </a:p>
          <a:p>
            <a:r>
              <a:rPr lang="he-IL" dirty="0" smtClean="0"/>
              <a:t>הפורמט : </a:t>
            </a:r>
          </a:p>
          <a:p>
            <a:pPr algn="l" rtl="0"/>
            <a:r>
              <a:rPr lang="en-US" dirty="0" err="1" smtClean="0"/>
              <a:t>bsf</a:t>
            </a:r>
            <a:r>
              <a:rPr lang="en-US" dirty="0" smtClean="0"/>
              <a:t> reg1, reg2</a:t>
            </a:r>
          </a:p>
          <a:p>
            <a:pPr algn="l" rtl="0"/>
            <a:r>
              <a:rPr lang="en-US" dirty="0" err="1" smtClean="0"/>
              <a:t>bsr</a:t>
            </a:r>
            <a:r>
              <a:rPr lang="en-US" dirty="0" smtClean="0"/>
              <a:t> reg1, reg2</a:t>
            </a:r>
            <a:endParaRPr lang="he-IL" dirty="0" smtClean="0"/>
          </a:p>
          <a:p>
            <a:endParaRPr lang="he-IL" dirty="0" smtClean="0"/>
          </a:p>
        </p:txBody>
      </p:sp>
    </p:spTree>
    <p:extLst>
      <p:ext uri="{BB962C8B-B14F-4D97-AF65-F5344CB8AC3E}">
        <p14:creationId xmlns:p14="http://schemas.microsoft.com/office/powerpoint/2010/main" val="1848431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928</TotalTime>
  <Words>1149</Words>
  <Application>Microsoft Office PowerPoint</Application>
  <PresentationFormat>מסך רחב</PresentationFormat>
  <Paragraphs>121</Paragraphs>
  <Slides>27</Slides>
  <Notes>0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27</vt:i4>
      </vt:variant>
    </vt:vector>
  </HeadingPairs>
  <TitlesOfParts>
    <vt:vector size="31" baseType="lpstr">
      <vt:lpstr>Arial</vt:lpstr>
      <vt:lpstr>Garamond</vt:lpstr>
      <vt:lpstr>Times New Roman</vt:lpstr>
      <vt:lpstr>אורגני</vt:lpstr>
      <vt:lpstr>פעולות לוגיות</vt:lpstr>
      <vt:lpstr>פעולות לוגיות</vt:lpstr>
      <vt:lpstr>פעולת xchg (קובץ xchg.asm) </vt:lpstr>
      <vt:lpstr>פעולת not (קובץ  notal.asm)</vt:lpstr>
      <vt:lpstr>פעולת not המשך</vt:lpstr>
      <vt:lpstr>פעולת   OR(קובץ  orax.asm)</vt:lpstr>
      <vt:lpstr>פעולת OR המשך </vt:lpstr>
      <vt:lpstr>פעולת OR המשך </vt:lpstr>
      <vt:lpstr>פעולת OR</vt:lpstr>
      <vt:lpstr>פעולת AND (andrax.asm)</vt:lpstr>
      <vt:lpstr>השפעת AND על הדגלים </vt:lpstr>
      <vt:lpstr>היפוך ביטים לאוגר (invert.asm) </vt:lpstr>
      <vt:lpstr>החלפת תכנים בין שני אוגרים</vt:lpstr>
      <vt:lpstr>פעולת XOR </vt:lpstr>
      <vt:lpstr>תכונות פעולת XOR </vt:lpstr>
      <vt:lpstr>השפעת XOR על הדגלים </vt:lpstr>
      <vt:lpstr>החלפת תכנים בין אוגרים באמצעות XOR(xorschg.asm) </vt:lpstr>
      <vt:lpstr>פעולת TEST </vt:lpstr>
      <vt:lpstr>פעולת shr </vt:lpstr>
      <vt:lpstr>השפעה על הדגלים </vt:lpstr>
      <vt:lpstr>פעולת shl </vt:lpstr>
      <vt:lpstr>מניית מספר האחדים בתוכנו של אוגר (countones.asm)</vt:lpstr>
      <vt:lpstr>מניית מספר האחדים המשך</vt:lpstr>
      <vt:lpstr>פקודת BT </vt:lpstr>
      <vt:lpstr>דוגמא לפקודת BT </vt:lpstr>
      <vt:lpstr>חילוק ע"י כפל בהופכי (divbymul.asm)</vt:lpstr>
      <vt:lpstr>פקודות BSR, BSF (bsf.asm 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פעולות לוגיות</dc:title>
  <dc:creator>אורן אליעזר</dc:creator>
  <cp:lastModifiedBy>אורן אליעזר</cp:lastModifiedBy>
  <cp:revision>28</cp:revision>
  <dcterms:created xsi:type="dcterms:W3CDTF">2026-02-15T06:11:10Z</dcterms:created>
  <dcterms:modified xsi:type="dcterms:W3CDTF">2026-03-22T09:21:56Z</dcterms:modified>
</cp:coreProperties>
</file>